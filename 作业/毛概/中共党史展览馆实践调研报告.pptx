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5" Type="http://schemas.openxmlformats.org/officeDocument/2006/relationships/image" Target="../media/image14.png"/><Relationship Id="rId1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40098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954410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C1C26"/>
                </a:solidFill>
                <a:latin typeface="Arial"/>
                <a:ea typeface="Arial"/>
                <a:cs typeface="Arial"/>
                <a:sym typeface="Arial"/>
              </a:rPr>
              <a:t>跨越时空的思想共鸣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611635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4月26日，调研小组前往中国共产党历史展览馆进行深度参观。我们采取了</a:t>
            </a:r>
            <a:r>
              <a:rPr b="1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“双线并行”</a:t>
            </a:r>
            <a:r>
              <a:rPr b="0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的分工策略：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487935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82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第一组聚焦一、二楼展区，重温新民主主义及社会主义革命建设的伟大征程。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364235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82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第二组前往三楼，系统学习改革开放与新时代的丰硕成果。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5240535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大家一致认为：党走向胜利的根本在于始终践行</a:t>
            </a:r>
            <a:r>
              <a:rPr b="1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“群众路线”</a:t>
            </a:r>
            <a:r>
              <a:rPr b="0" i="0" lang="en-US" sz="1500" u="none" cap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40098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64135"/>
            <a:ext cx="14823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40435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952500" y="571500"/>
            <a:ext cx="110013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寻迹百年：中国共产党历史展览馆实践调研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62000" y="571500"/>
            <a:ext cx="76200" cy="479970"/>
          </a:xfrm>
          <a:prstGeom prst="rect">
            <a:avLst/>
          </a:prstGeom>
          <a:solidFill>
            <a:srgbClr val="BC1C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80095"/>
            <a:ext cx="3365450" cy="4806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480095"/>
            <a:ext cx="3365450" cy="4806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480095"/>
            <a:ext cx="3365599" cy="4806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489620"/>
            <a:ext cx="33464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2725" y="1489620"/>
            <a:ext cx="33464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73925" y="1489620"/>
            <a:ext cx="334654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1489620"/>
            <a:ext cx="1676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000125" y="4004220"/>
            <a:ext cx="3033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C1C26"/>
                </a:solidFill>
                <a:latin typeface="Arial"/>
                <a:ea typeface="Arial"/>
                <a:cs typeface="Arial"/>
                <a:sym typeface="Arial"/>
              </a:rPr>
              <a:t>严明爱民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00125" y="4404270"/>
            <a:ext cx="2889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井冈山时期明确规定“不拿工人农民一点东西”，将群众利益置于首位，铸就了人民军队的爱民本色。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22725" y="1489620"/>
            <a:ext cx="18288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651325" y="4004220"/>
            <a:ext cx="3033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C1C26"/>
                </a:solidFill>
                <a:latin typeface="Arial"/>
                <a:ea typeface="Arial"/>
                <a:cs typeface="Arial"/>
                <a:sym typeface="Arial"/>
              </a:rPr>
              <a:t>民主意识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51325" y="4404270"/>
            <a:ext cx="2889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“群众还是有什么事情都可来这里控告”，反映了早期政权主动接受监督、真心实意为民解忧的公仆意识。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73925" y="1489620"/>
            <a:ext cx="10668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8302525" y="4004220"/>
            <a:ext cx="303381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C1C26"/>
                </a:solidFill>
                <a:latin typeface="Arial"/>
                <a:ea typeface="Arial"/>
                <a:cs typeface="Arial"/>
                <a:sym typeface="Arial"/>
              </a:rPr>
              <a:t>血肉联系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02525" y="4404270"/>
            <a:ext cx="28893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长征中女红军剪下一半被子留给村民，诠释了共产党人“只有一条被子也要分给你一半”的庄严承诺。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0125" y="4042320"/>
            <a:ext cx="4191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51325" y="4042320"/>
            <a:ext cx="4191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02525" y="4042320"/>
            <a:ext cx="4191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952500" y="571500"/>
            <a:ext cx="110013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历史回响：践行“群众路线”的三重见证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762000" y="571500"/>
            <a:ext cx="76200" cy="479970"/>
          </a:xfrm>
          <a:prstGeom prst="rect">
            <a:avLst/>
          </a:prstGeom>
          <a:solidFill>
            <a:srgbClr val="BC1C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762000" y="2716410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62000" y="3487935"/>
            <a:ext cx="10668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62000" y="347841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62000" y="347841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62000" y="427851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62000" y="427851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59285"/>
            <a:ext cx="118586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857375" y="2916435"/>
            <a:ext cx="9572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https://www.idcpc.org.cn/english2023/tjzl/cpcjj/20thPartyCongrssReport/202308/W020230802598275240555.png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857375" y="3106935"/>
            <a:ext cx="957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www.idcpc.org.cn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450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1857375" y="3630810"/>
            <a:ext cx="957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img.atlasobscura.com/ZgEIWFXJYYvm_mrOc321R9wdPuA-oLMiswJUUB7hCgY/rs:fill:12000:12000/q:81/sm:1/scp:1/ar:1/aHR0cHM6Ly9hdGxh/cy1kZXYuczMuYW1h/em9uYXdzLmNvbS91/cGxvYWRzL2Fzc2V0/cy9kNjI2NWI4OS04/MzVjLTQwNmYtYjYw/Ny0wOGVjMzMwMzk5/MjNjMjEwNjUyODU1/MjJmNDkxN2ZfTTc3/M0hNLmpwZw.jpg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857375" y="3964185"/>
            <a:ext cx="957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www.atlasobscura.com</a:t>
            </a:r>
            <a:endParaRPr/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30910"/>
            <a:ext cx="928538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857375" y="4488060"/>
            <a:ext cx="9572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https://api.army.mil/e2/c/images/2011/08/31/218486/original.jpg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857375" y="4678560"/>
            <a:ext cx="957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www.army.mil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52500" y="571500"/>
            <a:ext cx="110013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Image Sources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762000" y="571500"/>
            <a:ext cx="76200" cy="479970"/>
          </a:xfrm>
          <a:prstGeom prst="rect">
            <a:avLst/>
          </a:prstGeom>
          <a:solidFill>
            <a:srgbClr val="BC1C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