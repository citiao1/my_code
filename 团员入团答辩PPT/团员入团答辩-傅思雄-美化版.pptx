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 type="wide"/>
  <p:notesSz cx="6858000" cy="9144000"/>
  <p:defaultTextStyle>
    <a:defPPr>
      <a:defRPr lang="zh-CN">
        <a:latin typeface="Microsoft YaHei"/>
        <a:ea typeface="Microsoft YaHei"/>
      </a:defRPr>
    </a:defPPr>
  </p:defaultTextStyle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C1121F"/>
          </a:solidFill>
          <a:ln>
            <a:solidFill>
              <a:srgbClr val="C1121F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6446520"/>
            <a:ext cx="12191999" cy="411480"/>
          </a:xfrm>
          <a:prstGeom prst="rect">
            <a:avLst/>
          </a:prstGeom>
          <a:solidFill>
            <a:srgbClr val="7F1D1D"/>
          </a:solidFill>
          <a:ln>
            <a:solidFill>
              <a:srgbClr val="7F1D1D"/>
            </a:solidFill>
          </a:ln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566928" y="530352"/>
            <a:ext cx="164592" cy="5440680"/>
          </a:xfrm>
          <a:prstGeom prst="rect">
            <a:avLst/>
          </a:prstGeom>
          <a:solidFill>
            <a:srgbClr val="C1121F"/>
          </a:solidFill>
          <a:ln>
            <a:solidFill>
              <a:srgbClr val="C1121F"/>
            </a:solidFill>
          </a:ln>
        </p:spPr>
        <p:txBody>
          <a:bodyPr/>
          <a:lstStyle/>
          <a:p/>
        </p:txBody>
      </p:sp>
      <p:sp>
        <p:nvSpPr>
          <p:cNvPr id="6" name="Shape 6"/>
          <p:cNvSpPr/>
          <p:nvPr/>
        </p:nvSpPr>
        <p:spPr>
          <a:xfrm>
            <a:off x="10012680" y="-438912"/>
            <a:ext cx="2560320" cy="2560320"/>
          </a:xfrm>
          <a:prstGeom prst="ellipse">
            <a:avLst/>
          </a:prstGeom>
          <a:solidFill>
            <a:srgbClr val="FCA5A5">
              <a:alpha val="17000"/>
            </a:srgbClr>
          </a:solidFill>
          <a:ln>
            <a:solidFill>
              <a:srgbClr val="FCA5A5"/>
            </a:solidFill>
          </a:ln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10771632" y="502920"/>
            <a:ext cx="1097280" cy="1097280"/>
          </a:xfrm>
          <a:prstGeom prst="ellipse">
            <a:avLst/>
          </a:prstGeom>
          <a:solidFill>
            <a:srgbClr val="DBEAFE">
              <a:alpha val="45000"/>
            </a:srgbClr>
          </a:solidFill>
          <a:ln>
            <a:solidFill>
              <a:srgbClr val="DBEAFE"/>
            </a:solidFill>
          </a:ln>
        </p:spPr>
        <p:txBody>
          <a:bodyPr/>
          <a:lstStyle/>
          <a:p/>
        </p:txBody>
      </p:sp>
      <p:sp>
        <p:nvSpPr>
          <p:cNvPr id="92" name="TextBox 92"/>
          <p:cNvSpPr txBox="1"/>
          <p:nvPr/>
        </p:nvSpPr>
        <p:spPr>
          <a:xfrm>
            <a:off x="594360" y="6556248"/>
            <a:ext cx="4937760" cy="164592"/>
          </a:xfrm>
          <a:prstGeom prst="rect">
            <a:avLst/>
          </a:prstGeom>
          <a:solidFill>
            <a:srgbClr val="7F1D1D"/>
          </a:solidFill>
          <a:ln>
            <a:solidFill>
              <a:srgbClr val="7F1D1D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sz="760" dirty="0">
                <a:solidFill>
                  <a:srgbClr val="FEE2E2"/>
                </a:solidFill>
                <a:latin typeface="Microsoft YaHei"/>
                <a:ea typeface="Microsoft YaHei"/>
              </a:rPr>
              <a:t>共青团入团答辩 · 个人汇报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10927080" y="6556248"/>
            <a:ext cx="457200" cy="164592"/>
          </a:xfrm>
          <a:prstGeom prst="rect">
            <a:avLst/>
          </a:prstGeom>
          <a:solidFill>
            <a:srgbClr val="7F1D1D"/>
          </a:solidFill>
          <a:ln>
            <a:solidFill>
              <a:srgbClr val="7F1D1D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zh-CN" sz="760" dirty="0">
                <a:solidFill>
                  <a:srgbClr val="FEE2E2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68680" y="1097280"/>
            <a:ext cx="1737360" cy="347472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sz="1180" dirty="0">
                <a:solidFill>
                  <a:srgbClr val="C1121F"/>
                </a:solidFill>
                <a:b/>
                <a:latin typeface="Microsoft YaHei"/>
                <a:ea typeface="Microsoft YaHei"/>
              </a:rPr>
              <a:t>申请入团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68680" y="1755648"/>
            <a:ext cx="5577840" cy="676656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sz="3800" dirty="0">
                <a:solidFill>
                  <a:srgbClr val="111827"/>
                </a:solidFill>
                <a:b/>
                <a:latin typeface="Microsoft YaHei"/>
                <a:ea typeface="Microsoft YaHei"/>
              </a:rPr>
              <a:t>团员入团答辩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6112" y="2651760"/>
            <a:ext cx="5897880" cy="50292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sz="1750" dirty="0">
                <a:solidFill>
                  <a:srgbClr val="475569"/>
                </a:solidFill>
                <a:latin typeface="Microsoft YaHei"/>
                <a:ea typeface="Microsoft YaHei"/>
              </a:rPr>
              <a:t>以青年担当融入集体，以实践行动靠近团组织</a:t>
            </a:r>
          </a:p>
        </p:txBody>
      </p:sp>
      <p:sp>
        <p:nvSpPr>
          <p:cNvPr id="11" name="Shape 11"/>
          <p:cNvSpPr/>
          <p:nvPr/>
        </p:nvSpPr>
        <p:spPr>
          <a:xfrm>
            <a:off x="896112" y="3456432"/>
            <a:ext cx="1234440" cy="4572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896112" y="5047488"/>
            <a:ext cx="2743200" cy="310896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Microsoft YaHei"/>
                <a:ea typeface="Microsoft YaHei"/>
              </a:rPr>
              <a:t>自控2401  傅思雄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840480" y="4956048"/>
            <a:ext cx="2011680" cy="475488"/>
          </a:xfrm>
          <a:prstGeom prst="roundRect">
            <a:avLst/>
          </a:prstGeom>
          <a:solidFill>
            <a:srgbClr val="C1121F"/>
          </a:solidFill>
          <a:ln>
            <a:solidFill>
              <a:srgbClr val="C1121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sz="1250" dirty="0">
                <a:solidFill>
                  <a:srgbClr val="FFFFFF"/>
                </a:solidFill>
                <a:b/>
                <a:latin typeface="Microsoft YaHei"/>
                <a:ea typeface="Microsoft YaHei"/>
              </a:rPr>
              <a:t>2分钟陈述</a:t>
            </a:r>
          </a:p>
        </p:txBody>
      </p:sp>
      <p:sp>
        <p:nvSpPr>
          <p:cNvPr id="14" name="Shape 14"/>
          <p:cNvSpPr/>
          <p:nvPr/>
        </p:nvSpPr>
        <p:spPr>
          <a:xfrm>
            <a:off x="6537960" y="822960"/>
            <a:ext cx="498348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/>
          <a:lstStyle/>
          <a:p/>
        </p:txBody>
      </p:sp>
      <p:pic>
        <p:nvPicPr>
          <p:cNvPr id="15" name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133856"/>
            <a:ext cx="4443984" cy="27797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C1121F"/>
          </a:solidFill>
          <a:ln>
            <a:solidFill>
              <a:srgbClr val="C1121F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6446520"/>
            <a:ext cx="12191999" cy="411480"/>
          </a:xfrm>
          <a:prstGeom prst="rect">
            <a:avLst/>
          </a:prstGeom>
          <a:solidFill>
            <a:srgbClr val="7F1D1D"/>
          </a:solidFill>
          <a:ln>
            <a:solidFill>
              <a:srgbClr val="7F1D1D"/>
            </a:solidFill>
          </a:ln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566928" y="530352"/>
            <a:ext cx="164592" cy="5440680"/>
          </a:xfrm>
          <a:prstGeom prst="rect">
            <a:avLst/>
          </a:prstGeom>
          <a:solidFill>
            <a:srgbClr val="C1121F"/>
          </a:solidFill>
          <a:ln>
            <a:solidFill>
              <a:srgbClr val="C1121F"/>
            </a:solidFill>
          </a:ln>
        </p:spPr>
        <p:txBody>
          <a:bodyPr/>
          <a:lstStyle/>
          <a:p/>
        </p:txBody>
      </p:sp>
      <p:sp>
        <p:nvSpPr>
          <p:cNvPr id="6" name="Shape 6"/>
          <p:cNvSpPr/>
          <p:nvPr/>
        </p:nvSpPr>
        <p:spPr>
          <a:xfrm>
            <a:off x="10012680" y="-438912"/>
            <a:ext cx="2560320" cy="2560320"/>
          </a:xfrm>
          <a:prstGeom prst="ellipse">
            <a:avLst/>
          </a:prstGeom>
          <a:solidFill>
            <a:srgbClr val="FCA5A5">
              <a:alpha val="17000"/>
            </a:srgbClr>
          </a:solidFill>
          <a:ln>
            <a:solidFill>
              <a:srgbClr val="FCA5A5"/>
            </a:solidFill>
          </a:ln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10771632" y="502920"/>
            <a:ext cx="1097280" cy="1097280"/>
          </a:xfrm>
          <a:prstGeom prst="ellipse">
            <a:avLst/>
          </a:prstGeom>
          <a:solidFill>
            <a:srgbClr val="DBEAFE">
              <a:alpha val="45000"/>
            </a:srgbClr>
          </a:solidFill>
          <a:ln>
            <a:solidFill>
              <a:srgbClr val="DBEAFE"/>
            </a:solidFill>
          </a:ln>
        </p:spPr>
        <p:txBody>
          <a:bodyPr/>
          <a:lstStyle/>
          <a:p/>
        </p:txBody>
      </p:sp>
      <p:sp>
        <p:nvSpPr>
          <p:cNvPr id="92" name="TextBox 92"/>
          <p:cNvSpPr txBox="1"/>
          <p:nvPr/>
        </p:nvSpPr>
        <p:spPr>
          <a:xfrm>
            <a:off x="594360" y="6556248"/>
            <a:ext cx="4937760" cy="164592"/>
          </a:xfrm>
          <a:prstGeom prst="rect">
            <a:avLst/>
          </a:prstGeom>
          <a:solidFill>
            <a:srgbClr val="7F1D1D"/>
          </a:solidFill>
          <a:ln>
            <a:solidFill>
              <a:srgbClr val="7F1D1D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sz="760" dirty="0">
                <a:solidFill>
                  <a:srgbClr val="FEE2E2"/>
                </a:solidFill>
                <a:latin typeface="Microsoft YaHei"/>
                <a:ea typeface="Microsoft YaHei"/>
              </a:rPr>
              <a:t>共青团入团答辩 · 个人汇报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10927080" y="6556248"/>
            <a:ext cx="457200" cy="164592"/>
          </a:xfrm>
          <a:prstGeom prst="rect">
            <a:avLst/>
          </a:prstGeom>
          <a:solidFill>
            <a:srgbClr val="7F1D1D"/>
          </a:solidFill>
          <a:ln>
            <a:solidFill>
              <a:srgbClr val="7F1D1D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zh-CN" sz="760" dirty="0">
                <a:solidFill>
                  <a:srgbClr val="FEE2E2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68680" y="658368"/>
            <a:ext cx="685800" cy="411480"/>
          </a:xfrm>
          <a:prstGeom prst="roundRect">
            <a:avLst/>
          </a:prstGeom>
          <a:solidFill>
            <a:srgbClr val="C1121F"/>
          </a:solidFill>
          <a:ln>
            <a:solidFill>
              <a:srgbClr val="C1121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sz="1550" dirty="0">
                <a:solidFill>
                  <a:srgbClr val="FFFFFF"/>
                </a:solidFill>
                <a:b/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83080" y="594360"/>
            <a:ext cx="5166360" cy="475488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sz="2500" dirty="0">
                <a:solidFill>
                  <a:srgbClr val="111827"/>
                </a:solidFill>
                <a:b/>
                <a:latin typeface="Microsoft YaHei"/>
                <a:ea typeface="Microsoft YaHei"/>
              </a:rPr>
              <a:t>个人基本情况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6112" y="1353312"/>
            <a:ext cx="5486400" cy="576072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sz="1450" dirty="0">
                <a:solidFill>
                  <a:srgbClr val="475569"/>
                </a:solidFill>
                <a:latin typeface="Microsoft YaHei"/>
                <a:ea typeface="Microsoft YaHei"/>
              </a:rPr>
              <a:t>从基础事务做起，在学习与实践中靠近先进集体。</a:t>
            </a:r>
          </a:p>
        </p:txBody>
      </p:sp>
      <p:sp>
        <p:nvSpPr>
          <p:cNvPr id="11" name="Shape 11"/>
          <p:cNvSpPr/>
          <p:nvPr/>
        </p:nvSpPr>
        <p:spPr>
          <a:xfrm>
            <a:off x="896112" y="2176272"/>
            <a:ext cx="571500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1115568" y="2487168"/>
            <a:ext cx="516636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marL="260000" indent="-155000">
              <a:buChar char="•"/>
            </a:pPr>
            <a:r>
              <a:rPr lang="zh-CN" sz="1800" dirty="0">
                <a:solidFill>
                  <a:srgbClr val="334155"/>
                </a:solidFill>
                <a:latin typeface="Microsoft YaHei"/>
                <a:ea typeface="Microsoft YaHei"/>
              </a:rPr>
              <a:t>绩点：3.3 / 4.33</a:t>
            </a:r>
          </a:p>
          <a:p>
            <a:pPr marL="260000" indent="-155000">
              <a:buChar char="•"/>
            </a:pPr>
            <a:r>
              <a:rPr lang="zh-CN" sz="1800" dirty="0">
                <a:solidFill>
                  <a:srgbClr val="334155"/>
                </a:solidFill>
                <a:latin typeface="Microsoft YaHei"/>
                <a:ea typeface="Microsoft YaHei"/>
              </a:rPr>
              <a:t>实践身份：实验室助理</a:t>
            </a:r>
          </a:p>
          <a:p>
            <a:pPr marL="260000" indent="-155000">
              <a:buChar char="•"/>
            </a:pPr>
            <a:r>
              <a:rPr lang="zh-CN" sz="1800" dirty="0">
                <a:solidFill>
                  <a:srgbClr val="334155"/>
                </a:solidFill>
                <a:latin typeface="Microsoft YaHei"/>
                <a:ea typeface="Microsoft YaHei"/>
              </a:rPr>
              <a:t>正式任职不多，但重视执行与协作</a:t>
            </a:r>
          </a:p>
          <a:p>
            <a:pPr marL="260000" indent="-155000">
              <a:buChar char="•"/>
            </a:pPr>
            <a:r>
              <a:rPr lang="zh-CN" sz="1800" dirty="0">
                <a:solidFill>
                  <a:srgbClr val="334155"/>
                </a:solidFill>
                <a:latin typeface="Microsoft YaHei"/>
                <a:ea typeface="Microsoft YaHei"/>
              </a:rPr>
              <a:t>希望用稳定行动服务集体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15568" y="4919472"/>
            <a:ext cx="45262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sz="1180" dirty="0">
                <a:solidFill>
                  <a:srgbClr val="C1121F"/>
                </a:solidFill>
                <a:b/>
                <a:latin typeface="Microsoft YaHei"/>
                <a:ea typeface="Microsoft YaHei"/>
              </a:rPr>
              <a:t>踏实 · 主动 · 责任感</a:t>
            </a:r>
          </a:p>
        </p:txBody>
      </p:sp>
      <p:sp>
        <p:nvSpPr>
          <p:cNvPr id="14" name="Shape 14"/>
          <p:cNvSpPr/>
          <p:nvPr/>
        </p:nvSpPr>
        <p:spPr>
          <a:xfrm>
            <a:off x="7132320" y="1143000"/>
            <a:ext cx="416052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/>
          <a:lstStyle/>
          <a:p/>
        </p:txBody>
      </p:sp>
      <p:pic>
        <p:nvPicPr>
          <p:cNvPr id="15" name="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1417320"/>
            <a:ext cx="3730752" cy="2331720"/>
          </a:xfrm>
          <a:prstGeom prst="rect">
            <a:avLst/>
          </a:prstGeom>
        </p:spPr>
      </p:pic>
      <p:sp>
        <p:nvSpPr>
          <p:cNvPr id="16" name="Shape 16"/>
          <p:cNvSpPr/>
          <p:nvPr/>
        </p:nvSpPr>
        <p:spPr>
          <a:xfrm>
            <a:off x="6876288" y="5376672"/>
            <a:ext cx="658368" cy="73152"/>
          </a:xfrm>
          <a:prstGeom prst="rect">
            <a:avLst/>
          </a:prstGeom>
          <a:solidFill>
            <a:srgbClr val="C1121F"/>
          </a:solidFill>
          <a:ln>
            <a:solidFill>
              <a:srgbClr val="C1121F"/>
            </a:solidFill>
          </a:ln>
        </p:spPr>
        <p:txBody>
          <a:bodyPr/>
          <a:lstStyle/>
          <a:p/>
        </p:txBody>
      </p:sp>
      <p:sp>
        <p:nvSpPr>
          <p:cNvPr id="17" name="TextBox 17"/>
          <p:cNvSpPr txBox="1"/>
          <p:nvPr/>
        </p:nvSpPr>
        <p:spPr>
          <a:xfrm>
            <a:off x="7662672" y="5175504"/>
            <a:ext cx="3063240" cy="438912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b/>
                <a:latin typeface="Microsoft YaHei"/>
                <a:ea typeface="Microsoft YaHei"/>
              </a:rPr>
              <a:t>答辩关键词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C1121F"/>
          </a:solidFill>
          <a:ln>
            <a:solidFill>
              <a:srgbClr val="C1121F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6446520"/>
            <a:ext cx="12191999" cy="411480"/>
          </a:xfrm>
          <a:prstGeom prst="rect">
            <a:avLst/>
          </a:prstGeom>
          <a:solidFill>
            <a:srgbClr val="7F1D1D"/>
          </a:solidFill>
          <a:ln>
            <a:solidFill>
              <a:srgbClr val="7F1D1D"/>
            </a:solidFill>
          </a:ln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566928" y="530352"/>
            <a:ext cx="164592" cy="5440680"/>
          </a:xfrm>
          <a:prstGeom prst="rect">
            <a:avLst/>
          </a:prstGeom>
          <a:solidFill>
            <a:srgbClr val="C1121F"/>
          </a:solidFill>
          <a:ln>
            <a:solidFill>
              <a:srgbClr val="C1121F"/>
            </a:solidFill>
          </a:ln>
        </p:spPr>
        <p:txBody>
          <a:bodyPr/>
          <a:lstStyle/>
          <a:p/>
        </p:txBody>
      </p:sp>
      <p:sp>
        <p:nvSpPr>
          <p:cNvPr id="6" name="Shape 6"/>
          <p:cNvSpPr/>
          <p:nvPr/>
        </p:nvSpPr>
        <p:spPr>
          <a:xfrm>
            <a:off x="10012680" y="-438912"/>
            <a:ext cx="2560320" cy="2560320"/>
          </a:xfrm>
          <a:prstGeom prst="ellipse">
            <a:avLst/>
          </a:prstGeom>
          <a:solidFill>
            <a:srgbClr val="FCA5A5">
              <a:alpha val="17000"/>
            </a:srgbClr>
          </a:solidFill>
          <a:ln>
            <a:solidFill>
              <a:srgbClr val="FCA5A5"/>
            </a:solidFill>
          </a:ln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10771632" y="502920"/>
            <a:ext cx="1097280" cy="1097280"/>
          </a:xfrm>
          <a:prstGeom prst="ellipse">
            <a:avLst/>
          </a:prstGeom>
          <a:solidFill>
            <a:srgbClr val="DBEAFE">
              <a:alpha val="45000"/>
            </a:srgbClr>
          </a:solidFill>
          <a:ln>
            <a:solidFill>
              <a:srgbClr val="DBEAFE"/>
            </a:solidFill>
          </a:ln>
        </p:spPr>
        <p:txBody>
          <a:bodyPr/>
          <a:lstStyle/>
          <a:p/>
        </p:txBody>
      </p:sp>
      <p:sp>
        <p:nvSpPr>
          <p:cNvPr id="92" name="TextBox 92"/>
          <p:cNvSpPr txBox="1"/>
          <p:nvPr/>
        </p:nvSpPr>
        <p:spPr>
          <a:xfrm>
            <a:off x="594360" y="6556248"/>
            <a:ext cx="4937760" cy="164592"/>
          </a:xfrm>
          <a:prstGeom prst="rect">
            <a:avLst/>
          </a:prstGeom>
          <a:solidFill>
            <a:srgbClr val="7F1D1D"/>
          </a:solidFill>
          <a:ln>
            <a:solidFill>
              <a:srgbClr val="7F1D1D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sz="760" dirty="0">
                <a:solidFill>
                  <a:srgbClr val="FEE2E2"/>
                </a:solidFill>
                <a:latin typeface="Microsoft YaHei"/>
                <a:ea typeface="Microsoft YaHei"/>
              </a:rPr>
              <a:t>共青团入团答辩 · 个人汇报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10927080" y="6556248"/>
            <a:ext cx="457200" cy="164592"/>
          </a:xfrm>
          <a:prstGeom prst="rect">
            <a:avLst/>
          </a:prstGeom>
          <a:solidFill>
            <a:srgbClr val="7F1D1D"/>
          </a:solidFill>
          <a:ln>
            <a:solidFill>
              <a:srgbClr val="7F1D1D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zh-CN" sz="760" dirty="0">
                <a:solidFill>
                  <a:srgbClr val="FEE2E2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68680" y="658368"/>
            <a:ext cx="685800" cy="411480"/>
          </a:xfrm>
          <a:prstGeom prst="roundRect">
            <a:avLst/>
          </a:prstGeom>
          <a:solidFill>
            <a:srgbClr val="C1121F"/>
          </a:solidFill>
          <a:ln>
            <a:solidFill>
              <a:srgbClr val="C1121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sz="1550" dirty="0">
                <a:solidFill>
                  <a:srgbClr val="FFFFFF"/>
                </a:solidFill>
                <a:b/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83080" y="594360"/>
            <a:ext cx="5166360" cy="475488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sz="2500" dirty="0">
                <a:solidFill>
                  <a:srgbClr val="111827"/>
                </a:solidFill>
                <a:b/>
                <a:latin typeface="Microsoft YaHei"/>
                <a:ea typeface="Microsoft YaHei"/>
              </a:rPr>
              <a:t>学习与科创实践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6112" y="1353312"/>
            <a:ext cx="5486400" cy="576072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sz="1450" dirty="0">
                <a:solidFill>
                  <a:srgbClr val="475569"/>
                </a:solidFill>
                <a:latin typeface="Microsoft YaHei"/>
                <a:ea typeface="Microsoft YaHei"/>
              </a:rPr>
              <a:t>把课堂知识带到真实问题里，在竞赛中训练解决问题能力。</a:t>
            </a:r>
          </a:p>
        </p:txBody>
      </p:sp>
      <p:sp>
        <p:nvSpPr>
          <p:cNvPr id="11" name="Shape 11"/>
          <p:cNvSpPr/>
          <p:nvPr/>
        </p:nvSpPr>
        <p:spPr>
          <a:xfrm>
            <a:off x="896112" y="2176272"/>
            <a:ext cx="571500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1115568" y="2487168"/>
            <a:ext cx="516636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marL="260000" indent="-155000">
              <a:buChar char="•"/>
            </a:pPr>
            <a:r>
              <a:rPr lang="zh-CN" sz="1800" dirty="0">
                <a:solidFill>
                  <a:srgbClr val="334155"/>
                </a:solidFill>
                <a:latin typeface="Microsoft YaHei"/>
                <a:ea typeface="Microsoft YaHei"/>
              </a:rPr>
              <a:t>蓝桥杯：省级一等奖</a:t>
            </a:r>
          </a:p>
          <a:p>
            <a:pPr marL="260000" indent="-155000">
              <a:buChar char="•"/>
            </a:pPr>
            <a:r>
              <a:rPr lang="zh-CN" sz="1800" dirty="0">
                <a:solidFill>
                  <a:srgbClr val="334155"/>
                </a:solidFill>
                <a:latin typeface="Microsoft YaHei"/>
                <a:ea typeface="Microsoft YaHei"/>
              </a:rPr>
              <a:t>国赛成绩：等待公布</a:t>
            </a:r>
          </a:p>
          <a:p>
            <a:pPr marL="260000" indent="-155000">
              <a:buChar char="•"/>
            </a:pPr>
            <a:r>
              <a:rPr lang="zh-CN" sz="1800" dirty="0">
                <a:solidFill>
                  <a:srgbClr val="334155"/>
                </a:solidFill>
                <a:latin typeface="Microsoft YaHei"/>
                <a:ea typeface="Microsoft YaHei"/>
              </a:rPr>
              <a:t>正在参与智能车相关实践</a:t>
            </a:r>
          </a:p>
          <a:p>
            <a:pPr marL="260000" indent="-155000">
              <a:buChar char="•"/>
            </a:pPr>
            <a:r>
              <a:rPr lang="zh-CN" sz="1800" dirty="0">
                <a:solidFill>
                  <a:srgbClr val="334155"/>
                </a:solidFill>
                <a:latin typeface="Microsoft YaHei"/>
                <a:ea typeface="Microsoft YaHei"/>
              </a:rPr>
              <a:t>持续训练编程、调试和复盘能力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15568" y="4919472"/>
            <a:ext cx="45262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sz="1180" dirty="0">
                <a:solidFill>
                  <a:srgbClr val="C1121F"/>
                </a:solidFill>
                <a:b/>
                <a:latin typeface="Microsoft YaHei"/>
                <a:ea typeface="Microsoft YaHei"/>
              </a:rPr>
              <a:t>专业学习 · 科创竞赛 · 实践能力</a:t>
            </a:r>
          </a:p>
        </p:txBody>
      </p:sp>
      <p:sp>
        <p:nvSpPr>
          <p:cNvPr id="14" name="Shape 14"/>
          <p:cNvSpPr/>
          <p:nvPr/>
        </p:nvSpPr>
        <p:spPr>
          <a:xfrm>
            <a:off x="7132320" y="1143000"/>
            <a:ext cx="416052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/>
          <a:lstStyle/>
          <a:p/>
        </p:txBody>
      </p:sp>
      <p:pic>
        <p:nvPicPr>
          <p:cNvPr id="15" name="compet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1417320"/>
            <a:ext cx="3730752" cy="2331720"/>
          </a:xfrm>
          <a:prstGeom prst="rect">
            <a:avLst/>
          </a:prstGeom>
        </p:spPr>
      </p:pic>
      <p:sp>
        <p:nvSpPr>
          <p:cNvPr id="16" name="Shape 16"/>
          <p:cNvSpPr/>
          <p:nvPr/>
        </p:nvSpPr>
        <p:spPr>
          <a:xfrm>
            <a:off x="6876288" y="5376672"/>
            <a:ext cx="658368" cy="73152"/>
          </a:xfrm>
          <a:prstGeom prst="rect">
            <a:avLst/>
          </a:prstGeom>
          <a:solidFill>
            <a:srgbClr val="C1121F"/>
          </a:solidFill>
          <a:ln>
            <a:solidFill>
              <a:srgbClr val="C1121F"/>
            </a:solidFill>
          </a:ln>
        </p:spPr>
        <p:txBody>
          <a:bodyPr/>
          <a:lstStyle/>
          <a:p/>
        </p:txBody>
      </p:sp>
      <p:sp>
        <p:nvSpPr>
          <p:cNvPr id="17" name="TextBox 17"/>
          <p:cNvSpPr txBox="1"/>
          <p:nvPr/>
        </p:nvSpPr>
        <p:spPr>
          <a:xfrm>
            <a:off x="7662672" y="5175504"/>
            <a:ext cx="3063240" cy="438912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b/>
                <a:latin typeface="Microsoft YaHei"/>
                <a:ea typeface="Microsoft YaHei"/>
              </a:rPr>
              <a:t>答辩关键词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C1121F"/>
          </a:solidFill>
          <a:ln>
            <a:solidFill>
              <a:srgbClr val="C1121F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6446520"/>
            <a:ext cx="12191999" cy="411480"/>
          </a:xfrm>
          <a:prstGeom prst="rect">
            <a:avLst/>
          </a:prstGeom>
          <a:solidFill>
            <a:srgbClr val="7F1D1D"/>
          </a:solidFill>
          <a:ln>
            <a:solidFill>
              <a:srgbClr val="7F1D1D"/>
            </a:solidFill>
          </a:ln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566928" y="530352"/>
            <a:ext cx="164592" cy="5440680"/>
          </a:xfrm>
          <a:prstGeom prst="rect">
            <a:avLst/>
          </a:prstGeom>
          <a:solidFill>
            <a:srgbClr val="C1121F"/>
          </a:solidFill>
          <a:ln>
            <a:solidFill>
              <a:srgbClr val="C1121F"/>
            </a:solidFill>
          </a:ln>
        </p:spPr>
        <p:txBody>
          <a:bodyPr/>
          <a:lstStyle/>
          <a:p/>
        </p:txBody>
      </p:sp>
      <p:sp>
        <p:nvSpPr>
          <p:cNvPr id="6" name="Shape 6"/>
          <p:cNvSpPr/>
          <p:nvPr/>
        </p:nvSpPr>
        <p:spPr>
          <a:xfrm>
            <a:off x="10012680" y="-438912"/>
            <a:ext cx="2560320" cy="2560320"/>
          </a:xfrm>
          <a:prstGeom prst="ellipse">
            <a:avLst/>
          </a:prstGeom>
          <a:solidFill>
            <a:srgbClr val="FCA5A5">
              <a:alpha val="17000"/>
            </a:srgbClr>
          </a:solidFill>
          <a:ln>
            <a:solidFill>
              <a:srgbClr val="FCA5A5"/>
            </a:solidFill>
          </a:ln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10771632" y="502920"/>
            <a:ext cx="1097280" cy="1097280"/>
          </a:xfrm>
          <a:prstGeom prst="ellipse">
            <a:avLst/>
          </a:prstGeom>
          <a:solidFill>
            <a:srgbClr val="DBEAFE">
              <a:alpha val="45000"/>
            </a:srgbClr>
          </a:solidFill>
          <a:ln>
            <a:solidFill>
              <a:srgbClr val="DBEAFE"/>
            </a:solidFill>
          </a:ln>
        </p:spPr>
        <p:txBody>
          <a:bodyPr/>
          <a:lstStyle/>
          <a:p/>
        </p:txBody>
      </p:sp>
      <p:sp>
        <p:nvSpPr>
          <p:cNvPr id="92" name="TextBox 92"/>
          <p:cNvSpPr txBox="1"/>
          <p:nvPr/>
        </p:nvSpPr>
        <p:spPr>
          <a:xfrm>
            <a:off x="594360" y="6556248"/>
            <a:ext cx="4937760" cy="164592"/>
          </a:xfrm>
          <a:prstGeom prst="rect">
            <a:avLst/>
          </a:prstGeom>
          <a:solidFill>
            <a:srgbClr val="7F1D1D"/>
          </a:solidFill>
          <a:ln>
            <a:solidFill>
              <a:srgbClr val="7F1D1D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sz="760" dirty="0">
                <a:solidFill>
                  <a:srgbClr val="FEE2E2"/>
                </a:solidFill>
                <a:latin typeface="Microsoft YaHei"/>
                <a:ea typeface="Microsoft YaHei"/>
              </a:rPr>
              <a:t>共青团入团答辩 · 个人汇报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10927080" y="6556248"/>
            <a:ext cx="457200" cy="164592"/>
          </a:xfrm>
          <a:prstGeom prst="rect">
            <a:avLst/>
          </a:prstGeom>
          <a:solidFill>
            <a:srgbClr val="7F1D1D"/>
          </a:solidFill>
          <a:ln>
            <a:solidFill>
              <a:srgbClr val="7F1D1D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zh-CN" sz="760" dirty="0">
                <a:solidFill>
                  <a:srgbClr val="FEE2E2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68680" y="658368"/>
            <a:ext cx="685800" cy="411480"/>
          </a:xfrm>
          <a:prstGeom prst="roundRect">
            <a:avLst/>
          </a:prstGeom>
          <a:solidFill>
            <a:srgbClr val="C1121F"/>
          </a:solidFill>
          <a:ln>
            <a:solidFill>
              <a:srgbClr val="C1121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sz="1550" dirty="0">
                <a:solidFill>
                  <a:srgbClr val="FFFFFF"/>
                </a:solidFill>
                <a:b/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83080" y="594360"/>
            <a:ext cx="5166360" cy="475488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sz="2500" dirty="0">
                <a:solidFill>
                  <a:srgbClr val="111827"/>
                </a:solidFill>
                <a:b/>
                <a:latin typeface="Microsoft YaHei"/>
                <a:ea typeface="Microsoft YaHei"/>
              </a:rPr>
              <a:t>实验室助理经历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6112" y="1353312"/>
            <a:ext cx="5486400" cy="576072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sz="1450" dirty="0">
                <a:solidFill>
                  <a:srgbClr val="475569"/>
                </a:solidFill>
                <a:latin typeface="Microsoft YaHei"/>
                <a:ea typeface="Microsoft YaHei"/>
              </a:rPr>
              <a:t>在具体事务中学习服务意识，也在细节里培养责任心。</a:t>
            </a:r>
          </a:p>
        </p:txBody>
      </p:sp>
      <p:sp>
        <p:nvSpPr>
          <p:cNvPr id="11" name="Shape 11"/>
          <p:cNvSpPr/>
          <p:nvPr/>
        </p:nvSpPr>
        <p:spPr>
          <a:xfrm>
            <a:off x="896112" y="2176272"/>
            <a:ext cx="571500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1115568" y="2487168"/>
            <a:ext cx="516636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marL="260000" indent="-155000">
              <a:buChar char="•"/>
            </a:pPr>
            <a:r>
              <a:rPr lang="zh-CN" sz="1800" dirty="0">
                <a:solidFill>
                  <a:srgbClr val="334155"/>
                </a:solidFill>
                <a:latin typeface="Microsoft YaHei"/>
                <a:ea typeface="Microsoft YaHei"/>
              </a:rPr>
              <a:t>协助实验室日常整理与维护</a:t>
            </a:r>
          </a:p>
          <a:p>
            <a:pPr marL="260000" indent="-155000">
              <a:buChar char="•"/>
            </a:pPr>
            <a:r>
              <a:rPr lang="zh-CN" sz="1800" dirty="0">
                <a:solidFill>
                  <a:srgbClr val="334155"/>
                </a:solidFill>
                <a:latin typeface="Microsoft YaHei"/>
                <a:ea typeface="Microsoft YaHei"/>
              </a:rPr>
              <a:t>配合设备、资料和实验准备</a:t>
            </a:r>
          </a:p>
          <a:p>
            <a:pPr marL="260000" indent="-155000">
              <a:buChar char="•"/>
            </a:pPr>
            <a:r>
              <a:rPr lang="zh-CN" sz="1800" dirty="0">
                <a:solidFill>
                  <a:srgbClr val="334155"/>
                </a:solidFill>
                <a:latin typeface="Microsoft YaHei"/>
                <a:ea typeface="Microsoft YaHei"/>
              </a:rPr>
              <a:t>在基础事务中保持耐心和细致</a:t>
            </a:r>
          </a:p>
          <a:p>
            <a:pPr marL="260000" indent="-155000">
              <a:buChar char="•"/>
            </a:pPr>
            <a:r>
              <a:rPr lang="zh-CN" sz="1800" dirty="0">
                <a:solidFill>
                  <a:srgbClr val="334155"/>
                </a:solidFill>
                <a:latin typeface="Microsoft YaHei"/>
                <a:ea typeface="Microsoft YaHei"/>
              </a:rPr>
              <a:t>理解“小事做好”也是服务集体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15568" y="4919472"/>
            <a:ext cx="45262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sz="1180" dirty="0">
                <a:solidFill>
                  <a:srgbClr val="C1121F"/>
                </a:solidFill>
                <a:b/>
                <a:latin typeface="Microsoft YaHei"/>
                <a:ea typeface="Microsoft YaHei"/>
              </a:rPr>
              <a:t>服务意识 · 协作意识 · 执行力</a:t>
            </a:r>
          </a:p>
        </p:txBody>
      </p:sp>
      <p:sp>
        <p:nvSpPr>
          <p:cNvPr id="14" name="Shape 14"/>
          <p:cNvSpPr/>
          <p:nvPr/>
        </p:nvSpPr>
        <p:spPr>
          <a:xfrm>
            <a:off x="7132320" y="1143000"/>
            <a:ext cx="416052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/>
          <a:lstStyle/>
          <a:p/>
        </p:txBody>
      </p:sp>
      <p:pic>
        <p:nvPicPr>
          <p:cNvPr id="15" name="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1417320"/>
            <a:ext cx="3730752" cy="2331720"/>
          </a:xfrm>
          <a:prstGeom prst="rect">
            <a:avLst/>
          </a:prstGeom>
        </p:spPr>
      </p:pic>
      <p:sp>
        <p:nvSpPr>
          <p:cNvPr id="16" name="Shape 16"/>
          <p:cNvSpPr/>
          <p:nvPr/>
        </p:nvSpPr>
        <p:spPr>
          <a:xfrm>
            <a:off x="6876288" y="5376672"/>
            <a:ext cx="658368" cy="73152"/>
          </a:xfrm>
          <a:prstGeom prst="rect">
            <a:avLst/>
          </a:prstGeom>
          <a:solidFill>
            <a:srgbClr val="C1121F"/>
          </a:solidFill>
          <a:ln>
            <a:solidFill>
              <a:srgbClr val="C1121F"/>
            </a:solidFill>
          </a:ln>
        </p:spPr>
        <p:txBody>
          <a:bodyPr/>
          <a:lstStyle/>
          <a:p/>
        </p:txBody>
      </p:sp>
      <p:sp>
        <p:nvSpPr>
          <p:cNvPr id="17" name="TextBox 17"/>
          <p:cNvSpPr txBox="1"/>
          <p:nvPr/>
        </p:nvSpPr>
        <p:spPr>
          <a:xfrm>
            <a:off x="7662672" y="5175504"/>
            <a:ext cx="3063240" cy="438912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b/>
                <a:latin typeface="Microsoft YaHei"/>
                <a:ea typeface="Microsoft YaHei"/>
              </a:rPr>
              <a:t>答辩关键词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C1121F"/>
          </a:solidFill>
          <a:ln>
            <a:solidFill>
              <a:srgbClr val="C1121F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6446520"/>
            <a:ext cx="12191999" cy="411480"/>
          </a:xfrm>
          <a:prstGeom prst="rect">
            <a:avLst/>
          </a:prstGeom>
          <a:solidFill>
            <a:srgbClr val="7F1D1D"/>
          </a:solidFill>
          <a:ln>
            <a:solidFill>
              <a:srgbClr val="7F1D1D"/>
            </a:solidFill>
          </a:ln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566928" y="530352"/>
            <a:ext cx="164592" cy="5440680"/>
          </a:xfrm>
          <a:prstGeom prst="rect">
            <a:avLst/>
          </a:prstGeom>
          <a:solidFill>
            <a:srgbClr val="C1121F"/>
          </a:solidFill>
          <a:ln>
            <a:solidFill>
              <a:srgbClr val="C1121F"/>
            </a:solidFill>
          </a:ln>
        </p:spPr>
        <p:txBody>
          <a:bodyPr/>
          <a:lstStyle/>
          <a:p/>
        </p:txBody>
      </p:sp>
      <p:sp>
        <p:nvSpPr>
          <p:cNvPr id="6" name="Shape 6"/>
          <p:cNvSpPr/>
          <p:nvPr/>
        </p:nvSpPr>
        <p:spPr>
          <a:xfrm>
            <a:off x="10012680" y="-438912"/>
            <a:ext cx="2560320" cy="2560320"/>
          </a:xfrm>
          <a:prstGeom prst="ellipse">
            <a:avLst/>
          </a:prstGeom>
          <a:solidFill>
            <a:srgbClr val="FCA5A5">
              <a:alpha val="17000"/>
            </a:srgbClr>
          </a:solidFill>
          <a:ln>
            <a:solidFill>
              <a:srgbClr val="FCA5A5"/>
            </a:solidFill>
          </a:ln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10771632" y="502920"/>
            <a:ext cx="1097280" cy="1097280"/>
          </a:xfrm>
          <a:prstGeom prst="ellipse">
            <a:avLst/>
          </a:prstGeom>
          <a:solidFill>
            <a:srgbClr val="DBEAFE">
              <a:alpha val="45000"/>
            </a:srgbClr>
          </a:solidFill>
          <a:ln>
            <a:solidFill>
              <a:srgbClr val="DBEAFE"/>
            </a:solidFill>
          </a:ln>
        </p:spPr>
        <p:txBody>
          <a:bodyPr/>
          <a:lstStyle/>
          <a:p/>
        </p:txBody>
      </p:sp>
      <p:sp>
        <p:nvSpPr>
          <p:cNvPr id="92" name="TextBox 92"/>
          <p:cNvSpPr txBox="1"/>
          <p:nvPr/>
        </p:nvSpPr>
        <p:spPr>
          <a:xfrm>
            <a:off x="594360" y="6556248"/>
            <a:ext cx="4937760" cy="164592"/>
          </a:xfrm>
          <a:prstGeom prst="rect">
            <a:avLst/>
          </a:prstGeom>
          <a:solidFill>
            <a:srgbClr val="7F1D1D"/>
          </a:solidFill>
          <a:ln>
            <a:solidFill>
              <a:srgbClr val="7F1D1D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sz="760" dirty="0">
                <a:solidFill>
                  <a:srgbClr val="FEE2E2"/>
                </a:solidFill>
                <a:latin typeface="Microsoft YaHei"/>
                <a:ea typeface="Microsoft YaHei"/>
              </a:rPr>
              <a:t>共青团入团答辩 · 个人汇报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10927080" y="6556248"/>
            <a:ext cx="457200" cy="164592"/>
          </a:xfrm>
          <a:prstGeom prst="rect">
            <a:avLst/>
          </a:prstGeom>
          <a:solidFill>
            <a:srgbClr val="7F1D1D"/>
          </a:solidFill>
          <a:ln>
            <a:solidFill>
              <a:srgbClr val="7F1D1D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zh-CN" sz="760" dirty="0">
                <a:solidFill>
                  <a:srgbClr val="FEE2E2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68680" y="658368"/>
            <a:ext cx="685800" cy="411480"/>
          </a:xfrm>
          <a:prstGeom prst="roundRect">
            <a:avLst/>
          </a:prstGeom>
          <a:solidFill>
            <a:srgbClr val="C1121F"/>
          </a:solidFill>
          <a:ln>
            <a:solidFill>
              <a:srgbClr val="C1121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sz="1550" dirty="0">
                <a:solidFill>
                  <a:srgbClr val="FFFFFF"/>
                </a:solidFill>
                <a:b/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83080" y="594360"/>
            <a:ext cx="5166360" cy="475488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sz="2500" dirty="0">
                <a:solidFill>
                  <a:srgbClr val="111827"/>
                </a:solidFill>
                <a:b/>
                <a:latin typeface="Microsoft YaHei"/>
                <a:ea typeface="Microsoft YaHei"/>
              </a:rPr>
              <a:t>对共青团的认识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6112" y="1353312"/>
            <a:ext cx="5486400" cy="576072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sz="1450" dirty="0">
                <a:solidFill>
                  <a:srgbClr val="475569"/>
                </a:solidFill>
                <a:latin typeface="Microsoft YaHei"/>
                <a:ea typeface="Microsoft YaHei"/>
              </a:rPr>
              <a:t>共青团不只是身份，更是先进青年应有的责任标准。</a:t>
            </a:r>
          </a:p>
        </p:txBody>
      </p:sp>
      <p:sp>
        <p:nvSpPr>
          <p:cNvPr id="11" name="Shape 11"/>
          <p:cNvSpPr/>
          <p:nvPr/>
        </p:nvSpPr>
        <p:spPr>
          <a:xfrm>
            <a:off x="896112" y="2176272"/>
            <a:ext cx="571500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1115568" y="2487168"/>
            <a:ext cx="516636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marL="260000" indent="-155000">
              <a:buChar char="•"/>
            </a:pPr>
            <a:r>
              <a:rPr lang="zh-CN" sz="1800" dirty="0">
                <a:solidFill>
                  <a:srgbClr val="334155"/>
                </a:solidFill>
                <a:latin typeface="Microsoft YaHei"/>
                <a:ea typeface="Microsoft YaHei"/>
              </a:rPr>
              <a:t>思想上积极向上，主动靠近组织</a:t>
            </a:r>
          </a:p>
          <a:p>
            <a:pPr marL="260000" indent="-155000">
              <a:buChar char="•"/>
            </a:pPr>
            <a:r>
              <a:rPr lang="zh-CN" sz="1800" dirty="0">
                <a:solidFill>
                  <a:srgbClr val="334155"/>
                </a:solidFill>
                <a:latin typeface="Microsoft YaHei"/>
                <a:ea typeface="Microsoft YaHei"/>
              </a:rPr>
              <a:t>学习中追求进步，保持自我要求</a:t>
            </a:r>
          </a:p>
          <a:p>
            <a:pPr marL="260000" indent="-155000">
              <a:buChar char="•"/>
            </a:pPr>
            <a:r>
              <a:rPr lang="zh-CN" sz="1800" dirty="0">
                <a:solidFill>
                  <a:srgbClr val="334155"/>
                </a:solidFill>
                <a:latin typeface="Microsoft YaHei"/>
                <a:ea typeface="Microsoft YaHei"/>
              </a:rPr>
              <a:t>集体中愿意服务他人、承担事务</a:t>
            </a:r>
          </a:p>
          <a:p>
            <a:pPr marL="260000" indent="-155000">
              <a:buChar char="•"/>
            </a:pPr>
            <a:r>
              <a:rPr lang="zh-CN" sz="1800" dirty="0">
                <a:solidFill>
                  <a:srgbClr val="334155"/>
                </a:solidFill>
                <a:latin typeface="Microsoft YaHei"/>
                <a:ea typeface="Microsoft YaHei"/>
              </a:rPr>
              <a:t>实践中敢于尝试，把成长融入需要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15568" y="4919472"/>
            <a:ext cx="45262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sz="1180" dirty="0">
                <a:solidFill>
                  <a:srgbClr val="C1121F"/>
                </a:solidFill>
                <a:b/>
                <a:latin typeface="Microsoft YaHei"/>
                <a:ea typeface="Microsoft YaHei"/>
              </a:rPr>
              <a:t>先进性 · 服务性 · 实践性</a:t>
            </a:r>
          </a:p>
        </p:txBody>
      </p:sp>
      <p:sp>
        <p:nvSpPr>
          <p:cNvPr id="14" name="Shape 14"/>
          <p:cNvSpPr/>
          <p:nvPr/>
        </p:nvSpPr>
        <p:spPr>
          <a:xfrm>
            <a:off x="7132320" y="1143000"/>
            <a:ext cx="416052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/>
          <a:lstStyle/>
          <a:p/>
        </p:txBody>
      </p:sp>
      <p:pic>
        <p:nvPicPr>
          <p:cNvPr id="15" name="you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1417320"/>
            <a:ext cx="3730752" cy="2331720"/>
          </a:xfrm>
          <a:prstGeom prst="rect">
            <a:avLst/>
          </a:prstGeom>
        </p:spPr>
      </p:pic>
      <p:sp>
        <p:nvSpPr>
          <p:cNvPr id="16" name="Shape 16"/>
          <p:cNvSpPr/>
          <p:nvPr/>
        </p:nvSpPr>
        <p:spPr>
          <a:xfrm>
            <a:off x="6876288" y="5376672"/>
            <a:ext cx="658368" cy="73152"/>
          </a:xfrm>
          <a:prstGeom prst="rect">
            <a:avLst/>
          </a:prstGeom>
          <a:solidFill>
            <a:srgbClr val="C1121F"/>
          </a:solidFill>
          <a:ln>
            <a:solidFill>
              <a:srgbClr val="C1121F"/>
            </a:solidFill>
          </a:ln>
        </p:spPr>
        <p:txBody>
          <a:bodyPr/>
          <a:lstStyle/>
          <a:p/>
        </p:txBody>
      </p:sp>
      <p:sp>
        <p:nvSpPr>
          <p:cNvPr id="17" name="TextBox 17"/>
          <p:cNvSpPr txBox="1"/>
          <p:nvPr/>
        </p:nvSpPr>
        <p:spPr>
          <a:xfrm>
            <a:off x="7662672" y="5175504"/>
            <a:ext cx="3063240" cy="438912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b/>
                <a:latin typeface="Microsoft YaHei"/>
                <a:ea typeface="Microsoft YaHei"/>
              </a:rPr>
              <a:t>答辩关键词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C1121F"/>
          </a:solidFill>
          <a:ln>
            <a:solidFill>
              <a:srgbClr val="C1121F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6446520"/>
            <a:ext cx="12191999" cy="411480"/>
          </a:xfrm>
          <a:prstGeom prst="rect">
            <a:avLst/>
          </a:prstGeom>
          <a:solidFill>
            <a:srgbClr val="7F1D1D"/>
          </a:solidFill>
          <a:ln>
            <a:solidFill>
              <a:srgbClr val="7F1D1D"/>
            </a:solidFill>
          </a:ln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566928" y="530352"/>
            <a:ext cx="164592" cy="5440680"/>
          </a:xfrm>
          <a:prstGeom prst="rect">
            <a:avLst/>
          </a:prstGeom>
          <a:solidFill>
            <a:srgbClr val="C1121F"/>
          </a:solidFill>
          <a:ln>
            <a:solidFill>
              <a:srgbClr val="C1121F"/>
            </a:solidFill>
          </a:ln>
        </p:spPr>
        <p:txBody>
          <a:bodyPr/>
          <a:lstStyle/>
          <a:p/>
        </p:txBody>
      </p:sp>
      <p:sp>
        <p:nvSpPr>
          <p:cNvPr id="6" name="Shape 6"/>
          <p:cNvSpPr/>
          <p:nvPr/>
        </p:nvSpPr>
        <p:spPr>
          <a:xfrm>
            <a:off x="10012680" y="-438912"/>
            <a:ext cx="2560320" cy="2560320"/>
          </a:xfrm>
          <a:prstGeom prst="ellipse">
            <a:avLst/>
          </a:prstGeom>
          <a:solidFill>
            <a:srgbClr val="FCA5A5">
              <a:alpha val="17000"/>
            </a:srgbClr>
          </a:solidFill>
          <a:ln>
            <a:solidFill>
              <a:srgbClr val="FCA5A5"/>
            </a:solidFill>
          </a:ln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10771632" y="502920"/>
            <a:ext cx="1097280" cy="1097280"/>
          </a:xfrm>
          <a:prstGeom prst="ellipse">
            <a:avLst/>
          </a:prstGeom>
          <a:solidFill>
            <a:srgbClr val="DBEAFE">
              <a:alpha val="45000"/>
            </a:srgbClr>
          </a:solidFill>
          <a:ln>
            <a:solidFill>
              <a:srgbClr val="DBEAFE"/>
            </a:solidFill>
          </a:ln>
        </p:spPr>
        <p:txBody>
          <a:bodyPr/>
          <a:lstStyle/>
          <a:p/>
        </p:txBody>
      </p:sp>
      <p:sp>
        <p:nvSpPr>
          <p:cNvPr id="92" name="TextBox 92"/>
          <p:cNvSpPr txBox="1"/>
          <p:nvPr/>
        </p:nvSpPr>
        <p:spPr>
          <a:xfrm>
            <a:off x="594360" y="6556248"/>
            <a:ext cx="4937760" cy="164592"/>
          </a:xfrm>
          <a:prstGeom prst="rect">
            <a:avLst/>
          </a:prstGeom>
          <a:solidFill>
            <a:srgbClr val="7F1D1D"/>
          </a:solidFill>
          <a:ln>
            <a:solidFill>
              <a:srgbClr val="7F1D1D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sz="760" dirty="0">
                <a:solidFill>
                  <a:srgbClr val="FEE2E2"/>
                </a:solidFill>
                <a:latin typeface="Microsoft YaHei"/>
                <a:ea typeface="Microsoft YaHei"/>
              </a:rPr>
              <a:t>共青团入团答辩 · 个人汇报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10927080" y="6556248"/>
            <a:ext cx="457200" cy="164592"/>
          </a:xfrm>
          <a:prstGeom prst="rect">
            <a:avLst/>
          </a:prstGeom>
          <a:solidFill>
            <a:srgbClr val="7F1D1D"/>
          </a:solidFill>
          <a:ln>
            <a:solidFill>
              <a:srgbClr val="7F1D1D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zh-CN" sz="760" dirty="0">
                <a:solidFill>
                  <a:srgbClr val="FEE2E2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68680" y="658368"/>
            <a:ext cx="685800" cy="411480"/>
          </a:xfrm>
          <a:prstGeom prst="roundRect">
            <a:avLst/>
          </a:prstGeom>
          <a:solidFill>
            <a:srgbClr val="C1121F"/>
          </a:solidFill>
          <a:ln>
            <a:solidFill>
              <a:srgbClr val="C1121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sz="1550" dirty="0">
                <a:solidFill>
                  <a:srgbClr val="FFFFFF"/>
                </a:solidFill>
                <a:b/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83080" y="594360"/>
            <a:ext cx="5166360" cy="475488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sz="2500" dirty="0">
                <a:solidFill>
                  <a:srgbClr val="111827"/>
                </a:solidFill>
                <a:b/>
                <a:latin typeface="Microsoft YaHei"/>
                <a:ea typeface="Microsoft YaHei"/>
              </a:rPr>
              <a:t>入团后的努力方向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6112" y="1353312"/>
            <a:ext cx="5486400" cy="576072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sz="1450" dirty="0">
                <a:solidFill>
                  <a:srgbClr val="475569"/>
                </a:solidFill>
                <a:latin typeface="Microsoft YaHei"/>
                <a:ea typeface="Microsoft YaHei"/>
              </a:rPr>
              <a:t>用更高标准要求自己，把认识落实到学习、实践和服务中。</a:t>
            </a:r>
          </a:p>
        </p:txBody>
      </p:sp>
      <p:sp>
        <p:nvSpPr>
          <p:cNvPr id="11" name="Shape 11"/>
          <p:cNvSpPr/>
          <p:nvPr/>
        </p:nvSpPr>
        <p:spPr>
          <a:xfrm>
            <a:off x="896112" y="2176272"/>
            <a:ext cx="571500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1115568" y="2487168"/>
            <a:ext cx="516636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marL="260000" indent="-155000">
              <a:buChar char="•"/>
            </a:pPr>
            <a:r>
              <a:rPr lang="zh-CN" sz="1800" dirty="0">
                <a:solidFill>
                  <a:srgbClr val="334155"/>
                </a:solidFill>
                <a:latin typeface="Microsoft YaHei"/>
                <a:ea typeface="Microsoft YaHei"/>
              </a:rPr>
              <a:t>保持学习稳定进步，补齐不足</a:t>
            </a:r>
          </a:p>
          <a:p>
            <a:pPr marL="260000" indent="-155000">
              <a:buChar char="•"/>
            </a:pPr>
            <a:r>
              <a:rPr lang="zh-CN" sz="1800" dirty="0">
                <a:solidFill>
                  <a:srgbClr val="334155"/>
                </a:solidFill>
                <a:latin typeface="Microsoft YaHei"/>
                <a:ea typeface="Microsoft YaHei"/>
              </a:rPr>
              <a:t>继续投入智能车、蓝桥杯等科创实践</a:t>
            </a:r>
          </a:p>
          <a:p>
            <a:pPr marL="260000" indent="-155000">
              <a:buChar char="•"/>
            </a:pPr>
            <a:r>
              <a:rPr lang="zh-CN" sz="1800" dirty="0">
                <a:solidFill>
                  <a:srgbClr val="334155"/>
                </a:solidFill>
                <a:latin typeface="Microsoft YaHei"/>
                <a:ea typeface="Microsoft YaHei"/>
              </a:rPr>
              <a:t>积极参与班级、实验室和学校活动</a:t>
            </a:r>
          </a:p>
          <a:p>
            <a:pPr marL="260000" indent="-155000">
              <a:buChar char="•"/>
            </a:pPr>
            <a:r>
              <a:rPr lang="zh-CN" sz="1800" dirty="0">
                <a:solidFill>
                  <a:srgbClr val="334155"/>
                </a:solidFill>
                <a:latin typeface="Microsoft YaHei"/>
                <a:ea typeface="Microsoft YaHei"/>
              </a:rPr>
              <a:t>主动承担任务，接受组织和同学监督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15568" y="4919472"/>
            <a:ext cx="45262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sz="1180" dirty="0">
                <a:solidFill>
                  <a:srgbClr val="C1121F"/>
                </a:solidFill>
                <a:b/>
                <a:latin typeface="Microsoft YaHei"/>
                <a:ea typeface="Microsoft YaHei"/>
              </a:rPr>
              <a:t>汇报完毕，谢谢大家</a:t>
            </a:r>
          </a:p>
        </p:txBody>
      </p:sp>
      <p:sp>
        <p:nvSpPr>
          <p:cNvPr id="14" name="Shape 14"/>
          <p:cNvSpPr/>
          <p:nvPr/>
        </p:nvSpPr>
        <p:spPr>
          <a:xfrm>
            <a:off x="7132320" y="1143000"/>
            <a:ext cx="416052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/>
          <a:lstStyle/>
          <a:p/>
        </p:txBody>
      </p:sp>
      <p:pic>
        <p:nvPicPr>
          <p:cNvPr id="15" name="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1417320"/>
            <a:ext cx="3730752" cy="2331720"/>
          </a:xfrm>
          <a:prstGeom prst="rect">
            <a:avLst/>
          </a:prstGeom>
        </p:spPr>
      </p:pic>
      <p:sp>
        <p:nvSpPr>
          <p:cNvPr id="16" name="Shape 16"/>
          <p:cNvSpPr/>
          <p:nvPr/>
        </p:nvSpPr>
        <p:spPr>
          <a:xfrm>
            <a:off x="6876288" y="5376672"/>
            <a:ext cx="658368" cy="73152"/>
          </a:xfrm>
          <a:prstGeom prst="rect">
            <a:avLst/>
          </a:prstGeom>
          <a:solidFill>
            <a:srgbClr val="C1121F"/>
          </a:solidFill>
          <a:ln>
            <a:solidFill>
              <a:srgbClr val="C1121F"/>
            </a:solidFill>
          </a:ln>
        </p:spPr>
        <p:txBody>
          <a:bodyPr/>
          <a:lstStyle/>
          <a:p/>
        </p:txBody>
      </p:sp>
      <p:sp>
        <p:nvSpPr>
          <p:cNvPr id="17" name="TextBox 17"/>
          <p:cNvSpPr txBox="1"/>
          <p:nvPr/>
        </p:nvSpPr>
        <p:spPr>
          <a:xfrm>
            <a:off x="7662672" y="5175504"/>
            <a:ext cx="3063240" cy="438912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b/>
                <a:latin typeface="Microsoft YaHei"/>
                <a:ea typeface="Microsoft YaHei"/>
              </a:rPr>
              <a:t>答辩关键词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YouthLeague">
  <a:themeElements>
    <a:clrScheme name="YouthLeague">
      <a:dk1>
        <a:srgbClr val="111827"/>
      </a:dk1>
      <a:lt1>
        <a:srgbClr val="FFFFFF"/>
      </a:lt1>
      <a:dk2>
        <a:srgbClr val="334155"/>
      </a:dk2>
      <a:lt2>
        <a:srgbClr val="F8FAFC"/>
      </a:lt2>
      <a:accent1>
        <a:srgbClr val="C1121F"/>
      </a:accent1>
      <a:accent2>
        <a:srgbClr val="1D4ED8"/>
      </a:accent2>
      <a:accent3>
        <a:srgbClr val="7F1D1D"/>
      </a:accent3>
      <a:accent4>
        <a:srgbClr val="FEE2E2"/>
      </a:accent4>
      <a:accent5>
        <a:srgbClr val="DBEAFE"/>
      </a:accent5>
      <a:accent6>
        <a:srgbClr val="64748B"/>
      </a:accent6>
      <a:hlink>
        <a:srgbClr val="2563EB"/>
      </a:hlink>
      <a:folHlink>
        <a:srgbClr val="7C3AED"/>
      </a:folHlink>
    </a:clrScheme>
    <a:fontScheme name="Microsoft 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宽屏</PresentationFormat>
  <Slides>6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团员入团答辩-傅思雄-美化版</dc:title>
  <dc:creator>Codex</dc:creator>
  <cp:lastModifiedBy>Codex</cp:lastModifiedBy>
</cp:coreProperties>
</file>