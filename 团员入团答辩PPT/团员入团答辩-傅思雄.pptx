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1143000"/>
            <a:ext cx="7132320" cy="77724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500" dirty="0">
                <a:solidFill>
                  <a:srgbClr val="B91C1C"/>
                </a:solidFill>
                <a:latin typeface="Microsoft YaHei"/>
                <a:ea typeface="Microsoft YaHei"/>
              </a:rPr>
              <a:t>申请入团 · 个人汇报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80" y="1874519"/>
            <a:ext cx="7132320" cy="82296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420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团员入团答辩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2971800"/>
            <a:ext cx="7132320" cy="109728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100" dirty="0">
                <a:solidFill>
                  <a:srgbClr val="374151"/>
                </a:solidFill>
                <a:latin typeface="Microsoft YaHei"/>
                <a:ea typeface="Microsoft YaHei"/>
              </a:rPr>
              <a:t>以青年担当融入集体</a:t>
            </a:r>
          </a:p>
          <a:p>
            <a:pPr algn="l"/>
            <a:r>
              <a:rPr lang="zh-CN" sz="2100" dirty="0">
                <a:solidFill>
                  <a:srgbClr val="374151"/>
                </a:solidFill>
                <a:latin typeface="Microsoft YaHei"/>
                <a:ea typeface="Microsoft YaHei"/>
              </a:rPr>
              <a:t>以实践行动靠近团组织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983480"/>
            <a:ext cx="4389120" cy="41148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650" dirty="0">
                <a:solidFill>
                  <a:srgbClr val="4B5563"/>
                </a:solidFill>
                <a:latin typeface="Microsoft YaHei"/>
                <a:ea typeface="Microsoft YaHei"/>
              </a:rPr>
              <a:t>自控2401  傅思雄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0" y="4681728"/>
            <a:ext cx="2514600" cy="685800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1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答辩时长：2分钟</a:t>
            </a:r>
          </a:p>
        </p:txBody>
      </p:sp>
      <p:sp>
        <p:nvSpPr>
          <p:cNvPr id="13" name="Shape 13"/>
          <p:cNvSpPr/>
          <p:nvPr/>
        </p:nvSpPr>
        <p:spPr>
          <a:xfrm>
            <a:off x="8046720" y="1325880"/>
            <a:ext cx="2468880" cy="246888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366760" y="1938528"/>
            <a:ext cx="1828800" cy="82296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入团</a:t>
            </a:r>
          </a:p>
          <a:p>
            <a:pPr algn="ctr"/>
            <a:r>
              <a:rPr lang="zh-CN" sz="240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713232"/>
            <a:ext cx="960120" cy="56692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7088" y="658368"/>
            <a:ext cx="6949440" cy="65836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85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个人基本情况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1508760"/>
            <a:ext cx="5394960" cy="3657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22960" y="1783080"/>
            <a:ext cx="8915400" cy="74980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00" dirty="0">
                <a:solidFill>
                  <a:srgbClr val="4B5563"/>
                </a:solidFill>
                <a:latin typeface="Microsoft YaHei"/>
                <a:ea typeface="Microsoft YaHei"/>
              </a:rPr>
              <a:t>踏实学习，主动实践，在集体中承担力所能及的责任。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2743200"/>
            <a:ext cx="7452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txBody>
          <a:bodyPr wrap="square" rtlCol="0">
            <a:spAutoFit/>
          </a:bodyPr>
          <a:lstStyle/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班级：自控2401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姓名：傅思雄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绩点：3.3 / 4.33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任职/实践：实验室助理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5230368"/>
            <a:ext cx="6400800" cy="438912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关键词：踏实、主动、责任感</a:t>
            </a:r>
          </a:p>
        </p:txBody>
      </p:sp>
      <p:sp>
        <p:nvSpPr>
          <p:cNvPr id="14" name="Shape 14"/>
          <p:cNvSpPr/>
          <p:nvPr/>
        </p:nvSpPr>
        <p:spPr>
          <a:xfrm>
            <a:off x="9006840" y="2212848"/>
            <a:ext cx="1600200" cy="16002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308592" y="2679192"/>
            <a:ext cx="100584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6" name="Shape 16"/>
          <p:cNvSpPr/>
          <p:nvPr/>
        </p:nvSpPr>
        <p:spPr>
          <a:xfrm>
            <a:off x="9829800" y="3977639"/>
            <a:ext cx="822960" cy="822960"/>
          </a:xfrm>
          <a:prstGeom prst="ellipse">
            <a:avLst/>
          </a:prstGeom>
          <a:solidFill>
            <a:srgbClr val="FCA5A5">
              <a:alpha val="45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713232"/>
            <a:ext cx="960120" cy="56692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7088" y="658368"/>
            <a:ext cx="6949440" cy="65836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85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学习与科创实践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1508760"/>
            <a:ext cx="5394960" cy="3657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22960" y="1783080"/>
            <a:ext cx="8915400" cy="74980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00" dirty="0">
                <a:solidFill>
                  <a:srgbClr val="4B5563"/>
                </a:solidFill>
                <a:latin typeface="Microsoft YaHei"/>
                <a:ea typeface="Microsoft YaHei"/>
              </a:rPr>
              <a:t>把专业学习延伸到真实问题中，在竞赛训练中提升解决问题能力。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2743200"/>
            <a:ext cx="7452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txBody>
          <a:bodyPr wrap="square" rtlCol="0">
            <a:spAutoFit/>
          </a:bodyPr>
          <a:lstStyle/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正在参与智能车相关训练与实践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蓝桥杯：省级一等奖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蓝桥杯国赛成绩：等待公布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通过竞赛锻炼编程、调试和持续复盘能力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5230368"/>
            <a:ext cx="6400800" cy="438912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关键词：专业学习、科创竞赛、实践能力</a:t>
            </a:r>
          </a:p>
        </p:txBody>
      </p:sp>
      <p:sp>
        <p:nvSpPr>
          <p:cNvPr id="14" name="Shape 14"/>
          <p:cNvSpPr/>
          <p:nvPr/>
        </p:nvSpPr>
        <p:spPr>
          <a:xfrm>
            <a:off x="9006840" y="2212848"/>
            <a:ext cx="1600200" cy="16002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308592" y="2679192"/>
            <a:ext cx="100584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Shape 16"/>
          <p:cNvSpPr/>
          <p:nvPr/>
        </p:nvSpPr>
        <p:spPr>
          <a:xfrm>
            <a:off x="9829800" y="3977639"/>
            <a:ext cx="822960" cy="822960"/>
          </a:xfrm>
          <a:prstGeom prst="ellipse">
            <a:avLst/>
          </a:prstGeom>
          <a:solidFill>
            <a:srgbClr val="FCA5A5">
              <a:alpha val="45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713232"/>
            <a:ext cx="960120" cy="56692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7088" y="658368"/>
            <a:ext cx="6949440" cy="65836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85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实验室助理经历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1508760"/>
            <a:ext cx="5394960" cy="3657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22960" y="1783080"/>
            <a:ext cx="8915400" cy="74980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00" dirty="0">
                <a:solidFill>
                  <a:srgbClr val="4B5563"/>
                </a:solidFill>
                <a:latin typeface="Microsoft YaHei"/>
                <a:ea typeface="Microsoft YaHei"/>
              </a:rPr>
              <a:t>正式学生干部经历不多，但在具体事务中学习服务集体。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2743200"/>
            <a:ext cx="7452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txBody>
          <a:bodyPr wrap="square" rtlCol="0">
            <a:spAutoFit/>
          </a:bodyPr>
          <a:lstStyle/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协助实验室日常整理与维护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配合完成设备、资料和实验准备工作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在基础事务中培养责任心与耐心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理解“小事做好”也是服务集体的一部分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5230368"/>
            <a:ext cx="6400800" cy="438912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关键词：服务意识、协作意识、执行力</a:t>
            </a:r>
          </a:p>
        </p:txBody>
      </p:sp>
      <p:sp>
        <p:nvSpPr>
          <p:cNvPr id="14" name="Shape 14"/>
          <p:cNvSpPr/>
          <p:nvPr/>
        </p:nvSpPr>
        <p:spPr>
          <a:xfrm>
            <a:off x="9006840" y="2212848"/>
            <a:ext cx="1600200" cy="16002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308592" y="2679192"/>
            <a:ext cx="100584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9829800" y="3977639"/>
            <a:ext cx="822960" cy="822960"/>
          </a:xfrm>
          <a:prstGeom prst="ellipse">
            <a:avLst/>
          </a:prstGeom>
          <a:solidFill>
            <a:srgbClr val="FCA5A5">
              <a:alpha val="45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713232"/>
            <a:ext cx="960120" cy="56692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7088" y="658368"/>
            <a:ext cx="6949440" cy="65836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85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我对共青团的认识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1508760"/>
            <a:ext cx="5394960" cy="3657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22960" y="1783080"/>
            <a:ext cx="8915400" cy="74980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00" dirty="0">
                <a:solidFill>
                  <a:srgbClr val="4B5563"/>
                </a:solidFill>
                <a:latin typeface="Microsoft YaHei"/>
                <a:ea typeface="Microsoft YaHei"/>
              </a:rPr>
              <a:t>共青团不只是身份，更是先进青年应有的责任意识和行动标准。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2743200"/>
            <a:ext cx="7452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txBody>
          <a:bodyPr wrap="square" rtlCol="0">
            <a:spAutoFit/>
          </a:bodyPr>
          <a:lstStyle/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思想上积极向上，主动靠近先进组织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学习中追求进步，保持自我要求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集体中愿意服务他人，承担具体事务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实践中敢于尝试，把个人成长融入集体需要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5230368"/>
            <a:ext cx="6400800" cy="438912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关键词：先进性、服务性、实践性</a:t>
            </a:r>
          </a:p>
        </p:txBody>
      </p:sp>
      <p:sp>
        <p:nvSpPr>
          <p:cNvPr id="14" name="Shape 14"/>
          <p:cNvSpPr/>
          <p:nvPr/>
        </p:nvSpPr>
        <p:spPr>
          <a:xfrm>
            <a:off x="9006840" y="2212848"/>
            <a:ext cx="1600200" cy="16002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308592" y="2679192"/>
            <a:ext cx="100584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6" name="Shape 16"/>
          <p:cNvSpPr/>
          <p:nvPr/>
        </p:nvSpPr>
        <p:spPr>
          <a:xfrm>
            <a:off x="9829800" y="3977639"/>
            <a:ext cx="822960" cy="822960"/>
          </a:xfrm>
          <a:prstGeom prst="ellipse">
            <a:avLst/>
          </a:prstGeom>
          <a:solidFill>
            <a:srgbClr val="FCA5A5">
              <a:alpha val="45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164592"/>
            <a:ext cx="146304" cy="616305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21240" y="-256032"/>
            <a:ext cx="2651760" cy="2651760"/>
          </a:xfrm>
          <a:prstGeom prst="ellipse">
            <a:avLst/>
          </a:prstGeom>
          <a:solidFill>
            <a:srgbClr val="FCA5A5">
              <a:alpha val="22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469880" y="329184"/>
            <a:ext cx="1691640" cy="1691640"/>
          </a:xfrm>
          <a:prstGeom prst="ellipse">
            <a:avLst/>
          </a:prstGeom>
          <a:solidFill>
            <a:srgbClr val="EF4444">
              <a:alpha val="18000"/>
            </a:srgbClr>
          </a:solidFill>
          <a:ln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411480" y="6464808"/>
            <a:ext cx="566928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共青团入团答辩 · 个人汇报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1360" y="6464808"/>
            <a:ext cx="685800" cy="219456"/>
          </a:xfrm>
          <a:prstGeom prst="rect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CN" sz="850" dirty="0">
                <a:solidFill>
                  <a:srgbClr val="FEE2E2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713232"/>
            <a:ext cx="960120" cy="566928"/>
          </a:xfrm>
          <a:prstGeom prst="round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550" dirty="0">
                <a:solidFill>
                  <a:srgbClr val="FFFFFF"/>
                </a:solidFill>
                <a:b/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7088" y="658368"/>
            <a:ext cx="6949440" cy="65836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2850" dirty="0">
                <a:solidFill>
                  <a:srgbClr val="111827"/>
                </a:solidFill>
                <a:b/>
                <a:latin typeface="Microsoft YaHei"/>
                <a:ea typeface="Microsoft YaHei"/>
              </a:rPr>
              <a:t>入团后的努力方向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1508760"/>
            <a:ext cx="5394960" cy="36576"/>
          </a:xfrm>
          <a:prstGeom prst="rect">
            <a:avLst/>
          </a:prstGeom>
          <a:solidFill>
            <a:srgbClr val="C1121F"/>
          </a:solidFill>
          <a:ln>
            <a:solidFill>
              <a:srgbClr val="C1121F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22960" y="1783080"/>
            <a:ext cx="8915400" cy="749808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700" dirty="0">
                <a:solidFill>
                  <a:srgbClr val="4B5563"/>
                </a:solidFill>
                <a:latin typeface="Microsoft YaHei"/>
                <a:ea typeface="Microsoft YaHei"/>
              </a:rPr>
              <a:t>以更高标准要求自己，把认识落实到学习、实践和服务中。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2743200"/>
            <a:ext cx="7452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txBody>
          <a:bodyPr wrap="square" rtlCol="0">
            <a:spAutoFit/>
          </a:bodyPr>
          <a:lstStyle/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保持学习稳定进步，补齐不足、提高绩点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继续投入智能车、蓝桥杯等科创实践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积极参与班级、实验室和学校活动</a:t>
            </a:r>
          </a:p>
          <a:p>
            <a:pPr marL="300000" indent="-180000">
              <a:buChar char="•"/>
            </a:pPr>
            <a:r>
              <a:rPr lang="zh-CN" sz="2050" dirty="0">
                <a:solidFill>
                  <a:srgbClr val="334155"/>
                </a:solidFill>
                <a:latin typeface="Microsoft YaHei"/>
                <a:ea typeface="Microsoft YaHei"/>
              </a:rPr>
              <a:t>在需要时主动承担任务，接受组织和同学监督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5230368"/>
            <a:ext cx="6400800" cy="438912"/>
          </a:xfrm>
          <a:prstGeom prst="rect">
            <a:avLst/>
          </a:prstGeom>
          <a:solidFill>
            <a:srgbClr val="FAFAF9"/>
          </a:solidFill>
          <a:ln>
            <a:solidFill>
              <a:srgbClr val="FAFAF9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sz="1450" dirty="0">
                <a:solidFill>
                  <a:srgbClr val="B91C1C"/>
                </a:solidFill>
                <a:b/>
                <a:latin typeface="Microsoft YaHei"/>
                <a:ea typeface="Microsoft YaHei"/>
              </a:rPr>
              <a:t>汇报完毕，谢谢大家</a:t>
            </a:r>
          </a:p>
        </p:txBody>
      </p:sp>
      <p:sp>
        <p:nvSpPr>
          <p:cNvPr id="14" name="Shape 14"/>
          <p:cNvSpPr/>
          <p:nvPr/>
        </p:nvSpPr>
        <p:spPr>
          <a:xfrm>
            <a:off x="9006840" y="2212848"/>
            <a:ext cx="1600200" cy="16002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308592" y="2679192"/>
            <a:ext cx="100584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rgbClr val="C1121F"/>
                </a:solidFill>
                <a:b/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6" name="Shape 16"/>
          <p:cNvSpPr/>
          <p:nvPr/>
        </p:nvSpPr>
        <p:spPr>
          <a:xfrm>
            <a:off x="9829800" y="3977639"/>
            <a:ext cx="822960" cy="822960"/>
          </a:xfrm>
          <a:prstGeom prst="ellipse">
            <a:avLst/>
          </a:prstGeom>
          <a:solidFill>
            <a:srgbClr val="FCA5A5">
              <a:alpha val="45000"/>
            </a:srgbClr>
          </a:solidFill>
          <a:ln>
            <a:solidFill>
              <a:srgbClr val="FCA5A5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thLeague">
  <a:themeElements>
    <a:clrScheme name="YouthLeague">
      <a:dk1>
        <a:srgbClr val="111827"/>
      </a:dk1>
      <a:lt1>
        <a:srgbClr val="FFFFFF"/>
      </a:lt1>
      <a:dk2>
        <a:srgbClr val="334155"/>
      </a:dk2>
      <a:lt2>
        <a:srgbClr val="FAFAF9"/>
      </a:lt2>
      <a:accent1>
        <a:srgbClr val="C1121F"/>
      </a:accent1>
      <a:accent2>
        <a:srgbClr val="FCA5A5"/>
      </a:accent2>
      <a:accent3>
        <a:srgbClr val="7F1D1D"/>
      </a:accent3>
      <a:accent4>
        <a:srgbClr val="FEE2E2"/>
      </a:accent4>
      <a:accent5>
        <a:srgbClr val="B91C1C"/>
      </a:accent5>
      <a:accent6>
        <a:srgbClr val="4B5563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团员入团答辩-傅思雄</dc:title>
  <dc:creator>Codex</dc:creator>
  <cp:lastModifiedBy>Codex</cp:lastModifiedBy>
</cp:coreProperties>
</file>