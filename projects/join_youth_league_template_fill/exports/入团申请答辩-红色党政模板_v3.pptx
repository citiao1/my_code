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300"/>
    <a:srgbClr val="B92A36"/>
    <a:srgbClr val="962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4" d="100"/>
          <a:sy n="104" d="100"/>
        </p:scale>
        <p:origin x="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当前状态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汉仪旗黑 55简" panose="00020600040101010101" pitchFamily="18" charset="-122"/>
                    <a:ea typeface="汉仪旗黑 55简" panose="00020600040101010101" pitchFamily="18" charset="-122"/>
                    <a:cs typeface="+mn-cs"/>
                    <a:sym typeface="汉仪旗黑 55简" panose="00020600040101010101" pitchFamily="18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4="http://schemas.microsoft.com/office/drawing/2012/chart" xmlns:mc="http://schemas.openxmlformats.org/markup-compatibility/2006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学习进步</c:v>
                </c:pt>
                <c:pt idx="1">
                  <c:v>科创训练</c:v>
                </c:pt>
                <c:pt idx="2">
                  <c:v>实践服务</c:v>
                </c:pt>
                <c:pt idx="3">
                  <c:v>团组织认知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72</c:v>
                </c:pt>
                <c:pt idx="2">
                  <c:v>66</c:v>
                </c:pt>
                <c:pt idx="3">
                  <c:v>80</c:v>
                </c:pt>
              </c:numCache>
            </c:numRef>
          </c:val>
          <c:extLst xmlns:ns4="http://schemas.microsoft.com/office/drawing/2012/chart" xmlns:mc="http://schemas.openxmlformats.org/markup-compatibility/2006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CCEA-4818-BCB4-2D3069CEE1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目标标准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汉仪旗黑 55简" panose="00020600040101010101" pitchFamily="18" charset="-122"/>
                    <a:ea typeface="汉仪旗黑 55简" panose="00020600040101010101" pitchFamily="18" charset="-122"/>
                    <a:cs typeface="+mn-cs"/>
                    <a:sym typeface="汉仪旗黑 55简" panose="00020600040101010101" pitchFamily="18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4="http://schemas.microsoft.com/office/drawing/2012/chart" xmlns:mc="http://schemas.openxmlformats.org/markup-compatibility/2006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学习进步</c:v>
                </c:pt>
                <c:pt idx="1">
                  <c:v>科创训练</c:v>
                </c:pt>
                <c:pt idx="2">
                  <c:v>实践服务</c:v>
                </c:pt>
                <c:pt idx="3">
                  <c:v>团组织认知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88</c:v>
                </c:pt>
                <c:pt idx="2">
                  <c:v>85</c:v>
                </c:pt>
                <c:pt idx="3">
                  <c:v>92</c:v>
                </c:pt>
              </c:numCache>
            </c:numRef>
          </c:val>
          <c:extLst xmlns:ns4="http://schemas.microsoft.com/office/drawing/2012/chart" xmlns:mc="http://schemas.openxmlformats.org/markup-compatibility/2006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1-CCEA-4818-BCB4-2D3069CEE1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9382016"/>
        <c:axId val="119385088"/>
      </c:barChart>
      <c:catAx>
        <c:axId val="1193820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+mn-cs"/>
                <a:sym typeface="汉仪旗黑 55简" panose="00020600040101010101" pitchFamily="18" charset="-122"/>
              </a:defRPr>
            </a:pPr>
            <a:endParaRPr lang="zh-CN"/>
          </a:p>
        </c:txPr>
        <c:crossAx val="119385088"/>
        <c:crosses val="autoZero"/>
        <c:auto val="1"/>
        <c:lblAlgn val="ctr"/>
        <c:lblOffset val="100"/>
        <c:noMultiLvlLbl val="0"/>
      </c:catAx>
      <c:valAx>
        <c:axId val="119385088"/>
        <c:scaling>
          <c:orientation val="minMax"/>
          <c:max val="100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+mn-cs"/>
                <a:sym typeface="汉仪旗黑 55简" panose="00020600040101010101" pitchFamily="18" charset="-122"/>
              </a:defRPr>
            </a:pPr>
            <a:endParaRPr lang="zh-CN"/>
          </a:p>
        </c:txPr>
        <c:crossAx val="119382016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400">
          <a:solidFill>
            <a:schemeClr val="bg1">
              <a:lumMod val="50000"/>
            </a:schemeClr>
          </a:solidFill>
          <a:latin typeface="汉仪旗黑 55简" panose="00020600040101010101" pitchFamily="18" charset="-122"/>
          <a:ea typeface="汉仪旗黑 55简" panose="00020600040101010101" pitchFamily="18" charset="-122"/>
          <a:sym typeface="汉仪旗黑 55简" panose="00020600040101010101" pitchFamily="18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3D999-399E-EB4F-98E6-08DBF15B69D3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16FB-0A03-0445-8DA5-63DF15F76E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各位老师、同学大家好，我是自控2401班的傅思雄。今天我将围绕个人基本情况、学习科创实践、服务经历以及对共青团的认识，汇报我的入团申请。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本次汇报分为四个部分。先介绍我的基本情况，再说明学习和科创实践，随后汇报服务集体的经历，最后谈谈我对共青团的认识和入团后的计划。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首先是个人基本情况。我来自自控2401班，希望通过入团申请，把个人成长放到更高标准和更强集体意识中去要求自己。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在个人表现方面，我的正式学生干部经历不算多，但我一直重视踏实完成任务。对我来说，入团不是一个标签，而是用更高标准推动自己成长。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这条成长路径概括了我现阶段的努力方向。从专业基础到竞赛训练，再到实验室助理和集体服务，我希望让每一步都更扎实。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对我来说，共青团不只是一个身份，更是一种先进青年的责任意识。如果能够加入团组织，我会继续在学习、实践和服务集体中用更高标准要求自己。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我的汇报到这里结束。感谢各位老师和同学的聆听，也恳请大家对我的不足提出批评指正。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857C-728E-5FC1-B3F1-6ED0E5F2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F9544-838A-4624-BD52-231A63D62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01F18-4C0E-F6CE-4C1E-DE15105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4A16B-B307-90B5-DA66-08ADC6F1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C2A10-B8AE-BFB0-0773-1DBB4536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5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CB1CB-90BE-936C-D9B1-F9D9E7E2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7BC1-3658-7FC5-53DC-CF1F3676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6EF35-47BE-AA04-5748-08D5E03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5838-268F-E1B4-36A0-531D6E52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BC0B-ED42-CF4B-B697-E830D2B1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3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F2773-B232-92A7-04DC-261FAA65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D3283-C676-B659-C254-92F17621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4CE1B-E913-2CF4-FE08-9602B6A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9FF8-0029-E97E-E4AB-34421895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84A7-8DA0-6198-77D0-5AEE42E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5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C5FF-C743-95D1-D547-2250158C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23CB2-F6B1-B26B-CDF8-1FE7E785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C4816-5357-77F7-2A33-F977570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0A2AB-7786-9A8A-7EBB-ED070F0F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EB03B-AE7D-73B5-E638-16E6A80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A821EB-21E3-D0F2-CE5F-7B89FB85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52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C47D-0290-43F2-9168-EF521FF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155A-8D31-E76F-02D4-72706148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E6EF6-7162-2B54-D3B8-3FBC8BB0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4DD03-E757-E83E-EA5F-1D047C32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CCBE0-C39D-5890-4DE2-034EA91DF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23A263-2F51-7082-C944-C4A9B86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39CE6B-1F61-87EF-7E95-ED709F20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8083D-C27A-0E6F-E193-5888C89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84293-C34D-9D9A-FFFF-ED27FD8D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095DD-E7A7-176C-D85B-43033401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A43F1-61EE-F47A-2574-578F862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FA7AA-E019-0F96-65B8-5F0B8177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2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E3140-DAEF-8A8A-980B-D2F7474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8ED03-9B82-9312-F0BE-73B5C046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593BD-F61B-AF9A-49C9-0B636E0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55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0E42-A961-963D-90E4-202EBFC6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ADBE-A375-F386-4578-DD49C27E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55AB-28E1-4FE4-13B9-393C15C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45DF2-61E1-84EB-D57A-AEE91D6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20BF5-9D41-C657-10AC-DCE7267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D866B6-1293-2546-B42E-8ABA6B29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9BEA2-55CE-F2DE-AEF0-7B4036EB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A6D1B-A955-B3F7-F392-7FCA427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75CA6-0778-B971-8CAA-54EC44F2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C39D9-4AF3-6D3C-F786-4F3762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1FADF-726A-E74D-DF9D-C2C07085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C25D0-4BB5-D0A1-F387-140CECD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B8CBA-B829-C26D-7B1B-1982E51E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0FA99-D64A-B6C2-46D3-DCCB8395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2A8B7-7B3D-EF57-DE2C-56763CF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847C-1BDF-228E-410A-88FEC810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7AC20-D16B-9EA3-6A0A-4CAA2CB1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37E7D8-F185-F506-2C71-DFF49490B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87CC7-FE5E-B1A0-AB4B-CE9891A7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4C23-D533-B380-3D1B-FBE0C4DB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B427D-CB0A-D0FA-5DFF-E699168D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503D1-454D-5676-C600-54A723F4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54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C0BD74-4CAB-2723-0135-493090D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AAABF-1CF1-84CA-FC63-AA8743FA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0CB0-1587-CCBC-A0B3-85F6922F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06191-0076-7BD0-4EAC-5F72A48C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556-7634-060D-B34C-70497F5ED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.xml"/><Relationship Id="rId7" Type="http://schemas.openxmlformats.org/officeDocument/2006/relationships/image" Target="../media/image2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2.xml"/><Relationship Id="rId7" Type="http://schemas.openxmlformats.org/officeDocument/2006/relationships/image" Target="../media/image2.sv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7.xml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5.xml"/><Relationship Id="rId7" Type="http://schemas.openxmlformats.org/officeDocument/2006/relationships/image" Target="../media/image2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8.xml"/><Relationship Id="rId7" Type="http://schemas.openxmlformats.org/officeDocument/2006/relationships/image" Target="../media/image2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1.xml"/><Relationship Id="rId7" Type="http://schemas.openxmlformats.org/officeDocument/2006/relationships/image" Target="../media/image2.sv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4.xml"/><Relationship Id="rId7" Type="http://schemas.openxmlformats.org/officeDocument/2006/relationships/image" Target="../media/image2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833609" y="1730059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入团申请答辩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452" y="1430952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E5FC4634-74C7-8DBF-1285-A6DC87565A6F}"/>
              </a:ext>
            </a:extLst>
          </p:cNvPr>
          <p:cNvGrpSpPr/>
          <p:nvPr/>
        </p:nvGrpSpPr>
        <p:grpSpPr>
          <a:xfrm>
            <a:off x="6539566" y="3176986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申请人汇报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899682" y="3835957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自控2401 傅思雄｜以实践行动靠近团组织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63272" y="2494062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19" y="3095853"/>
            <a:ext cx="2915740" cy="1097182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99C75111-3F81-365B-8343-EC1A5F716746}"/>
              </a:ext>
            </a:extLst>
          </p:cNvPr>
          <p:cNvSpPr txBox="1"/>
          <p:nvPr/>
        </p:nvSpPr>
        <p:spPr>
          <a:xfrm>
            <a:off x="833609" y="3095978"/>
            <a:ext cx="779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以青年担当融入集体</a:t>
            </a:r>
          </a:p>
        </p:txBody>
      </p:sp>
    </p:spTree>
    <p:extLst>
      <p:ext uri="{BB962C8B-B14F-4D97-AF65-F5344CB8AC3E}">
        <p14:creationId xmlns:p14="http://schemas.microsoft.com/office/powerpoint/2010/main" val="28431974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演示研究所 SlideLab.cc" descr="免费 城市建筑 素材图片">
            <a:extLst>
              <a:ext uri="{FF2B5EF4-FFF2-40B4-BE49-F238E27FC236}">
                <a16:creationId xmlns:a16="http://schemas.microsoft.com/office/drawing/2014/main" id="{B5A6496D-E9CC-918C-1E6E-84738306D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199101D4-A5F4-DA87-CE37-0921F339F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5756D49E-B239-7D8D-8A5C-80A3BB04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5423338"/>
            <a:ext cx="12192000" cy="143466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2D6F96E0-0FFC-C143-1584-14D7D4FB5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>
            <a:off x="0" y="-1"/>
            <a:ext cx="12192000" cy="162910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D7597F7A-18BA-A7C9-E57E-6E479BAC5ACF}"/>
              </a:ext>
            </a:extLst>
          </p:cNvPr>
          <p:cNvSpPr txBox="1"/>
          <p:nvPr/>
        </p:nvSpPr>
        <p:spPr>
          <a:xfrm>
            <a:off x="1233796" y="2458519"/>
            <a:ext cx="3402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pic>
        <p:nvPicPr>
          <p:cNvPr id="1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B11A2F9B-BC3A-541B-CC55-98F1AD357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31" y="2722796"/>
            <a:ext cx="3812591" cy="1434664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57A13952-68D8-4951-5612-032977862D8A}"/>
              </a:ext>
            </a:extLst>
          </p:cNvPr>
          <p:cNvSpPr txBox="1"/>
          <p:nvPr/>
        </p:nvSpPr>
        <p:spPr>
          <a:xfrm>
            <a:off x="513880" y="3501475"/>
            <a:ext cx="484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en-US" altLang="zh-CN" sz="54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lang="zh-CN" altLang="en-US" sz="5400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095012C6-EEF4-043E-BE7B-AD6CC2567367}"/>
              </a:ext>
            </a:extLst>
          </p:cNvPr>
          <p:cNvSpPr/>
          <p:nvPr/>
        </p:nvSpPr>
        <p:spPr>
          <a:xfrm>
            <a:off x="6598677" y="169341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01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BDE0B2B0-3B11-F625-2996-B7DADC99321D}"/>
              </a:ext>
            </a:extLst>
          </p:cNvPr>
          <p:cNvSpPr/>
          <p:nvPr/>
        </p:nvSpPr>
        <p:spPr>
          <a:xfrm>
            <a:off x="6598677" y="2792224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02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FF96411B-8ED8-9E03-4A0F-2DFC0E565BCC}"/>
              </a:ext>
            </a:extLst>
          </p:cNvPr>
          <p:cNvSpPr/>
          <p:nvPr/>
        </p:nvSpPr>
        <p:spPr>
          <a:xfrm>
            <a:off x="6598677" y="389102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03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F003331F-F08B-D46B-4853-2AD4098707F7}"/>
              </a:ext>
            </a:extLst>
          </p:cNvPr>
          <p:cNvSpPr/>
          <p:nvPr/>
        </p:nvSpPr>
        <p:spPr>
          <a:xfrm>
            <a:off x="6598677" y="4989833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04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EB0844D2-EE1E-85EE-BB6F-FB836CCAB17A}"/>
              </a:ext>
            </a:extLst>
          </p:cNvPr>
          <p:cNvSpPr/>
          <p:nvPr/>
        </p:nvSpPr>
        <p:spPr>
          <a:xfrm>
            <a:off x="7469601" y="209076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班级信息、学习状态与自我定位</a:t>
            </a: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05A62A4F-194A-4C01-5C65-3F554D181D62}"/>
              </a:ext>
            </a:extLst>
          </p:cNvPr>
          <p:cNvSpPr txBox="1"/>
          <p:nvPr/>
        </p:nvSpPr>
        <p:spPr>
          <a:xfrm>
            <a:off x="7469601" y="162910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90A23731-6832-2F63-82D0-395674F64782}"/>
              </a:ext>
            </a:extLst>
          </p:cNvPr>
          <p:cNvSpPr/>
          <p:nvPr/>
        </p:nvSpPr>
        <p:spPr>
          <a:xfrm>
            <a:off x="7469601" y="323182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专业学习、蓝桥杯与智能车准备</a:t>
            </a: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AAF91FD0-5A61-DD62-4A1E-83B6E9AFD294}"/>
              </a:ext>
            </a:extLst>
          </p:cNvPr>
          <p:cNvSpPr txBox="1"/>
          <p:nvPr/>
        </p:nvSpPr>
        <p:spPr>
          <a:xfrm>
            <a:off x="7469601" y="277016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3960642E-36CC-D8D9-A972-B645580607FD}"/>
              </a:ext>
            </a:extLst>
          </p:cNvPr>
          <p:cNvSpPr/>
          <p:nvPr/>
        </p:nvSpPr>
        <p:spPr>
          <a:xfrm>
            <a:off x="7469601" y="4334806"/>
            <a:ext cx="2031325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实验室助理中的责任与协作</a:t>
            </a: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5A43FF60-AE2D-BC45-1579-999433143E25}"/>
              </a:ext>
            </a:extLst>
          </p:cNvPr>
          <p:cNvSpPr txBox="1"/>
          <p:nvPr/>
        </p:nvSpPr>
        <p:spPr>
          <a:xfrm>
            <a:off x="7469601" y="3873141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服务集体经历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E4B8E5F0-0FCE-9180-F2A0-498737ADDF58}"/>
              </a:ext>
            </a:extLst>
          </p:cNvPr>
          <p:cNvSpPr/>
          <p:nvPr/>
        </p:nvSpPr>
        <p:spPr>
          <a:xfrm>
            <a:off x="7469601" y="5442625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以更高标准要求自己、服务集体</a:t>
            </a: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84C4D5F2-1C3F-1340-59AA-3569620888E6}"/>
              </a:ext>
            </a:extLst>
          </p:cNvPr>
          <p:cNvSpPr txBox="1"/>
          <p:nvPr/>
        </p:nvSpPr>
        <p:spPr>
          <a:xfrm>
            <a:off x="7469601" y="4980960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入团认识与计划</a:t>
            </a:r>
          </a:p>
        </p:txBody>
      </p:sp>
      <p:pic>
        <p:nvPicPr>
          <p:cNvPr id="29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DF654DA1-4AB8-9DFD-94A0-655CA71C5F9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4171627" y="1710758"/>
            <a:ext cx="1709904" cy="1200330"/>
          </a:xfrm>
          <a:prstGeom prst="rect">
            <a:avLst/>
          </a:prstGeom>
        </p:spPr>
      </p:pic>
      <p:grpSp>
        <p:nvGrpSpPr>
          <p:cNvPr id="30" name="演示研究所 SlideLab.cc">
            <a:extLst>
              <a:ext uri="{FF2B5EF4-FFF2-40B4-BE49-F238E27FC236}">
                <a16:creationId xmlns:a16="http://schemas.microsoft.com/office/drawing/2014/main" id="{A07D792F-1E28-2AA7-3F38-5F07FF59DACF}"/>
              </a:ext>
            </a:extLst>
          </p:cNvPr>
          <p:cNvGrpSpPr/>
          <p:nvPr/>
        </p:nvGrpSpPr>
        <p:grpSpPr>
          <a:xfrm>
            <a:off x="2330622" y="4428717"/>
            <a:ext cx="1208405" cy="272415"/>
            <a:chOff x="1218164" y="3796625"/>
            <a:chExt cx="1208405" cy="272415"/>
          </a:xfrm>
        </p:grpSpPr>
        <p:sp>
          <p:nvSpPr>
            <p:cNvPr id="31" name="演示研究所 SlideLab.cc">
              <a:extLst>
                <a:ext uri="{FF2B5EF4-FFF2-40B4-BE49-F238E27FC236}">
                  <a16:creationId xmlns:a16="http://schemas.microsoft.com/office/drawing/2014/main" id="{3F008B48-0687-F437-3B33-2CBF18C5CD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2" name="演示研究所 SlideLab.cc">
              <a:extLst>
                <a:ext uri="{FF2B5EF4-FFF2-40B4-BE49-F238E27FC236}">
                  <a16:creationId xmlns:a16="http://schemas.microsoft.com/office/drawing/2014/main" id="{1ED98534-47CB-8993-3E30-87FF03A2BC0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3" name="演示研究所 SlideLab.cc">
              <a:extLst>
                <a:ext uri="{FF2B5EF4-FFF2-40B4-BE49-F238E27FC236}">
                  <a16:creationId xmlns:a16="http://schemas.microsoft.com/office/drawing/2014/main" id="{6E21179D-DB9B-9640-E6D2-B2248F96844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1406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申请人：傅思雄｜班级：自控2401｜当前绩点：3.3/4.33。希望在学习、实践与集体服务中持续进步。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</p:spTree>
    <p:extLst>
      <p:ext uri="{BB962C8B-B14F-4D97-AF65-F5344CB8AC3E}">
        <p14:creationId xmlns:p14="http://schemas.microsoft.com/office/powerpoint/2010/main" val="5846070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a16:creationId xmlns:a16="http://schemas.microsoft.com/office/drawing/2014/main" id="{549CC997-2B6B-1BCE-2E20-DA067A3F7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94EFEA6D-7DBD-B99A-BCEB-8923F52A5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演示研究所 SlideLab.cc">
            <a:extLst>
              <a:ext uri="{FF2B5EF4-FFF2-40B4-BE49-F238E27FC236}">
                <a16:creationId xmlns:a16="http://schemas.microsoft.com/office/drawing/2014/main" id="{E8D24918-D01B-3DB8-F7E7-B001A96CE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18" name="演示研究所 SlideLab.cc">
            <a:extLst>
              <a:ext uri="{FF2B5EF4-FFF2-40B4-BE49-F238E27FC236}">
                <a16:creationId xmlns:a16="http://schemas.microsoft.com/office/drawing/2014/main" id="{58DD8E98-859C-8E23-C90C-75C6B7F3F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19" name="演示研究所 SlideLab.cc">
            <a:extLst>
              <a:ext uri="{FF2B5EF4-FFF2-40B4-BE49-F238E27FC236}">
                <a16:creationId xmlns:a16="http://schemas.microsoft.com/office/drawing/2014/main" id="{E7CF3CF0-4887-2B98-FBB8-01EF10ABC18C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20" name="演示研究所 SlideLab.cc">
              <a:extLst>
                <a:ext uri="{FF2B5EF4-FFF2-40B4-BE49-F238E27FC236}">
                  <a16:creationId xmlns:a16="http://schemas.microsoft.com/office/drawing/2014/main" id="{E8A05600-FCB0-9C94-5B6B-A3FEA438C35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1" name="演示研究所 SlideLab.cc">
              <a:extLst>
                <a:ext uri="{FF2B5EF4-FFF2-40B4-BE49-F238E27FC236}">
                  <a16:creationId xmlns:a16="http://schemas.microsoft.com/office/drawing/2014/main" id="{F45E553B-8A09-7EB1-61C5-F150BA5E791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2" name="演示研究所 SlideLab.cc">
              <a:extLst>
                <a:ext uri="{FF2B5EF4-FFF2-40B4-BE49-F238E27FC236}">
                  <a16:creationId xmlns:a16="http://schemas.microsoft.com/office/drawing/2014/main" id="{AB4D5D06-4CD4-BA33-DA63-C125165BFDD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CDA48C4A-748F-AF59-3AFA-19B14BC35BA7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个人画像</a:t>
            </a: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6CC420BF-4522-AD46-BFE8-7A2094E4E703}"/>
              </a:ext>
            </a:extLst>
          </p:cNvPr>
          <p:cNvSpPr/>
          <p:nvPr/>
        </p:nvSpPr>
        <p:spPr>
          <a:xfrm>
            <a:off x="622739" y="1304365"/>
            <a:ext cx="5339885" cy="4608506"/>
          </a:xfrm>
          <a:prstGeom prst="roundRect">
            <a:avLst>
              <a:gd name="adj" fmla="val 11784"/>
            </a:avLst>
          </a:prstGeom>
          <a:solidFill>
            <a:schemeClr val="bg1"/>
          </a:solidFill>
          <a:ln w="3175">
            <a:solidFill>
              <a:srgbClr val="F4DABE"/>
            </a:solidFill>
          </a:ln>
          <a:effectLst>
            <a:outerShdw blurRad="127000" dist="127000" dir="5400000" algn="t" rotWithShape="0">
              <a:srgbClr val="CE987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graphicFrame>
        <p:nvGraphicFramePr>
          <p:cNvPr id="2" name="演示研究所 SlideLab.cc">
            <a:extLst>
              <a:ext uri="{FF2B5EF4-FFF2-40B4-BE49-F238E27FC236}">
                <a16:creationId xmlns:a16="http://schemas.microsoft.com/office/drawing/2014/main" id="{69AD60E5-5740-489D-9AD8-7F26605343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1992342"/>
              </p:ext>
            </p:extLst>
          </p:nvPr>
        </p:nvGraphicFramePr>
        <p:xfrm>
          <a:off x="993184" y="1956945"/>
          <a:ext cx="4680244" cy="3490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35FD56F8-DEDB-428C-ABC4-DEE2E2A5F911}"/>
              </a:ext>
            </a:extLst>
          </p:cNvPr>
          <p:cNvSpPr/>
          <p:nvPr/>
        </p:nvSpPr>
        <p:spPr>
          <a:xfrm>
            <a:off x="6519507" y="3389046"/>
            <a:ext cx="2230211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自控2401班，申请加入中国共产主义青年团。</a:t>
            </a: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F14E8B84-B85F-411A-9BDD-52BAFBF40365}"/>
              </a:ext>
            </a:extLst>
          </p:cNvPr>
          <p:cNvSpPr/>
          <p:nvPr/>
        </p:nvSpPr>
        <p:spPr>
          <a:xfrm>
            <a:off x="6519508" y="2988936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基本信息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A9E0705-0A6B-4532-AA0F-EC25DD7F484B}"/>
              </a:ext>
            </a:extLst>
          </p:cNvPr>
          <p:cNvSpPr/>
          <p:nvPr/>
        </p:nvSpPr>
        <p:spPr>
          <a:xfrm>
            <a:off x="9371521" y="3389046"/>
            <a:ext cx="2230211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绩点3.3/4.33，保持专业学习与能力提升。</a:t>
            </a: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47B462E0-B855-46FE-8D45-E77D27EB08CC}"/>
              </a:ext>
            </a:extLst>
          </p:cNvPr>
          <p:cNvSpPr/>
          <p:nvPr/>
        </p:nvSpPr>
        <p:spPr>
          <a:xfrm>
            <a:off x="9371522" y="2988936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学习状态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0443992A-2AEC-4140-93A6-57F158E6C864}"/>
              </a:ext>
            </a:extLst>
          </p:cNvPr>
          <p:cNvSpPr/>
          <p:nvPr/>
        </p:nvSpPr>
        <p:spPr>
          <a:xfrm>
            <a:off x="6519507" y="4907047"/>
            <a:ext cx="2230211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以实验室助理身份参与日常协助与维护。</a:t>
            </a: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CD11689F-C816-4FA6-9F84-72F6D45090DA}"/>
              </a:ext>
            </a:extLst>
          </p:cNvPr>
          <p:cNvSpPr/>
          <p:nvPr/>
        </p:nvSpPr>
        <p:spPr>
          <a:xfrm>
            <a:off x="6519508" y="4506937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实践身份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36F28BC3-6129-4451-8940-54A93E03BB20}"/>
              </a:ext>
            </a:extLst>
          </p:cNvPr>
          <p:cNvSpPr/>
          <p:nvPr/>
        </p:nvSpPr>
        <p:spPr>
          <a:xfrm>
            <a:off x="9371521" y="4907047"/>
            <a:ext cx="2230211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主动参与、踏实做事，在集体中发挥作用。</a:t>
            </a: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DB8BC429-9928-4505-B2CA-CAC6F4CC9CD0}"/>
              </a:ext>
            </a:extLst>
          </p:cNvPr>
          <p:cNvSpPr/>
          <p:nvPr/>
        </p:nvSpPr>
        <p:spPr>
          <a:xfrm>
            <a:off x="9371522" y="4506937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成长态度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C4696716-26CB-4246-9F09-B102A9B1849F}"/>
              </a:ext>
            </a:extLst>
          </p:cNvPr>
          <p:cNvSpPr/>
          <p:nvPr/>
        </p:nvSpPr>
        <p:spPr>
          <a:xfrm>
            <a:off x="7132637" y="2279188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BB678C65-F3F3-EF4F-A83B-D08E1995F909}"/>
              </a:ext>
            </a:extLst>
          </p:cNvPr>
          <p:cNvSpPr txBox="1"/>
          <p:nvPr/>
        </p:nvSpPr>
        <p:spPr>
          <a:xfrm>
            <a:off x="7409329" y="1503041"/>
            <a:ext cx="18261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踏实做事</a:t>
            </a:r>
            <a:endParaRPr lang="en-US" altLang="zh-CN" sz="32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  <a:p>
            <a:pPr algn="l"/>
            <a:r>
              <a:rPr lang="zh-CN" altLang="en-US" sz="32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主动担当</a:t>
            </a:r>
          </a:p>
        </p:txBody>
      </p:sp>
      <p:pic>
        <p:nvPicPr>
          <p:cNvPr id="15" name="演示研究所 SlideLab.cc">
            <a:extLst>
              <a:ext uri="{FF2B5EF4-FFF2-40B4-BE49-F238E27FC236}">
                <a16:creationId xmlns:a16="http://schemas.microsoft.com/office/drawing/2014/main" id="{F9F08675-7685-C240-848D-3A4BE593D47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2705" b="39403"/>
          <a:stretch>
            <a:fillRect/>
          </a:stretch>
        </p:blipFill>
        <p:spPr>
          <a:xfrm flipH="1">
            <a:off x="6519507" y="1636157"/>
            <a:ext cx="988761" cy="74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8046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重视专业学习和实践能力提升，参与蓝桥杯、智能车等竞赛训练，把课堂知识转化为解决问题的能力。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02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</p:spTree>
    <p:extLst>
      <p:ext uri="{BB962C8B-B14F-4D97-AF65-F5344CB8AC3E}">
        <p14:creationId xmlns:p14="http://schemas.microsoft.com/office/powerpoint/2010/main" val="425360072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 descr="免费 城市建筑 素材图片">
            <a:extLst>
              <a:ext uri="{FF2B5EF4-FFF2-40B4-BE49-F238E27FC236}">
                <a16:creationId xmlns:a16="http://schemas.microsoft.com/office/drawing/2014/main" id="{2C5740F3-F992-F230-2C77-FF30520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演示研究所 SlideLab.cc">
            <a:extLst>
              <a:ext uri="{FF2B5EF4-FFF2-40B4-BE49-F238E27FC236}">
                <a16:creationId xmlns:a16="http://schemas.microsoft.com/office/drawing/2014/main" id="{6892A866-3506-8FB3-8EB4-6E4E886C53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演示研究所 SlideLab.cc">
            <a:extLst>
              <a:ext uri="{FF2B5EF4-FFF2-40B4-BE49-F238E27FC236}">
                <a16:creationId xmlns:a16="http://schemas.microsoft.com/office/drawing/2014/main" id="{129FC7A5-35A3-6FE0-F9A8-66ABB398A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35" name="演示研究所 SlideLab.cc">
            <a:extLst>
              <a:ext uri="{FF2B5EF4-FFF2-40B4-BE49-F238E27FC236}">
                <a16:creationId xmlns:a16="http://schemas.microsoft.com/office/drawing/2014/main" id="{BA3919DC-6B1F-4E2A-5D83-D6912B5BD4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3EAED0BF-8B3E-1DAD-E305-CB02DFEFA4B6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97BEB24C-E753-C2E3-C7EE-DF309FC09BB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4BDD1C12-B1F0-F0F2-9B9E-7EAECA17D3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a16:creationId xmlns:a16="http://schemas.microsoft.com/office/drawing/2014/main" id="{3D4900B5-A84E-403D-6729-BFFFAEC019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A7E8EDB9-70AB-8D0E-BAFD-5D5557A1E1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实践成长路径</a:t>
            </a: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0F20077-70F4-D04E-8A39-577A4945B7A8}"/>
              </a:ext>
            </a:extLst>
          </p:cNvPr>
          <p:cNvSpPr/>
          <p:nvPr/>
        </p:nvSpPr>
        <p:spPr>
          <a:xfrm rot="5400000">
            <a:off x="2281199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a16:creationId xmlns:a16="http://schemas.microsoft.com/office/drawing/2014/main" id="{F1D04A15-3994-F14A-97E1-991EA10778FD}"/>
              </a:ext>
            </a:extLst>
          </p:cNvPr>
          <p:cNvSpPr/>
          <p:nvPr/>
        </p:nvSpPr>
        <p:spPr>
          <a:xfrm rot="5400000">
            <a:off x="5258930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C286BE16-5B7A-E749-979F-C60FD1F64290}"/>
              </a:ext>
            </a:extLst>
          </p:cNvPr>
          <p:cNvSpPr/>
          <p:nvPr/>
        </p:nvSpPr>
        <p:spPr>
          <a:xfrm rot="5400000">
            <a:off x="8218948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1" name="演示研究所 SlideLab.cc">
            <a:extLst>
              <a:ext uri="{FF2B5EF4-FFF2-40B4-BE49-F238E27FC236}">
                <a16:creationId xmlns:a16="http://schemas.microsoft.com/office/drawing/2014/main" id="{DAD26C8C-24F7-D549-AA0B-32473F1882BB}"/>
              </a:ext>
            </a:extLst>
          </p:cNvPr>
          <p:cNvSpPr/>
          <p:nvPr/>
        </p:nvSpPr>
        <p:spPr>
          <a:xfrm rot="5400000">
            <a:off x="3752352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1B9ECEF5-72DC-2A45-8B56-3A515D9F8D7F}"/>
              </a:ext>
            </a:extLst>
          </p:cNvPr>
          <p:cNvSpPr/>
          <p:nvPr/>
        </p:nvSpPr>
        <p:spPr>
          <a:xfrm rot="5400000">
            <a:off x="6710068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8B7D85F3-C607-4B22-A37D-C9B96D45931C}"/>
              </a:ext>
            </a:extLst>
          </p:cNvPr>
          <p:cNvSpPr/>
          <p:nvPr/>
        </p:nvSpPr>
        <p:spPr>
          <a:xfrm>
            <a:off x="7975889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C870577E-5DB6-4EEA-B275-AB00CEC50090}"/>
              </a:ext>
            </a:extLst>
          </p:cNvPr>
          <p:cNvSpPr/>
          <p:nvPr/>
        </p:nvSpPr>
        <p:spPr>
          <a:xfrm rot="10800000">
            <a:off x="6487024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79A3C2-AE32-4ACF-A0C0-1793F97E7E69}"/>
              </a:ext>
            </a:extLst>
          </p:cNvPr>
          <p:cNvSpPr/>
          <p:nvPr/>
        </p:nvSpPr>
        <p:spPr>
          <a:xfrm>
            <a:off x="4998158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3C4CF213-F897-4F0E-9EB4-A2AE62BF0EC1}"/>
              </a:ext>
            </a:extLst>
          </p:cNvPr>
          <p:cNvSpPr/>
          <p:nvPr/>
        </p:nvSpPr>
        <p:spPr>
          <a:xfrm rot="10800000">
            <a:off x="3509296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1057F1D-BBB4-4872-966C-B61162053E34}"/>
              </a:ext>
            </a:extLst>
          </p:cNvPr>
          <p:cNvSpPr/>
          <p:nvPr/>
        </p:nvSpPr>
        <p:spPr>
          <a:xfrm>
            <a:off x="2020431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AE6DEF97-14B3-4E2A-B2B5-13A409EA64DA}"/>
              </a:ext>
            </a:extLst>
          </p:cNvPr>
          <p:cNvSpPr/>
          <p:nvPr/>
        </p:nvSpPr>
        <p:spPr>
          <a:xfrm>
            <a:off x="2662483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E8B3B471-261C-468C-AE4C-C4A976EDF225}"/>
              </a:ext>
            </a:extLst>
          </p:cNvPr>
          <p:cNvSpPr/>
          <p:nvPr/>
        </p:nvSpPr>
        <p:spPr>
          <a:xfrm>
            <a:off x="4151347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prstClr val="black"/>
              </a:solidFill>
              <a:latin typeface="汉仪旗黑-55简" panose="00020600040101010101" charset="-128"/>
              <a:ea typeface="汉仪旗黑-55简" panose="00020600040101010101" charset="-128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9F7D2450-A4FB-4971-A9E9-1BB65F1144BD}"/>
              </a:ext>
            </a:extLst>
          </p:cNvPr>
          <p:cNvSpPr/>
          <p:nvPr/>
        </p:nvSpPr>
        <p:spPr>
          <a:xfrm>
            <a:off x="5640210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66DF0B82-FE21-42D5-B7A5-4E87710F6170}"/>
              </a:ext>
            </a:extLst>
          </p:cNvPr>
          <p:cNvSpPr/>
          <p:nvPr/>
        </p:nvSpPr>
        <p:spPr>
          <a:xfrm>
            <a:off x="7129076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18872" rIns="0" bIns="0" rtlCol="0" anchor="ctr"/>
          <a:lstStyle/>
          <a:p>
            <a:pPr algn="ct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32F3834F-5524-4789-9774-D5F2C718E83A}"/>
              </a:ext>
            </a:extLst>
          </p:cNvPr>
          <p:cNvSpPr/>
          <p:nvPr/>
        </p:nvSpPr>
        <p:spPr>
          <a:xfrm>
            <a:off x="8617941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F9C1E924-16A9-489A-8266-52663261FB1C}"/>
              </a:ext>
            </a:extLst>
          </p:cNvPr>
          <p:cNvSpPr txBox="1"/>
          <p:nvPr/>
        </p:nvSpPr>
        <p:spPr>
          <a:xfrm>
            <a:off x="2838386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01</a:t>
            </a: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8046B59A-79DB-45B2-862D-13CE5E63323E}"/>
              </a:ext>
            </a:extLst>
          </p:cNvPr>
          <p:cNvSpPr txBox="1"/>
          <p:nvPr/>
        </p:nvSpPr>
        <p:spPr>
          <a:xfrm>
            <a:off x="4327250" y="536309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02</a:t>
            </a: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D0FD642E-DECD-4F53-BDF6-92916477A4DB}"/>
              </a:ext>
            </a:extLst>
          </p:cNvPr>
          <p:cNvSpPr txBox="1"/>
          <p:nvPr/>
        </p:nvSpPr>
        <p:spPr>
          <a:xfrm>
            <a:off x="5802187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03</a:t>
            </a: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589E2A55-71F9-4D50-AEED-01DB0830BDD0}"/>
              </a:ext>
            </a:extLst>
          </p:cNvPr>
          <p:cNvSpPr txBox="1"/>
          <p:nvPr/>
        </p:nvSpPr>
        <p:spPr>
          <a:xfrm>
            <a:off x="7291051" y="5363095"/>
            <a:ext cx="559769" cy="46166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04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32B154F0-D189-4584-B455-0A759BE20A15}"/>
              </a:ext>
            </a:extLst>
          </p:cNvPr>
          <p:cNvSpPr txBox="1"/>
          <p:nvPr/>
        </p:nvSpPr>
        <p:spPr>
          <a:xfrm>
            <a:off x="8793845" y="152075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05</a:t>
            </a: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0C679D9E-563F-49AE-8BB0-3FBCA8470D01}"/>
              </a:ext>
            </a:extLst>
          </p:cNvPr>
          <p:cNvSpPr/>
          <p:nvPr/>
        </p:nvSpPr>
        <p:spPr>
          <a:xfrm>
            <a:off x="2445640" y="2809184"/>
            <a:ext cx="1345260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夯实自控专业基础，保持稳定进步。</a:t>
            </a: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F52ACAF1-803F-4D9A-84CE-78022406A2E5}"/>
              </a:ext>
            </a:extLst>
          </p:cNvPr>
          <p:cNvSpPr/>
          <p:nvPr/>
        </p:nvSpPr>
        <p:spPr>
          <a:xfrm>
            <a:off x="2501899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专业学习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403AC746-E9B5-4B04-AB69-FA287B177093}"/>
              </a:ext>
            </a:extLst>
          </p:cNvPr>
          <p:cNvSpPr/>
          <p:nvPr/>
        </p:nvSpPr>
        <p:spPr>
          <a:xfrm>
            <a:off x="5406103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获省级一等奖，等待国赛结果。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6222DBAD-EBE6-4B26-AC5E-D4532F7F84B7}"/>
              </a:ext>
            </a:extLst>
          </p:cNvPr>
          <p:cNvSpPr/>
          <p:nvPr/>
        </p:nvSpPr>
        <p:spPr>
          <a:xfrm>
            <a:off x="5419498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蓝桥杯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B4524A4-2002-45A0-A1C2-7D62A0F0C316}"/>
              </a:ext>
            </a:extLst>
          </p:cNvPr>
          <p:cNvSpPr/>
          <p:nvPr/>
        </p:nvSpPr>
        <p:spPr>
          <a:xfrm>
            <a:off x="8401100" y="2809184"/>
            <a:ext cx="1345260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持续准备赛事，提升工程实践能力。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6AE63D1A-71A8-471B-9A13-43646803124E}"/>
              </a:ext>
            </a:extLst>
          </p:cNvPr>
          <p:cNvSpPr/>
          <p:nvPr/>
        </p:nvSpPr>
        <p:spPr>
          <a:xfrm>
            <a:off x="8401100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智能车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C9C7181-EC86-482F-A2BF-07743DEA9495}"/>
              </a:ext>
            </a:extLst>
          </p:cNvPr>
          <p:cNvSpPr/>
          <p:nvPr/>
        </p:nvSpPr>
        <p:spPr>
          <a:xfrm>
            <a:off x="6911854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协助整理、调试、维护日常事务。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0D99C2C2-00CC-4147-9B7D-A7B9602EB24F}"/>
              </a:ext>
            </a:extLst>
          </p:cNvPr>
          <p:cNvSpPr/>
          <p:nvPr/>
        </p:nvSpPr>
        <p:spPr>
          <a:xfrm>
            <a:off x="6968113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实验助理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A8167B2B-F19F-4929-8DE9-07FC8379DFE3}"/>
              </a:ext>
            </a:extLst>
          </p:cNvPr>
          <p:cNvSpPr/>
          <p:nvPr/>
        </p:nvSpPr>
        <p:spPr>
          <a:xfrm>
            <a:off x="3923843" y="4402445"/>
            <a:ext cx="1345260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在需要时主动承担任务，贡献力量。</a:t>
            </a: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FB6E7662-9471-4AC5-94D2-3FF99D260E76}"/>
              </a:ext>
            </a:extLst>
          </p:cNvPr>
          <p:cNvSpPr/>
          <p:nvPr/>
        </p:nvSpPr>
        <p:spPr>
          <a:xfrm>
            <a:off x="3980102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服务集体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6129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a16:creationId xmlns:a16="http://schemas.microsoft.com/office/drawing/2014/main" id="{29D1E50A-460A-E77D-FB07-FB5D6707B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97399092-36F9-5A58-26A0-9BC5164F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1AB4A514-7319-4D1B-2D2A-18A916BF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F7BA9BEF-6D7A-3E3D-1EA5-C8AC81774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8" name="演示研究所 SlideLab.cc">
            <a:extLst>
              <a:ext uri="{FF2B5EF4-FFF2-40B4-BE49-F238E27FC236}">
                <a16:creationId xmlns:a16="http://schemas.microsoft.com/office/drawing/2014/main" id="{FA303262-C5FE-F359-6187-E7F8CE2710F5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B8D179F4-4DEE-2801-DB17-48859DAE9CE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E09137D6-711C-F1E0-CA3E-6094C8E7782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2" name="演示研究所 SlideLab.cc">
              <a:extLst>
                <a:ext uri="{FF2B5EF4-FFF2-40B4-BE49-F238E27FC236}">
                  <a16:creationId xmlns:a16="http://schemas.microsoft.com/office/drawing/2014/main" id="{9818F3E8-7CB4-497C-5810-730C9C8B9F1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3C918865-A2F0-9A6E-E3CA-D6DCC1011DD8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入团认识与计划</a:t>
            </a: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F1840C-5AD0-4BC8-AF60-A42A01FB16B3}"/>
              </a:ext>
            </a:extLst>
          </p:cNvPr>
          <p:cNvSpPr/>
          <p:nvPr/>
        </p:nvSpPr>
        <p:spPr>
          <a:xfrm>
            <a:off x="1325465" y="910251"/>
            <a:ext cx="10866534" cy="272561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9"/>
            <a:stretch>
              <a:fillRect t="-62129" b="-62129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DA296D86-ACFC-4F96-BBA7-69113B75BDAF}"/>
              </a:ext>
            </a:extLst>
          </p:cNvPr>
          <p:cNvSpPr/>
          <p:nvPr/>
        </p:nvSpPr>
        <p:spPr>
          <a:xfrm>
            <a:off x="561466" y="1975176"/>
            <a:ext cx="2910397" cy="6965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94C44188-F82E-44E8-B865-96680CCC8811}"/>
              </a:ext>
            </a:extLst>
          </p:cNvPr>
          <p:cNvSpPr txBox="1"/>
          <p:nvPr/>
        </p:nvSpPr>
        <p:spPr>
          <a:xfrm>
            <a:off x="1743076" y="4374153"/>
            <a:ext cx="4620412" cy="89971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r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思想上积极向上，学习中追求进步，集体中愿意服务他人，实践中敢于承担。入团后将继续提升专业能力，积极参与班级、实验室和学校活动。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797C4D2C-71F6-B84F-81FC-69C7B70B26F6}"/>
              </a:ext>
            </a:extLst>
          </p:cNvPr>
          <p:cNvSpPr txBox="1"/>
          <p:nvPr/>
        </p:nvSpPr>
        <p:spPr>
          <a:xfrm>
            <a:off x="7095093" y="4459091"/>
            <a:ext cx="24929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以更高标准</a:t>
            </a:r>
            <a:endParaRPr lang="en-US" altLang="zh-CN" sz="36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要求自己</a:t>
            </a: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E98455F-54BC-5843-82D1-F078DBF8E65E}"/>
              </a:ext>
            </a:extLst>
          </p:cNvPr>
          <p:cNvSpPr/>
          <p:nvPr/>
        </p:nvSpPr>
        <p:spPr>
          <a:xfrm>
            <a:off x="5095127" y="5438380"/>
            <a:ext cx="1268361" cy="442080"/>
          </a:xfrm>
          <a:prstGeom prst="rect">
            <a:avLst/>
          </a:prstGeom>
          <a:noFill/>
          <a:ln w="12700" cap="flat" cmpd="sng">
            <a:solidFill>
              <a:srgbClr val="F5E4D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dirty="0">
                <a:ln w="38100">
                  <a:noFill/>
                </a:ln>
                <a:gradFill>
                  <a:gsLst>
                    <a:gs pos="30000">
                      <a:srgbClr val="E74100"/>
                    </a:gs>
                    <a:gs pos="100000">
                      <a:srgbClr val="A8000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0936A403-EDAE-3940-917E-8FB8CC52D725}"/>
              </a:ext>
            </a:extLst>
          </p:cNvPr>
          <p:cNvSpPr txBox="1"/>
          <p:nvPr/>
        </p:nvSpPr>
        <p:spPr>
          <a:xfrm>
            <a:off x="907178" y="2092636"/>
            <a:ext cx="221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 dirty="0">
                <a:solidFill>
                  <a:srgbClr val="F5E4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责任意识</a:t>
            </a:r>
          </a:p>
        </p:txBody>
      </p:sp>
    </p:spTree>
    <p:extLst>
      <p:ext uri="{BB962C8B-B14F-4D97-AF65-F5344CB8AC3E}">
        <p14:creationId xmlns:p14="http://schemas.microsoft.com/office/powerpoint/2010/main" val="14526137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1169257" y="2123356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谢谢观看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804" y="2087204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E5FC4634-74C7-8DBF-1285-A6DC87565A6F}"/>
              </a:ext>
            </a:extLst>
          </p:cNvPr>
          <p:cNvGrpSpPr/>
          <p:nvPr/>
        </p:nvGrpSpPr>
        <p:grpSpPr>
          <a:xfrm>
            <a:off x="6875214" y="3109141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傅思雄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1235330" y="3768112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恳请老师、同学批评指正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10198920" y="2426217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167" y="3028008"/>
            <a:ext cx="2915740" cy="109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22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01411"/>
      </a:accent1>
      <a:accent2>
        <a:srgbClr val="EF611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608</Words>
  <Application>Microsoft Office PowerPoint</Application>
  <PresentationFormat>宽屏</PresentationFormat>
  <Paragraphs>70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等线</vt:lpstr>
      <vt:lpstr>等线 Light</vt:lpstr>
      <vt:lpstr>汉仪旗黑 55简</vt:lpstr>
      <vt:lpstr>汉仪旗黑-55简</vt:lpstr>
      <vt:lpstr>汉仪旗黑X1-55W</vt:lpstr>
      <vt:lpstr>思源宋体 CN Heavy</vt:lpstr>
      <vt:lpstr>思源宋体 CN Medium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思雄 傅</cp:lastModifiedBy>
  <cp:revision>26</cp:revision>
  <dcterms:created xsi:type="dcterms:W3CDTF">2022-12-13T05:35:45Z</dcterms:created>
  <dcterms:modified xsi:type="dcterms:W3CDTF">2026-06-16T14:04:51Z</dcterms:modified>
</cp:coreProperties>
</file>