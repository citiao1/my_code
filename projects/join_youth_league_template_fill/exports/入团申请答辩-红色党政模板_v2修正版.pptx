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300"/>
    <a:srgbClr val="B92A36"/>
    <a:srgbClr val="962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9" d="100"/>
          <a:sy n="109" d="100"/>
        </p:scale>
        <p:origin x="144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3D999-399E-EB4F-98E6-08DBF15B69D3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A16FB-0A03-0445-8DA5-63DF15F76E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41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各位老师、同学大家好，我是自控2401班的傅思雄。今天我将围绕个人基本情况、学习科创实践、服务经历以及对共青团的认识，汇报我的入团申请。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本次汇报分为四个部分。先介绍我的基本情况，再说明学习和科创实践，随后汇报服务集体的经历，最后谈谈我对共青团的认识和入团后的计划。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首先是个人基本情况。我来自自控2401班，希望通过入团申请，把个人成长放到更高标准和更强集体意识中去要求自己。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????????????2401?????????????????????????????????????????????????????????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第二部分是学习与科创实践。专业学习之外，我也在通过竞赛训练把知识用到真实问题中，让能力在实践中得到检验。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这条成长路径概括了我现阶段的努力方向。从专业基础到竞赛训练，再到实验室助理和集体服务，我希望让每一步都更扎实。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D4E1C-1A95-A651-549C-4F033DFA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A009F-4A55-48E1-526C-C8EAE4942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704C0-DDF6-7E85-9D0B-F27E286B8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第二部分是学习与科创实践。专业学习之外，我也在通过竞赛训练把知识用到真实问题中，让能力在实践中得到检验。</a:t>
            </a:r>
          </a:p>
        </p:txBody>
      </p:sp>
    </p:spTree>
    <p:extLst>
      <p:ext uri="{BB962C8B-B14F-4D97-AF65-F5344CB8AC3E}">
        <p14:creationId xmlns:p14="http://schemas.microsoft.com/office/powerpoint/2010/main" val="3386683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?????????????????????????????????????????????????????????????????????????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我的汇报到这里结束。感谢各位老师和同学的聆听，也恳请大家对我的不足提出批评指正。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9857C-728E-5FC1-B3F1-6ED0E5F2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F9544-838A-4624-BD52-231A63D62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C01F18-4C0E-F6CE-4C1E-DE15105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24A16B-B307-90B5-DA66-08ADC6F1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C2A10-B8AE-BFB0-0773-1DBB4536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5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CB1CB-90BE-936C-D9B1-F9D9E7E2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97BC1-3658-7FC5-53DC-CF1F3676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6EF35-47BE-AA04-5748-08D5E03C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75838-268F-E1B4-36A0-531D6E52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DBC0B-ED42-CF4B-B697-E830D2B1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3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F2773-B232-92A7-04DC-261FAA656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D3283-C676-B659-C254-92F17621E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4CE1B-E913-2CF4-FE08-9602B6A9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E9FF8-0029-E97E-E4AB-34421895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B84A7-8DA0-6198-77D0-5AEE42E8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5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DC5FF-C743-95D1-D547-2250158C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23CB2-F6B1-B26B-CDF8-1FE7E785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6C4816-5357-77F7-2A33-F977570E8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70A2AB-7786-9A8A-7EBB-ED070F0F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2EB03B-AE7D-73B5-E638-16E6A800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A821EB-21E3-D0F2-CE5F-7B89FB85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052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6C47D-0290-43F2-9168-EF521FFF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F5155A-8D31-E76F-02D4-72706148B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CE6EF6-7162-2B54-D3B8-3FBC8BB0B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D4DD03-E757-E83E-EA5F-1D047C322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CCBE0-C39D-5890-4DE2-034EA91DF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23A263-2F51-7082-C944-C4A9B860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39CE6B-1F61-87EF-7E95-ED709F20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48083D-C27A-0E6F-E193-5888C896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2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84293-C34D-9D9A-FFFF-ED27FD8D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D095DD-E7A7-176C-D85B-43033401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FA43F1-61EE-F47A-2574-578F862A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FFA7AA-E019-0F96-65B8-5F0B8177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02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AE3140-DAEF-8A8A-980B-D2F7474B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48ED03-9B82-9312-F0BE-73B5C046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7593BD-F61B-AF9A-49C9-0B636E0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355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E0E42-A961-963D-90E4-202EBFC6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7ADBE-A375-F386-4578-DD49C27EB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F155AB-28E1-4FE4-13B9-393C15C3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45DF2-61E1-84EB-D57A-AEE91D64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20BF5-9D41-C657-10AC-DCE7267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D866B6-1293-2546-B42E-8ABA6B29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0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9BEA2-55CE-F2DE-AEF0-7B4036EB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3A6D1B-A955-B3F7-F392-7FCA427D3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75CA6-0778-B971-8CAA-54EC44F2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9C39D9-4AF3-6D3C-F786-4F37626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81FADF-726A-E74D-DF9D-C2C07085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FC25D0-4BB5-D0A1-F387-140CECDF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12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B8CBA-B829-C26D-7B1B-1982E51E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0FA99-D64A-B6C2-46D3-DCCB8395F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2A8B7-7B3D-EF57-DE2C-56763CF8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D847C-1BDF-228E-410A-88FEC810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7AC20-D16B-9EA3-6A0A-4CAA2CB1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14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37E7D8-F185-F506-2C71-DFF49490B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87CC7-FE5E-B1A0-AB4B-CE9891A7A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4C23-D533-B380-3D1B-FBE0C4DB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B427D-CB0A-D0FA-5DFF-E699168D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503D1-454D-5676-C600-54A723F4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154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C0BD74-4CAB-2723-0135-493090D4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9AAABF-1CF1-84CA-FC63-AA8743FA0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10CB0-1587-CCBC-A0B3-85F6922F1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06191-0076-7BD0-4EAC-5F72A48CC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5A556-7634-060D-B34C-70497F5ED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9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9.xml"/><Relationship Id="rId7" Type="http://schemas.openxmlformats.org/officeDocument/2006/relationships/image" Target="../media/image2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2.xml"/><Relationship Id="rId7" Type="http://schemas.openxmlformats.org/officeDocument/2006/relationships/image" Target="../media/image2.sv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8.jp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5.xml"/><Relationship Id="rId7" Type="http://schemas.openxmlformats.org/officeDocument/2006/relationships/image" Target="../media/image2.sv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8.xml"/><Relationship Id="rId7" Type="http://schemas.openxmlformats.org/officeDocument/2006/relationships/image" Target="../media/image2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1.xml"/><Relationship Id="rId7" Type="http://schemas.openxmlformats.org/officeDocument/2006/relationships/image" Target="../media/image2.sv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7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4.xml"/><Relationship Id="rId7" Type="http://schemas.openxmlformats.org/officeDocument/2006/relationships/image" Target="../media/image2.sv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7.xml"/><Relationship Id="rId7" Type="http://schemas.openxmlformats.org/officeDocument/2006/relationships/image" Target="../media/image2.sv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833609" y="1730059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入团申请答辩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452" y="1430952"/>
            <a:ext cx="6858000" cy="2580640"/>
          </a:xfrm>
          <a:prstGeom prst="rect">
            <a:avLst/>
          </a:prstGeom>
        </p:spPr>
      </p:pic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899682" y="3835957"/>
            <a:ext cx="5424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自控2401 傅思雄｜以实践行动靠近团组织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63272" y="2494062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99C75111-3F81-365B-8343-EC1A5F716746}"/>
              </a:ext>
            </a:extLst>
          </p:cNvPr>
          <p:cNvSpPr txBox="1"/>
          <p:nvPr/>
        </p:nvSpPr>
        <p:spPr>
          <a:xfrm>
            <a:off x="833609" y="3075520"/>
            <a:ext cx="7797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以青年担当融入集体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431974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演示研究所 SlideLab.cc" descr="免费 城市建筑 素材图片">
            <a:extLst>
              <a:ext uri="{FF2B5EF4-FFF2-40B4-BE49-F238E27FC236}">
                <a16:creationId xmlns:a16="http://schemas.microsoft.com/office/drawing/2014/main" id="{B5A6496D-E9CC-918C-1E6E-84738306D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199101D4-A5F4-DA87-CE37-0921F339FC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5756D49E-B239-7D8D-8A5C-80A3BB045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5423338"/>
            <a:ext cx="12192000" cy="143466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2D6F96E0-0FFC-C143-1584-14D7D4FB5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>
            <a:off x="0" y="-1"/>
            <a:ext cx="12192000" cy="162910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D7597F7A-18BA-A7C9-E57E-6E479BAC5ACF}"/>
              </a:ext>
            </a:extLst>
          </p:cNvPr>
          <p:cNvSpPr txBox="1"/>
          <p:nvPr/>
        </p:nvSpPr>
        <p:spPr>
          <a:xfrm>
            <a:off x="1233796" y="2458519"/>
            <a:ext cx="3402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pic>
        <p:nvPicPr>
          <p:cNvPr id="1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B11A2F9B-BC3A-541B-CC55-98F1AD357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31" y="2722796"/>
            <a:ext cx="3812591" cy="1434664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57A13952-68D8-4951-5612-032977862D8A}"/>
              </a:ext>
            </a:extLst>
          </p:cNvPr>
          <p:cNvSpPr txBox="1"/>
          <p:nvPr/>
        </p:nvSpPr>
        <p:spPr>
          <a:xfrm>
            <a:off x="513880" y="3501475"/>
            <a:ext cx="4841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en-US" altLang="zh-CN" sz="54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lang="zh-CN" altLang="en-US" sz="5400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095012C6-EEF4-043E-BE7B-AD6CC2567367}"/>
              </a:ext>
            </a:extLst>
          </p:cNvPr>
          <p:cNvSpPr/>
          <p:nvPr/>
        </p:nvSpPr>
        <p:spPr>
          <a:xfrm>
            <a:off x="6598677" y="169341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01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BDE0B2B0-3B11-F625-2996-B7DADC99321D}"/>
              </a:ext>
            </a:extLst>
          </p:cNvPr>
          <p:cNvSpPr/>
          <p:nvPr/>
        </p:nvSpPr>
        <p:spPr>
          <a:xfrm>
            <a:off x="6598677" y="2792224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02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FF96411B-8ED8-9E03-4A0F-2DFC0E565BCC}"/>
              </a:ext>
            </a:extLst>
          </p:cNvPr>
          <p:cNvSpPr/>
          <p:nvPr/>
        </p:nvSpPr>
        <p:spPr>
          <a:xfrm>
            <a:off x="6598677" y="389102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03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EB0844D2-EE1E-85EE-BB6F-FB836CCAB17A}"/>
              </a:ext>
            </a:extLst>
          </p:cNvPr>
          <p:cNvSpPr/>
          <p:nvPr/>
        </p:nvSpPr>
        <p:spPr>
          <a:xfrm>
            <a:off x="7469601" y="2090767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班级信息、学习状态与自我定位</a:t>
            </a: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05A62A4F-194A-4C01-5C65-3F554D181D62}"/>
              </a:ext>
            </a:extLst>
          </p:cNvPr>
          <p:cNvSpPr txBox="1"/>
          <p:nvPr/>
        </p:nvSpPr>
        <p:spPr>
          <a:xfrm>
            <a:off x="7469601" y="162910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个人基本情况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90A23731-6832-2F63-82D0-395674F64782}"/>
              </a:ext>
            </a:extLst>
          </p:cNvPr>
          <p:cNvSpPr/>
          <p:nvPr/>
        </p:nvSpPr>
        <p:spPr>
          <a:xfrm>
            <a:off x="7469601" y="3231827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专业学习、蓝桥杯与智能车准备</a:t>
            </a: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AAF91FD0-5A61-DD62-4A1E-83B6E9AFD294}"/>
              </a:ext>
            </a:extLst>
          </p:cNvPr>
          <p:cNvSpPr txBox="1"/>
          <p:nvPr/>
        </p:nvSpPr>
        <p:spPr>
          <a:xfrm>
            <a:off x="7469601" y="277016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学习与科创实践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3960642E-36CC-D8D9-A972-B645580607FD}"/>
              </a:ext>
            </a:extLst>
          </p:cNvPr>
          <p:cNvSpPr/>
          <p:nvPr/>
        </p:nvSpPr>
        <p:spPr>
          <a:xfrm>
            <a:off x="7469601" y="4334806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以更高标准要求自己、服务集体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5A43FF60-AE2D-BC45-1579-999433143E25}"/>
              </a:ext>
            </a:extLst>
          </p:cNvPr>
          <p:cNvSpPr txBox="1"/>
          <p:nvPr/>
        </p:nvSpPr>
        <p:spPr>
          <a:xfrm>
            <a:off x="7469601" y="3873141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入团认识与计划</a:t>
            </a:r>
          </a:p>
        </p:txBody>
      </p:sp>
      <p:pic>
        <p:nvPicPr>
          <p:cNvPr id="29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DF654DA1-4AB8-9DFD-94A0-655CA71C5F9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4171627" y="1710758"/>
            <a:ext cx="1709904" cy="1200330"/>
          </a:xfrm>
          <a:prstGeom prst="rect">
            <a:avLst/>
          </a:prstGeom>
        </p:spPr>
      </p:pic>
      <p:grpSp>
        <p:nvGrpSpPr>
          <p:cNvPr id="30" name="演示研究所 SlideLab.cc">
            <a:extLst>
              <a:ext uri="{FF2B5EF4-FFF2-40B4-BE49-F238E27FC236}">
                <a16:creationId xmlns:a16="http://schemas.microsoft.com/office/drawing/2014/main" id="{A07D792F-1E28-2AA7-3F38-5F07FF59DACF}"/>
              </a:ext>
            </a:extLst>
          </p:cNvPr>
          <p:cNvGrpSpPr/>
          <p:nvPr/>
        </p:nvGrpSpPr>
        <p:grpSpPr>
          <a:xfrm>
            <a:off x="2330622" y="4428717"/>
            <a:ext cx="1208405" cy="272415"/>
            <a:chOff x="1218164" y="3796625"/>
            <a:chExt cx="1208405" cy="272415"/>
          </a:xfrm>
        </p:grpSpPr>
        <p:sp>
          <p:nvSpPr>
            <p:cNvPr id="31" name="演示研究所 SlideLab.cc">
              <a:extLst>
                <a:ext uri="{FF2B5EF4-FFF2-40B4-BE49-F238E27FC236}">
                  <a16:creationId xmlns:a16="http://schemas.microsoft.com/office/drawing/2014/main" id="{3F008B48-0687-F437-3B33-2CBF18C5CD2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2" name="演示研究所 SlideLab.cc">
              <a:extLst>
                <a:ext uri="{FF2B5EF4-FFF2-40B4-BE49-F238E27FC236}">
                  <a16:creationId xmlns:a16="http://schemas.microsoft.com/office/drawing/2014/main" id="{1ED98534-47CB-8993-3E30-87FF03A2BC0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3" name="演示研究所 SlideLab.cc">
              <a:extLst>
                <a:ext uri="{FF2B5EF4-FFF2-40B4-BE49-F238E27FC236}">
                  <a16:creationId xmlns:a16="http://schemas.microsoft.com/office/drawing/2014/main" id="{6E21179D-DB9B-9640-E6D2-B2248F96844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14060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374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申请人：傅思雄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班级：自控2401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希望在学习、实践与集体服务中持续进步。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个人基本情况</a:t>
            </a:r>
          </a:p>
        </p:txBody>
      </p:sp>
    </p:spTree>
    <p:extLst>
      <p:ext uri="{BB962C8B-B14F-4D97-AF65-F5344CB8AC3E}">
        <p14:creationId xmlns:p14="http://schemas.microsoft.com/office/powerpoint/2010/main" val="58460700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演示研究所 SlideLab.cc" descr="免费 城市建筑 素材图片">
            <a:extLst>
              <a:ext uri="{FF2B5EF4-FFF2-40B4-BE49-F238E27FC236}">
                <a16:creationId xmlns:a16="http://schemas.microsoft.com/office/drawing/2014/main" id="{3AE5E012-18D4-3CA6-CDCD-8ABD330AB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CCC055B0-673F-A38A-D0DD-293DBE42B31C}"/>
              </a:ext>
            </a:extLst>
          </p:cNvPr>
          <p:cNvSpPr/>
          <p:nvPr/>
        </p:nvSpPr>
        <p:spPr>
          <a:xfrm>
            <a:off x="0" y="-17797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D56D3DCE-7898-1AF3-CCEF-D01C6E44F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C67CFB4-FD33-CAE4-1CF4-A77D0856C6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7" name="演示研究所 SlideLab.cc">
            <a:extLst>
              <a:ext uri="{FF2B5EF4-FFF2-40B4-BE49-F238E27FC236}">
                <a16:creationId xmlns:a16="http://schemas.microsoft.com/office/drawing/2014/main" id="{528C52F7-BDDD-B4B4-D2D8-D645EFD4C9EE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8" name="演示研究所 SlideLab.cc">
              <a:extLst>
                <a:ext uri="{FF2B5EF4-FFF2-40B4-BE49-F238E27FC236}">
                  <a16:creationId xmlns:a16="http://schemas.microsoft.com/office/drawing/2014/main" id="{57BD0CA8-81AB-5667-7CFB-12B198E1BC4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9" name="演示研究所 SlideLab.cc">
              <a:extLst>
                <a:ext uri="{FF2B5EF4-FFF2-40B4-BE49-F238E27FC236}">
                  <a16:creationId xmlns:a16="http://schemas.microsoft.com/office/drawing/2014/main" id="{223E0DEB-6271-6461-29AC-4592F673435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172DEA52-9DCF-8383-E3A4-4B0701A6B0B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EABD828A-3C1B-F345-5EA2-AD157C44B996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个人画像</a:t>
            </a:r>
            <a:endParaRPr kumimoji="1" lang="zh-CN" altLang="en-US" b="1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2FAFB69F-3E8D-E34F-928B-9C15463895EB}"/>
              </a:ext>
            </a:extLst>
          </p:cNvPr>
          <p:cNvSpPr/>
          <p:nvPr/>
        </p:nvSpPr>
        <p:spPr>
          <a:xfrm>
            <a:off x="8842625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5B2DD2B6-4B53-EE4A-AE5C-8274A57F7058}"/>
              </a:ext>
            </a:extLst>
          </p:cNvPr>
          <p:cNvSpPr/>
          <p:nvPr/>
        </p:nvSpPr>
        <p:spPr>
          <a:xfrm>
            <a:off x="3349374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9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7" name="演示研究所 SlideLab.cc">
            <a:extLst>
              <a:ext uri="{FF2B5EF4-FFF2-40B4-BE49-F238E27FC236}">
                <a16:creationId xmlns:a16="http://schemas.microsoft.com/office/drawing/2014/main" id="{3EC40F31-2BDA-BC4F-80EC-5B53C50EFC2A}"/>
              </a:ext>
            </a:extLst>
          </p:cNvPr>
          <p:cNvSpPr/>
          <p:nvPr/>
        </p:nvSpPr>
        <p:spPr>
          <a:xfrm>
            <a:off x="6254876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10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2E3B4953-CE9A-3744-AAD4-E2B0E417AE53}"/>
              </a:ext>
            </a:extLst>
          </p:cNvPr>
          <p:cNvSpPr/>
          <p:nvPr/>
        </p:nvSpPr>
        <p:spPr>
          <a:xfrm>
            <a:off x="0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7AAAE613-4108-3448-A7EF-3B68FD0E13EE}"/>
              </a:ext>
            </a:extLst>
          </p:cNvPr>
          <p:cNvSpPr/>
          <p:nvPr/>
        </p:nvSpPr>
        <p:spPr>
          <a:xfrm>
            <a:off x="1870129" y="5338365"/>
            <a:ext cx="8451742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我的自我定位：以踏实完成任务为基础，以主动参与实践为路径，在集体需要时承担力所能及的责任。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4BB9A184-0F91-8D41-855A-B4EC45534296}"/>
              </a:ext>
            </a:extLst>
          </p:cNvPr>
          <p:cNvSpPr/>
          <p:nvPr/>
        </p:nvSpPr>
        <p:spPr>
          <a:xfrm>
            <a:off x="4634213" y="1736936"/>
            <a:ext cx="2923570" cy="266126"/>
          </a:xfrm>
          <a:prstGeom prst="parallelogram">
            <a:avLst/>
          </a:prstGeom>
          <a:gradFill>
            <a:gsLst>
              <a:gs pos="0">
                <a:srgbClr val="F3E2D0"/>
              </a:gs>
              <a:gs pos="100000">
                <a:srgbClr val="E7D1C3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5956952A-A97E-C548-9DC3-FBEC46893DB6}"/>
              </a:ext>
            </a:extLst>
          </p:cNvPr>
          <p:cNvSpPr txBox="1"/>
          <p:nvPr/>
        </p:nvSpPr>
        <p:spPr>
          <a:xfrm>
            <a:off x="5208575" y="1044983"/>
            <a:ext cx="17748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</a:lstStyle>
          <a:p>
            <a:pPr algn="ctr"/>
            <a:r>
              <a:rPr lang="zh-CN" altLang="en-US" spc="30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踏实做事</a:t>
            </a:r>
          </a:p>
          <a:p>
            <a:pPr algn="ctr"/>
            <a:r>
              <a:rPr lang="zh-CN" altLang="en-US" spc="30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主动担当</a:t>
            </a:r>
            <a:endParaRPr lang="zh-CN" altLang="en-US" spc="3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CE393474-6514-464E-9895-B78A177FDF23}"/>
              </a:ext>
            </a:extLst>
          </p:cNvPr>
          <p:cNvSpPr/>
          <p:nvPr/>
        </p:nvSpPr>
        <p:spPr>
          <a:xfrm>
            <a:off x="510064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基本情况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2225541-2224-1341-B7F2-E377BF794436}"/>
              </a:ext>
            </a:extLst>
          </p:cNvPr>
          <p:cNvSpPr/>
          <p:nvPr/>
        </p:nvSpPr>
        <p:spPr>
          <a:xfrm>
            <a:off x="510064" y="3429347"/>
            <a:ext cx="2587752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自控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2401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班，绩点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3.3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，申请加入中国共产主义青年团。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55B227C1-DCF4-B54B-BEA6-CEA66544FF0E}"/>
              </a:ext>
            </a:extLst>
          </p:cNvPr>
          <p:cNvSpPr/>
          <p:nvPr/>
        </p:nvSpPr>
        <p:spPr>
          <a:xfrm>
            <a:off x="9223436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成长态度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323394B0-04A5-A946-8C14-340141F0CAD1}"/>
              </a:ext>
            </a:extLst>
          </p:cNvPr>
          <p:cNvSpPr/>
          <p:nvPr/>
        </p:nvSpPr>
        <p:spPr>
          <a:xfrm>
            <a:off x="9223436" y="3429347"/>
            <a:ext cx="2587752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少说空话、多做实事，在学习和集体事务中靠近更高标准。</a:t>
            </a:r>
          </a:p>
        </p:txBody>
      </p:sp>
    </p:spTree>
    <p:extLst>
      <p:ext uri="{BB962C8B-B14F-4D97-AF65-F5344CB8AC3E}">
        <p14:creationId xmlns:p14="http://schemas.microsoft.com/office/powerpoint/2010/main" val="275697846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7005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重视专业学习与实践能力，参与蓝桥杯、智能车等训练，把知识用到真实问题中。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02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2" y="1934281"/>
            <a:ext cx="3859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学习与科创实践</a:t>
            </a:r>
          </a:p>
        </p:txBody>
      </p:sp>
    </p:spTree>
    <p:extLst>
      <p:ext uri="{BB962C8B-B14F-4D97-AF65-F5344CB8AC3E}">
        <p14:creationId xmlns:p14="http://schemas.microsoft.com/office/powerpoint/2010/main" val="425360072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 descr="免费 城市建筑 素材图片">
            <a:extLst>
              <a:ext uri="{FF2B5EF4-FFF2-40B4-BE49-F238E27FC236}">
                <a16:creationId xmlns:a16="http://schemas.microsoft.com/office/drawing/2014/main" id="{2C5740F3-F992-F230-2C77-FF30520A8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演示研究所 SlideLab.cc">
            <a:extLst>
              <a:ext uri="{FF2B5EF4-FFF2-40B4-BE49-F238E27FC236}">
                <a16:creationId xmlns:a16="http://schemas.microsoft.com/office/drawing/2014/main" id="{6892A866-3506-8FB3-8EB4-6E4E886C53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4" name="演示研究所 SlideLab.cc">
            <a:extLst>
              <a:ext uri="{FF2B5EF4-FFF2-40B4-BE49-F238E27FC236}">
                <a16:creationId xmlns:a16="http://schemas.microsoft.com/office/drawing/2014/main" id="{129FC7A5-35A3-6FE0-F9A8-66ABB398A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35" name="演示研究所 SlideLab.cc">
            <a:extLst>
              <a:ext uri="{FF2B5EF4-FFF2-40B4-BE49-F238E27FC236}">
                <a16:creationId xmlns:a16="http://schemas.microsoft.com/office/drawing/2014/main" id="{BA3919DC-6B1F-4E2A-5D83-D6912B5BD4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3EAED0BF-8B3E-1DAD-E305-CB02DFEFA4B6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97BEB24C-E753-C2E3-C7EE-DF309FC09BB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4BDD1C12-B1F0-F0F2-9B9E-7EAECA17D38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9" name="演示研究所 SlideLab.cc">
              <a:extLst>
                <a:ext uri="{FF2B5EF4-FFF2-40B4-BE49-F238E27FC236}">
                  <a16:creationId xmlns:a16="http://schemas.microsoft.com/office/drawing/2014/main" id="{3D4900B5-A84E-403D-6729-BFFFAEC0195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A7E8EDB9-70AB-8D0E-BAFD-5D5557A1E1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实践成长路径</a:t>
            </a: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20F20077-70F4-D04E-8A39-577A4945B7A8}"/>
              </a:ext>
            </a:extLst>
          </p:cNvPr>
          <p:cNvSpPr/>
          <p:nvPr/>
        </p:nvSpPr>
        <p:spPr>
          <a:xfrm rot="5400000">
            <a:off x="2281199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9" name="演示研究所 SlideLab.cc">
            <a:extLst>
              <a:ext uri="{FF2B5EF4-FFF2-40B4-BE49-F238E27FC236}">
                <a16:creationId xmlns:a16="http://schemas.microsoft.com/office/drawing/2014/main" id="{F1D04A15-3994-F14A-97E1-991EA10778FD}"/>
              </a:ext>
            </a:extLst>
          </p:cNvPr>
          <p:cNvSpPr/>
          <p:nvPr/>
        </p:nvSpPr>
        <p:spPr>
          <a:xfrm rot="5400000">
            <a:off x="5258930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0" name="演示研究所 SlideLab.cc">
            <a:extLst>
              <a:ext uri="{FF2B5EF4-FFF2-40B4-BE49-F238E27FC236}">
                <a16:creationId xmlns:a16="http://schemas.microsoft.com/office/drawing/2014/main" id="{C286BE16-5B7A-E749-979F-C60FD1F64290}"/>
              </a:ext>
            </a:extLst>
          </p:cNvPr>
          <p:cNvSpPr/>
          <p:nvPr/>
        </p:nvSpPr>
        <p:spPr>
          <a:xfrm rot="5400000">
            <a:off x="8218948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1" name="演示研究所 SlideLab.cc">
            <a:extLst>
              <a:ext uri="{FF2B5EF4-FFF2-40B4-BE49-F238E27FC236}">
                <a16:creationId xmlns:a16="http://schemas.microsoft.com/office/drawing/2014/main" id="{DAD26C8C-24F7-D549-AA0B-32473F1882BB}"/>
              </a:ext>
            </a:extLst>
          </p:cNvPr>
          <p:cNvSpPr/>
          <p:nvPr/>
        </p:nvSpPr>
        <p:spPr>
          <a:xfrm rot="5400000">
            <a:off x="3752352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2" name="演示研究所 SlideLab.cc">
            <a:extLst>
              <a:ext uri="{FF2B5EF4-FFF2-40B4-BE49-F238E27FC236}">
                <a16:creationId xmlns:a16="http://schemas.microsoft.com/office/drawing/2014/main" id="{1B9ECEF5-72DC-2A45-8B56-3A515D9F8D7F}"/>
              </a:ext>
            </a:extLst>
          </p:cNvPr>
          <p:cNvSpPr/>
          <p:nvPr/>
        </p:nvSpPr>
        <p:spPr>
          <a:xfrm rot="5400000">
            <a:off x="6710068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8B7D85F3-C607-4B22-A37D-C9B96D45931C}"/>
              </a:ext>
            </a:extLst>
          </p:cNvPr>
          <p:cNvSpPr/>
          <p:nvPr/>
        </p:nvSpPr>
        <p:spPr>
          <a:xfrm>
            <a:off x="7975889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C870577E-5DB6-4EEA-B275-AB00CEC50090}"/>
              </a:ext>
            </a:extLst>
          </p:cNvPr>
          <p:cNvSpPr/>
          <p:nvPr/>
        </p:nvSpPr>
        <p:spPr>
          <a:xfrm rot="10800000">
            <a:off x="6487024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79A3C2-AE32-4ACF-A0C0-1793F97E7E69}"/>
              </a:ext>
            </a:extLst>
          </p:cNvPr>
          <p:cNvSpPr/>
          <p:nvPr/>
        </p:nvSpPr>
        <p:spPr>
          <a:xfrm>
            <a:off x="4998158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3C4CF213-F897-4F0E-9EB4-A2AE62BF0EC1}"/>
              </a:ext>
            </a:extLst>
          </p:cNvPr>
          <p:cNvSpPr/>
          <p:nvPr/>
        </p:nvSpPr>
        <p:spPr>
          <a:xfrm rot="10800000">
            <a:off x="3509296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F1057F1D-BBB4-4872-966C-B61162053E34}"/>
              </a:ext>
            </a:extLst>
          </p:cNvPr>
          <p:cNvSpPr/>
          <p:nvPr/>
        </p:nvSpPr>
        <p:spPr>
          <a:xfrm>
            <a:off x="2020431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AE6DEF97-14B3-4E2A-B2B5-13A409EA64DA}"/>
              </a:ext>
            </a:extLst>
          </p:cNvPr>
          <p:cNvSpPr/>
          <p:nvPr/>
        </p:nvSpPr>
        <p:spPr>
          <a:xfrm>
            <a:off x="2662483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E8B3B471-261C-468C-AE4C-C4A976EDF225}"/>
              </a:ext>
            </a:extLst>
          </p:cNvPr>
          <p:cNvSpPr/>
          <p:nvPr/>
        </p:nvSpPr>
        <p:spPr>
          <a:xfrm>
            <a:off x="4151347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prstClr val="black"/>
              </a:solidFill>
              <a:latin typeface="汉仪旗黑-55简" panose="00020600040101010101" charset="-128"/>
              <a:ea typeface="汉仪旗黑-55简" panose="00020600040101010101" charset="-128"/>
              <a:sym typeface="汉仪旗黑 55简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9F7D2450-A4FB-4971-A9E9-1BB65F1144BD}"/>
              </a:ext>
            </a:extLst>
          </p:cNvPr>
          <p:cNvSpPr/>
          <p:nvPr/>
        </p:nvSpPr>
        <p:spPr>
          <a:xfrm>
            <a:off x="5640210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66DF0B82-FE21-42D5-B7A5-4E87710F6170}"/>
              </a:ext>
            </a:extLst>
          </p:cNvPr>
          <p:cNvSpPr/>
          <p:nvPr/>
        </p:nvSpPr>
        <p:spPr>
          <a:xfrm>
            <a:off x="7129076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18872" rIns="0" bIns="0" rtlCol="0" anchor="ctr"/>
          <a:lstStyle/>
          <a:p>
            <a:pPr algn="ct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32F3834F-5524-4789-9774-D5F2C718E83A}"/>
              </a:ext>
            </a:extLst>
          </p:cNvPr>
          <p:cNvSpPr/>
          <p:nvPr/>
        </p:nvSpPr>
        <p:spPr>
          <a:xfrm>
            <a:off x="8617941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F9C1E924-16A9-489A-8266-52663261FB1C}"/>
              </a:ext>
            </a:extLst>
          </p:cNvPr>
          <p:cNvSpPr txBox="1"/>
          <p:nvPr/>
        </p:nvSpPr>
        <p:spPr>
          <a:xfrm>
            <a:off x="2838386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01</a:t>
            </a: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8046B59A-79DB-45B2-862D-13CE5E63323E}"/>
              </a:ext>
            </a:extLst>
          </p:cNvPr>
          <p:cNvSpPr txBox="1"/>
          <p:nvPr/>
        </p:nvSpPr>
        <p:spPr>
          <a:xfrm>
            <a:off x="4327250" y="5363095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02</a:t>
            </a: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D0FD642E-DECD-4F53-BDF6-92916477A4DB}"/>
              </a:ext>
            </a:extLst>
          </p:cNvPr>
          <p:cNvSpPr txBox="1"/>
          <p:nvPr/>
        </p:nvSpPr>
        <p:spPr>
          <a:xfrm>
            <a:off x="5802187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03</a:t>
            </a: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589E2A55-71F9-4D50-AEED-01DB0830BDD0}"/>
              </a:ext>
            </a:extLst>
          </p:cNvPr>
          <p:cNvSpPr txBox="1"/>
          <p:nvPr/>
        </p:nvSpPr>
        <p:spPr>
          <a:xfrm>
            <a:off x="7291051" y="5363095"/>
            <a:ext cx="559769" cy="46166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04</a:t>
            </a: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32B154F0-D189-4584-B455-0A759BE20A15}"/>
              </a:ext>
            </a:extLst>
          </p:cNvPr>
          <p:cNvSpPr txBox="1"/>
          <p:nvPr/>
        </p:nvSpPr>
        <p:spPr>
          <a:xfrm>
            <a:off x="8793845" y="1520757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05</a:t>
            </a: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0C679D9E-563F-49AE-8BB0-3FBCA8470D01}"/>
              </a:ext>
            </a:extLst>
          </p:cNvPr>
          <p:cNvSpPr/>
          <p:nvPr/>
        </p:nvSpPr>
        <p:spPr>
          <a:xfrm>
            <a:off x="2473770" y="2809184"/>
            <a:ext cx="134526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夯实专业基础，保持稳定进步。</a:t>
            </a: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F52ACAF1-803F-4D9A-84CE-78022406A2E5}"/>
              </a:ext>
            </a:extLst>
          </p:cNvPr>
          <p:cNvSpPr/>
          <p:nvPr/>
        </p:nvSpPr>
        <p:spPr>
          <a:xfrm>
            <a:off x="2501899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专业学习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403AC746-E9B5-4B04-AB69-FA287B177093}"/>
              </a:ext>
            </a:extLst>
          </p:cNvPr>
          <p:cNvSpPr/>
          <p:nvPr/>
        </p:nvSpPr>
        <p:spPr>
          <a:xfrm>
            <a:off x="5423370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获省级一等奖，等待国赛结果。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6222DBAD-EBE6-4B26-AC5E-D4532F7F84B7}"/>
              </a:ext>
            </a:extLst>
          </p:cNvPr>
          <p:cNvSpPr/>
          <p:nvPr/>
        </p:nvSpPr>
        <p:spPr>
          <a:xfrm>
            <a:off x="5419498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蓝桥杯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5B4524A4-2002-45A0-A1C2-7D62A0F0C316}"/>
              </a:ext>
            </a:extLst>
          </p:cNvPr>
          <p:cNvSpPr/>
          <p:nvPr/>
        </p:nvSpPr>
        <p:spPr>
          <a:xfrm>
            <a:off x="8419630" y="2809184"/>
            <a:ext cx="134526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持续训练，提升工程实践能力。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6AE63D1A-71A8-471B-9A13-43646803124E}"/>
              </a:ext>
            </a:extLst>
          </p:cNvPr>
          <p:cNvSpPr/>
          <p:nvPr/>
        </p:nvSpPr>
        <p:spPr>
          <a:xfrm>
            <a:off x="8401100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智能车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C9C7181-EC86-482F-A2BF-07743DEA9495}"/>
              </a:ext>
            </a:extLst>
          </p:cNvPr>
          <p:cNvSpPr/>
          <p:nvPr/>
        </p:nvSpPr>
        <p:spPr>
          <a:xfrm>
            <a:off x="6968113" y="4411867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协助整理、调试、维护日常事务。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0D99C2C2-00CC-4147-9B7D-A7B9602EB24F}"/>
              </a:ext>
            </a:extLst>
          </p:cNvPr>
          <p:cNvSpPr/>
          <p:nvPr/>
        </p:nvSpPr>
        <p:spPr>
          <a:xfrm>
            <a:off x="6968113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实验助理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A8167B2B-F19F-4929-8DE9-07FC8379DFE3}"/>
              </a:ext>
            </a:extLst>
          </p:cNvPr>
          <p:cNvSpPr/>
          <p:nvPr/>
        </p:nvSpPr>
        <p:spPr>
          <a:xfrm>
            <a:off x="3923843" y="4402445"/>
            <a:ext cx="134526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需要时主动承担，贡献力量。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FB6E7662-9471-4AC5-94D2-3FF99D260E76}"/>
              </a:ext>
            </a:extLst>
          </p:cNvPr>
          <p:cNvSpPr/>
          <p:nvPr/>
        </p:nvSpPr>
        <p:spPr>
          <a:xfrm>
            <a:off x="3980102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服务集体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661291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784A-0960-C694-99E8-58C27E52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33511DD6-1BF2-49C2-231C-DC1865DE9A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B9F41C60-2837-B081-1B0C-F8E367B393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7703160C-F88B-11A8-A987-1BA7C828C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0FE03DE9-8241-6E0D-BAD9-B77EBE749F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4309FA5B-5954-B79C-0E9E-07EBC83D7789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8F5A9AC5-4BC5-9189-2D22-CF382983667E}"/>
              </a:ext>
            </a:extLst>
          </p:cNvPr>
          <p:cNvSpPr txBox="1"/>
          <p:nvPr/>
        </p:nvSpPr>
        <p:spPr>
          <a:xfrm>
            <a:off x="7218375" y="2764743"/>
            <a:ext cx="4030327" cy="7005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共青团不仅是一种身份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更是一份先进青年的责任与担当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EF4E7E30-DB4D-5964-39D3-80475F533AA9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5AB0B78D-B4F6-217D-5195-C8BFE769D8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CE5B7FB4-FC89-E8FD-47C1-EFFB0919083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D9FC4262-6534-A051-0351-FB714DFF788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514D760A-4873-C382-7E9F-20067DDCC59B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03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AE8530A5-6755-B9AA-122F-5BE3DD8DE5C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8A57E95-BA43-5AA7-7762-952092A8C676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54973D18-61E6-8B94-9C8B-7C691BB59472}"/>
              </a:ext>
            </a:extLst>
          </p:cNvPr>
          <p:cNvSpPr txBox="1"/>
          <p:nvPr/>
        </p:nvSpPr>
        <p:spPr>
          <a:xfrm flipH="1">
            <a:off x="7171042" y="1934281"/>
            <a:ext cx="3859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入团认识与计划</a:t>
            </a:r>
          </a:p>
        </p:txBody>
      </p:sp>
    </p:spTree>
    <p:extLst>
      <p:ext uri="{BB962C8B-B14F-4D97-AF65-F5344CB8AC3E}">
        <p14:creationId xmlns:p14="http://schemas.microsoft.com/office/powerpoint/2010/main" val="396482568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演示研究所 SlideLab.cc" descr="免费 城市建筑 素材图片">
            <a:extLst>
              <a:ext uri="{FF2B5EF4-FFF2-40B4-BE49-F238E27FC236}">
                <a16:creationId xmlns:a16="http://schemas.microsoft.com/office/drawing/2014/main" id="{29D1E50A-460A-E77D-FB07-FB5D6707B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97399092-36F9-5A58-26A0-9BC5164FF3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1AB4A514-7319-4D1B-2D2A-18A916BF1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F7BA9BEF-6D7A-3E3D-1EA5-C8AC81774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8" name="演示研究所 SlideLab.cc">
            <a:extLst>
              <a:ext uri="{FF2B5EF4-FFF2-40B4-BE49-F238E27FC236}">
                <a16:creationId xmlns:a16="http://schemas.microsoft.com/office/drawing/2014/main" id="{FA303262-C5FE-F359-6187-E7F8CE2710F5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9" name="演示研究所 SlideLab.cc">
              <a:extLst>
                <a:ext uri="{FF2B5EF4-FFF2-40B4-BE49-F238E27FC236}">
                  <a16:creationId xmlns:a16="http://schemas.microsoft.com/office/drawing/2014/main" id="{B8D179F4-4DEE-2801-DB17-48859DAE9CE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E09137D6-711C-F1E0-CA3E-6094C8E7782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2" name="演示研究所 SlideLab.cc">
              <a:extLst>
                <a:ext uri="{FF2B5EF4-FFF2-40B4-BE49-F238E27FC236}">
                  <a16:creationId xmlns:a16="http://schemas.microsoft.com/office/drawing/2014/main" id="{9818F3E8-7CB4-497C-5810-730C9C8B9F1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3C918865-A2F0-9A6E-E3CA-D6DCC1011DD8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对共青团的认识</a:t>
            </a:r>
            <a:endParaRPr kumimoji="1" lang="zh-CN" altLang="en-US" b="1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F1840C-5AD0-4BC8-AF60-A42A01FB16B3}"/>
              </a:ext>
            </a:extLst>
          </p:cNvPr>
          <p:cNvSpPr/>
          <p:nvPr/>
        </p:nvSpPr>
        <p:spPr>
          <a:xfrm>
            <a:off x="1325465" y="910251"/>
            <a:ext cx="10866534" cy="2725616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9"/>
            <a:stretch>
              <a:fillRect t="-62129" b="-62129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DA296D86-ACFC-4F96-BBA7-69113B75BDAF}"/>
              </a:ext>
            </a:extLst>
          </p:cNvPr>
          <p:cNvSpPr/>
          <p:nvPr/>
        </p:nvSpPr>
        <p:spPr>
          <a:xfrm>
            <a:off x="561466" y="1975176"/>
            <a:ext cx="2910397" cy="69658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68300" dist="127000" dir="24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94C44188-F82E-44E8-B865-96680CCC8811}"/>
              </a:ext>
            </a:extLst>
          </p:cNvPr>
          <p:cNvSpPr txBox="1"/>
          <p:nvPr/>
        </p:nvSpPr>
        <p:spPr>
          <a:xfrm>
            <a:off x="1743076" y="4374153"/>
            <a:ext cx="4620412" cy="613678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r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共青团代表着先进青年的方向。对我而言，申请入团是希望用更高标准要求自己，把个人成长和集体需要结合起来。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797C4D2C-71F6-B84F-81FC-69C7B70B26F6}"/>
              </a:ext>
            </a:extLst>
          </p:cNvPr>
          <p:cNvSpPr txBox="1"/>
          <p:nvPr/>
        </p:nvSpPr>
        <p:spPr>
          <a:xfrm>
            <a:off x="7095093" y="4459091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责任意识</a:t>
            </a:r>
          </a:p>
          <a:p>
            <a:pPr algn="l"/>
            <a:r>
              <a:rPr lang="zh-CN" altLang="en-US" sz="360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服务意识</a:t>
            </a:r>
            <a:endParaRPr lang="zh-CN" altLang="en-US" sz="36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3E98455F-54BC-5843-82D1-F078DBF8E65E}"/>
              </a:ext>
            </a:extLst>
          </p:cNvPr>
          <p:cNvSpPr/>
          <p:nvPr/>
        </p:nvSpPr>
        <p:spPr>
          <a:xfrm>
            <a:off x="5095127" y="5438380"/>
            <a:ext cx="1268361" cy="442080"/>
          </a:xfrm>
          <a:prstGeom prst="rect">
            <a:avLst/>
          </a:prstGeom>
          <a:noFill/>
          <a:ln w="12700" cap="flat" cmpd="sng">
            <a:solidFill>
              <a:srgbClr val="F5E4D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>
                <a:ln w="38100">
                  <a:noFill/>
                </a:ln>
                <a:gradFill>
                  <a:gsLst>
                    <a:gs pos="30000">
                      <a:srgbClr val="E74100"/>
                    </a:gs>
                    <a:gs pos="100000">
                      <a:srgbClr val="A8000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lang="zh-CN" altLang="en-US" dirty="0">
              <a:ln w="38100">
                <a:noFill/>
              </a:ln>
              <a:gradFill>
                <a:gsLst>
                  <a:gs pos="30000">
                    <a:srgbClr val="E74100"/>
                  </a:gs>
                  <a:gs pos="100000">
                    <a:srgbClr val="A80000"/>
                  </a:gs>
                </a:gsLst>
                <a:lin ang="5400000" scaled="1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0936A403-EDAE-3940-917E-8FB8CC52D725}"/>
              </a:ext>
            </a:extLst>
          </p:cNvPr>
          <p:cNvSpPr txBox="1"/>
          <p:nvPr/>
        </p:nvSpPr>
        <p:spPr>
          <a:xfrm>
            <a:off x="907178" y="2092636"/>
            <a:ext cx="221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>
              <a:defRPr sz="2400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>
                <a:solidFill>
                  <a:srgbClr val="F5E4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先进青年</a:t>
            </a:r>
            <a:endParaRPr lang="zh-CN" altLang="en-US" dirty="0">
              <a:solidFill>
                <a:srgbClr val="F5E4D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261377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1169257" y="2123356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谢谢观看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804" y="2087204"/>
            <a:ext cx="6858000" cy="2580640"/>
          </a:xfrm>
          <a:prstGeom prst="rect">
            <a:avLst/>
          </a:prstGeom>
        </p:spPr>
      </p:pic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1235330" y="3768112"/>
            <a:ext cx="5424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恳请老师、同学批评指正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10198920" y="2426217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62220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01411"/>
      </a:accent1>
      <a:accent2>
        <a:srgbClr val="EF611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624</Words>
  <Application>Microsoft Office PowerPoint</Application>
  <PresentationFormat>宽屏</PresentationFormat>
  <Paragraphs>69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汉仪旗黑 55简</vt:lpstr>
      <vt:lpstr>汉仪旗黑-55简</vt:lpstr>
      <vt:lpstr>思源宋体 CN Medium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思雄 傅</cp:lastModifiedBy>
  <cp:revision>30</cp:revision>
  <dcterms:created xsi:type="dcterms:W3CDTF">2022-12-13T05:35:45Z</dcterms:created>
  <dcterms:modified xsi:type="dcterms:W3CDTF">2026-06-16T14:46:26Z</dcterms:modified>
</cp:coreProperties>
</file>