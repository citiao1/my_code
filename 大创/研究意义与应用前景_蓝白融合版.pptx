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Noto Sans SC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otoSansSC-regular.fntdata"/><Relationship Id="rId8" Type="http://schemas.openxmlformats.org/officeDocument/2006/relationships/font" Target="fonts/NotoSansSC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6.png"/><Relationship Id="rId22" Type="http://schemas.openxmlformats.org/officeDocument/2006/relationships/image" Target="../media/image18.png"/><Relationship Id="rId10" Type="http://schemas.openxmlformats.org/officeDocument/2006/relationships/image" Target="../media/image20.png"/><Relationship Id="rId21" Type="http://schemas.openxmlformats.org/officeDocument/2006/relationships/image" Target="../media/image19.png"/><Relationship Id="rId13" Type="http://schemas.openxmlformats.org/officeDocument/2006/relationships/image" Target="../media/image9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15" Type="http://schemas.openxmlformats.org/officeDocument/2006/relationships/image" Target="../media/image7.png"/><Relationship Id="rId14" Type="http://schemas.openxmlformats.org/officeDocument/2006/relationships/image" Target="../media/image11.png"/><Relationship Id="rId17" Type="http://schemas.openxmlformats.org/officeDocument/2006/relationships/image" Target="../media/image13.png"/><Relationship Id="rId16" Type="http://schemas.openxmlformats.org/officeDocument/2006/relationships/image" Target="../media/image16.png"/><Relationship Id="rId5" Type="http://schemas.openxmlformats.org/officeDocument/2006/relationships/image" Target="../media/image3.png"/><Relationship Id="rId19" Type="http://schemas.openxmlformats.org/officeDocument/2006/relationships/image" Target="../media/image15.png"/><Relationship Id="rId6" Type="http://schemas.openxmlformats.org/officeDocument/2006/relationships/image" Target="../media/image10.png"/><Relationship Id="rId18" Type="http://schemas.openxmlformats.org/officeDocument/2006/relationships/image" Target="../media/image14.png"/><Relationship Id="rId7" Type="http://schemas.openxmlformats.org/officeDocument/2006/relationships/image" Target="../media/image12.png"/><Relationship Id="rId8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52525"/>
            <a:ext cx="3933825" cy="2547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5">
            <a:alphaModFix/>
          </a:blip>
          <a:srcRect b="10121" l="0" r="0" t="10121"/>
          <a:stretch/>
        </p:blipFill>
        <p:spPr>
          <a:xfrm>
            <a:off x="476250" y="3938588"/>
            <a:ext cx="3933900" cy="2476500"/>
          </a:xfrm>
          <a:prstGeom prst="roundRect">
            <a:avLst>
              <a:gd fmla="val 4615" name="adj"/>
            </a:avLst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1075" y="1819275"/>
            <a:ext cx="3367087" cy="2502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48662" y="1819275"/>
            <a:ext cx="3367087" cy="2502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8">
            <a:alphaModFix/>
          </a:blip>
          <a:srcRect b="8430" l="0" r="0" t="8430"/>
          <a:stretch/>
        </p:blipFill>
        <p:spPr>
          <a:xfrm>
            <a:off x="4791075" y="4512469"/>
            <a:ext cx="3367200" cy="2095500"/>
          </a:xfrm>
          <a:prstGeom prst="roundRect">
            <a:avLst>
              <a:gd fmla="val 5454" name="adj"/>
            </a:avLst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 rotWithShape="1">
          <a:blip r:embed="rId9">
            <a:alphaModFix/>
          </a:blip>
          <a:srcRect b="8430" l="0" r="0" t="8430"/>
          <a:stretch/>
        </p:blipFill>
        <p:spPr>
          <a:xfrm>
            <a:off x="8348663" y="4512469"/>
            <a:ext cx="3367200" cy="2095500"/>
          </a:xfrm>
          <a:prstGeom prst="roundRect">
            <a:avLst>
              <a:gd fmla="val 5454" name="adj"/>
            </a:avLst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476250" y="433387"/>
            <a:ext cx="57300" cy="381000"/>
          </a:xfrm>
          <a:prstGeom prst="roundRect">
            <a:avLst>
              <a:gd fmla="val 50000" name="adj"/>
            </a:avLst>
          </a:prstGeom>
          <a:solidFill>
            <a:srgbClr val="004A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04850" y="381000"/>
            <a:ext cx="4345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4A99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研究意义与行业应用前景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34640" y="1381125"/>
            <a:ext cx="327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A99"/>
                </a:solidFill>
                <a:latin typeface="Noto Sans SC"/>
                <a:ea typeface="Noto Sans SC"/>
                <a:cs typeface="Noto Sans SC"/>
                <a:sym typeface="Noto Sans SC"/>
              </a:rPr>
              <a:t>理论意义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676275" y="1762125"/>
            <a:ext cx="3533700" cy="9600"/>
          </a:xfrm>
          <a:prstGeom prst="rect">
            <a:avLst/>
          </a:prstGeom>
          <a:solidFill>
            <a:srgbClr val="DDEC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934640" y="4167187"/>
            <a:ext cx="3275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4A99"/>
                </a:solidFill>
                <a:latin typeface="Noto Sans SC"/>
                <a:ea typeface="Noto Sans SC"/>
                <a:cs typeface="Noto Sans SC"/>
                <a:sym typeface="Noto Sans SC"/>
              </a:rPr>
              <a:t>实践意义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676275" y="4548187"/>
            <a:ext cx="3533700" cy="9600"/>
          </a:xfrm>
          <a:prstGeom prst="rect">
            <a:avLst/>
          </a:prstGeom>
          <a:solidFill>
            <a:srgbClr val="DDEC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7" name="Google Shape;97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81575" y="1314450"/>
            <a:ext cx="11861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5214491" y="1247775"/>
            <a:ext cx="1760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行业场景深度应用</a:t>
            </a:r>
            <a:endParaRPr/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6275" y="1419225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847725" y="1914525"/>
            <a:ext cx="3362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探索具身智能 + 多模态大模型 + 知识图谱的融合范式，为工业智能决策提供新框架与新方法。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847725" y="2443162"/>
            <a:ext cx="3362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提出双轨协同检测、RAG - 知识图谱联合推理等创新机制，丰富工业异常检测与智能运维理论体系。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47725" y="2971800"/>
            <a:ext cx="3362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实现边缘端多模态大模型轻量化部署，推动大模型工业落地的理论与技术完善。</a:t>
            </a:r>
            <a:endParaRPr/>
          </a:p>
        </p:txBody>
      </p:sp>
      <p:pic>
        <p:nvPicPr>
          <p:cNvPr descr="image.png" id="103" name="Google Shape;10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6275" y="4205287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3"/>
          <p:cNvSpPr txBox="1"/>
          <p:nvPr/>
        </p:nvSpPr>
        <p:spPr>
          <a:xfrm>
            <a:off x="847725" y="4700587"/>
            <a:ext cx="3362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替代 / 辅助人工巡检，大幅降低高温、高压、有毒等恶劣环境下的人身安全风险。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847725" y="5229225"/>
            <a:ext cx="3362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实现24小时不间断巡检，提升隐患识别率与故障响应速度，减少安全事故发生。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847725" y="5757862"/>
            <a:ext cx="33624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 u="none" cap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降低人力成本、提升运维效率，可广泛应用于各类高危工业领域，具备显著工程应用价值。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847725" y="6096000"/>
            <a:ext cx="3362400" cy="33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7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推动传统工业向数字化、智能化、无人化转型，助力工业安全生产与高效运维升级。</a:t>
            </a:r>
            <a:endParaRPr b="0" i="0" sz="1087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descr="image.png" id="108" name="Google Shape;108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92234" y="3470777"/>
            <a:ext cx="962290" cy="11118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949822" y="3470777"/>
            <a:ext cx="962290" cy="1111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 txBox="1"/>
          <p:nvPr/>
        </p:nvSpPr>
        <p:spPr>
          <a:xfrm>
            <a:off x="676275" y="1924050"/>
            <a:ext cx="57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■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676275" y="2452687"/>
            <a:ext cx="57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■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676275" y="2981325"/>
            <a:ext cx="57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■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676275" y="4710112"/>
            <a:ext cx="57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■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676275" y="5238750"/>
            <a:ext cx="57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■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676275" y="5767387"/>
            <a:ext cx="573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■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676275" y="6105525"/>
            <a:ext cx="57300" cy="6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3">
                <a:solidFill>
                  <a:srgbClr val="007BFF"/>
                </a:solidFill>
                <a:latin typeface="Noto Sans SC"/>
                <a:ea typeface="Noto Sans SC"/>
                <a:cs typeface="Noto Sans SC"/>
                <a:sym typeface="Noto Sans SC"/>
              </a:rPr>
              <a:t>■</a:t>
            </a:r>
            <a:endParaRPr b="0" i="0" sz="413">
              <a:solidFill>
                <a:srgbClr val="007B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descr="image.png" id="117" name="Google Shape;11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38725" y="206692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 txBox="1"/>
          <p:nvPr/>
        </p:nvSpPr>
        <p:spPr>
          <a:xfrm>
            <a:off x="5610225" y="2128837"/>
            <a:ext cx="96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A99"/>
                </a:solidFill>
                <a:latin typeface="Noto Sans SC"/>
                <a:ea typeface="Noto Sans SC"/>
                <a:cs typeface="Noto Sans SC"/>
                <a:sym typeface="Noto Sans SC"/>
              </a:rPr>
              <a:t>石油化工</a:t>
            </a:r>
            <a:endParaRPr/>
          </a:p>
        </p:txBody>
      </p:sp>
      <p:pic>
        <p:nvPicPr>
          <p:cNvPr descr="image.png" id="119" name="Google Shape;11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8596312" y="2066925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9167812" y="2128837"/>
            <a:ext cx="96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A99"/>
                </a:solidFill>
                <a:latin typeface="Noto Sans SC"/>
                <a:ea typeface="Noto Sans SC"/>
                <a:cs typeface="Noto Sans SC"/>
                <a:sym typeface="Noto Sans SC"/>
              </a:rPr>
              <a:t>电力能源</a:t>
            </a:r>
            <a:endParaRPr/>
          </a:p>
        </p:txBody>
      </p:sp>
      <p:pic>
        <p:nvPicPr>
          <p:cNvPr descr="image.png" id="121" name="Google Shape;121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5038725" y="476011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>
            <a:off x="5610225" y="4822031"/>
            <a:ext cx="96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A99"/>
                </a:solidFill>
                <a:latin typeface="Noto Sans SC"/>
                <a:ea typeface="Noto Sans SC"/>
                <a:cs typeface="Noto Sans SC"/>
                <a:sym typeface="Noto Sans SC"/>
              </a:rPr>
              <a:t>矿山开采</a:t>
            </a:r>
            <a:endParaRPr/>
          </a:p>
        </p:txBody>
      </p:sp>
      <p:pic>
        <p:nvPicPr>
          <p:cNvPr descr="image.png" id="123" name="Google Shape;123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596312" y="476011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9167812" y="4822031"/>
            <a:ext cx="96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4A99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智能制造</a:t>
            </a:r>
            <a:endParaRPr/>
          </a:p>
        </p:txBody>
      </p:sp>
      <p:pic>
        <p:nvPicPr>
          <p:cNvPr descr="image.png" id="125" name="Google Shape;125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5171479" y="2176462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729067" y="2176462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171479" y="4869656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729067" y="4869656"/>
            <a:ext cx="16311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 txBox="1"/>
          <p:nvPr/>
        </p:nvSpPr>
        <p:spPr>
          <a:xfrm>
            <a:off x="5038725" y="2638425"/>
            <a:ext cx="28719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5566"/>
                </a:solidFill>
                <a:latin typeface="Noto Sans SC"/>
                <a:ea typeface="Noto Sans SC"/>
                <a:cs typeface="Noto Sans SC"/>
                <a:sym typeface="Noto Sans SC"/>
              </a:rPr>
              <a:t>巡检机器人可全天候监测设备状态、环境参数，及时发现泄漏、温度异常等隐患，降低人工巡检风险，显著提升安全防护等级。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8596312" y="2638425"/>
            <a:ext cx="28719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45566"/>
                </a:solidFill>
                <a:latin typeface="Noto Sans SC"/>
                <a:ea typeface="Noto Sans SC"/>
                <a:cs typeface="Noto Sans SC"/>
                <a:sym typeface="Noto Sans SC"/>
              </a:rPr>
              <a:t>在变电站、输电线路等场景，机器人可高频次、大范围巡检，利用红外热成像等技术精准检测设备故障，真正实现全天候无人值守。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5038725" y="5331619"/>
            <a:ext cx="28719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5566"/>
                </a:solidFill>
                <a:latin typeface="Noto Sans SC"/>
                <a:ea typeface="Noto Sans SC"/>
                <a:cs typeface="Noto Sans SC"/>
                <a:sym typeface="Noto Sans SC"/>
              </a:rPr>
              <a:t>矿山巡检机器人可完成炮孔测量、设备监测、巷道巡检等任务，助力矿山智能化建设。</a:t>
            </a:r>
            <a:endParaRPr b="0" sz="1100">
              <a:solidFill>
                <a:srgbClr val="4455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8596313" y="5331619"/>
            <a:ext cx="28719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445566"/>
                </a:solidFill>
                <a:latin typeface="Noto Sans SC"/>
                <a:ea typeface="Noto Sans SC"/>
                <a:cs typeface="Noto Sans SC"/>
                <a:sym typeface="Noto Sans SC"/>
              </a:rPr>
              <a:t>在现代化工厂中，机器人可自动化执行巡查与数据采集，助力智能制造体系的高效化。</a:t>
            </a:r>
            <a:endParaRPr b="0" sz="1100">
              <a:solidFill>
                <a:srgbClr val="4455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