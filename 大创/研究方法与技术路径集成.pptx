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Poppins"/>
      <p:regular r:id="rId8"/>
      <p:bold r:id="rId9"/>
      <p:italic r:id="rId10"/>
      <p:boldItalic r:id="rId11"/>
    </p:embeddedFont>
    <p:embeddedFont>
      <p:font typeface="Noto Sans SC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13" Type="http://schemas.openxmlformats.org/officeDocument/2006/relationships/font" Target="fonts/NotoSansSC-bold.fntdata"/><Relationship Id="rId12" Type="http://schemas.openxmlformats.org/officeDocument/2006/relationships/font" Target="fonts/NotoSansS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3" Type="http://schemas.openxmlformats.org/officeDocument/2006/relationships/image" Target="../media/image13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5" Type="http://schemas.openxmlformats.org/officeDocument/2006/relationships/image" Target="../media/image11.png"/><Relationship Id="rId14" Type="http://schemas.openxmlformats.org/officeDocument/2006/relationships/image" Target="../media/image7.png"/><Relationship Id="rId17" Type="http://schemas.openxmlformats.org/officeDocument/2006/relationships/image" Target="../media/image12.png"/><Relationship Id="rId16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7188398"/>
            <a:ext cx="10858500" cy="1347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1390650"/>
            <a:ext cx="3429000" cy="5464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390650"/>
            <a:ext cx="3429000" cy="5464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390650"/>
            <a:ext cx="3429000" cy="5464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7544246"/>
            <a:ext cx="1524000" cy="636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2028825"/>
            <a:ext cx="34099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1025" y="2028825"/>
            <a:ext cx="34099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5775" y="2028825"/>
            <a:ext cx="34099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666750" y="47625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D4E89"/>
                </a:solidFill>
                <a:latin typeface="Poppins"/>
                <a:ea typeface="Poppins"/>
                <a:cs typeface="Poppins"/>
                <a:sym typeface="Poppins"/>
              </a:rPr>
              <a:t>研究方法与技术路径全景集成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666750" y="1009650"/>
            <a:ext cx="5467350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1609725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1220390" y="1571625"/>
            <a:ext cx="19802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多传感器融合与导航</a:t>
            </a:r>
            <a:endParaRPr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" y="2028825"/>
            <a:ext cx="34099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9150" y="1609725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4935140" y="1571625"/>
            <a:ext cx="17602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双轨协同视觉检测</a:t>
            </a:r>
            <a:endParaRPr/>
          </a:p>
        </p:txBody>
      </p:sp>
      <p:pic>
        <p:nvPicPr>
          <p:cNvPr descr="image.png" id="100" name="Google Shape;10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91025" y="2028825"/>
            <a:ext cx="1301799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43900" y="1609725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8649890" y="1571625"/>
            <a:ext cx="20477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 + 知识图谱融合</a:t>
            </a:r>
            <a:endParaRPr/>
          </a:p>
        </p:txBody>
      </p:sp>
      <p:pic>
        <p:nvPicPr>
          <p:cNvPr descr="image.png" id="103" name="Google Shape;103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05775" y="2028825"/>
            <a:ext cx="1372492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19400" y="7455098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3110507" y="7436048"/>
            <a:ext cx="224254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边缘实时推理</a:t>
            </a:r>
            <a:r>
              <a:rPr b="0" i="0" lang="en-US" sz="1125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0" i="0" lang="en-US" sz="1125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Jetson 平台的 TensorRT 加速，实现感知任务的毫秒级实时响应。</a:t>
            </a:r>
            <a:endParaRPr/>
          </a:p>
        </p:txBody>
      </p:sp>
      <p:pic>
        <p:nvPicPr>
          <p:cNvPr descr="image.png" id="106" name="Google Shape;106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34050" y="7455098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6025157" y="7436048"/>
            <a:ext cx="224254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全向导航优化</a:t>
            </a:r>
            <a:r>
              <a:rPr b="0" i="0" lang="en-US" sz="1125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0" i="0" lang="en-US" sz="1125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四轮全向驱动与 IMU 深度融合算法，解决横移与原地转向的定位精度补偿。</a:t>
            </a:r>
            <a:endParaRPr/>
          </a:p>
        </p:txBody>
      </p:sp>
      <p:pic>
        <p:nvPicPr>
          <p:cNvPr descr="image.png" id="108" name="Google Shape;108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648700" y="7455098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8939807" y="7436048"/>
            <a:ext cx="224254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轻量化模型策略</a:t>
            </a:r>
            <a:r>
              <a:rPr b="0" i="0" lang="en-US" sz="1125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0" i="0" lang="en-US" sz="1125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通过量化与蒸馏技术实现边缘侧高效部署，兼顾有限算力与高检测精度。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152525" y="3790950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架构环境：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ROS2 系统，深度融合 Cartographer 激光 SLAM 与 AMCL。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152525" y="4729757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感知算法：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EKF 扩展卡尔曼滤波，综合激光雷达、IMU 及里程计多源数据。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152525" y="5668565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自主避障：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多维数据互补修正漂移，实现工业场景厘米级路径规划与平稳导航。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4867275" y="3790950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双轨检测机制：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构建“YOLOv8 实时快轨 + VLM 深度慢轨”，应对复杂环境异常需求。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867275" y="4729757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视觉语言融合：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VLM + SAM 模型进行语义深度解析，实现开集目标的精准分割识别。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4867275" y="5668565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决策自适应：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根据置信度动态调整检测频率，优化算力分配，平衡实时性与精度。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8582025" y="3790950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知识检索增强：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 Neo4j 构建知识图谱，通过 FAISS 向量检索实现双通道增强。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8582025" y="4729757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决策闭环推理：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LangChain 编排逻辑，提供可理解、可追溯的故障诊断与运维建议。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8582025" y="5668565"/>
            <a:ext cx="2695575" cy="7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运维标准化：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将非结构化手册转化为动态知识库，大幅提升现场故障处理效率。</a:t>
            </a:r>
            <a:endParaRPr/>
          </a:p>
        </p:txBody>
      </p:sp>
      <p:pic>
        <p:nvPicPr>
          <p:cNvPr descr="image.png" id="119" name="Google Shape;119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14400" y="3790950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14400" y="4729757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14400" y="5668565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29150" y="3790950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29150" y="4729757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29150" y="5668565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43900" y="3790950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43900" y="4729757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43900" y="5668565"/>
            <a:ext cx="103733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/>
        </p:nvSpPr>
        <p:spPr>
          <a:xfrm>
            <a:off x="666750" y="47625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D4E89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666750" y="933450"/>
            <a:ext cx="7821815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6750" y="1314450"/>
            <a:ext cx="10858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66750" y="2257425"/>
            <a:ext cx="108585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66750" y="2247900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66750" y="2247900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666750" y="301942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666750" y="301942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543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1762125" y="1457325"/>
            <a:ext cx="97631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ch.mathworks.com/discovery/slam/_jcr_content/mainParsys/band_1231704498_copy/mainParsys/lockedsubnav/mainParsys/columns_39110516/6046ff86-c275-45cd-87bc-214e8abacb7c/columns_463008322/7b029c5b-9826-4f96-b230-9a6ec96cb4ab/columns_1472205090/bd4f8030-3567-47ae-b28f-3d4ac2e33131/columns_copy_copy/0b779ec8-011c-4f78-9b15-b200d6b0bffa/image_copy_201094075.adapt.full.medium.jpg/1774933493449.jpg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762125" y="1933575"/>
            <a:ext cx="9763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ch.mathworks.com</a:t>
            </a:r>
            <a:endParaRPr/>
          </a:p>
        </p:txBody>
      </p:sp>
      <p:pic>
        <p:nvPicPr>
          <p:cNvPr descr="image.png" id="144" name="Google Shape;14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400300"/>
            <a:ext cx="872281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1762125" y="2457450"/>
            <a:ext cx="9763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https://miro.medium.com/v2/resize:fit:1400/1*SgiSZHNUHUTUNgXqGxIxSA@2x.jpeg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1762125" y="2647950"/>
            <a:ext cx="9763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medium.com</a:t>
            </a:r>
            <a:endParaRPr/>
          </a:p>
        </p:txBody>
      </p:sp>
      <p:pic>
        <p:nvPicPr>
          <p:cNvPr descr="image.png" id="147" name="Google Shape;14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171825"/>
            <a:ext cx="872281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1762125" y="3228975"/>
            <a:ext cx="9763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https://miro.medium.com/1*NGcaaVHPBOkje_M6-Seu3w.png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1762125" y="3419475"/>
            <a:ext cx="9763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medium.com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