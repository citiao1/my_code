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3"/>
  </p:handoutMasterIdLst>
  <p:sldIdLst>
    <p:sldId id="256" r:id="rId2"/>
    <p:sldId id="257" r:id="rId3"/>
    <p:sldId id="258" r:id="rId4"/>
    <p:sldId id="259" r:id="rId5"/>
    <p:sldId id="287" r:id="rId6"/>
    <p:sldId id="260" r:id="rId7"/>
    <p:sldId id="261" r:id="rId8"/>
    <p:sldId id="264" r:id="rId9"/>
    <p:sldId id="265" r:id="rId10"/>
    <p:sldId id="266" r:id="rId11"/>
    <p:sldId id="268" r:id="rId12"/>
    <p:sldId id="270" r:id="rId13"/>
    <p:sldId id="269" r:id="rId14"/>
    <p:sldId id="271" r:id="rId15"/>
    <p:sldId id="272" r:id="rId16"/>
    <p:sldId id="278" r:id="rId17"/>
    <p:sldId id="281" r:id="rId18"/>
    <p:sldId id="282" r:id="rId19"/>
    <p:sldId id="286" r:id="rId20"/>
    <p:sldId id="283"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1" autoAdjust="0"/>
    <p:restoredTop sz="94694"/>
  </p:normalViewPr>
  <p:slideViewPr>
    <p:cSldViewPr snapToGrid="0">
      <p:cViewPr varScale="1">
        <p:scale>
          <a:sx n="108" d="100"/>
          <a:sy n="108" d="100"/>
        </p:scale>
        <p:origin x="96" y="184"/>
      </p:cViewPr>
      <p:guideLst/>
    </p:cSldViewPr>
  </p:slideViewPr>
  <p:notesTextViewPr>
    <p:cViewPr>
      <p:scale>
        <a:sx n="1" d="1"/>
        <a:sy n="1" d="1"/>
      </p:scale>
      <p:origin x="0" y="0"/>
    </p:cViewPr>
  </p:notesTextViewPr>
  <p:notesViewPr>
    <p:cSldViewPr snapToGrid="0">
      <p:cViewPr varScale="1">
        <p:scale>
          <a:sx n="90" d="100"/>
          <a:sy n="90" d="100"/>
        </p:scale>
        <p:origin x="3132" y="8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4861870-245B-D086-B2F1-B53EA7ED3331}"/>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21284FFA-628C-6617-C79A-49AEA55492F6}"/>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8798BFD6-E28D-4CCD-B468-9F73AB9E9100}" type="datetimeFigureOut">
              <a:rPr lang="zh-CN" altLang="en-US" smtClean="0"/>
              <a:t>2026/5/11</a:t>
            </a:fld>
            <a:endParaRPr lang="zh-CN" altLang="en-US"/>
          </a:p>
        </p:txBody>
      </p:sp>
      <p:sp>
        <p:nvSpPr>
          <p:cNvPr id="4" name="页脚占位符 3">
            <a:extLst>
              <a:ext uri="{FF2B5EF4-FFF2-40B4-BE49-F238E27FC236}">
                <a16:creationId xmlns:a16="http://schemas.microsoft.com/office/drawing/2014/main" id="{F4E4109C-29BE-99E4-D180-A2655E2572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0CBFB0D3-89DC-7A2C-03B9-C8096262D1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7351EF-D2C7-46FC-AD1A-261B0DF44BB8}" type="slidenum">
              <a:rPr lang="zh-CN" altLang="en-US" smtClean="0"/>
              <a:t>‹#›</a:t>
            </a:fld>
            <a:endParaRPr lang="zh-CN" altLang="en-US"/>
          </a:p>
        </p:txBody>
      </p:sp>
    </p:spTree>
    <p:extLst>
      <p:ext uri="{BB962C8B-B14F-4D97-AF65-F5344CB8AC3E}">
        <p14:creationId xmlns:p14="http://schemas.microsoft.com/office/powerpoint/2010/main" val="5574935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19B33977-A035-4250-8C30-B5A3039D74C2}" type="datetimeFigureOut">
              <a:rPr lang="zh-CN" altLang="en-US" smtClean="0"/>
              <a:t>2026/5/11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826909-0D63-4CAC-8DCB-E4442708A5B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t>10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t>12</a:t>
            </a:fld>
            <a:endParaRPr lang="zh-CN" altLang="en-US"/>
          </a:p>
        </p:txBody>
      </p:sp>
    </p:spTree>
    <p:extLst>
      <p:ext uri="{BB962C8B-B14F-4D97-AF65-F5344CB8AC3E}">
        <p14:creationId xmlns:p14="http://schemas.microsoft.com/office/powerpoint/2010/main" val="3078448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5748484-E304-4861-BB34-9AF23213D1CC}" type="datetimeFigureOut">
              <a:rPr lang="zh-CN" altLang="en-US" smtClean="0"/>
              <a:t>2026/5/11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5748484-E304-4861-BB34-9AF23213D1CC}" type="datetimeFigureOut">
              <a:rPr lang="zh-CN" altLang="en-US" smtClean="0"/>
              <a:t>2026/5/11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5748484-E304-4861-BB34-9AF23213D1CC}" type="datetimeFigureOut">
              <a:rPr lang="zh-CN" altLang="en-US" smtClean="0"/>
              <a:t>2026/5/11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5748484-E304-4861-BB34-9AF23213D1CC}" type="datetimeFigureOut">
              <a:rPr lang="zh-CN" altLang="en-US" smtClean="0"/>
              <a:t>2026/5/11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5748484-E304-4861-BB34-9AF23213D1CC}" type="datetimeFigureOut">
              <a:rPr lang="zh-CN" altLang="en-US" smtClean="0"/>
              <a:t>2026/5/11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5748484-E304-4861-BB34-9AF23213D1CC}" type="datetimeFigureOut">
              <a:rPr lang="zh-CN" altLang="en-US" smtClean="0"/>
              <a:t>2026/5/11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5748484-E304-4861-BB34-9AF23213D1CC}" type="datetimeFigureOut">
              <a:rPr lang="zh-CN" altLang="en-US" smtClean="0"/>
              <a:t>2026/5/11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5748484-E304-4861-BB34-9AF23213D1CC}" type="datetimeFigureOut">
              <a:rPr lang="zh-CN" altLang="en-US" smtClean="0"/>
              <a:t>2026/5/11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5748484-E304-4861-BB34-9AF23213D1CC}" type="datetimeFigureOut">
              <a:rPr lang="zh-CN" altLang="en-US" smtClean="0"/>
              <a:t>2026/5/11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5748484-E304-4861-BB34-9AF23213D1CC}" type="datetimeFigureOut">
              <a:rPr lang="zh-CN" altLang="en-US" smtClean="0"/>
              <a:t>2026/5/11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5748484-E304-4861-BB34-9AF23213D1CC}" type="datetimeFigureOut">
              <a:rPr lang="zh-CN" altLang="en-US" smtClean="0"/>
              <a:t>2026/5/11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748484-E304-4861-BB34-9AF23213D1CC}" type="datetimeFigureOut">
              <a:rPr lang="zh-CN" altLang="en-US" smtClean="0"/>
              <a:t>2026/5/11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225130-C1CC-4E07-B6F2-C392DCE471D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slideLayout" Target="../slideLayouts/slideLayout2.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23.xml"/><Relationship Id="rId7"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tags" Target="../tags/tag39.xml"/><Relationship Id="rId18" Type="http://schemas.openxmlformats.org/officeDocument/2006/relationships/tags" Target="../tags/tag44.xml"/><Relationship Id="rId3" Type="http://schemas.openxmlformats.org/officeDocument/2006/relationships/tags" Target="../tags/tag29.xml"/><Relationship Id="rId21" Type="http://schemas.openxmlformats.org/officeDocument/2006/relationships/notesSlide" Target="../notesSlides/notesSlide1.xml"/><Relationship Id="rId7" Type="http://schemas.openxmlformats.org/officeDocument/2006/relationships/tags" Target="../tags/tag33.xml"/><Relationship Id="rId12" Type="http://schemas.openxmlformats.org/officeDocument/2006/relationships/tags" Target="../tags/tag38.xml"/><Relationship Id="rId17" Type="http://schemas.openxmlformats.org/officeDocument/2006/relationships/tags" Target="../tags/tag43.xml"/><Relationship Id="rId2" Type="http://schemas.openxmlformats.org/officeDocument/2006/relationships/tags" Target="../tags/tag28.xml"/><Relationship Id="rId16" Type="http://schemas.openxmlformats.org/officeDocument/2006/relationships/tags" Target="../tags/tag42.xml"/><Relationship Id="rId20" Type="http://schemas.openxmlformats.org/officeDocument/2006/relationships/slideLayout" Target="../slideLayouts/slideLayout2.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tags" Target="../tags/tag41.xml"/><Relationship Id="rId23" Type="http://schemas.openxmlformats.org/officeDocument/2006/relationships/image" Target="../media/image5.jpeg"/><Relationship Id="rId10" Type="http://schemas.openxmlformats.org/officeDocument/2006/relationships/tags" Target="../tags/tag36.xml"/><Relationship Id="rId19" Type="http://schemas.openxmlformats.org/officeDocument/2006/relationships/tags" Target="../tags/tag45.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tags" Target="../tags/tag40.xml"/><Relationship Id="rId22" Type="http://schemas.openxmlformats.org/officeDocument/2006/relationships/image" Target="../media/image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3" Type="http://schemas.openxmlformats.org/officeDocument/2006/relationships/tags" Target="../tags/tag58.xml"/><Relationship Id="rId18" Type="http://schemas.openxmlformats.org/officeDocument/2006/relationships/tags" Target="../tags/tag63.xml"/><Relationship Id="rId26" Type="http://schemas.openxmlformats.org/officeDocument/2006/relationships/tags" Target="../tags/tag71.xml"/><Relationship Id="rId39" Type="http://schemas.openxmlformats.org/officeDocument/2006/relationships/slideLayout" Target="../slideLayouts/slideLayout2.xml"/><Relationship Id="rId21" Type="http://schemas.openxmlformats.org/officeDocument/2006/relationships/tags" Target="../tags/tag66.xml"/><Relationship Id="rId34" Type="http://schemas.openxmlformats.org/officeDocument/2006/relationships/tags" Target="../tags/tag79.xml"/><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5" Type="http://schemas.openxmlformats.org/officeDocument/2006/relationships/tags" Target="../tags/tag70.xml"/><Relationship Id="rId33" Type="http://schemas.openxmlformats.org/officeDocument/2006/relationships/tags" Target="../tags/tag78.xml"/><Relationship Id="rId38" Type="http://schemas.openxmlformats.org/officeDocument/2006/relationships/tags" Target="../tags/tag83.xml"/><Relationship Id="rId2" Type="http://schemas.openxmlformats.org/officeDocument/2006/relationships/tags" Target="../tags/tag47.xml"/><Relationship Id="rId16" Type="http://schemas.openxmlformats.org/officeDocument/2006/relationships/tags" Target="../tags/tag61.xml"/><Relationship Id="rId20" Type="http://schemas.openxmlformats.org/officeDocument/2006/relationships/tags" Target="../tags/tag65.xml"/><Relationship Id="rId29" Type="http://schemas.openxmlformats.org/officeDocument/2006/relationships/tags" Target="../tags/tag74.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24" Type="http://schemas.openxmlformats.org/officeDocument/2006/relationships/tags" Target="../tags/tag69.xml"/><Relationship Id="rId32" Type="http://schemas.openxmlformats.org/officeDocument/2006/relationships/tags" Target="../tags/tag77.xml"/><Relationship Id="rId37" Type="http://schemas.openxmlformats.org/officeDocument/2006/relationships/tags" Target="../tags/tag82.xml"/><Relationship Id="rId40" Type="http://schemas.openxmlformats.org/officeDocument/2006/relationships/image" Target="../media/image1.jpeg"/><Relationship Id="rId5" Type="http://schemas.openxmlformats.org/officeDocument/2006/relationships/tags" Target="../tags/tag50.xml"/><Relationship Id="rId15" Type="http://schemas.openxmlformats.org/officeDocument/2006/relationships/tags" Target="../tags/tag60.xml"/><Relationship Id="rId23" Type="http://schemas.openxmlformats.org/officeDocument/2006/relationships/tags" Target="../tags/tag68.xml"/><Relationship Id="rId28" Type="http://schemas.openxmlformats.org/officeDocument/2006/relationships/tags" Target="../tags/tag73.xml"/><Relationship Id="rId36" Type="http://schemas.openxmlformats.org/officeDocument/2006/relationships/tags" Target="../tags/tag81.xml"/><Relationship Id="rId10" Type="http://schemas.openxmlformats.org/officeDocument/2006/relationships/tags" Target="../tags/tag55.xml"/><Relationship Id="rId19" Type="http://schemas.openxmlformats.org/officeDocument/2006/relationships/tags" Target="../tags/tag64.xml"/><Relationship Id="rId31" Type="http://schemas.openxmlformats.org/officeDocument/2006/relationships/tags" Target="../tags/tag76.xml"/><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 Id="rId22" Type="http://schemas.openxmlformats.org/officeDocument/2006/relationships/tags" Target="../tags/tag67.xml"/><Relationship Id="rId27" Type="http://schemas.openxmlformats.org/officeDocument/2006/relationships/tags" Target="../tags/tag72.xml"/><Relationship Id="rId30" Type="http://schemas.openxmlformats.org/officeDocument/2006/relationships/tags" Target="../tags/tag75.xml"/><Relationship Id="rId35" Type="http://schemas.openxmlformats.org/officeDocument/2006/relationships/tags" Target="../tags/tag80.xml"/><Relationship Id="rId8" Type="http://schemas.openxmlformats.org/officeDocument/2006/relationships/tags" Target="../tags/tag53.xml"/><Relationship Id="rId3" Type="http://schemas.openxmlformats.org/officeDocument/2006/relationships/tags" Target="../tags/tag48.xml"/></Relationships>
</file>

<file path=ppt/slides/_rels/slide14.xml.rels><?xml version="1.0" encoding="UTF-8" standalone="yes"?>
<Relationships xmlns="http://schemas.openxmlformats.org/package/2006/relationships"><Relationship Id="rId8" Type="http://schemas.openxmlformats.org/officeDocument/2006/relationships/tags" Target="../tags/tag91.xml"/><Relationship Id="rId13" Type="http://schemas.openxmlformats.org/officeDocument/2006/relationships/tags" Target="../tags/tag96.xml"/><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tags" Target="../tags/tag95.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tags" Target="../tags/tag94.xml"/><Relationship Id="rId5" Type="http://schemas.openxmlformats.org/officeDocument/2006/relationships/tags" Target="../tags/tag88.xml"/><Relationship Id="rId15" Type="http://schemas.openxmlformats.org/officeDocument/2006/relationships/image" Target="../media/image1.jpeg"/><Relationship Id="rId10" Type="http://schemas.openxmlformats.org/officeDocument/2006/relationships/tags" Target="../tags/tag93.xml"/><Relationship Id="rId4" Type="http://schemas.openxmlformats.org/officeDocument/2006/relationships/tags" Target="../tags/tag87.xml"/><Relationship Id="rId9" Type="http://schemas.openxmlformats.org/officeDocument/2006/relationships/tags" Target="../tags/tag92.xml"/><Relationship Id="rId1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273300"/>
            <a:ext cx="12192000" cy="2362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01600" y="2603500"/>
            <a:ext cx="11988800" cy="2306955"/>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rPr>
              <a:t>机器人巡检与多模态大模型决策方法</a:t>
            </a:r>
            <a:endParaRPr lang="en-US" altLang="zh-CN" sz="5400" b="1" dirty="0">
              <a:solidFill>
                <a:schemeClr val="bg1"/>
              </a:solidFill>
              <a:latin typeface="微软雅黑" panose="020B0503020204020204" pitchFamily="34" charset="-122"/>
              <a:ea typeface="微软雅黑" panose="020B0503020204020204" pitchFamily="34" charset="-122"/>
            </a:endParaRPr>
          </a:p>
          <a:p>
            <a:pPr algn="ct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dirty="0">
                <a:solidFill>
                  <a:schemeClr val="bg1"/>
                </a:solidFill>
                <a:latin typeface="微软雅黑" panose="020B0503020204020204" pitchFamily="34" charset="-122"/>
                <a:ea typeface="微软雅黑" panose="020B0503020204020204" pitchFamily="34" charset="-122"/>
              </a:rPr>
              <a:t>Robot inspection and multi-modal large model decision-making method</a:t>
            </a:r>
            <a:endParaRPr lang="en-US" altLang="zh-CN" sz="5400" dirty="0">
              <a:solidFill>
                <a:schemeClr val="bg1"/>
              </a:solidFill>
              <a:latin typeface="微软雅黑" panose="020B0503020204020204" pitchFamily="34" charset="-122"/>
              <a:ea typeface="微软雅黑" panose="020B0503020204020204" pitchFamily="34" charset="-122"/>
            </a:endParaRPr>
          </a:p>
          <a:p>
            <a:pPr algn="ctr"/>
            <a:endParaRPr lang="en-US" altLang="zh-CN" sz="5400" dirty="0">
              <a:solidFill>
                <a:schemeClr val="bg1"/>
              </a:solidFill>
              <a:latin typeface="微软雅黑" panose="020B0503020204020204" pitchFamily="34" charset="-122"/>
              <a:ea typeface="微软雅黑" panose="020B0503020204020204" pitchFamily="34" charset="-122"/>
            </a:endParaRPr>
          </a:p>
        </p:txBody>
      </p:sp>
      <p:sp>
        <p:nvSpPr>
          <p:cNvPr id="17" name="矩形: 圆角 16"/>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flipH="1">
            <a:off x="10866600" y="61214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flipH="1">
            <a:off x="10375900" y="63017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flipH="1">
            <a:off x="11118600" y="64820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1127878" y="4238625"/>
            <a:ext cx="993624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016038" y="5345462"/>
            <a:ext cx="309863" cy="3098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338416" y="5300338"/>
            <a:ext cx="2433411"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答辩人：</a:t>
            </a:r>
          </a:p>
        </p:txBody>
      </p:sp>
      <p:sp>
        <p:nvSpPr>
          <p:cNvPr id="36" name="椭圆 35"/>
          <p:cNvSpPr/>
          <p:nvPr/>
        </p:nvSpPr>
        <p:spPr>
          <a:xfrm>
            <a:off x="4568738"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4858821" y="5300338"/>
            <a:ext cx="2687288"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导师：</a:t>
            </a:r>
          </a:p>
        </p:txBody>
      </p:sp>
      <p:sp>
        <p:nvSpPr>
          <p:cNvPr id="37" name="椭圆 36"/>
          <p:cNvSpPr/>
          <p:nvPr/>
        </p:nvSpPr>
        <p:spPr>
          <a:xfrm>
            <a:off x="8089143"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8398743" y="5300338"/>
            <a:ext cx="2777219"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时间：</a:t>
            </a:r>
            <a:r>
              <a:rPr lang="en-US" altLang="zh-CN" sz="2000" b="1" dirty="0">
                <a:solidFill>
                  <a:schemeClr val="accent1"/>
                </a:solidFill>
                <a:latin typeface="微软雅黑" panose="020B0503020204020204" pitchFamily="34" charset="-122"/>
                <a:ea typeface="微软雅黑" panose="020B0503020204020204" pitchFamily="34" charset="-122"/>
              </a:rPr>
              <a:t>20</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 name="图形 30" descr="时间"/>
          <p:cNvSpPr/>
          <p:nvPr/>
        </p:nvSpPr>
        <p:spPr>
          <a:xfrm>
            <a:off x="8142584" y="5399034"/>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sp>
        <p:nvSpPr>
          <p:cNvPr id="3" name="图形 26" descr="博士帽"/>
          <p:cNvSpPr/>
          <p:nvPr/>
        </p:nvSpPr>
        <p:spPr>
          <a:xfrm>
            <a:off x="1046600" y="5418577"/>
            <a:ext cx="248739" cy="163630"/>
          </a:xfrm>
          <a:custGeom>
            <a:avLst/>
            <a:gdLst>
              <a:gd name="connsiteX0" fmla="*/ 45340 w 248739"/>
              <a:gd name="connsiteY0" fmla="*/ 146026 h 163630"/>
              <a:gd name="connsiteX1" fmla="*/ 133235 w 248739"/>
              <a:gd name="connsiteY1" fmla="*/ 163631 h 163630"/>
              <a:gd name="connsiteX2" fmla="*/ 218597 w 248739"/>
              <a:gd name="connsiteY2" fmla="*/ 143493 h 163630"/>
              <a:gd name="connsiteX3" fmla="*/ 218597 w 248739"/>
              <a:gd name="connsiteY3" fmla="*/ 58005 h 163630"/>
              <a:gd name="connsiteX4" fmla="*/ 133235 w 248739"/>
              <a:gd name="connsiteY4" fmla="*/ 70544 h 163630"/>
              <a:gd name="connsiteX5" fmla="*/ 45340 w 248739"/>
              <a:gd name="connsiteY5" fmla="*/ 58005 h 163630"/>
              <a:gd name="connsiteX6" fmla="*/ 45340 w 248739"/>
              <a:gd name="connsiteY6" fmla="*/ 146026 h 163630"/>
              <a:gd name="connsiteX7" fmla="*/ 248739 w 248739"/>
              <a:gd name="connsiteY7" fmla="*/ 20137 h 163630"/>
              <a:gd name="connsiteX8" fmla="*/ 248739 w 248739"/>
              <a:gd name="connsiteY8" fmla="*/ 42807 h 163630"/>
              <a:gd name="connsiteX9" fmla="*/ 133235 w 248739"/>
              <a:gd name="connsiteY9" fmla="*/ 60539 h 163630"/>
              <a:gd name="connsiteX10" fmla="*/ 17604 w 248739"/>
              <a:gd name="connsiteY10" fmla="*/ 42807 h 163630"/>
              <a:gd name="connsiteX11" fmla="*/ 17604 w 248739"/>
              <a:gd name="connsiteY11" fmla="*/ 85615 h 163630"/>
              <a:gd name="connsiteX12" fmla="*/ 22670 w 248739"/>
              <a:gd name="connsiteY12" fmla="*/ 93214 h 163630"/>
              <a:gd name="connsiteX13" fmla="*/ 12665 w 248739"/>
              <a:gd name="connsiteY13" fmla="*/ 103219 h 163630"/>
              <a:gd name="connsiteX14" fmla="*/ 5066 w 248739"/>
              <a:gd name="connsiteY14" fmla="*/ 93214 h 163630"/>
              <a:gd name="connsiteX15" fmla="*/ 10132 w 248739"/>
              <a:gd name="connsiteY15" fmla="*/ 85615 h 163630"/>
              <a:gd name="connsiteX16" fmla="*/ 10132 w 248739"/>
              <a:gd name="connsiteY16" fmla="*/ 20137 h 163630"/>
              <a:gd name="connsiteX17" fmla="*/ 133235 w 248739"/>
              <a:gd name="connsiteY17" fmla="*/ 0 h 163630"/>
              <a:gd name="connsiteX18" fmla="*/ 248739 w 248739"/>
              <a:gd name="connsiteY18" fmla="*/ 20137 h 163630"/>
              <a:gd name="connsiteX19" fmla="*/ 20137 w 248739"/>
              <a:gd name="connsiteY19" fmla="*/ 105752 h 163630"/>
              <a:gd name="connsiteX20" fmla="*/ 7599 w 248739"/>
              <a:gd name="connsiteY20" fmla="*/ 105752 h 163630"/>
              <a:gd name="connsiteX21" fmla="*/ 0 w 248739"/>
              <a:gd name="connsiteY21" fmla="*/ 146026 h 163630"/>
              <a:gd name="connsiteX22" fmla="*/ 5066 w 248739"/>
              <a:gd name="connsiteY22" fmla="*/ 146026 h 163630"/>
              <a:gd name="connsiteX23" fmla="*/ 7599 w 248739"/>
              <a:gd name="connsiteY23" fmla="*/ 141088 h 163630"/>
              <a:gd name="connsiteX24" fmla="*/ 7599 w 248739"/>
              <a:gd name="connsiteY24" fmla="*/ 146026 h 163630"/>
              <a:gd name="connsiteX25" fmla="*/ 15071 w 248739"/>
              <a:gd name="connsiteY25" fmla="*/ 148559 h 163630"/>
              <a:gd name="connsiteX26" fmla="*/ 17604 w 248739"/>
              <a:gd name="connsiteY26" fmla="*/ 143493 h 163630"/>
              <a:gd name="connsiteX27" fmla="*/ 17604 w 248739"/>
              <a:gd name="connsiteY27" fmla="*/ 148559 h 163630"/>
              <a:gd name="connsiteX28" fmla="*/ 20137 w 248739"/>
              <a:gd name="connsiteY28" fmla="*/ 148559 h 163630"/>
              <a:gd name="connsiteX29" fmla="*/ 20137 w 248739"/>
              <a:gd name="connsiteY29" fmla="*/ 128422 h 163630"/>
              <a:gd name="connsiteX30" fmla="*/ 22670 w 248739"/>
              <a:gd name="connsiteY30" fmla="*/ 146026 h 163630"/>
              <a:gd name="connsiteX31" fmla="*/ 27736 w 248739"/>
              <a:gd name="connsiteY31" fmla="*/ 146026 h 163630"/>
              <a:gd name="connsiteX32" fmla="*/ 20137 w 248739"/>
              <a:gd name="connsiteY32" fmla="*/ 105752 h 16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8739" h="163630">
                <a:moveTo>
                  <a:pt x="45340" y="146026"/>
                </a:moveTo>
                <a:cubicBezTo>
                  <a:pt x="75483" y="146026"/>
                  <a:pt x="105626" y="151093"/>
                  <a:pt x="133235" y="163631"/>
                </a:cubicBezTo>
                <a:cubicBezTo>
                  <a:pt x="160845" y="151093"/>
                  <a:pt x="188454" y="143493"/>
                  <a:pt x="218597" y="143493"/>
                </a:cubicBezTo>
                <a:cubicBezTo>
                  <a:pt x="218597" y="58005"/>
                  <a:pt x="218597" y="58005"/>
                  <a:pt x="218597" y="58005"/>
                </a:cubicBezTo>
                <a:cubicBezTo>
                  <a:pt x="133235" y="70544"/>
                  <a:pt x="133235" y="70544"/>
                  <a:pt x="133235" y="70544"/>
                </a:cubicBezTo>
                <a:cubicBezTo>
                  <a:pt x="45340" y="58005"/>
                  <a:pt x="45340" y="58005"/>
                  <a:pt x="45340" y="58005"/>
                </a:cubicBezTo>
                <a:cubicBezTo>
                  <a:pt x="45340" y="146026"/>
                  <a:pt x="45340" y="146026"/>
                  <a:pt x="45340" y="146026"/>
                </a:cubicBezTo>
                <a:moveTo>
                  <a:pt x="248739" y="20137"/>
                </a:moveTo>
                <a:cubicBezTo>
                  <a:pt x="248739" y="42807"/>
                  <a:pt x="248739" y="42807"/>
                  <a:pt x="248739" y="42807"/>
                </a:cubicBezTo>
                <a:cubicBezTo>
                  <a:pt x="133235" y="60539"/>
                  <a:pt x="133235" y="60539"/>
                  <a:pt x="133235" y="60539"/>
                </a:cubicBezTo>
                <a:cubicBezTo>
                  <a:pt x="17604" y="42807"/>
                  <a:pt x="17604" y="42807"/>
                  <a:pt x="17604" y="42807"/>
                </a:cubicBezTo>
                <a:cubicBezTo>
                  <a:pt x="17604" y="85615"/>
                  <a:pt x="17604" y="85615"/>
                  <a:pt x="17604" y="85615"/>
                </a:cubicBezTo>
                <a:cubicBezTo>
                  <a:pt x="20137" y="88148"/>
                  <a:pt x="22670" y="90681"/>
                  <a:pt x="22670" y="93214"/>
                </a:cubicBezTo>
                <a:cubicBezTo>
                  <a:pt x="22670" y="98280"/>
                  <a:pt x="17604" y="103219"/>
                  <a:pt x="12665" y="103219"/>
                </a:cubicBezTo>
                <a:cubicBezTo>
                  <a:pt x="10132" y="103219"/>
                  <a:pt x="5066" y="98280"/>
                  <a:pt x="5066" y="93214"/>
                </a:cubicBezTo>
                <a:cubicBezTo>
                  <a:pt x="5066" y="90681"/>
                  <a:pt x="7599" y="88148"/>
                  <a:pt x="10132" y="85615"/>
                </a:cubicBezTo>
                <a:cubicBezTo>
                  <a:pt x="10132" y="62945"/>
                  <a:pt x="10132" y="42807"/>
                  <a:pt x="10132" y="20137"/>
                </a:cubicBezTo>
                <a:cubicBezTo>
                  <a:pt x="133235" y="0"/>
                  <a:pt x="133235" y="0"/>
                  <a:pt x="133235" y="0"/>
                </a:cubicBezTo>
                <a:cubicBezTo>
                  <a:pt x="248739" y="20137"/>
                  <a:pt x="248739" y="20137"/>
                  <a:pt x="248739" y="20137"/>
                </a:cubicBezTo>
                <a:moveTo>
                  <a:pt x="20137" y="105752"/>
                </a:moveTo>
                <a:cubicBezTo>
                  <a:pt x="15071" y="108285"/>
                  <a:pt x="12665" y="108285"/>
                  <a:pt x="7599" y="105752"/>
                </a:cubicBezTo>
                <a:cubicBezTo>
                  <a:pt x="5066" y="118417"/>
                  <a:pt x="2533" y="130955"/>
                  <a:pt x="0" y="146026"/>
                </a:cubicBezTo>
                <a:cubicBezTo>
                  <a:pt x="2533" y="146026"/>
                  <a:pt x="5066" y="146026"/>
                  <a:pt x="5066" y="146026"/>
                </a:cubicBezTo>
                <a:cubicBezTo>
                  <a:pt x="7599" y="141088"/>
                  <a:pt x="7599" y="141088"/>
                  <a:pt x="7599" y="141088"/>
                </a:cubicBezTo>
                <a:cubicBezTo>
                  <a:pt x="7599" y="146026"/>
                  <a:pt x="7599" y="146026"/>
                  <a:pt x="7599" y="146026"/>
                </a:cubicBezTo>
                <a:cubicBezTo>
                  <a:pt x="10132" y="148559"/>
                  <a:pt x="12665" y="148559"/>
                  <a:pt x="15071" y="148559"/>
                </a:cubicBezTo>
                <a:cubicBezTo>
                  <a:pt x="17604" y="143493"/>
                  <a:pt x="17604" y="143493"/>
                  <a:pt x="17604" y="143493"/>
                </a:cubicBezTo>
                <a:cubicBezTo>
                  <a:pt x="17604" y="148559"/>
                  <a:pt x="17604" y="148559"/>
                  <a:pt x="17604" y="148559"/>
                </a:cubicBezTo>
                <a:lnTo>
                  <a:pt x="20137" y="148559"/>
                </a:lnTo>
                <a:cubicBezTo>
                  <a:pt x="20137" y="128422"/>
                  <a:pt x="20137" y="128422"/>
                  <a:pt x="20137" y="128422"/>
                </a:cubicBezTo>
                <a:cubicBezTo>
                  <a:pt x="22670" y="146026"/>
                  <a:pt x="22670" y="146026"/>
                  <a:pt x="22670" y="146026"/>
                </a:cubicBezTo>
                <a:cubicBezTo>
                  <a:pt x="25203" y="146026"/>
                  <a:pt x="25203" y="146026"/>
                  <a:pt x="27736" y="146026"/>
                </a:cubicBezTo>
                <a:cubicBezTo>
                  <a:pt x="25203" y="130955"/>
                  <a:pt x="22670" y="118417"/>
                  <a:pt x="20137" y="105752"/>
                </a:cubicBezTo>
              </a:path>
            </a:pathLst>
          </a:custGeom>
          <a:solidFill>
            <a:schemeClr val="bg1"/>
          </a:solidFill>
          <a:ln w="967" cap="flat">
            <a:noFill/>
            <a:prstDash val="solid"/>
            <a:miter/>
          </a:ln>
        </p:spPr>
        <p:txBody>
          <a:bodyPr rtlCol="0" anchor="ctr"/>
          <a:lstStyle/>
          <a:p>
            <a:endParaRPr lang="zh-CN" altLang="en-US"/>
          </a:p>
        </p:txBody>
      </p:sp>
      <p:sp>
        <p:nvSpPr>
          <p:cNvPr id="4" name="图形 28" descr="授课技能"/>
          <p:cNvSpPr/>
          <p:nvPr/>
        </p:nvSpPr>
        <p:spPr>
          <a:xfrm>
            <a:off x="4632198" y="5409053"/>
            <a:ext cx="182680" cy="182680"/>
          </a:xfrm>
          <a:custGeom>
            <a:avLst/>
            <a:gdLst>
              <a:gd name="connsiteX0" fmla="*/ 155815 w 182680"/>
              <a:gd name="connsiteY0" fmla="*/ 0 h 182680"/>
              <a:gd name="connsiteX1" fmla="*/ 26864 w 182680"/>
              <a:gd name="connsiteY1" fmla="*/ 0 h 182680"/>
              <a:gd name="connsiteX2" fmla="*/ 0 w 182680"/>
              <a:gd name="connsiteY2" fmla="*/ 26864 h 182680"/>
              <a:gd name="connsiteX3" fmla="*/ 0 w 182680"/>
              <a:gd name="connsiteY3" fmla="*/ 155815 h 182680"/>
              <a:gd name="connsiteX4" fmla="*/ 26864 w 182680"/>
              <a:gd name="connsiteY4" fmla="*/ 182680 h 182680"/>
              <a:gd name="connsiteX5" fmla="*/ 155815 w 182680"/>
              <a:gd name="connsiteY5" fmla="*/ 182680 h 182680"/>
              <a:gd name="connsiteX6" fmla="*/ 182680 w 182680"/>
              <a:gd name="connsiteY6" fmla="*/ 155815 h 182680"/>
              <a:gd name="connsiteX7" fmla="*/ 182680 w 182680"/>
              <a:gd name="connsiteY7" fmla="*/ 26864 h 182680"/>
              <a:gd name="connsiteX8" fmla="*/ 155815 w 182680"/>
              <a:gd name="connsiteY8" fmla="*/ 0 h 182680"/>
              <a:gd name="connsiteX9" fmla="*/ 91877 w 182680"/>
              <a:gd name="connsiteY9" fmla="*/ 25253 h 182680"/>
              <a:gd name="connsiteX10" fmla="*/ 107459 w 182680"/>
              <a:gd name="connsiteY10" fmla="*/ 40834 h 182680"/>
              <a:gd name="connsiteX11" fmla="*/ 91877 w 182680"/>
              <a:gd name="connsiteY11" fmla="*/ 56416 h 182680"/>
              <a:gd name="connsiteX12" fmla="*/ 76295 w 182680"/>
              <a:gd name="connsiteY12" fmla="*/ 40834 h 182680"/>
              <a:gd name="connsiteX13" fmla="*/ 91877 w 182680"/>
              <a:gd name="connsiteY13" fmla="*/ 25253 h 182680"/>
              <a:gd name="connsiteX14" fmla="*/ 95639 w 182680"/>
              <a:gd name="connsiteY14" fmla="*/ 61789 h 182680"/>
              <a:gd name="connsiteX15" fmla="*/ 93489 w 182680"/>
              <a:gd name="connsiteY15" fmla="*/ 66087 h 182680"/>
              <a:gd name="connsiteX16" fmla="*/ 91340 w 182680"/>
              <a:gd name="connsiteY16" fmla="*/ 66087 h 182680"/>
              <a:gd name="connsiteX17" fmla="*/ 89191 w 182680"/>
              <a:gd name="connsiteY17" fmla="*/ 66087 h 182680"/>
              <a:gd name="connsiteX18" fmla="*/ 87041 w 182680"/>
              <a:gd name="connsiteY18" fmla="*/ 61789 h 182680"/>
              <a:gd name="connsiteX19" fmla="*/ 91340 w 182680"/>
              <a:gd name="connsiteY19" fmla="*/ 59640 h 182680"/>
              <a:gd name="connsiteX20" fmla="*/ 95639 w 182680"/>
              <a:gd name="connsiteY20" fmla="*/ 61789 h 182680"/>
              <a:gd name="connsiteX21" fmla="*/ 60177 w 182680"/>
              <a:gd name="connsiteY21" fmla="*/ 70923 h 182680"/>
              <a:gd name="connsiteX22" fmla="*/ 68237 w 182680"/>
              <a:gd name="connsiteY22" fmla="*/ 63401 h 182680"/>
              <a:gd name="connsiteX23" fmla="*/ 82743 w 182680"/>
              <a:gd name="connsiteY23" fmla="*/ 61789 h 182680"/>
              <a:gd name="connsiteX24" fmla="*/ 87041 w 182680"/>
              <a:gd name="connsiteY24" fmla="*/ 77908 h 182680"/>
              <a:gd name="connsiteX25" fmla="*/ 89191 w 182680"/>
              <a:gd name="connsiteY25" fmla="*/ 68774 h 182680"/>
              <a:gd name="connsiteX26" fmla="*/ 93489 w 182680"/>
              <a:gd name="connsiteY26" fmla="*/ 68774 h 182680"/>
              <a:gd name="connsiteX27" fmla="*/ 95639 w 182680"/>
              <a:gd name="connsiteY27" fmla="*/ 77908 h 182680"/>
              <a:gd name="connsiteX28" fmla="*/ 99937 w 182680"/>
              <a:gd name="connsiteY28" fmla="*/ 61789 h 182680"/>
              <a:gd name="connsiteX29" fmla="*/ 114981 w 182680"/>
              <a:gd name="connsiteY29" fmla="*/ 63401 h 182680"/>
              <a:gd name="connsiteX30" fmla="*/ 123041 w 182680"/>
              <a:gd name="connsiteY30" fmla="*/ 70923 h 182680"/>
              <a:gd name="connsiteX31" fmla="*/ 125189 w 182680"/>
              <a:gd name="connsiteY31" fmla="*/ 84892 h 182680"/>
              <a:gd name="connsiteX32" fmla="*/ 56954 w 182680"/>
              <a:gd name="connsiteY32" fmla="*/ 84892 h 182680"/>
              <a:gd name="connsiteX33" fmla="*/ 60177 w 182680"/>
              <a:gd name="connsiteY33" fmla="*/ 70923 h 182680"/>
              <a:gd name="connsiteX34" fmla="*/ 106576 w 182680"/>
              <a:gd name="connsiteY34" fmla="*/ 157428 h 182680"/>
              <a:gd name="connsiteX35" fmla="*/ 75669 w 182680"/>
              <a:gd name="connsiteY35" fmla="*/ 157428 h 182680"/>
              <a:gd name="connsiteX36" fmla="*/ 67416 w 182680"/>
              <a:gd name="connsiteY36" fmla="*/ 150041 h 182680"/>
              <a:gd name="connsiteX37" fmla="*/ 63938 w 182680"/>
              <a:gd name="connsiteY37" fmla="*/ 118742 h 182680"/>
              <a:gd name="connsiteX38" fmla="*/ 118742 w 182680"/>
              <a:gd name="connsiteY38" fmla="*/ 118742 h 182680"/>
              <a:gd name="connsiteX39" fmla="*/ 114815 w 182680"/>
              <a:gd name="connsiteY39" fmla="*/ 150154 h 182680"/>
              <a:gd name="connsiteX40" fmla="*/ 106576 w 182680"/>
              <a:gd name="connsiteY40" fmla="*/ 157428 h 182680"/>
              <a:gd name="connsiteX41" fmla="*/ 131099 w 182680"/>
              <a:gd name="connsiteY41" fmla="*/ 106385 h 182680"/>
              <a:gd name="connsiteX42" fmla="*/ 123041 w 182680"/>
              <a:gd name="connsiteY42" fmla="*/ 113906 h 182680"/>
              <a:gd name="connsiteX43" fmla="*/ 59640 w 182680"/>
              <a:gd name="connsiteY43" fmla="*/ 113906 h 182680"/>
              <a:gd name="connsiteX44" fmla="*/ 51580 w 182680"/>
              <a:gd name="connsiteY44" fmla="*/ 106385 h 182680"/>
              <a:gd name="connsiteX45" fmla="*/ 50506 w 182680"/>
              <a:gd name="connsiteY45" fmla="*/ 95639 h 182680"/>
              <a:gd name="connsiteX46" fmla="*/ 54804 w 182680"/>
              <a:gd name="connsiteY46" fmla="*/ 91340 h 182680"/>
              <a:gd name="connsiteX47" fmla="*/ 127339 w 182680"/>
              <a:gd name="connsiteY47" fmla="*/ 91340 h 182680"/>
              <a:gd name="connsiteX48" fmla="*/ 131637 w 182680"/>
              <a:gd name="connsiteY48" fmla="*/ 95639 h 182680"/>
              <a:gd name="connsiteX49" fmla="*/ 131099 w 182680"/>
              <a:gd name="connsiteY49" fmla="*/ 106385 h 1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2680" h="182680">
                <a:moveTo>
                  <a:pt x="155815" y="0"/>
                </a:moveTo>
                <a:lnTo>
                  <a:pt x="26864" y="0"/>
                </a:lnTo>
                <a:cubicBezTo>
                  <a:pt x="11820" y="0"/>
                  <a:pt x="0" y="11820"/>
                  <a:pt x="0" y="26864"/>
                </a:cubicBezTo>
                <a:lnTo>
                  <a:pt x="0" y="155815"/>
                </a:lnTo>
                <a:cubicBezTo>
                  <a:pt x="0" y="170859"/>
                  <a:pt x="11820" y="182680"/>
                  <a:pt x="26864" y="182680"/>
                </a:cubicBezTo>
                <a:lnTo>
                  <a:pt x="155815" y="182680"/>
                </a:lnTo>
                <a:cubicBezTo>
                  <a:pt x="170859" y="182680"/>
                  <a:pt x="182680" y="170859"/>
                  <a:pt x="182680" y="155815"/>
                </a:cubicBezTo>
                <a:lnTo>
                  <a:pt x="182680" y="26864"/>
                </a:lnTo>
                <a:cubicBezTo>
                  <a:pt x="182680" y="11820"/>
                  <a:pt x="170859" y="0"/>
                  <a:pt x="155815" y="0"/>
                </a:cubicBezTo>
                <a:moveTo>
                  <a:pt x="91877" y="25253"/>
                </a:moveTo>
                <a:cubicBezTo>
                  <a:pt x="100475" y="25253"/>
                  <a:pt x="107459" y="32237"/>
                  <a:pt x="107459" y="40834"/>
                </a:cubicBezTo>
                <a:cubicBezTo>
                  <a:pt x="107459" y="49431"/>
                  <a:pt x="100475" y="56416"/>
                  <a:pt x="91877" y="56416"/>
                </a:cubicBezTo>
                <a:cubicBezTo>
                  <a:pt x="83281" y="56416"/>
                  <a:pt x="76295" y="49431"/>
                  <a:pt x="76295" y="40834"/>
                </a:cubicBezTo>
                <a:cubicBezTo>
                  <a:pt x="76295" y="32237"/>
                  <a:pt x="83281" y="25253"/>
                  <a:pt x="91877" y="25253"/>
                </a:cubicBezTo>
                <a:moveTo>
                  <a:pt x="95639" y="61789"/>
                </a:moveTo>
                <a:cubicBezTo>
                  <a:pt x="95639" y="63401"/>
                  <a:pt x="94027" y="65550"/>
                  <a:pt x="93489" y="66087"/>
                </a:cubicBezTo>
                <a:cubicBezTo>
                  <a:pt x="92952" y="66624"/>
                  <a:pt x="92415" y="66087"/>
                  <a:pt x="91340" y="66087"/>
                </a:cubicBezTo>
                <a:cubicBezTo>
                  <a:pt x="90265" y="66087"/>
                  <a:pt x="89728" y="66624"/>
                  <a:pt x="89191" y="66087"/>
                </a:cubicBezTo>
                <a:cubicBezTo>
                  <a:pt x="88654" y="65550"/>
                  <a:pt x="87041" y="62863"/>
                  <a:pt x="87041" y="61789"/>
                </a:cubicBezTo>
                <a:cubicBezTo>
                  <a:pt x="87041" y="60177"/>
                  <a:pt x="89728" y="59640"/>
                  <a:pt x="91340" y="59640"/>
                </a:cubicBezTo>
                <a:cubicBezTo>
                  <a:pt x="92952" y="59640"/>
                  <a:pt x="95639" y="60177"/>
                  <a:pt x="95639" y="61789"/>
                </a:cubicBezTo>
                <a:moveTo>
                  <a:pt x="60177" y="70923"/>
                </a:moveTo>
                <a:cubicBezTo>
                  <a:pt x="61251" y="67162"/>
                  <a:pt x="63938" y="64475"/>
                  <a:pt x="68237" y="63401"/>
                </a:cubicBezTo>
                <a:lnTo>
                  <a:pt x="82743" y="61789"/>
                </a:lnTo>
                <a:lnTo>
                  <a:pt x="87041" y="77908"/>
                </a:lnTo>
                <a:lnTo>
                  <a:pt x="89191" y="68774"/>
                </a:lnTo>
                <a:lnTo>
                  <a:pt x="93489" y="68774"/>
                </a:lnTo>
                <a:lnTo>
                  <a:pt x="95639" y="77908"/>
                </a:lnTo>
                <a:lnTo>
                  <a:pt x="99937" y="61789"/>
                </a:lnTo>
                <a:lnTo>
                  <a:pt x="114981" y="63401"/>
                </a:lnTo>
                <a:cubicBezTo>
                  <a:pt x="118742" y="63938"/>
                  <a:pt x="121966" y="66624"/>
                  <a:pt x="123041" y="70923"/>
                </a:cubicBezTo>
                <a:lnTo>
                  <a:pt x="125189" y="84892"/>
                </a:lnTo>
                <a:lnTo>
                  <a:pt x="56954" y="84892"/>
                </a:lnTo>
                <a:lnTo>
                  <a:pt x="60177" y="70923"/>
                </a:lnTo>
                <a:moveTo>
                  <a:pt x="106576" y="157428"/>
                </a:moveTo>
                <a:lnTo>
                  <a:pt x="75669" y="157428"/>
                </a:lnTo>
                <a:cubicBezTo>
                  <a:pt x="71438" y="157428"/>
                  <a:pt x="67883" y="154247"/>
                  <a:pt x="67416" y="150041"/>
                </a:cubicBezTo>
                <a:lnTo>
                  <a:pt x="63938" y="118742"/>
                </a:lnTo>
                <a:lnTo>
                  <a:pt x="118742" y="118742"/>
                </a:lnTo>
                <a:lnTo>
                  <a:pt x="114815" y="150154"/>
                </a:lnTo>
                <a:cubicBezTo>
                  <a:pt x="114296" y="154310"/>
                  <a:pt x="110763" y="157428"/>
                  <a:pt x="106576" y="157428"/>
                </a:cubicBezTo>
                <a:moveTo>
                  <a:pt x="131099" y="106385"/>
                </a:moveTo>
                <a:cubicBezTo>
                  <a:pt x="130563" y="110145"/>
                  <a:pt x="126802" y="113906"/>
                  <a:pt x="123041" y="113906"/>
                </a:cubicBezTo>
                <a:lnTo>
                  <a:pt x="59640" y="113906"/>
                </a:lnTo>
                <a:cubicBezTo>
                  <a:pt x="55878" y="113906"/>
                  <a:pt x="52118" y="110145"/>
                  <a:pt x="51580" y="106385"/>
                </a:cubicBezTo>
                <a:lnTo>
                  <a:pt x="50506" y="95639"/>
                </a:lnTo>
                <a:cubicBezTo>
                  <a:pt x="50506" y="93489"/>
                  <a:pt x="52655" y="91340"/>
                  <a:pt x="54804" y="91340"/>
                </a:cubicBezTo>
                <a:lnTo>
                  <a:pt x="127339" y="91340"/>
                </a:lnTo>
                <a:cubicBezTo>
                  <a:pt x="129488" y="91340"/>
                  <a:pt x="132175" y="93489"/>
                  <a:pt x="131637" y="95639"/>
                </a:cubicBezTo>
                <a:lnTo>
                  <a:pt x="131099" y="106385"/>
                </a:lnTo>
              </a:path>
            </a:pathLst>
          </a:custGeom>
          <a:solidFill>
            <a:schemeClr val="bg1"/>
          </a:solidFill>
          <a:ln w="707" cap="flat">
            <a:noFill/>
            <a:prstDash val="solid"/>
            <a:miter/>
          </a:ln>
        </p:spPr>
        <p:txBody>
          <a:bodyPr rtlCol="0" anchor="ctr"/>
          <a:lstStyle/>
          <a:p>
            <a:endParaRPr lang="zh-CN" altLang="en-US"/>
          </a:p>
        </p:txBody>
      </p:sp>
      <p:sp>
        <p:nvSpPr>
          <p:cNvPr id="5" name="文本框 4"/>
          <p:cNvSpPr txBox="1"/>
          <p:nvPr/>
        </p:nvSpPr>
        <p:spPr>
          <a:xfrm>
            <a:off x="540385" y="2298700"/>
            <a:ext cx="7602220" cy="368300"/>
          </a:xfrm>
          <a:prstGeom prst="rect">
            <a:avLst/>
          </a:prstGeom>
          <a:noFill/>
        </p:spPr>
        <p:txBody>
          <a:bodyPr wrap="square" rtlCol="0" anchor="t" anchorCtr="0">
            <a:spAutoFit/>
          </a:bodyPr>
          <a:lstStyle/>
          <a:p>
            <a:r>
              <a:rPr lang="zh-CN" altLang="en-US">
                <a:solidFill>
                  <a:schemeClr val="bg1"/>
                </a:solidFill>
              </a:rPr>
              <a:t>面向工业设备智能运维的</a:t>
            </a:r>
          </a:p>
        </p:txBody>
      </p:sp>
      <p:pic>
        <p:nvPicPr>
          <p:cNvPr id="6" name="图片 5" descr="76b499643fee34819cb883d90f0351cf"/>
          <p:cNvPicPr>
            <a:picLocks noChangeAspect="1"/>
          </p:cNvPicPr>
          <p:nvPr/>
        </p:nvPicPr>
        <p:blipFill>
          <a:blip r:embed="rId2"/>
          <a:stretch>
            <a:fillRect/>
          </a:stretch>
        </p:blipFill>
        <p:spPr>
          <a:xfrm>
            <a:off x="5192395" y="307340"/>
            <a:ext cx="1807845" cy="18078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梯形 8"/>
          <p:cNvSpPr/>
          <p:nvPr/>
        </p:nvSpPr>
        <p:spPr>
          <a:xfrm rot="5400000">
            <a:off x="-1501141" y="2162176"/>
            <a:ext cx="5535930" cy="2533649"/>
          </a:xfrm>
          <a:prstGeom prst="trapezoi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47674" y="1895059"/>
            <a:ext cx="1638300" cy="2308324"/>
          </a:xfrm>
          <a:prstGeom prst="rect">
            <a:avLst/>
          </a:prstGeom>
          <a:noFill/>
        </p:spPr>
        <p:txBody>
          <a:bodyPr wrap="square" rtlCol="0">
            <a:spAutoFit/>
          </a:bodyPr>
          <a:lstStyle/>
          <a:p>
            <a:pPr algn="ctr"/>
            <a:r>
              <a:rPr lang="zh-CN" altLang="en-US" sz="7200" dirty="0">
                <a:solidFill>
                  <a:schemeClr val="bg1"/>
                </a:solidFill>
                <a:latin typeface="微软雅黑" panose="020B0503020204020204" pitchFamily="34" charset="-122"/>
                <a:ea typeface="微软雅黑" panose="020B0503020204020204" pitchFamily="34" charset="-122"/>
              </a:rPr>
              <a:t>目录</a:t>
            </a:r>
          </a:p>
        </p:txBody>
      </p:sp>
      <p:sp>
        <p:nvSpPr>
          <p:cNvPr id="11" name="文本框 10"/>
          <p:cNvSpPr txBox="1"/>
          <p:nvPr/>
        </p:nvSpPr>
        <p:spPr>
          <a:xfrm>
            <a:off x="528637" y="4295775"/>
            <a:ext cx="1476374" cy="369332"/>
          </a:xfrm>
          <a:prstGeom prst="rect">
            <a:avLst/>
          </a:prstGeom>
          <a:noFill/>
        </p:spPr>
        <p:txBody>
          <a:bodyPr wrap="squar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CONTENTS</a:t>
            </a:r>
            <a:endParaRPr lang="zh-CN" altLang="en-US" dirty="0">
              <a:solidFill>
                <a:schemeClr val="bg1"/>
              </a:solidFill>
              <a:latin typeface="微软雅黑" panose="020B0503020204020204" pitchFamily="34" charset="-122"/>
              <a:ea typeface="微软雅黑" panose="020B0503020204020204" pitchFamily="34" charset="-122"/>
            </a:endParaRPr>
          </a:p>
        </p:txBody>
      </p:sp>
      <p:grpSp>
        <p:nvGrpSpPr>
          <p:cNvPr id="23" name="组合 22"/>
          <p:cNvGrpSpPr/>
          <p:nvPr>
            <p:custDataLst>
              <p:tags r:id="rId1"/>
            </p:custDataLst>
          </p:nvPr>
        </p:nvGrpSpPr>
        <p:grpSpPr>
          <a:xfrm>
            <a:off x="3407683" y="2313007"/>
            <a:ext cx="4925534" cy="892552"/>
            <a:chOff x="4321453" y="1022955"/>
            <a:chExt cx="4925534" cy="892552"/>
          </a:xfrm>
        </p:grpSpPr>
        <p:grpSp>
          <p:nvGrpSpPr>
            <p:cNvPr id="17" name="组合 16"/>
            <p:cNvGrpSpPr/>
            <p:nvPr/>
          </p:nvGrpSpPr>
          <p:grpSpPr>
            <a:xfrm>
              <a:off x="4383366" y="1123950"/>
              <a:ext cx="690562" cy="690562"/>
              <a:chOff x="4701383" y="1123951"/>
              <a:chExt cx="690562" cy="690562"/>
            </a:xfrm>
          </p:grpSpPr>
          <p:sp>
            <p:nvSpPr>
              <p:cNvPr id="20" name="椭圆 19"/>
              <p:cNvSpPr/>
              <p:nvPr>
                <p:custDataLst>
                  <p:tags r:id="rId19"/>
                </p:custDataLst>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1" name="文本框 20"/>
              <p:cNvSpPr txBox="1"/>
              <p:nvPr>
                <p:custDataLst>
                  <p:tags r:id="rId20"/>
                </p:custDataLst>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8" name="文本框 17"/>
            <p:cNvSpPr txBox="1"/>
            <p:nvPr>
              <p:custDataLst>
                <p:tags r:id="rId17"/>
              </p:custDataLst>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研究背景</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Research background</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2" name="弧形 21"/>
            <p:cNvSpPr/>
            <p:nvPr>
              <p:custDataLst>
                <p:tags r:id="rId18"/>
              </p:custDataLst>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4" name="组合 23"/>
          <p:cNvGrpSpPr/>
          <p:nvPr>
            <p:custDataLst>
              <p:tags r:id="rId2"/>
            </p:custDataLst>
          </p:nvPr>
        </p:nvGrpSpPr>
        <p:grpSpPr>
          <a:xfrm>
            <a:off x="7522979" y="2313007"/>
            <a:ext cx="4925534" cy="892552"/>
            <a:chOff x="4321453" y="1022955"/>
            <a:chExt cx="4925534" cy="892552"/>
          </a:xfrm>
        </p:grpSpPr>
        <p:grpSp>
          <p:nvGrpSpPr>
            <p:cNvPr id="25" name="组合 24"/>
            <p:cNvGrpSpPr/>
            <p:nvPr/>
          </p:nvGrpSpPr>
          <p:grpSpPr>
            <a:xfrm>
              <a:off x="4383366" y="1123950"/>
              <a:ext cx="690562" cy="690562"/>
              <a:chOff x="4701383" y="1123951"/>
              <a:chExt cx="690562" cy="690562"/>
            </a:xfrm>
          </p:grpSpPr>
          <p:sp>
            <p:nvSpPr>
              <p:cNvPr id="28" name="椭圆 27"/>
              <p:cNvSpPr/>
              <p:nvPr>
                <p:custDataLst>
                  <p:tags r:id="rId15"/>
                </p:custDataLst>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9" name="文本框 28"/>
              <p:cNvSpPr txBox="1"/>
              <p:nvPr>
                <p:custDataLst>
                  <p:tags r:id="rId16"/>
                </p:custDataLst>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26" name="文本框 25"/>
            <p:cNvSpPr txBox="1"/>
            <p:nvPr>
              <p:custDataLst>
                <p:tags r:id="rId13"/>
              </p:custDataLst>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目的及意义</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Purpose and significance</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7" name="弧形 26"/>
            <p:cNvSpPr/>
            <p:nvPr>
              <p:custDataLst>
                <p:tags r:id="rId14"/>
              </p:custDataLst>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0" name="组合 29"/>
          <p:cNvGrpSpPr/>
          <p:nvPr>
            <p:custDataLst>
              <p:tags r:id="rId3"/>
            </p:custDataLst>
          </p:nvPr>
        </p:nvGrpSpPr>
        <p:grpSpPr>
          <a:xfrm>
            <a:off x="3407683" y="3546371"/>
            <a:ext cx="4925534" cy="892552"/>
            <a:chOff x="4321453" y="1022955"/>
            <a:chExt cx="4925534" cy="892552"/>
          </a:xfrm>
        </p:grpSpPr>
        <p:grpSp>
          <p:nvGrpSpPr>
            <p:cNvPr id="31" name="组合 30"/>
            <p:cNvGrpSpPr/>
            <p:nvPr/>
          </p:nvGrpSpPr>
          <p:grpSpPr>
            <a:xfrm>
              <a:off x="4383366" y="1123950"/>
              <a:ext cx="690562" cy="690562"/>
              <a:chOff x="4701383" y="1123951"/>
              <a:chExt cx="690562" cy="690562"/>
            </a:xfrm>
          </p:grpSpPr>
          <p:sp>
            <p:nvSpPr>
              <p:cNvPr id="34" name="椭圆 33"/>
              <p:cNvSpPr/>
              <p:nvPr>
                <p:custDataLst>
                  <p:tags r:id="rId11"/>
                </p:custDataLst>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35" name="文本框 34"/>
              <p:cNvSpPr txBox="1"/>
              <p:nvPr>
                <p:custDataLst>
                  <p:tags r:id="rId12"/>
                </p:custDataLst>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03</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2" name="文本框 31"/>
            <p:cNvSpPr txBox="1"/>
            <p:nvPr>
              <p:custDataLst>
                <p:tags r:id="rId9"/>
              </p:custDataLst>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方法与过程</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Methods and process</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3" name="弧形 32"/>
            <p:cNvSpPr/>
            <p:nvPr>
              <p:custDataLst>
                <p:tags r:id="rId10"/>
              </p:custDataLst>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 name="组合 1"/>
          <p:cNvGrpSpPr/>
          <p:nvPr>
            <p:custDataLst>
              <p:tags r:id="rId4"/>
            </p:custDataLst>
          </p:nvPr>
        </p:nvGrpSpPr>
        <p:grpSpPr>
          <a:xfrm>
            <a:off x="7523753" y="3586737"/>
            <a:ext cx="4925534" cy="892552"/>
            <a:chOff x="4321453" y="1022955"/>
            <a:chExt cx="4925534" cy="892552"/>
          </a:xfrm>
        </p:grpSpPr>
        <p:grpSp>
          <p:nvGrpSpPr>
            <p:cNvPr id="3" name="组合 2"/>
            <p:cNvGrpSpPr/>
            <p:nvPr/>
          </p:nvGrpSpPr>
          <p:grpSpPr>
            <a:xfrm>
              <a:off x="4383366" y="1123950"/>
              <a:ext cx="690562" cy="690562"/>
              <a:chOff x="4701383" y="1123951"/>
              <a:chExt cx="690562" cy="690562"/>
            </a:xfrm>
          </p:grpSpPr>
          <p:sp>
            <p:nvSpPr>
              <p:cNvPr id="4" name="椭圆 3"/>
              <p:cNvSpPr/>
              <p:nvPr>
                <p:custDataLst>
                  <p:tags r:id="rId7"/>
                </p:custDataLst>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5" name="文本框 4"/>
              <p:cNvSpPr txBox="1"/>
              <p:nvPr>
                <p:custDataLst>
                  <p:tags r:id="rId8"/>
                </p:custDataLst>
              </p:nvPr>
            </p:nvSpPr>
            <p:spPr>
              <a:xfrm>
                <a:off x="4718647" y="1238399"/>
                <a:ext cx="656034" cy="46037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04</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6" name="文本框 5"/>
            <p:cNvSpPr txBox="1"/>
            <p:nvPr>
              <p:custDataLst>
                <p:tags r:id="rId5"/>
              </p:custDataLst>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总结与讨论</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Summary and Discussion</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7" name="弧形 6"/>
            <p:cNvSpPr/>
            <p:nvPr>
              <p:custDataLst>
                <p:tags r:id="rId6"/>
              </p:custDataLst>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813621" y="3054084"/>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3969657" y="2522461"/>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01</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73178" y="3124032"/>
            <a:ext cx="4119335" cy="954107"/>
          </a:xfrm>
          <a:prstGeom prst="rect">
            <a:avLst/>
          </a:prstGeom>
          <a:noFill/>
        </p:spPr>
        <p:txBody>
          <a:bodyPr wrap="square" rtlCol="0">
            <a:spAutoFit/>
          </a:bodyPr>
          <a:lstStyle/>
          <a:p>
            <a:r>
              <a:rPr lang="zh-CN" altLang="en-US" sz="3600" b="1" dirty="0">
                <a:solidFill>
                  <a:schemeClr val="bg1"/>
                </a:solidFill>
              </a:rPr>
              <a:t>研究背景</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Research background</a:t>
            </a: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descr="76b499643fee34819cb883d90f0351cf"/>
          <p:cNvPicPr>
            <a:picLocks noChangeAspect="1"/>
          </p:cNvPicPr>
          <p:nvPr/>
        </p:nvPicPr>
        <p:blipFill>
          <a:blip r:embed="rId2"/>
          <a:stretch>
            <a:fillRect/>
          </a:stretch>
        </p:blipFill>
        <p:spPr>
          <a:xfrm>
            <a:off x="10742295" y="152400"/>
            <a:ext cx="748030" cy="748030"/>
          </a:xfrm>
          <a:prstGeom prst="rect">
            <a:avLst/>
          </a:prstGeom>
        </p:spPr>
      </p:pic>
      <p:grpSp>
        <p:nvGrpSpPr>
          <p:cNvPr id="35" name="组合 34">
            <a:extLst>
              <a:ext uri="{FF2B5EF4-FFF2-40B4-BE49-F238E27FC236}">
                <a16:creationId xmlns:a16="http://schemas.microsoft.com/office/drawing/2014/main" id="{6E777270-77D4-B43F-AE5F-BF223A7DE778}"/>
              </a:ext>
            </a:extLst>
          </p:cNvPr>
          <p:cNvGrpSpPr/>
          <p:nvPr/>
        </p:nvGrpSpPr>
        <p:grpSpPr>
          <a:xfrm>
            <a:off x="-2" y="0"/>
            <a:ext cx="2867027" cy="6858000"/>
            <a:chOff x="-2" y="0"/>
            <a:chExt cx="2867027" cy="6858000"/>
          </a:xfrm>
        </p:grpSpPr>
        <p:sp>
          <p:nvSpPr>
            <p:cNvPr id="37" name="矩形 36">
              <a:extLst>
                <a:ext uri="{FF2B5EF4-FFF2-40B4-BE49-F238E27FC236}">
                  <a16:creationId xmlns:a16="http://schemas.microsoft.com/office/drawing/2014/main" id="{1DCAF695-3914-6529-0695-1ACDA5A251D8}"/>
                </a:ext>
              </a:extLst>
            </p:cNvPr>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F9EECCF9-57BB-8C1B-E86E-BD047BC614A8}"/>
                </a:ext>
              </a:extLst>
            </p:cNvPr>
            <p:cNvSpPr txBox="1"/>
            <p:nvPr/>
          </p:nvSpPr>
          <p:spPr>
            <a:xfrm>
              <a:off x="542925" y="2650331"/>
              <a:ext cx="2019301"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39" name="文本框 38">
              <a:extLst>
                <a:ext uri="{FF2B5EF4-FFF2-40B4-BE49-F238E27FC236}">
                  <a16:creationId xmlns:a16="http://schemas.microsoft.com/office/drawing/2014/main" id="{CED863C3-4E09-B49B-E0DF-5DE5E8FFEE39}"/>
                </a:ext>
              </a:extLst>
            </p:cNvPr>
            <p:cNvSpPr txBox="1"/>
            <p:nvPr/>
          </p:nvSpPr>
          <p:spPr>
            <a:xfrm>
              <a:off x="542925" y="3643312"/>
              <a:ext cx="2019301" cy="954107"/>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40" name="文本框 39">
              <a:extLst>
                <a:ext uri="{FF2B5EF4-FFF2-40B4-BE49-F238E27FC236}">
                  <a16:creationId xmlns:a16="http://schemas.microsoft.com/office/drawing/2014/main" id="{35A752F3-F35A-2A28-ED70-25485FDAF75C}"/>
                </a:ext>
              </a:extLst>
            </p:cNvPr>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p>
          </p:txBody>
        </p:sp>
        <p:sp>
          <p:nvSpPr>
            <p:cNvPr id="41" name="文本框 40">
              <a:extLst>
                <a:ext uri="{FF2B5EF4-FFF2-40B4-BE49-F238E27FC236}">
                  <a16:creationId xmlns:a16="http://schemas.microsoft.com/office/drawing/2014/main" id="{92BFFA23-5284-894C-05BC-6771013BB548}"/>
                </a:ext>
              </a:extLst>
            </p:cNvPr>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42" name="文本框 41">
              <a:extLst>
                <a:ext uri="{FF2B5EF4-FFF2-40B4-BE49-F238E27FC236}">
                  <a16:creationId xmlns:a16="http://schemas.microsoft.com/office/drawing/2014/main" id="{F877F83E-7B16-5B66-BABA-7AF325A66260}"/>
                </a:ext>
              </a:extLst>
            </p:cNvPr>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grpSp>
          <p:nvGrpSpPr>
            <p:cNvPr id="43" name="组合 42">
              <a:extLst>
                <a:ext uri="{FF2B5EF4-FFF2-40B4-BE49-F238E27FC236}">
                  <a16:creationId xmlns:a16="http://schemas.microsoft.com/office/drawing/2014/main" id="{091E1D11-DF36-E22B-AFDB-65DCBCE4C923}"/>
                </a:ext>
              </a:extLst>
            </p:cNvPr>
            <p:cNvGrpSpPr/>
            <p:nvPr/>
          </p:nvGrpSpPr>
          <p:grpSpPr>
            <a:xfrm>
              <a:off x="-2" y="1537960"/>
              <a:ext cx="2867026" cy="921872"/>
              <a:chOff x="-2" y="1537960"/>
              <a:chExt cx="2867026" cy="921872"/>
            </a:xfrm>
          </p:grpSpPr>
          <p:sp>
            <p:nvSpPr>
              <p:cNvPr id="45" name="矩形 44">
                <a:extLst>
                  <a:ext uri="{FF2B5EF4-FFF2-40B4-BE49-F238E27FC236}">
                    <a16:creationId xmlns:a16="http://schemas.microsoft.com/office/drawing/2014/main" id="{204A6963-8225-A416-D6A8-5D09FDD037E4}"/>
                  </a:ext>
                </a:extLst>
              </p:cNvPr>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直角三角形 45">
                <a:extLst>
                  <a:ext uri="{FF2B5EF4-FFF2-40B4-BE49-F238E27FC236}">
                    <a16:creationId xmlns:a16="http://schemas.microsoft.com/office/drawing/2014/main" id="{9F8C3FE5-7BF4-F4A1-A2DF-1C44902C9B0F}"/>
                  </a:ext>
                </a:extLst>
              </p:cNvPr>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a:extLst>
                <a:ext uri="{FF2B5EF4-FFF2-40B4-BE49-F238E27FC236}">
                  <a16:creationId xmlns:a16="http://schemas.microsoft.com/office/drawing/2014/main" id="{F15FC216-FEF3-EBF6-E7FB-F51AA2C8FB72}"/>
                </a:ext>
              </a:extLst>
            </p:cNvPr>
            <p:cNvSpPr txBox="1"/>
            <p:nvPr/>
          </p:nvSpPr>
          <p:spPr>
            <a:xfrm>
              <a:off x="542925" y="1657350"/>
              <a:ext cx="1828799"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3396996" y="5393688"/>
            <a:ext cx="8316000" cy="11558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背景介绍</a:t>
            </a: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013199" y="1303019"/>
            <a:ext cx="6959600" cy="4757034"/>
          </a:xfrm>
          <a:prstGeom prst="rect">
            <a:avLst/>
          </a:prstGeom>
          <a:solidFill>
            <a:schemeClr val="bg1"/>
          </a:solidFill>
          <a:ln>
            <a:noFill/>
          </a:ln>
          <a:effectLst>
            <a:outerShdw blurRad="127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nvSpPr>
        <p:spPr>
          <a:xfrm>
            <a:off x="5607049" y="1626860"/>
            <a:ext cx="3771900" cy="642610"/>
          </a:xfrm>
          <a:prstGeom prst="roundRect">
            <a:avLst>
              <a:gd name="adj" fmla="val 2569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研究背景</a:t>
            </a:r>
          </a:p>
        </p:txBody>
      </p:sp>
      <p:sp>
        <p:nvSpPr>
          <p:cNvPr id="19" name="文本框 18"/>
          <p:cNvSpPr txBox="1"/>
          <p:nvPr/>
        </p:nvSpPr>
        <p:spPr>
          <a:xfrm>
            <a:off x="4381499" y="2299811"/>
            <a:ext cx="6223000" cy="3513591"/>
          </a:xfrm>
          <a:prstGeom prst="rect">
            <a:avLst/>
          </a:prstGeom>
          <a:noFill/>
        </p:spPr>
        <p:txBody>
          <a:bodyPr wrap="square" rtlCol="0">
            <a:spAutoFit/>
          </a:bodyPr>
          <a:lstStyle/>
          <a:p>
            <a:pPr>
              <a:lnSpc>
                <a:spcPts val="3000"/>
              </a:lnSpc>
            </a:pPr>
            <a:r>
              <a:rPr lang="zh-CN" altLang="en-US" sz="1600" dirty="0"/>
              <a:t>       </a:t>
            </a:r>
            <a:r>
              <a:rPr lang="zh-CN" altLang="en-US" dirty="0"/>
              <a:t>工业设备的安全稳定运行至关重要，但近年来化工等领域安全事故频发并造成大量伤亡，其中超</a:t>
            </a:r>
            <a:r>
              <a:rPr lang="en-US" altLang="zh-CN" dirty="0"/>
              <a:t>60%</a:t>
            </a:r>
            <a:r>
              <a:rPr lang="zh-CN" altLang="en-US" dirty="0"/>
              <a:t>的事故均与设备巡检不到位及故障未及时处理有关 。这暴露出传统人工巡检面临着三大显著局限：不仅</a:t>
            </a:r>
            <a:r>
              <a:rPr lang="en-US" altLang="zh-CN" dirty="0"/>
              <a:t>24</a:t>
            </a:r>
            <a:r>
              <a:rPr lang="zh-CN" altLang="en-US" dirty="0"/>
              <a:t>小时不间断作业的人力消耗巨大且在恶劣环境中存在极高安全隐患，而且高度依赖主观经验极易导致漏检和误判，同时巡检数据也难以实现系统化存储与分析 。为此，研发能够替代或辅助人工的智能巡检系统，从而有效保障工业生产安全、降低运维成本并提升管理效率，已成为一项具有重要现实意义的迫切需求 。</a:t>
            </a:r>
            <a:endParaRPr lang="zh-CN" altLang="en-US" sz="1600" dirty="0"/>
          </a:p>
        </p:txBody>
      </p:sp>
      <p:grpSp>
        <p:nvGrpSpPr>
          <p:cNvPr id="3" name="组合 2">
            <a:extLst>
              <a:ext uri="{FF2B5EF4-FFF2-40B4-BE49-F238E27FC236}">
                <a16:creationId xmlns:a16="http://schemas.microsoft.com/office/drawing/2014/main" id="{3F2B54DA-8E8F-406D-3A16-A5FA573E17A3}"/>
              </a:ext>
            </a:extLst>
          </p:cNvPr>
          <p:cNvGrpSpPr/>
          <p:nvPr/>
        </p:nvGrpSpPr>
        <p:grpSpPr>
          <a:xfrm>
            <a:off x="-2" y="0"/>
            <a:ext cx="2867027" cy="6858000"/>
            <a:chOff x="-2" y="0"/>
            <a:chExt cx="2867027" cy="685800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1"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6" name="文本框 5"/>
            <p:cNvSpPr txBox="1"/>
            <p:nvPr/>
          </p:nvSpPr>
          <p:spPr>
            <a:xfrm>
              <a:off x="542925" y="3643312"/>
              <a:ext cx="2019301" cy="954107"/>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grpSp>
          <p:nvGrpSpPr>
            <p:cNvPr id="24" name="组合 23"/>
            <p:cNvGrpSpPr/>
            <p:nvPr/>
          </p:nvGrpSpPr>
          <p:grpSpPr>
            <a:xfrm>
              <a:off x="-2" y="1537960"/>
              <a:ext cx="2867026" cy="921872"/>
              <a:chOff x="-2" y="1537960"/>
              <a:chExt cx="2867026" cy="921872"/>
            </a:xfrm>
          </p:grpSpPr>
          <p:sp>
            <p:nvSpPr>
              <p:cNvPr id="25" name="矩形 24"/>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直角三角形 25"/>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p:cNvSpPr txBox="1"/>
            <p:nvPr/>
          </p:nvSpPr>
          <p:spPr>
            <a:xfrm>
              <a:off x="542925" y="1657350"/>
              <a:ext cx="1828799"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p>
          </p:txBody>
        </p:sp>
      </p:grpSp>
      <p:pic>
        <p:nvPicPr>
          <p:cNvPr id="2" name="图片 1" descr="76b499643fee34819cb883d90f0351cf"/>
          <p:cNvPicPr>
            <a:picLocks noChangeAspect="1"/>
          </p:cNvPicPr>
          <p:nvPr/>
        </p:nvPicPr>
        <p:blipFill>
          <a:blip r:embed="rId2"/>
          <a:stretch>
            <a:fillRect/>
          </a:stretch>
        </p:blipFill>
        <p:spPr>
          <a:xfrm>
            <a:off x="10972800" y="0"/>
            <a:ext cx="748030" cy="7480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EB067-FB80-8845-487B-E374D8B4E147}"/>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id="{68A197D0-2984-9269-D4AA-8F1920E2CCCA}"/>
              </a:ext>
            </a:extLst>
          </p:cNvPr>
          <p:cNvSpPr/>
          <p:nvPr/>
        </p:nvSpPr>
        <p:spPr>
          <a:xfrm>
            <a:off x="3396996" y="5393688"/>
            <a:ext cx="8316000" cy="11558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76DEA328-966A-9A65-D9BE-958F458428C8}"/>
              </a:ext>
            </a:extLst>
          </p:cNvPr>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背景介绍</a:t>
            </a:r>
          </a:p>
        </p:txBody>
      </p:sp>
      <p:sp>
        <p:nvSpPr>
          <p:cNvPr id="15" name="矩形 14">
            <a:extLst>
              <a:ext uri="{FF2B5EF4-FFF2-40B4-BE49-F238E27FC236}">
                <a16:creationId xmlns:a16="http://schemas.microsoft.com/office/drawing/2014/main" id="{AC2060A8-0EFB-317F-CF9F-3AA8081165D0}"/>
              </a:ext>
            </a:extLst>
          </p:cNvPr>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C0645A33-D26B-8618-EEA6-66577AF0BA99}"/>
              </a:ext>
            </a:extLst>
          </p:cNvPr>
          <p:cNvSpPr/>
          <p:nvPr/>
        </p:nvSpPr>
        <p:spPr>
          <a:xfrm>
            <a:off x="4013199" y="1303019"/>
            <a:ext cx="6959600" cy="4757034"/>
          </a:xfrm>
          <a:prstGeom prst="rect">
            <a:avLst/>
          </a:prstGeom>
          <a:solidFill>
            <a:schemeClr val="bg1"/>
          </a:solidFill>
          <a:ln>
            <a:noFill/>
          </a:ln>
          <a:effectLst>
            <a:outerShdw blurRad="127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角 17">
            <a:extLst>
              <a:ext uri="{FF2B5EF4-FFF2-40B4-BE49-F238E27FC236}">
                <a16:creationId xmlns:a16="http://schemas.microsoft.com/office/drawing/2014/main" id="{C07CF869-0DFB-1046-52BA-8C17FED0ED4B}"/>
              </a:ext>
            </a:extLst>
          </p:cNvPr>
          <p:cNvSpPr/>
          <p:nvPr/>
        </p:nvSpPr>
        <p:spPr>
          <a:xfrm>
            <a:off x="5607049" y="1626860"/>
            <a:ext cx="3771900" cy="642610"/>
          </a:xfrm>
          <a:prstGeom prst="roundRect">
            <a:avLst>
              <a:gd name="adj" fmla="val 2569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研究背景</a:t>
            </a:r>
          </a:p>
        </p:txBody>
      </p:sp>
      <p:grpSp>
        <p:nvGrpSpPr>
          <p:cNvPr id="3" name="组合 2">
            <a:extLst>
              <a:ext uri="{FF2B5EF4-FFF2-40B4-BE49-F238E27FC236}">
                <a16:creationId xmlns:a16="http://schemas.microsoft.com/office/drawing/2014/main" id="{5522EC57-E9F7-1C9A-9971-9C4B7E157ABD}"/>
              </a:ext>
            </a:extLst>
          </p:cNvPr>
          <p:cNvGrpSpPr/>
          <p:nvPr/>
        </p:nvGrpSpPr>
        <p:grpSpPr>
          <a:xfrm>
            <a:off x="-2" y="0"/>
            <a:ext cx="2867027" cy="6858000"/>
            <a:chOff x="-2" y="0"/>
            <a:chExt cx="2867027" cy="6858000"/>
          </a:xfrm>
        </p:grpSpPr>
        <p:sp>
          <p:nvSpPr>
            <p:cNvPr id="4" name="矩形 3">
              <a:extLst>
                <a:ext uri="{FF2B5EF4-FFF2-40B4-BE49-F238E27FC236}">
                  <a16:creationId xmlns:a16="http://schemas.microsoft.com/office/drawing/2014/main" id="{D1896BC5-169D-A9B5-B260-AFB96EDAD3B6}"/>
                </a:ext>
              </a:extLst>
            </p:cNvPr>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BF29A503-5357-BB8D-E373-6C722B00D788}"/>
                </a:ext>
              </a:extLst>
            </p:cNvPr>
            <p:cNvSpPr txBox="1"/>
            <p:nvPr/>
          </p:nvSpPr>
          <p:spPr>
            <a:xfrm>
              <a:off x="542925" y="2650331"/>
              <a:ext cx="2019301"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6" name="文本框 5">
              <a:extLst>
                <a:ext uri="{FF2B5EF4-FFF2-40B4-BE49-F238E27FC236}">
                  <a16:creationId xmlns:a16="http://schemas.microsoft.com/office/drawing/2014/main" id="{69C38811-28A0-7952-C88A-AA09F044FB92}"/>
                </a:ext>
              </a:extLst>
            </p:cNvPr>
            <p:cNvSpPr txBox="1"/>
            <p:nvPr/>
          </p:nvSpPr>
          <p:spPr>
            <a:xfrm>
              <a:off x="542925" y="3643312"/>
              <a:ext cx="2019301" cy="954107"/>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7" name="文本框 6">
              <a:extLst>
                <a:ext uri="{FF2B5EF4-FFF2-40B4-BE49-F238E27FC236}">
                  <a16:creationId xmlns:a16="http://schemas.microsoft.com/office/drawing/2014/main" id="{7B4FCE92-E031-6473-DD95-02AA4D57B016}"/>
                </a:ext>
              </a:extLst>
            </p:cNvPr>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p>
          </p:txBody>
        </p:sp>
        <p:sp>
          <p:nvSpPr>
            <p:cNvPr id="8" name="文本框 7">
              <a:extLst>
                <a:ext uri="{FF2B5EF4-FFF2-40B4-BE49-F238E27FC236}">
                  <a16:creationId xmlns:a16="http://schemas.microsoft.com/office/drawing/2014/main" id="{AA14DFBA-4CF9-60F2-326D-63E9DE353A13}"/>
                </a:ext>
              </a:extLst>
            </p:cNvPr>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12" name="文本框 11">
              <a:extLst>
                <a:ext uri="{FF2B5EF4-FFF2-40B4-BE49-F238E27FC236}">
                  <a16:creationId xmlns:a16="http://schemas.microsoft.com/office/drawing/2014/main" id="{C35F00E1-4A82-EC8F-D65B-00A01CD8B44D}"/>
                </a:ext>
              </a:extLst>
            </p:cNvPr>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grpSp>
          <p:nvGrpSpPr>
            <p:cNvPr id="24" name="组合 23">
              <a:extLst>
                <a:ext uri="{FF2B5EF4-FFF2-40B4-BE49-F238E27FC236}">
                  <a16:creationId xmlns:a16="http://schemas.microsoft.com/office/drawing/2014/main" id="{E8667BA7-DA6D-9F59-45F8-70439B2124E7}"/>
                </a:ext>
              </a:extLst>
            </p:cNvPr>
            <p:cNvGrpSpPr/>
            <p:nvPr/>
          </p:nvGrpSpPr>
          <p:grpSpPr>
            <a:xfrm>
              <a:off x="-2" y="1537960"/>
              <a:ext cx="2867026" cy="921872"/>
              <a:chOff x="-2" y="1537960"/>
              <a:chExt cx="2867026" cy="921872"/>
            </a:xfrm>
          </p:grpSpPr>
          <p:sp>
            <p:nvSpPr>
              <p:cNvPr id="25" name="矩形 24">
                <a:extLst>
                  <a:ext uri="{FF2B5EF4-FFF2-40B4-BE49-F238E27FC236}">
                    <a16:creationId xmlns:a16="http://schemas.microsoft.com/office/drawing/2014/main" id="{A5ABCEE3-4113-209F-B4F9-C590F40262A5}"/>
                  </a:ext>
                </a:extLst>
              </p:cNvPr>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直角三角形 25">
                <a:extLst>
                  <a:ext uri="{FF2B5EF4-FFF2-40B4-BE49-F238E27FC236}">
                    <a16:creationId xmlns:a16="http://schemas.microsoft.com/office/drawing/2014/main" id="{21FFA03F-6366-D0D6-2646-654F9163005D}"/>
                  </a:ext>
                </a:extLst>
              </p:cNvPr>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a:extLst>
                <a:ext uri="{FF2B5EF4-FFF2-40B4-BE49-F238E27FC236}">
                  <a16:creationId xmlns:a16="http://schemas.microsoft.com/office/drawing/2014/main" id="{060DF81B-F2FC-BE8B-3148-BF810CA05B6B}"/>
                </a:ext>
              </a:extLst>
            </p:cNvPr>
            <p:cNvSpPr txBox="1"/>
            <p:nvPr/>
          </p:nvSpPr>
          <p:spPr>
            <a:xfrm>
              <a:off x="542925" y="1657350"/>
              <a:ext cx="1828799"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p>
          </p:txBody>
        </p:sp>
      </p:grpSp>
      <p:pic>
        <p:nvPicPr>
          <p:cNvPr id="2" name="图片 1" descr="76b499643fee34819cb883d90f0351cf">
            <a:extLst>
              <a:ext uri="{FF2B5EF4-FFF2-40B4-BE49-F238E27FC236}">
                <a16:creationId xmlns:a16="http://schemas.microsoft.com/office/drawing/2014/main" id="{1C4FD656-072D-EC41-6C04-A569AFF5B156}"/>
              </a:ext>
            </a:extLst>
          </p:cNvPr>
          <p:cNvPicPr>
            <a:picLocks noChangeAspect="1"/>
          </p:cNvPicPr>
          <p:nvPr/>
        </p:nvPicPr>
        <p:blipFill>
          <a:blip r:embed="rId2"/>
          <a:stretch>
            <a:fillRect/>
          </a:stretch>
        </p:blipFill>
        <p:spPr>
          <a:xfrm>
            <a:off x="10972800" y="0"/>
            <a:ext cx="748030" cy="748030"/>
          </a:xfrm>
          <a:prstGeom prst="rect">
            <a:avLst/>
          </a:prstGeom>
        </p:spPr>
      </p:pic>
      <p:graphicFrame>
        <p:nvGraphicFramePr>
          <p:cNvPr id="13" name="表格 12">
            <a:extLst>
              <a:ext uri="{FF2B5EF4-FFF2-40B4-BE49-F238E27FC236}">
                <a16:creationId xmlns:a16="http://schemas.microsoft.com/office/drawing/2014/main" id="{FC83026E-4E62-97C9-79DD-F66875AE5985}"/>
              </a:ext>
            </a:extLst>
          </p:cNvPr>
          <p:cNvGraphicFramePr>
            <a:graphicFrameLocks noGrp="1"/>
          </p:cNvGraphicFramePr>
          <p:nvPr>
            <p:extLst>
              <p:ext uri="{D42A27DB-BD31-4B8C-83A1-F6EECF244321}">
                <p14:modId xmlns:p14="http://schemas.microsoft.com/office/powerpoint/2010/main" val="4103632954"/>
              </p:ext>
            </p:extLst>
          </p:nvPr>
        </p:nvGraphicFramePr>
        <p:xfrm>
          <a:off x="4232275" y="2459832"/>
          <a:ext cx="6473893" cy="3044146"/>
        </p:xfrm>
        <a:graphic>
          <a:graphicData uri="http://schemas.openxmlformats.org/drawingml/2006/table">
            <a:tbl>
              <a:tblPr/>
              <a:tblGrid>
                <a:gridCol w="537210">
                  <a:extLst>
                    <a:ext uri="{9D8B030D-6E8A-4147-A177-3AD203B41FA5}">
                      <a16:colId xmlns:a16="http://schemas.microsoft.com/office/drawing/2014/main" val="417046603"/>
                    </a:ext>
                  </a:extLst>
                </a:gridCol>
                <a:gridCol w="3738672">
                  <a:extLst>
                    <a:ext uri="{9D8B030D-6E8A-4147-A177-3AD203B41FA5}">
                      <a16:colId xmlns:a16="http://schemas.microsoft.com/office/drawing/2014/main" val="1687701731"/>
                    </a:ext>
                  </a:extLst>
                </a:gridCol>
                <a:gridCol w="1309563">
                  <a:extLst>
                    <a:ext uri="{9D8B030D-6E8A-4147-A177-3AD203B41FA5}">
                      <a16:colId xmlns:a16="http://schemas.microsoft.com/office/drawing/2014/main" val="2800152840"/>
                    </a:ext>
                  </a:extLst>
                </a:gridCol>
                <a:gridCol w="888448">
                  <a:extLst>
                    <a:ext uri="{9D8B030D-6E8A-4147-A177-3AD203B41FA5}">
                      <a16:colId xmlns:a16="http://schemas.microsoft.com/office/drawing/2014/main" val="1282700590"/>
                    </a:ext>
                  </a:extLst>
                </a:gridCol>
              </a:tblGrid>
              <a:tr h="403442">
                <a:tc>
                  <a:txBody>
                    <a:bodyPr/>
                    <a:lstStyle/>
                    <a:p>
                      <a:pPr algn="ctr">
                        <a:buNone/>
                      </a:pPr>
                      <a:r>
                        <a:rPr lang="zh-CN" sz="1400" kern="100" dirty="0">
                          <a:solidFill>
                            <a:srgbClr val="FFFFFF"/>
                          </a:solidFill>
                          <a:effectLst/>
                          <a:latin typeface="Times New Roman" panose="02020603050405020304" pitchFamily="18" charset="0"/>
                          <a:ea typeface="微软雅黑" panose="020B0503020204020204" pitchFamily="34" charset="-122"/>
                        </a:rPr>
                        <a:t>序号</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504D"/>
                    </a:solidFill>
                  </a:tcPr>
                </a:tc>
                <a:tc>
                  <a:txBody>
                    <a:bodyPr/>
                    <a:lstStyle/>
                    <a:p>
                      <a:pPr algn="ctr">
                        <a:buNone/>
                      </a:pPr>
                      <a:r>
                        <a:rPr lang="zh-CN" sz="1400" kern="100">
                          <a:solidFill>
                            <a:srgbClr val="FFFFFF"/>
                          </a:solidFill>
                          <a:effectLst/>
                          <a:latin typeface="Times New Roman" panose="02020603050405020304" pitchFamily="18" charset="0"/>
                          <a:ea typeface="微软雅黑" panose="020B0503020204020204" pitchFamily="34" charset="-122"/>
                        </a:rPr>
                        <a:t>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504D"/>
                    </a:solidFill>
                  </a:tcPr>
                </a:tc>
                <a:tc>
                  <a:txBody>
                    <a:bodyPr/>
                    <a:lstStyle/>
                    <a:p>
                      <a:pPr algn="ctr">
                        <a:buNone/>
                      </a:pPr>
                      <a:r>
                        <a:rPr lang="zh-CN" sz="1400" kern="100">
                          <a:solidFill>
                            <a:srgbClr val="FFFFFF"/>
                          </a:solidFill>
                          <a:effectLst/>
                          <a:latin typeface="Times New Roman" panose="02020603050405020304" pitchFamily="18" charset="0"/>
                          <a:ea typeface="微软雅黑" panose="020B0503020204020204" pitchFamily="34" charset="-122"/>
                          <a:cs typeface="微软雅黑" panose="020B0503020204020204" pitchFamily="34" charset="-122"/>
                        </a:rPr>
                        <a:t>伤亡人数</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504D"/>
                    </a:solidFill>
                  </a:tcPr>
                </a:tc>
                <a:tc>
                  <a:txBody>
                    <a:bodyPr/>
                    <a:lstStyle/>
                    <a:p>
                      <a:pPr algn="ctr">
                        <a:buNone/>
                      </a:pPr>
                      <a:r>
                        <a:rPr lang="zh-CN" sz="1400" kern="100" dirty="0">
                          <a:solidFill>
                            <a:srgbClr val="FFFFFF"/>
                          </a:solidFill>
                          <a:effectLst/>
                          <a:latin typeface="Times New Roman" panose="02020603050405020304" pitchFamily="18" charset="0"/>
                          <a:ea typeface="微软雅黑" panose="020B0503020204020204" pitchFamily="34" charset="-122"/>
                        </a:rPr>
                        <a:t>事故级别</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504D"/>
                    </a:solidFill>
                  </a:tcPr>
                </a:tc>
                <a:extLst>
                  <a:ext uri="{0D108BD9-81ED-4DB2-BD59-A6C34878D82A}">
                    <a16:rowId xmlns:a16="http://schemas.microsoft.com/office/drawing/2014/main" val="236412921"/>
                  </a:ext>
                </a:extLst>
              </a:tr>
              <a:tr h="330088">
                <a:tc>
                  <a:txBody>
                    <a:bodyPr/>
                    <a:lstStyle/>
                    <a:p>
                      <a:pPr algn="ctr">
                        <a:buNone/>
                      </a:pPr>
                      <a:r>
                        <a:rPr lang="en-US" sz="1050" kern="100" dirty="0">
                          <a:effectLst/>
                          <a:latin typeface="Times New Roman" panose="02020603050405020304" pitchFamily="18" charset="0"/>
                          <a:ea typeface="宋体" panose="02010600030101010101" pitchFamily="2" charset="-122"/>
                        </a:rPr>
                        <a:t>1</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dirty="0">
                          <a:effectLst/>
                          <a:latin typeface="Times New Roman" panose="02020603050405020304" pitchFamily="18" charset="0"/>
                          <a:ea typeface="宋体" panose="02010600030101010101" pitchFamily="2" charset="-122"/>
                        </a:rPr>
                        <a:t>内蒙古赤市得丰焦化有限公司</a:t>
                      </a:r>
                      <a:r>
                        <a:rPr lang="en-US" sz="1050" kern="100" dirty="0">
                          <a:effectLst/>
                          <a:latin typeface="Times New Roman" panose="02020603050405020304" pitchFamily="18" charset="0"/>
                          <a:ea typeface="宋体" panose="02010600030101010101" pitchFamily="2" charset="-122"/>
                        </a:rPr>
                        <a:t>“1·19”</a:t>
                      </a:r>
                      <a:r>
                        <a:rPr lang="zh-CN" sz="1050" kern="100" dirty="0">
                          <a:effectLst/>
                          <a:latin typeface="Times New Roman" panose="02020603050405020304" pitchFamily="18" charset="0"/>
                          <a:ea typeface="宋体" panose="02010600030101010101" pitchFamily="2" charset="-122"/>
                        </a:rPr>
                        <a:t>较大爆炸事故</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dirty="0">
                          <a:effectLst/>
                          <a:latin typeface="Times New Roman" panose="02020603050405020304" pitchFamily="18" charset="0"/>
                          <a:ea typeface="宋体" panose="02010600030101010101" pitchFamily="2" charset="-122"/>
                        </a:rPr>
                        <a:t>3</a:t>
                      </a:r>
                      <a:r>
                        <a:rPr lang="zh-CN" sz="1050" kern="100" dirty="0">
                          <a:effectLst/>
                          <a:latin typeface="Times New Roman" panose="02020603050405020304" pitchFamily="18" charset="0"/>
                          <a:ea typeface="宋体" panose="02010600030101010101" pitchFamily="2" charset="-122"/>
                        </a:rPr>
                        <a:t>人死亡</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8793533"/>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2</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四川西艾氟科技有限公司</a:t>
                      </a:r>
                      <a:r>
                        <a:rPr lang="en-US" sz="1050" kern="100">
                          <a:effectLst/>
                          <a:latin typeface="Times New Roman" panose="02020603050405020304" pitchFamily="18" charset="0"/>
                          <a:ea typeface="宋体" panose="02010600030101010101" pitchFamily="2" charset="-122"/>
                        </a:rPr>
                        <a:t>“5·3”</a:t>
                      </a:r>
                      <a:r>
                        <a:rPr lang="zh-CN" sz="1050" kern="100">
                          <a:effectLst/>
                          <a:latin typeface="Times New Roman" panose="02020603050405020304" pitchFamily="18" charset="0"/>
                          <a:ea typeface="宋体" panose="02010600030101010101" pitchFamily="2" charset="-122"/>
                        </a:rPr>
                        <a:t>较大爆炸事故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3</a:t>
                      </a:r>
                      <a:r>
                        <a:rPr lang="zh-CN" sz="1050" kern="100">
                          <a:effectLst/>
                          <a:latin typeface="Times New Roman" panose="02020603050405020304" pitchFamily="18" charset="0"/>
                          <a:ea typeface="宋体" panose="02010600030101010101" pitchFamily="2" charset="-122"/>
                        </a:rPr>
                        <a:t>人死亡</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8638831"/>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3</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dirty="0">
                          <a:effectLst/>
                          <a:latin typeface="Times New Roman" panose="02020603050405020304" pitchFamily="18" charset="0"/>
                          <a:ea typeface="宋体" panose="02010600030101010101" pitchFamily="2" charset="-122"/>
                        </a:rPr>
                        <a:t>湖北雪飞化工有限公司</a:t>
                      </a:r>
                      <a:r>
                        <a:rPr lang="en-US" sz="1050" kern="100" dirty="0">
                          <a:effectLst/>
                          <a:latin typeface="Times New Roman" panose="02020603050405020304" pitchFamily="18" charset="0"/>
                          <a:ea typeface="宋体" panose="02010600030101010101" pitchFamily="2" charset="-122"/>
                        </a:rPr>
                        <a:t>“5·9”</a:t>
                      </a:r>
                      <a:r>
                        <a:rPr lang="zh-CN" sz="1050" kern="100" dirty="0">
                          <a:effectLst/>
                          <a:latin typeface="Times New Roman" panose="02020603050405020304" pitchFamily="18" charset="0"/>
                          <a:ea typeface="宋体" panose="02010600030101010101" pitchFamily="2" charset="-122"/>
                        </a:rPr>
                        <a:t>较大爆炸事故</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3</a:t>
                      </a:r>
                      <a:r>
                        <a:rPr lang="zh-CN" sz="1050" kern="100">
                          <a:effectLst/>
                          <a:latin typeface="Times New Roman" panose="02020603050405020304" pitchFamily="18" charset="0"/>
                          <a:ea typeface="宋体" panose="02010600030101010101" pitchFamily="2" charset="-122"/>
                        </a:rPr>
                        <a:t>人死亡</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5669927"/>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4</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甘肃宏汇能源化工有限公司</a:t>
                      </a:r>
                      <a:r>
                        <a:rPr lang="en-US" sz="1050" kern="100">
                          <a:effectLst/>
                          <a:latin typeface="Times New Roman" panose="02020603050405020304" pitchFamily="18" charset="0"/>
                          <a:ea typeface="宋体" panose="02010600030101010101" pitchFamily="2" charset="-122"/>
                        </a:rPr>
                        <a:t>“6·11”</a:t>
                      </a:r>
                      <a:r>
                        <a:rPr lang="zh-CN" sz="1050" kern="100">
                          <a:effectLst/>
                          <a:latin typeface="Times New Roman" panose="02020603050405020304" pitchFamily="18" charset="0"/>
                          <a:ea typeface="宋体" panose="02010600030101010101" pitchFamily="2" charset="-122"/>
                        </a:rPr>
                        <a:t>较大中毒窒息事故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3</a:t>
                      </a:r>
                      <a:r>
                        <a:rPr lang="zh-CN" sz="1050" kern="100">
                          <a:effectLst/>
                          <a:latin typeface="Times New Roman" panose="02020603050405020304" pitchFamily="18" charset="0"/>
                          <a:ea typeface="宋体" panose="02010600030101010101" pitchFamily="2" charset="-122"/>
                        </a:rPr>
                        <a:t>人死亡</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3367992"/>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5</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安徽滁州市来安县非法生产窝点</a:t>
                      </a:r>
                      <a:r>
                        <a:rPr lang="en-US" sz="1050" kern="100">
                          <a:effectLst/>
                          <a:latin typeface="Times New Roman" panose="02020603050405020304" pitchFamily="18" charset="0"/>
                          <a:ea typeface="宋体" panose="02010600030101010101" pitchFamily="2" charset="-122"/>
                        </a:rPr>
                        <a:t>“6·29”</a:t>
                      </a:r>
                      <a:r>
                        <a:rPr lang="zh-CN" sz="1050" kern="100">
                          <a:effectLst/>
                          <a:latin typeface="Times New Roman" panose="02020603050405020304" pitchFamily="18" charset="0"/>
                          <a:ea typeface="宋体" panose="02010600030101010101" pitchFamily="2" charset="-122"/>
                        </a:rPr>
                        <a:t>较大爆燃事故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4</a:t>
                      </a:r>
                      <a:r>
                        <a:rPr lang="zh-CN" sz="1050" kern="100">
                          <a:effectLst/>
                          <a:latin typeface="Times New Roman" panose="02020603050405020304" pitchFamily="18" charset="0"/>
                          <a:ea typeface="宋体" panose="02010600030101010101" pitchFamily="2" charset="-122"/>
                        </a:rPr>
                        <a:t>人死亡</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6679839"/>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6</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内蒙古乌兰泰安能源化工有限责任公司</a:t>
                      </a:r>
                      <a:r>
                        <a:rPr lang="en-US" sz="1050" kern="100">
                          <a:effectLst/>
                          <a:latin typeface="Times New Roman" panose="02020603050405020304" pitchFamily="18" charset="0"/>
                          <a:ea typeface="宋体" panose="02010600030101010101" pitchFamily="2" charset="-122"/>
                        </a:rPr>
                        <a:t>“4·19”</a:t>
                      </a:r>
                      <a:r>
                        <a:rPr lang="zh-CN" sz="1050" kern="100">
                          <a:effectLst/>
                          <a:latin typeface="Times New Roman" panose="02020603050405020304" pitchFamily="18" charset="0"/>
                          <a:ea typeface="宋体" panose="02010600030101010101" pitchFamily="2" charset="-122"/>
                        </a:rPr>
                        <a:t>较大中毒事故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4</a:t>
                      </a:r>
                      <a:r>
                        <a:rPr lang="zh-CN" sz="1050" kern="100">
                          <a:effectLst/>
                          <a:latin typeface="Times New Roman" panose="02020603050405020304" pitchFamily="18" charset="0"/>
                          <a:ea typeface="宋体" panose="02010600030101010101" pitchFamily="2" charset="-122"/>
                        </a:rPr>
                        <a:t>人死亡，</a:t>
                      </a:r>
                      <a:r>
                        <a:rPr lang="en-US" sz="1050" kern="100">
                          <a:effectLst/>
                          <a:latin typeface="Times New Roman" panose="02020603050405020304" pitchFamily="18" charset="0"/>
                          <a:ea typeface="宋体" panose="02010600030101010101" pitchFamily="2" charset="-122"/>
                        </a:rPr>
                        <a:t>1</a:t>
                      </a:r>
                      <a:r>
                        <a:rPr lang="zh-CN" sz="1050" kern="100">
                          <a:effectLst/>
                          <a:latin typeface="Times New Roman" panose="02020603050405020304" pitchFamily="18" charset="0"/>
                          <a:ea typeface="宋体" panose="02010600030101010101" pitchFamily="2" charset="-122"/>
                        </a:rPr>
                        <a:t>人受伤</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0506968"/>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7</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厦门金达威维生素有限公司</a:t>
                      </a:r>
                      <a:r>
                        <a:rPr lang="en-US" sz="1050" kern="100">
                          <a:effectLst/>
                          <a:latin typeface="Times New Roman" panose="02020603050405020304" pitchFamily="18" charset="0"/>
                          <a:ea typeface="宋体" panose="02010600030101010101" pitchFamily="2" charset="-122"/>
                        </a:rPr>
                        <a:t>“1·11”</a:t>
                      </a:r>
                      <a:r>
                        <a:rPr lang="zh-CN" sz="1050" kern="100">
                          <a:effectLst/>
                          <a:latin typeface="Times New Roman" panose="02020603050405020304" pitchFamily="18" charset="0"/>
                          <a:ea typeface="宋体" panose="02010600030101010101" pitchFamily="2" charset="-122"/>
                        </a:rPr>
                        <a:t>较大闪爆事故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4</a:t>
                      </a:r>
                      <a:r>
                        <a:rPr lang="zh-CN" sz="1050" kern="100">
                          <a:effectLst/>
                          <a:latin typeface="Times New Roman" panose="02020603050405020304" pitchFamily="18" charset="0"/>
                          <a:ea typeface="宋体" panose="02010600030101010101" pitchFamily="2" charset="-122"/>
                        </a:rPr>
                        <a:t>人死亡，</a:t>
                      </a:r>
                      <a:r>
                        <a:rPr lang="en-US" sz="1050" kern="100">
                          <a:effectLst/>
                          <a:latin typeface="Times New Roman" panose="02020603050405020304" pitchFamily="18" charset="0"/>
                          <a:ea typeface="宋体" panose="02010600030101010101" pitchFamily="2" charset="-122"/>
                        </a:rPr>
                        <a:t>6</a:t>
                      </a:r>
                      <a:r>
                        <a:rPr lang="zh-CN" sz="1050" kern="100">
                          <a:effectLst/>
                          <a:latin typeface="Times New Roman" panose="02020603050405020304" pitchFamily="18" charset="0"/>
                          <a:ea typeface="宋体" panose="02010600030101010101" pitchFamily="2" charset="-122"/>
                        </a:rPr>
                        <a:t>人受伤</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1802688"/>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8</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陕西神木市德润碳质还原剂有限公司</a:t>
                      </a:r>
                      <a:r>
                        <a:rPr lang="en-US" sz="1050" kern="100">
                          <a:effectLst/>
                          <a:latin typeface="Times New Roman" panose="02020603050405020304" pitchFamily="18" charset="0"/>
                          <a:ea typeface="宋体" panose="02010600030101010101" pitchFamily="2" charset="-122"/>
                        </a:rPr>
                        <a:t>“11·20”</a:t>
                      </a:r>
                      <a:r>
                        <a:rPr lang="zh-CN" sz="1050" kern="100">
                          <a:effectLst/>
                          <a:latin typeface="Times New Roman" panose="02020603050405020304" pitchFamily="18" charset="0"/>
                          <a:ea typeface="宋体" panose="02010600030101010101" pitchFamily="2" charset="-122"/>
                        </a:rPr>
                        <a:t>较大爆炸事故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5</a:t>
                      </a:r>
                      <a:r>
                        <a:rPr lang="zh-CN" sz="1050" kern="100">
                          <a:effectLst/>
                          <a:latin typeface="Times New Roman" panose="02020603050405020304" pitchFamily="18" charset="0"/>
                          <a:ea typeface="宋体" panose="02010600030101010101" pitchFamily="2" charset="-122"/>
                        </a:rPr>
                        <a:t>人死亡</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dirty="0">
                          <a:effectLst/>
                          <a:latin typeface="Times New Roman" panose="02020603050405020304" pitchFamily="18" charset="0"/>
                          <a:ea typeface="宋体" panose="02010600030101010101" pitchFamily="2" charset="-122"/>
                        </a:rPr>
                        <a:t>较大</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9173320"/>
                  </a:ext>
                </a:extLst>
              </a:tr>
            </a:tbl>
          </a:graphicData>
        </a:graphic>
      </p:graphicFrame>
    </p:spTree>
    <p:extLst>
      <p:ext uri="{BB962C8B-B14F-4D97-AF65-F5344CB8AC3E}">
        <p14:creationId xmlns:p14="http://schemas.microsoft.com/office/powerpoint/2010/main" val="3913485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p:cNvSpPr/>
          <p:nvPr>
            <p:custDataLst>
              <p:tags r:id="rId1"/>
            </p:custDataLst>
          </p:nvPr>
        </p:nvSpPr>
        <p:spPr>
          <a:xfrm rot="5400000" flipH="1">
            <a:off x="6889961" y="3117323"/>
            <a:ext cx="940567" cy="1468942"/>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10000"/>
                  <a:lumMod val="50000"/>
                  <a:lumOff val="50000"/>
                </a:schemeClr>
              </a:gs>
              <a:gs pos="100000">
                <a:schemeClr val="accent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mn-ea"/>
            </a:endParaRPr>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社会现状与需求</a:t>
            </a:r>
          </a:p>
        </p:txBody>
      </p:sp>
      <p:grpSp>
        <p:nvGrpSpPr>
          <p:cNvPr id="20" name="组合 19"/>
          <p:cNvGrpSpPr/>
          <p:nvPr>
            <p:custDataLst>
              <p:tags r:id="rId2"/>
            </p:custDataLst>
          </p:nvPr>
        </p:nvGrpSpPr>
        <p:grpSpPr>
          <a:xfrm>
            <a:off x="8175847" y="1537794"/>
            <a:ext cx="3066472" cy="4379008"/>
            <a:chOff x="8794486" y="1657350"/>
            <a:chExt cx="3066472" cy="4379008"/>
          </a:xfrm>
        </p:grpSpPr>
        <p:sp>
          <p:nvSpPr>
            <p:cNvPr id="17" name="矩形 16"/>
            <p:cNvSpPr/>
            <p:nvPr>
              <p:custDataLst>
                <p:tags r:id="rId5"/>
              </p:custDataLst>
            </p:nvPr>
          </p:nvSpPr>
          <p:spPr>
            <a:xfrm>
              <a:off x="8794486" y="1989832"/>
              <a:ext cx="3066472" cy="404652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custDataLst>
                <p:tags r:id="rId6"/>
              </p:custDataLst>
            </p:nvPr>
          </p:nvSpPr>
          <p:spPr>
            <a:xfrm>
              <a:off x="9288631" y="1657350"/>
              <a:ext cx="2078182" cy="5264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社会需求</a:t>
              </a:r>
            </a:p>
          </p:txBody>
        </p:sp>
      </p:grpSp>
      <p:sp>
        <p:nvSpPr>
          <p:cNvPr id="22" name="文本框 21"/>
          <p:cNvSpPr txBox="1"/>
          <p:nvPr>
            <p:custDataLst>
              <p:tags r:id="rId3"/>
            </p:custDataLst>
          </p:nvPr>
        </p:nvSpPr>
        <p:spPr>
          <a:xfrm>
            <a:off x="8264525" y="2501900"/>
            <a:ext cx="2889250" cy="2995930"/>
          </a:xfrm>
          <a:prstGeom prst="rect">
            <a:avLst/>
          </a:prstGeom>
          <a:noFill/>
        </p:spPr>
        <p:txBody>
          <a:bodyPr wrap="square" rtlCol="0">
            <a:noAutofit/>
          </a:bodyPr>
          <a:lstStyle/>
          <a:p>
            <a:pPr algn="ctr"/>
            <a:r>
              <a:rPr lang="zh-CN" altLang="en-US" sz="1600" b="1" dirty="0">
                <a:latin typeface="微软雅黑" panose="020B0503020204020204" pitchFamily="34" charset="-122"/>
                <a:ea typeface="微软雅黑" panose="020B0503020204020204" pitchFamily="34" charset="-122"/>
              </a:rPr>
              <a:t>在工业生产等场景中，急需一类自主巡检</a:t>
            </a:r>
            <a:r>
              <a:rPr lang="en-US" altLang="zh-CN" sz="1600" b="1" dirty="0">
                <a:latin typeface="微软雅黑" panose="020B0503020204020204" pitchFamily="34" charset="-122"/>
                <a:ea typeface="微软雅黑" panose="020B0503020204020204" pitchFamily="34" charset="-122"/>
              </a:rPr>
              <a:t> + </a:t>
            </a:r>
            <a:r>
              <a:rPr lang="zh-CN" altLang="en-US" sz="1600" b="1" dirty="0">
                <a:latin typeface="微软雅黑" panose="020B0503020204020204" pitchFamily="34" charset="-122"/>
                <a:ea typeface="微软雅黑" panose="020B0503020204020204" pitchFamily="34" charset="-122"/>
              </a:rPr>
              <a:t>智能决策的一体化智能运维系统</a:t>
            </a:r>
          </a:p>
          <a:p>
            <a:pPr marL="285750" indent="-285750">
              <a:buFont typeface="Arial" panose="020B0604020202020204" pitchFamily="34" charset="0"/>
              <a:buChar char="•"/>
            </a:pPr>
            <a:endParaRPr lang="zh-CN" altLang="en-US" sz="1600"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600" b="1" dirty="0">
              <a:latin typeface="微软雅黑" panose="020B0503020204020204" pitchFamily="34" charset="-122"/>
              <a:ea typeface="微软雅黑" panose="020B0503020204020204" pitchFamily="34" charset="-122"/>
            </a:endParaRPr>
          </a:p>
          <a:p>
            <a:pPr algn="ctr"/>
            <a:r>
              <a:rPr lang="zh-CN" altLang="en-US" sz="1600" b="1" dirty="0">
                <a:latin typeface="微软雅黑" panose="020B0503020204020204" pitchFamily="34" charset="-122"/>
                <a:ea typeface="微软雅黑" panose="020B0503020204020204" pitchFamily="34" charset="-122"/>
              </a:rPr>
              <a:t>可代替人工操作的设备，它们能长时间稳定运行，还可在高温、高压且有毒的恶劣环境中正常工作。</a:t>
            </a:r>
          </a:p>
        </p:txBody>
      </p:sp>
      <p:grpSp>
        <p:nvGrpSpPr>
          <p:cNvPr id="26" name="组合 25"/>
          <p:cNvGrpSpPr/>
          <p:nvPr/>
        </p:nvGrpSpPr>
        <p:grpSpPr>
          <a:xfrm>
            <a:off x="-2" y="1537960"/>
            <a:ext cx="2867026" cy="921872"/>
            <a:chOff x="-2" y="1537960"/>
            <a:chExt cx="2867026" cy="921872"/>
          </a:xfrm>
        </p:grpSpPr>
        <p:sp>
          <p:nvSpPr>
            <p:cNvPr id="27" name="矩形 26"/>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直角三角形 27"/>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文本框 28"/>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p>
        </p:txBody>
      </p:sp>
      <p:pic>
        <p:nvPicPr>
          <p:cNvPr id="9" name="图片 8" descr="76b499643fee34819cb883d90f0351cf"/>
          <p:cNvPicPr>
            <a:picLocks noChangeAspect="1"/>
          </p:cNvPicPr>
          <p:nvPr/>
        </p:nvPicPr>
        <p:blipFill>
          <a:blip r:embed="rId8"/>
          <a:stretch>
            <a:fillRect/>
          </a:stretch>
        </p:blipFill>
        <p:spPr>
          <a:xfrm>
            <a:off x="10965180" y="0"/>
            <a:ext cx="748030" cy="748030"/>
          </a:xfrm>
          <a:prstGeom prst="rect">
            <a:avLst/>
          </a:prstGeom>
        </p:spPr>
      </p:pic>
      <p:grpSp>
        <p:nvGrpSpPr>
          <p:cNvPr id="65" name="组合 64"/>
          <p:cNvGrpSpPr/>
          <p:nvPr/>
        </p:nvGrpSpPr>
        <p:grpSpPr>
          <a:xfrm>
            <a:off x="3524885" y="1939290"/>
            <a:ext cx="2651760" cy="4427220"/>
            <a:chOff x="5715" y="2838"/>
            <a:chExt cx="4176" cy="6972"/>
          </a:xfrm>
        </p:grpSpPr>
        <p:grpSp>
          <p:nvGrpSpPr>
            <p:cNvPr id="51" name="组合 50"/>
            <p:cNvGrpSpPr/>
            <p:nvPr/>
          </p:nvGrpSpPr>
          <p:grpSpPr>
            <a:xfrm>
              <a:off x="5715" y="2838"/>
              <a:ext cx="4176" cy="2160"/>
              <a:chOff x="720" y="5544"/>
              <a:chExt cx="4176" cy="2160"/>
            </a:xfrm>
          </p:grpSpPr>
          <p:sp>
            <p:nvSpPr>
              <p:cNvPr id="46" name="Shape 17"/>
              <p:cNvSpPr/>
              <p:nvPr/>
            </p:nvSpPr>
            <p:spPr>
              <a:xfrm>
                <a:off x="720" y="5544"/>
                <a:ext cx="4176" cy="2160"/>
              </a:xfrm>
              <a:prstGeom prst="roundRect">
                <a:avLst/>
              </a:prstGeom>
              <a:solidFill>
                <a:srgbClr val="FFFFFF"/>
              </a:solidFill>
              <a:effectLst>
                <a:outerShdw blurRad="76200" dist="25400" dir="2700000" algn="bl" rotWithShape="0">
                  <a:srgbClr val="000000">
                    <a:alpha val="8000"/>
                  </a:srgbClr>
                </a:outerShdw>
              </a:effectLst>
            </p:spPr>
          </p:sp>
          <p:sp>
            <p:nvSpPr>
              <p:cNvPr id="47" name="Shape 18"/>
              <p:cNvSpPr/>
              <p:nvPr/>
            </p:nvSpPr>
            <p:spPr>
              <a:xfrm>
                <a:off x="720" y="5544"/>
                <a:ext cx="86" cy="2160"/>
              </a:xfrm>
              <a:prstGeom prst="rect">
                <a:avLst/>
              </a:prstGeom>
              <a:solidFill>
                <a:srgbClr val="DD6B20"/>
              </a:solidFill>
            </p:spPr>
          </p:sp>
          <p:sp>
            <p:nvSpPr>
              <p:cNvPr id="49" name="Text 20"/>
              <p:cNvSpPr/>
              <p:nvPr/>
            </p:nvSpPr>
            <p:spPr>
              <a:xfrm>
                <a:off x="1790" y="5832"/>
                <a:ext cx="2121" cy="504"/>
              </a:xfrm>
              <a:prstGeom prst="rect">
                <a:avLst/>
              </a:prstGeom>
              <a:noFill/>
            </p:spPr>
            <p:txBody>
              <a:bodyPr wrap="square" rtlCol="0" anchor="ctr"/>
              <a:lstStyle/>
              <a:p>
                <a:pPr marL="0" indent="0">
                  <a:buNone/>
                </a:pPr>
                <a:r>
                  <a:rPr lang="en-US" b="1" dirty="0">
                    <a:solidFill>
                      <a:srgbClr val="1A202C"/>
                    </a:solidFill>
                    <a:latin typeface="微软雅黑" panose="020B0503020204020204" pitchFamily="34" charset="-122"/>
                    <a:ea typeface="微软雅黑" panose="020B0503020204020204" pitchFamily="34" charset="-122"/>
                    <a:cs typeface="微软雅黑" panose="020B0503020204020204" pitchFamily="34" charset="-120"/>
                  </a:rPr>
                  <a:t>全天候困难</a:t>
                </a:r>
                <a:endParaRPr lang="en-US" dirty="0"/>
              </a:p>
            </p:txBody>
          </p:sp>
          <p:sp>
            <p:nvSpPr>
              <p:cNvPr id="50" name="Text 21"/>
              <p:cNvSpPr/>
              <p:nvPr/>
            </p:nvSpPr>
            <p:spPr>
              <a:xfrm>
                <a:off x="1050" y="6464"/>
                <a:ext cx="3600" cy="1152"/>
              </a:xfrm>
              <a:prstGeom prst="rect">
                <a:avLst/>
              </a:prstGeom>
              <a:noFill/>
            </p:spPr>
            <p:txBody>
              <a:bodyPr wrap="square" rtlCol="0" anchor="t"/>
              <a:lstStyle/>
              <a:p>
                <a:pPr marL="0" indent="0" algn="ctr">
                  <a:buNone/>
                </a:pPr>
                <a:r>
                  <a:rPr lang="en-US" sz="14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0"/>
                  </a:rPr>
                  <a:t>人工无法实现24小时不间断巡检监控</a:t>
                </a:r>
                <a:endParaRPr lang="en-US" sz="1400" dirty="0">
                  <a:solidFill>
                    <a:schemeClr val="bg2">
                      <a:lumMod val="25000"/>
                    </a:schemeClr>
                  </a:solidFill>
                </a:endParaRPr>
              </a:p>
            </p:txBody>
          </p:sp>
        </p:grpSp>
        <p:grpSp>
          <p:nvGrpSpPr>
            <p:cNvPr id="57" name="组合 56"/>
            <p:cNvGrpSpPr/>
            <p:nvPr/>
          </p:nvGrpSpPr>
          <p:grpSpPr>
            <a:xfrm>
              <a:off x="5715" y="5283"/>
              <a:ext cx="4176" cy="2160"/>
              <a:chOff x="5184" y="5544"/>
              <a:chExt cx="4176" cy="2160"/>
            </a:xfrm>
          </p:grpSpPr>
          <p:sp>
            <p:nvSpPr>
              <p:cNvPr id="52" name="Shape 22"/>
              <p:cNvSpPr/>
              <p:nvPr/>
            </p:nvSpPr>
            <p:spPr>
              <a:xfrm>
                <a:off x="5184" y="5544"/>
                <a:ext cx="4176" cy="2160"/>
              </a:xfrm>
              <a:prstGeom prst="roundRect">
                <a:avLst/>
              </a:prstGeom>
              <a:solidFill>
                <a:srgbClr val="FFFFFF"/>
              </a:solidFill>
              <a:effectLst>
                <a:outerShdw blurRad="76200" dist="25400" dir="2700000" algn="bl" rotWithShape="0">
                  <a:srgbClr val="000000">
                    <a:alpha val="8000"/>
                  </a:srgbClr>
                </a:outerShdw>
              </a:effectLst>
            </p:spPr>
          </p:sp>
          <p:sp>
            <p:nvSpPr>
              <p:cNvPr id="53" name="Shape 23"/>
              <p:cNvSpPr/>
              <p:nvPr/>
            </p:nvSpPr>
            <p:spPr>
              <a:xfrm>
                <a:off x="5184" y="5544"/>
                <a:ext cx="86" cy="2160"/>
              </a:xfrm>
              <a:prstGeom prst="rect">
                <a:avLst/>
              </a:prstGeom>
              <a:solidFill>
                <a:srgbClr val="3182CE"/>
              </a:solidFill>
            </p:spPr>
          </p:sp>
          <p:sp>
            <p:nvSpPr>
              <p:cNvPr id="55" name="Text 25"/>
              <p:cNvSpPr/>
              <p:nvPr/>
            </p:nvSpPr>
            <p:spPr>
              <a:xfrm>
                <a:off x="6076" y="5760"/>
                <a:ext cx="2478" cy="504"/>
              </a:xfrm>
              <a:prstGeom prst="rect">
                <a:avLst/>
              </a:prstGeom>
              <a:noFill/>
            </p:spPr>
            <p:txBody>
              <a:bodyPr wrap="square" rtlCol="0" anchor="ctr"/>
              <a:lstStyle/>
              <a:p>
                <a:pPr marL="0" indent="0">
                  <a:buNone/>
                </a:pPr>
                <a:r>
                  <a:rPr lang="en-US" b="1" dirty="0">
                    <a:solidFill>
                      <a:srgbClr val="1A202C"/>
                    </a:solidFill>
                    <a:latin typeface="微软雅黑" panose="020B0503020204020204" pitchFamily="34" charset="-122"/>
                    <a:ea typeface="微软雅黑" panose="020B0503020204020204" pitchFamily="34" charset="-122"/>
                    <a:cs typeface="微软雅黑" panose="020B0503020204020204" pitchFamily="34" charset="-120"/>
                  </a:rPr>
                  <a:t>恶劣环境危险</a:t>
                </a:r>
                <a:endParaRPr lang="en-US" dirty="0"/>
              </a:p>
            </p:txBody>
          </p:sp>
          <p:sp>
            <p:nvSpPr>
              <p:cNvPr id="56" name="Text 26"/>
              <p:cNvSpPr/>
              <p:nvPr/>
            </p:nvSpPr>
            <p:spPr>
              <a:xfrm>
                <a:off x="5534" y="6412"/>
                <a:ext cx="3600" cy="1152"/>
              </a:xfrm>
              <a:prstGeom prst="rect">
                <a:avLst/>
              </a:prstGeom>
              <a:noFill/>
            </p:spPr>
            <p:txBody>
              <a:bodyPr wrap="square" rtlCol="0" anchor="t"/>
              <a:lstStyle/>
              <a:p>
                <a:pPr marL="0" indent="0" algn="ctr">
                  <a:buNone/>
                </a:pPr>
                <a:r>
                  <a:rPr lang="en-US" sz="14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0"/>
                  </a:rPr>
                  <a:t>高温、高压、有毒气体等环境威胁人身安全</a:t>
                </a:r>
                <a:endParaRPr lang="en-US" sz="1400" dirty="0">
                  <a:solidFill>
                    <a:schemeClr val="bg2">
                      <a:lumMod val="25000"/>
                    </a:schemeClr>
                  </a:solidFill>
                </a:endParaRPr>
              </a:p>
            </p:txBody>
          </p:sp>
        </p:grpSp>
        <p:grpSp>
          <p:nvGrpSpPr>
            <p:cNvPr id="58" name="组合 57"/>
            <p:cNvGrpSpPr/>
            <p:nvPr/>
          </p:nvGrpSpPr>
          <p:grpSpPr>
            <a:xfrm>
              <a:off x="5715" y="7650"/>
              <a:ext cx="4176" cy="2160"/>
              <a:chOff x="9648" y="5544"/>
              <a:chExt cx="4176" cy="2160"/>
            </a:xfrm>
          </p:grpSpPr>
          <p:sp>
            <p:nvSpPr>
              <p:cNvPr id="59" name="Shape 27"/>
              <p:cNvSpPr/>
              <p:nvPr/>
            </p:nvSpPr>
            <p:spPr>
              <a:xfrm>
                <a:off x="9648" y="5544"/>
                <a:ext cx="4176" cy="2160"/>
              </a:xfrm>
              <a:prstGeom prst="roundRect">
                <a:avLst/>
              </a:prstGeom>
              <a:solidFill>
                <a:srgbClr val="FFFFFF"/>
              </a:solidFill>
              <a:effectLst>
                <a:outerShdw blurRad="76200" dist="25400" dir="2700000" algn="bl" rotWithShape="0">
                  <a:srgbClr val="000000">
                    <a:alpha val="8000"/>
                  </a:srgbClr>
                </a:outerShdw>
              </a:effectLst>
            </p:spPr>
            <p:txBody>
              <a:bodyPr/>
              <a:lstStyle/>
              <a:p>
                <a:endParaRPr lang="zh-CN" altLang="en-US" dirty="0"/>
              </a:p>
            </p:txBody>
          </p:sp>
          <p:sp>
            <p:nvSpPr>
              <p:cNvPr id="60" name="Shape 28"/>
              <p:cNvSpPr/>
              <p:nvPr/>
            </p:nvSpPr>
            <p:spPr>
              <a:xfrm>
                <a:off x="9648" y="5544"/>
                <a:ext cx="86" cy="2160"/>
              </a:xfrm>
              <a:prstGeom prst="rect">
                <a:avLst/>
              </a:prstGeom>
              <a:solidFill>
                <a:srgbClr val="38A169"/>
              </a:solidFill>
            </p:spPr>
          </p:sp>
          <p:sp>
            <p:nvSpPr>
              <p:cNvPr id="62" name="Text 30"/>
              <p:cNvSpPr/>
              <p:nvPr/>
            </p:nvSpPr>
            <p:spPr>
              <a:xfrm>
                <a:off x="10479" y="5813"/>
                <a:ext cx="2506" cy="504"/>
              </a:xfrm>
              <a:prstGeom prst="rect">
                <a:avLst/>
              </a:prstGeom>
              <a:noFill/>
            </p:spPr>
            <p:txBody>
              <a:bodyPr wrap="square" rtlCol="0" anchor="ctr"/>
              <a:lstStyle/>
              <a:p>
                <a:pPr marL="0" indent="0">
                  <a:buNone/>
                </a:pPr>
                <a:r>
                  <a:rPr lang="en-US" b="1" dirty="0">
                    <a:solidFill>
                      <a:srgbClr val="1A202C"/>
                    </a:solidFill>
                    <a:latin typeface="微软雅黑" panose="020B0503020204020204" pitchFamily="34" charset="-122"/>
                    <a:ea typeface="微软雅黑" panose="020B0503020204020204" pitchFamily="34" charset="-122"/>
                    <a:cs typeface="微软雅黑" panose="020B0503020204020204" pitchFamily="34" charset="-120"/>
                  </a:rPr>
                  <a:t>主观判断易漏</a:t>
                </a:r>
                <a:endParaRPr lang="en-US" dirty="0"/>
              </a:p>
            </p:txBody>
          </p:sp>
          <p:sp>
            <p:nvSpPr>
              <p:cNvPr id="63" name="Text 31"/>
              <p:cNvSpPr/>
              <p:nvPr/>
            </p:nvSpPr>
            <p:spPr>
              <a:xfrm>
                <a:off x="9816" y="6434"/>
                <a:ext cx="3662" cy="1152"/>
              </a:xfrm>
              <a:prstGeom prst="rect">
                <a:avLst/>
              </a:prstGeom>
              <a:noFill/>
            </p:spPr>
            <p:txBody>
              <a:bodyPr wrap="square" rtlCol="0" anchor="t"/>
              <a:lstStyle/>
              <a:p>
                <a:pPr marL="0" indent="0" algn="ctr">
                  <a:buNone/>
                </a:pPr>
                <a:r>
                  <a:rPr lang="en-US" sz="1400" dirty="0">
                    <a:solidFill>
                      <a:schemeClr val="bg2">
                        <a:lumMod val="25000"/>
                      </a:schemeClr>
                    </a:solidFill>
                    <a:latin typeface="微软雅黑" panose="020B0503020204020204" pitchFamily="34" charset="-122"/>
                    <a:ea typeface="微软雅黑" panose="020B0503020204020204" pitchFamily="34" charset="-122"/>
                    <a:cs typeface="微软雅黑" panose="020B0503020204020204" pitchFamily="34" charset="-120"/>
                  </a:rPr>
                  <a:t>依赖经验判断，异常检出率不稳定</a:t>
                </a:r>
                <a:endParaRPr lang="en-US" sz="1400" dirty="0">
                  <a:solidFill>
                    <a:schemeClr val="bg2">
                      <a:lumMod val="25000"/>
                    </a:schemeClr>
                  </a:solidFill>
                </a:endParaRPr>
              </a:p>
            </p:txBody>
          </p:sp>
        </p:grpSp>
      </p:grpSp>
      <p:sp>
        <p:nvSpPr>
          <p:cNvPr id="64" name="矩形: 圆角 17"/>
          <p:cNvSpPr/>
          <p:nvPr>
            <p:custDataLst>
              <p:tags r:id="rId4"/>
            </p:custDataLst>
          </p:nvPr>
        </p:nvSpPr>
        <p:spPr>
          <a:xfrm>
            <a:off x="3811607" y="1504139"/>
            <a:ext cx="2078182" cy="5264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社会痛点</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国内外研究进展</a:t>
            </a:r>
          </a:p>
        </p:txBody>
      </p:sp>
      <p:sp>
        <p:nvSpPr>
          <p:cNvPr id="25" name="矩形 24"/>
          <p:cNvSpPr/>
          <p:nvPr/>
        </p:nvSpPr>
        <p:spPr>
          <a:xfrm>
            <a:off x="4076700" y="3596412"/>
            <a:ext cx="7289800" cy="130910"/>
          </a:xfrm>
          <a:prstGeom prst="rect">
            <a:avLst/>
          </a:prstGeom>
          <a:gradFill flip="none" rotWithShape="1">
            <a:gsLst>
              <a:gs pos="0">
                <a:schemeClr val="accent1">
                  <a:lumMod val="50000"/>
                  <a:lumOff val="50000"/>
                  <a:alpha val="50000"/>
                </a:schemeClr>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5400000">
            <a:off x="11188190" y="3492053"/>
            <a:ext cx="393969" cy="33962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4857821" y="3468124"/>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4943498" y="3553801"/>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2867024" y="3785484"/>
            <a:ext cx="1325104" cy="369332"/>
          </a:xfrm>
          <a:prstGeom prst="rect">
            <a:avLst/>
          </a:prstGeom>
          <a:noFill/>
        </p:spPr>
        <p:txBody>
          <a:bodyPr wrap="square" rtlCol="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rPr>
              <a:t>重要节点</a:t>
            </a:r>
          </a:p>
        </p:txBody>
      </p:sp>
      <p:sp>
        <p:nvSpPr>
          <p:cNvPr id="34" name="对话气泡: 矩形 33"/>
          <p:cNvSpPr/>
          <p:nvPr/>
        </p:nvSpPr>
        <p:spPr>
          <a:xfrm>
            <a:off x="3660856" y="1157979"/>
            <a:ext cx="2901834" cy="1914537"/>
          </a:xfrm>
          <a:prstGeom prst="wedgeRectCallout">
            <a:avLst>
              <a:gd name="adj1" fmla="val -5008"/>
              <a:gd name="adj2" fmla="val 6803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7320245" y="3465241"/>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7405922" y="3559173"/>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对话气泡: 矩形 55"/>
          <p:cNvSpPr/>
          <p:nvPr/>
        </p:nvSpPr>
        <p:spPr>
          <a:xfrm>
            <a:off x="5720715" y="4356100"/>
            <a:ext cx="2901950" cy="1565275"/>
          </a:xfrm>
          <a:prstGeom prst="wedgeRectCallout">
            <a:avLst>
              <a:gd name="adj1" fmla="val 11750"/>
              <a:gd name="adj2" fmla="val -6931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10000100" y="3468124"/>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10085777" y="3553801"/>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对话气泡: 矩形 71"/>
          <p:cNvSpPr/>
          <p:nvPr/>
        </p:nvSpPr>
        <p:spPr>
          <a:xfrm>
            <a:off x="8089981" y="1168137"/>
            <a:ext cx="2901834" cy="1914537"/>
          </a:xfrm>
          <a:prstGeom prst="wedgeRectCallout">
            <a:avLst>
              <a:gd name="adj1" fmla="val 21291"/>
              <a:gd name="adj2" fmla="val 6450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图形 32" descr="事件"/>
          <p:cNvGrpSpPr/>
          <p:nvPr/>
        </p:nvGrpSpPr>
        <p:grpSpPr>
          <a:xfrm>
            <a:off x="3293485" y="3315331"/>
            <a:ext cx="472181" cy="468123"/>
            <a:chOff x="3293485" y="3315331"/>
            <a:chExt cx="472181" cy="468123"/>
          </a:xfrm>
          <a:solidFill>
            <a:schemeClr val="accent1"/>
          </a:solidFill>
        </p:grpSpPr>
        <p:sp>
          <p:nvSpPr>
            <p:cNvPr id="10" name="任意多边形: 形状 9"/>
            <p:cNvSpPr/>
            <p:nvPr/>
          </p:nvSpPr>
          <p:spPr>
            <a:xfrm>
              <a:off x="3293485" y="3315331"/>
              <a:ext cx="472181" cy="468123"/>
            </a:xfrm>
            <a:custGeom>
              <a:avLst/>
              <a:gdLst>
                <a:gd name="connsiteX0" fmla="*/ 236091 w 472181"/>
                <a:gd name="connsiteY0" fmla="*/ 0 h 468123"/>
                <a:gd name="connsiteX1" fmla="*/ 0 w 472181"/>
                <a:gd name="connsiteY1" fmla="*/ 234062 h 468123"/>
                <a:gd name="connsiteX2" fmla="*/ 236091 w 472181"/>
                <a:gd name="connsiteY2" fmla="*/ 468123 h 468123"/>
                <a:gd name="connsiteX3" fmla="*/ 472181 w 472181"/>
                <a:gd name="connsiteY3" fmla="*/ 234062 h 468123"/>
                <a:gd name="connsiteX4" fmla="*/ 236091 w 472181"/>
                <a:gd name="connsiteY4" fmla="*/ 0 h 468123"/>
                <a:gd name="connsiteX5" fmla="*/ 236091 w 472181"/>
                <a:gd name="connsiteY5" fmla="*/ 410115 h 468123"/>
                <a:gd name="connsiteX6" fmla="*/ 59023 w 472181"/>
                <a:gd name="connsiteY6" fmla="*/ 234062 h 468123"/>
                <a:gd name="connsiteX7" fmla="*/ 236091 w 472181"/>
                <a:gd name="connsiteY7" fmla="*/ 59023 h 468123"/>
                <a:gd name="connsiteX8" fmla="*/ 413158 w 472181"/>
                <a:gd name="connsiteY8" fmla="*/ 234062 h 468123"/>
                <a:gd name="connsiteX9" fmla="*/ 236091 w 472181"/>
                <a:gd name="connsiteY9" fmla="*/ 410115 h 46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181" h="468123">
                  <a:moveTo>
                    <a:pt x="236091" y="0"/>
                  </a:moveTo>
                  <a:cubicBezTo>
                    <a:pt x="105835" y="0"/>
                    <a:pt x="0" y="105835"/>
                    <a:pt x="0" y="234062"/>
                  </a:cubicBezTo>
                  <a:cubicBezTo>
                    <a:pt x="0" y="362288"/>
                    <a:pt x="105835" y="468123"/>
                    <a:pt x="236091" y="468123"/>
                  </a:cubicBezTo>
                  <a:cubicBezTo>
                    <a:pt x="366346" y="468123"/>
                    <a:pt x="472181" y="364317"/>
                    <a:pt x="472181" y="234062"/>
                  </a:cubicBezTo>
                  <a:cubicBezTo>
                    <a:pt x="472181" y="103806"/>
                    <a:pt x="366346" y="0"/>
                    <a:pt x="236091" y="0"/>
                  </a:cubicBezTo>
                  <a:moveTo>
                    <a:pt x="236091" y="410115"/>
                  </a:moveTo>
                  <a:cubicBezTo>
                    <a:pt x="138390" y="410115"/>
                    <a:pt x="59023" y="331763"/>
                    <a:pt x="59023" y="234062"/>
                  </a:cubicBezTo>
                  <a:cubicBezTo>
                    <a:pt x="59023" y="136361"/>
                    <a:pt x="138390" y="59023"/>
                    <a:pt x="236091" y="59023"/>
                  </a:cubicBezTo>
                  <a:cubicBezTo>
                    <a:pt x="333791" y="59023"/>
                    <a:pt x="413158" y="138390"/>
                    <a:pt x="413158" y="234062"/>
                  </a:cubicBezTo>
                  <a:cubicBezTo>
                    <a:pt x="413158" y="329734"/>
                    <a:pt x="333773" y="410115"/>
                    <a:pt x="236091" y="410115"/>
                  </a:cubicBezTo>
                </a:path>
              </a:pathLst>
            </a:custGeom>
            <a:solidFill>
              <a:schemeClr val="accent1"/>
            </a:solidFill>
            <a:ln w="0" cap="flat">
              <a:noFill/>
              <a:prstDash val="solid"/>
              <a:miter/>
            </a:ln>
          </p:spPr>
          <p:txBody>
            <a:bodyPr rtlCol="0" anchor="ctr"/>
            <a:lstStyle/>
            <a:p>
              <a:endParaRPr lang="zh-CN" altLang="en-US"/>
            </a:p>
          </p:txBody>
        </p:sp>
        <p:sp>
          <p:nvSpPr>
            <p:cNvPr id="11" name="任意多边形: 形状 10"/>
            <p:cNvSpPr/>
            <p:nvPr/>
          </p:nvSpPr>
          <p:spPr>
            <a:xfrm>
              <a:off x="3505154" y="3421166"/>
              <a:ext cx="141105" cy="219803"/>
            </a:xfrm>
            <a:custGeom>
              <a:avLst/>
              <a:gdLst>
                <a:gd name="connsiteX0" fmla="*/ 136361 w 141105"/>
                <a:gd name="connsiteY0" fmla="*/ 181144 h 219803"/>
                <a:gd name="connsiteX1" fmla="*/ 43751 w 141105"/>
                <a:gd name="connsiteY1" fmla="*/ 118045 h 219803"/>
                <a:gd name="connsiteX2" fmla="*/ 43751 w 141105"/>
                <a:gd name="connsiteY2" fmla="*/ 10181 h 219803"/>
                <a:gd name="connsiteX3" fmla="*/ 42736 w 141105"/>
                <a:gd name="connsiteY3" fmla="*/ 4076 h 219803"/>
                <a:gd name="connsiteX4" fmla="*/ 34584 w 141105"/>
                <a:gd name="connsiteY4" fmla="*/ 0 h 219803"/>
                <a:gd name="connsiteX5" fmla="*/ 10163 w 141105"/>
                <a:gd name="connsiteY5" fmla="*/ 0 h 219803"/>
                <a:gd name="connsiteX6" fmla="*/ 2029 w 141105"/>
                <a:gd name="connsiteY6" fmla="*/ 4076 h 219803"/>
                <a:gd name="connsiteX7" fmla="*/ 0 w 141105"/>
                <a:gd name="connsiteY7" fmla="*/ 10181 h 219803"/>
                <a:gd name="connsiteX8" fmla="*/ 0 w 141105"/>
                <a:gd name="connsiteY8" fmla="*/ 137394 h 219803"/>
                <a:gd name="connsiteX9" fmla="*/ 2029 w 141105"/>
                <a:gd name="connsiteY9" fmla="*/ 143499 h 219803"/>
                <a:gd name="connsiteX10" fmla="*/ 5072 w 141105"/>
                <a:gd name="connsiteY10" fmla="*/ 145528 h 219803"/>
                <a:gd name="connsiteX11" fmla="*/ 111922 w 141105"/>
                <a:gd name="connsiteY11" fmla="*/ 218790 h 219803"/>
                <a:gd name="connsiteX12" fmla="*/ 119041 w 141105"/>
                <a:gd name="connsiteY12" fmla="*/ 219804 h 219803"/>
                <a:gd name="connsiteX13" fmla="*/ 120056 w 141105"/>
                <a:gd name="connsiteY13" fmla="*/ 219804 h 219803"/>
                <a:gd name="connsiteX14" fmla="*/ 127175 w 141105"/>
                <a:gd name="connsiteY14" fmla="*/ 215728 h 219803"/>
                <a:gd name="connsiteX15" fmla="*/ 139386 w 141105"/>
                <a:gd name="connsiteY15" fmla="*/ 194350 h 219803"/>
                <a:gd name="connsiteX16" fmla="*/ 136342 w 141105"/>
                <a:gd name="connsiteY16" fmla="*/ 181126 h 219803"/>
                <a:gd name="connsiteX17" fmla="*/ 136361 w 141105"/>
                <a:gd name="connsiteY17" fmla="*/ 181144 h 21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05" h="219803">
                  <a:moveTo>
                    <a:pt x="136361" y="181144"/>
                  </a:moveTo>
                  <a:lnTo>
                    <a:pt x="43751" y="118045"/>
                  </a:lnTo>
                  <a:lnTo>
                    <a:pt x="43751" y="10181"/>
                  </a:lnTo>
                  <a:cubicBezTo>
                    <a:pt x="43751" y="7120"/>
                    <a:pt x="43751" y="5091"/>
                    <a:pt x="42736" y="4076"/>
                  </a:cubicBezTo>
                  <a:cubicBezTo>
                    <a:pt x="40707" y="2047"/>
                    <a:pt x="37645" y="0"/>
                    <a:pt x="34584" y="0"/>
                  </a:cubicBezTo>
                  <a:lnTo>
                    <a:pt x="10163" y="0"/>
                  </a:lnTo>
                  <a:cubicBezTo>
                    <a:pt x="7120" y="0"/>
                    <a:pt x="5072" y="2029"/>
                    <a:pt x="2029" y="4076"/>
                  </a:cubicBezTo>
                  <a:cubicBezTo>
                    <a:pt x="0" y="5091"/>
                    <a:pt x="0" y="7138"/>
                    <a:pt x="0" y="10181"/>
                  </a:cubicBezTo>
                  <a:lnTo>
                    <a:pt x="0" y="137394"/>
                  </a:lnTo>
                  <a:cubicBezTo>
                    <a:pt x="0" y="140437"/>
                    <a:pt x="0" y="142484"/>
                    <a:pt x="2029" y="143499"/>
                  </a:cubicBezTo>
                  <a:cubicBezTo>
                    <a:pt x="3381" y="144851"/>
                    <a:pt x="4395" y="145528"/>
                    <a:pt x="5072" y="145528"/>
                  </a:cubicBezTo>
                  <a:lnTo>
                    <a:pt x="111922" y="218790"/>
                  </a:lnTo>
                  <a:cubicBezTo>
                    <a:pt x="113951" y="219804"/>
                    <a:pt x="117012" y="219804"/>
                    <a:pt x="119041" y="219804"/>
                  </a:cubicBezTo>
                  <a:lnTo>
                    <a:pt x="120056" y="219804"/>
                  </a:lnTo>
                  <a:cubicBezTo>
                    <a:pt x="123099" y="218790"/>
                    <a:pt x="125146" y="216742"/>
                    <a:pt x="127175" y="215728"/>
                  </a:cubicBezTo>
                  <a:lnTo>
                    <a:pt x="139386" y="194350"/>
                  </a:lnTo>
                  <a:cubicBezTo>
                    <a:pt x="142447" y="189260"/>
                    <a:pt x="141415" y="183155"/>
                    <a:pt x="136342" y="181126"/>
                  </a:cubicBezTo>
                  <a:lnTo>
                    <a:pt x="136361" y="181144"/>
                  </a:lnTo>
                  <a:close/>
                </a:path>
              </a:pathLst>
            </a:custGeom>
            <a:solidFill>
              <a:schemeClr val="accent1"/>
            </a:solidFill>
            <a:ln w="0" cap="flat">
              <a:noFill/>
              <a:prstDash val="solid"/>
              <a:miter/>
            </a:ln>
          </p:spPr>
          <p:txBody>
            <a:bodyPr rtlCol="0" anchor="ctr"/>
            <a:lstStyle/>
            <a:p>
              <a:endParaRPr lang="zh-CN" altLang="en-US"/>
            </a:p>
          </p:txBody>
        </p:sp>
      </p:grpSp>
      <p:pic>
        <p:nvPicPr>
          <p:cNvPr id="3" name="图片 2" descr="76b499643fee34819cb883d90f0351cf"/>
          <p:cNvPicPr>
            <a:picLocks noChangeAspect="1"/>
          </p:cNvPicPr>
          <p:nvPr/>
        </p:nvPicPr>
        <p:blipFill>
          <a:blip r:embed="rId2"/>
          <a:stretch>
            <a:fillRect/>
          </a:stretch>
        </p:blipFill>
        <p:spPr>
          <a:xfrm>
            <a:off x="10965180" y="0"/>
            <a:ext cx="748030" cy="748030"/>
          </a:xfrm>
          <a:prstGeom prst="rect">
            <a:avLst/>
          </a:prstGeom>
        </p:spPr>
      </p:pic>
      <p:sp>
        <p:nvSpPr>
          <p:cNvPr id="13" name="文本框 12"/>
          <p:cNvSpPr txBox="1"/>
          <p:nvPr/>
        </p:nvSpPr>
        <p:spPr>
          <a:xfrm>
            <a:off x="3792855" y="1252855"/>
            <a:ext cx="2507615" cy="368300"/>
          </a:xfrm>
          <a:prstGeom prst="rect">
            <a:avLst/>
          </a:prstGeom>
          <a:noFill/>
        </p:spPr>
        <p:txBody>
          <a:bodyPr wrap="square" rtlCol="0">
            <a:spAutoFit/>
          </a:bodyPr>
          <a:lstStyle/>
          <a:p>
            <a:pPr algn="ctr"/>
            <a:r>
              <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sym typeface="+mn-ea"/>
              </a:rPr>
              <a:t>工业机器人巡检</a:t>
            </a:r>
            <a:endParaRPr lang="zh-CN" altLang="en-US"/>
          </a:p>
        </p:txBody>
      </p:sp>
      <p:sp>
        <p:nvSpPr>
          <p:cNvPr id="18" name="文本框 17"/>
          <p:cNvSpPr txBox="1"/>
          <p:nvPr/>
        </p:nvSpPr>
        <p:spPr>
          <a:xfrm>
            <a:off x="8240395" y="1287780"/>
            <a:ext cx="2621915" cy="368300"/>
          </a:xfrm>
          <a:prstGeom prst="rect">
            <a:avLst/>
          </a:prstGeom>
          <a:noFill/>
        </p:spPr>
        <p:txBody>
          <a:bodyPr wrap="square" rtlCol="0">
            <a:spAutoFit/>
          </a:bodyPr>
          <a:lstStyle/>
          <a:p>
            <a:pPr algn="ctr"/>
            <a:r>
              <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sym typeface="+mn-ea"/>
              </a:rPr>
              <a:t>工业异常检测</a:t>
            </a:r>
            <a:endParaRPr lang="zh-CN" altLang="en-US"/>
          </a:p>
        </p:txBody>
      </p:sp>
      <p:sp>
        <p:nvSpPr>
          <p:cNvPr id="19" name="文本框 18"/>
          <p:cNvSpPr txBox="1"/>
          <p:nvPr/>
        </p:nvSpPr>
        <p:spPr>
          <a:xfrm>
            <a:off x="6022975" y="4625975"/>
            <a:ext cx="2298065" cy="368300"/>
          </a:xfrm>
          <a:prstGeom prst="rect">
            <a:avLst/>
          </a:prstGeom>
          <a:noFill/>
        </p:spPr>
        <p:txBody>
          <a:bodyPr wrap="square" rtlCol="0">
            <a:spAutoFit/>
          </a:bodyPr>
          <a:lstStyle/>
          <a:p>
            <a:pPr algn="ctr"/>
            <a:r>
              <a:rPr lang="en-US"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sym typeface="+mn-ea"/>
              </a:rPr>
              <a:t>智能运维决策</a:t>
            </a:r>
            <a:endParaRPr lang="zh-CN" altLang="en-US" dirty="0"/>
          </a:p>
        </p:txBody>
      </p:sp>
      <p:sp>
        <p:nvSpPr>
          <p:cNvPr id="20" name="文本框 19"/>
          <p:cNvSpPr txBox="1"/>
          <p:nvPr/>
        </p:nvSpPr>
        <p:spPr>
          <a:xfrm>
            <a:off x="3660775" y="1715770"/>
            <a:ext cx="2901950" cy="922020"/>
          </a:xfrm>
          <a:prstGeom prst="rect">
            <a:avLst/>
          </a:prstGeom>
          <a:noFill/>
        </p:spPr>
        <p:txBody>
          <a:bodyPr wrap="square" rtlCol="0">
            <a:spAutoFit/>
          </a:bodyPr>
          <a:lstStyle/>
          <a:p>
            <a:r>
              <a:rPr 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0"/>
                <a:sym typeface="+mn-ea"/>
              </a:rPr>
              <a:t>固定轨道巡检</a:t>
            </a:r>
          </a:p>
          <a:p>
            <a:r>
              <a:rPr 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0"/>
                <a:sym typeface="+mn-ea"/>
              </a:rPr>
              <a:t>自主移动机器人</a:t>
            </a:r>
            <a:endParaRPr lang="en-US" dirty="0"/>
          </a:p>
          <a:p>
            <a:r>
              <a:rPr lang="zh-CN" altLang="en-US"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0"/>
                <a:sym typeface="+mn-ea"/>
              </a:rPr>
              <a:t>缺乏深层的语义理解能力</a:t>
            </a:r>
          </a:p>
        </p:txBody>
      </p:sp>
      <p:sp>
        <p:nvSpPr>
          <p:cNvPr id="23" name="文本框 22"/>
          <p:cNvSpPr txBox="1"/>
          <p:nvPr/>
        </p:nvSpPr>
        <p:spPr>
          <a:xfrm>
            <a:off x="6034405" y="5233670"/>
            <a:ext cx="2647950" cy="368300"/>
          </a:xfrm>
          <a:prstGeom prst="rect">
            <a:avLst/>
          </a:prstGeom>
          <a:noFill/>
        </p:spPr>
        <p:txBody>
          <a:bodyPr wrap="square" rtlCol="0">
            <a:spAutoFit/>
          </a:bodyPr>
          <a:lstStyle/>
          <a:p>
            <a:endParaRPr lang="zh-CN" altLang="en-US"/>
          </a:p>
        </p:txBody>
      </p:sp>
      <p:sp>
        <p:nvSpPr>
          <p:cNvPr id="26" name="文本框 25"/>
          <p:cNvSpPr txBox="1"/>
          <p:nvPr/>
        </p:nvSpPr>
        <p:spPr>
          <a:xfrm>
            <a:off x="5907405" y="5106670"/>
            <a:ext cx="2647950" cy="368300"/>
          </a:xfrm>
          <a:prstGeom prst="rect">
            <a:avLst/>
          </a:prstGeom>
          <a:noFill/>
        </p:spPr>
        <p:txBody>
          <a:bodyPr wrap="square" rtlCol="0">
            <a:spAutoFit/>
          </a:bodyPr>
          <a:lstStyle/>
          <a:p>
            <a:endParaRPr lang="zh-CN" altLang="en-US"/>
          </a:p>
        </p:txBody>
      </p:sp>
      <p:sp>
        <p:nvSpPr>
          <p:cNvPr id="30" name="文本框 29"/>
          <p:cNvSpPr txBox="1"/>
          <p:nvPr/>
        </p:nvSpPr>
        <p:spPr>
          <a:xfrm>
            <a:off x="5916295" y="5053965"/>
            <a:ext cx="2516505" cy="922020"/>
          </a:xfrm>
          <a:prstGeom prst="rect">
            <a:avLst/>
          </a:prstGeom>
          <a:noFill/>
        </p:spPr>
        <p:txBody>
          <a:bodyPr wrap="square" rtlCol="0">
            <a:spAutoFit/>
          </a:bodyPr>
          <a:lstStyle/>
          <a:p>
            <a:r>
              <a:rPr 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0"/>
                <a:sym typeface="+mn-ea"/>
              </a:rPr>
              <a:t>规则专家系统</a:t>
            </a:r>
          </a:p>
          <a:p>
            <a:r>
              <a:rPr lang="zh-CN" altLang="en-US" b="1" dirty="0">
                <a:solidFill>
                  <a:srgbClr val="00B0F0"/>
                </a:solidFill>
              </a:rPr>
              <a:t>缺乏可解释性</a:t>
            </a:r>
          </a:p>
          <a:p>
            <a:endParaRPr lang="zh-CN" altLang="en-US" b="1" dirty="0">
              <a:solidFill>
                <a:srgbClr val="00B0F0"/>
              </a:solidFill>
            </a:endParaRPr>
          </a:p>
        </p:txBody>
      </p:sp>
      <p:sp>
        <p:nvSpPr>
          <p:cNvPr id="33" name="文本框 32"/>
          <p:cNvSpPr txBox="1"/>
          <p:nvPr/>
        </p:nvSpPr>
        <p:spPr>
          <a:xfrm>
            <a:off x="8096250" y="1621155"/>
            <a:ext cx="2895600" cy="1476375"/>
          </a:xfrm>
          <a:prstGeom prst="rect">
            <a:avLst/>
          </a:prstGeom>
          <a:noFill/>
        </p:spPr>
        <p:txBody>
          <a:bodyPr wrap="square" rtlCol="0">
            <a:spAutoFit/>
          </a:bodyPr>
          <a:lstStyle/>
          <a:p>
            <a:r>
              <a:rPr lang="zh-CN" altLang="en-US" dirty="0">
                <a:solidFill>
                  <a:schemeClr val="bg1"/>
                </a:solidFill>
              </a:rPr>
              <a:t>多模态大模型驱动的演进</a:t>
            </a:r>
          </a:p>
          <a:p>
            <a:r>
              <a:rPr lang="en-US" altLang="zh-CN" dirty="0">
                <a:solidFill>
                  <a:schemeClr val="bg1"/>
                </a:solidFill>
              </a:rPr>
              <a:t>0</a:t>
            </a:r>
            <a:r>
              <a:rPr lang="zh-CN" altLang="en-US" dirty="0">
                <a:solidFill>
                  <a:schemeClr val="bg1"/>
                </a:solidFill>
              </a:rPr>
              <a:t>样本的异常定位与描述</a:t>
            </a:r>
            <a:endParaRPr lang="zh-CN" altLang="en-US" dirty="0"/>
          </a:p>
          <a:p>
            <a:r>
              <a:rPr lang="zh-CN" altLang="en-US" b="1" dirty="0">
                <a:solidFill>
                  <a:srgbClr val="00B0F0"/>
                </a:solidFill>
              </a:rPr>
              <a:t>缺乏与机器人系统的有效集成</a:t>
            </a:r>
            <a:endParaRPr lang="zh-CN" altLang="en-US" b="1" dirty="0"/>
          </a:p>
          <a:p>
            <a:endParaRPr lang="zh-CN" altLang="en-US" b="1" dirty="0"/>
          </a:p>
        </p:txBody>
      </p:sp>
      <p:sp>
        <p:nvSpPr>
          <p:cNvPr id="7" name="矩形 6">
            <a:extLst>
              <a:ext uri="{FF2B5EF4-FFF2-40B4-BE49-F238E27FC236}">
                <a16:creationId xmlns:a16="http://schemas.microsoft.com/office/drawing/2014/main" id="{E37B341A-E3F1-F5EB-7827-5F18DCE62A51}"/>
              </a:ext>
            </a:extLst>
          </p:cNvPr>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CC28A1EA-EA9F-6A6C-B64E-5D682351AF0B}"/>
              </a:ext>
            </a:extLst>
          </p:cNvPr>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22" name="文本框 21">
            <a:extLst>
              <a:ext uri="{FF2B5EF4-FFF2-40B4-BE49-F238E27FC236}">
                <a16:creationId xmlns:a16="http://schemas.microsoft.com/office/drawing/2014/main" id="{292DF48F-5CD0-9204-E556-4D4694DC6AC2}"/>
              </a:ext>
            </a:extLst>
          </p:cNvPr>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24" name="文本框 23">
            <a:extLst>
              <a:ext uri="{FF2B5EF4-FFF2-40B4-BE49-F238E27FC236}">
                <a16:creationId xmlns:a16="http://schemas.microsoft.com/office/drawing/2014/main" id="{741682E0-C6B6-5302-A093-9A4E6567BD59}"/>
              </a:ext>
            </a:extLst>
          </p:cNvPr>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p>
        </p:txBody>
      </p:sp>
      <p:sp>
        <p:nvSpPr>
          <p:cNvPr id="32" name="文本框 31">
            <a:extLst>
              <a:ext uri="{FF2B5EF4-FFF2-40B4-BE49-F238E27FC236}">
                <a16:creationId xmlns:a16="http://schemas.microsoft.com/office/drawing/2014/main" id="{31F5AA6E-A358-6509-FA15-46F3B2A7AEE1}"/>
              </a:ext>
            </a:extLst>
          </p:cNvPr>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35" name="文本框 34">
            <a:extLst>
              <a:ext uri="{FF2B5EF4-FFF2-40B4-BE49-F238E27FC236}">
                <a16:creationId xmlns:a16="http://schemas.microsoft.com/office/drawing/2014/main" id="{9222CD7C-983A-1F66-4190-2E61DF95F606}"/>
              </a:ext>
            </a:extLst>
          </p:cNvPr>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grpSp>
        <p:nvGrpSpPr>
          <p:cNvPr id="37" name="组合 36">
            <a:extLst>
              <a:ext uri="{FF2B5EF4-FFF2-40B4-BE49-F238E27FC236}">
                <a16:creationId xmlns:a16="http://schemas.microsoft.com/office/drawing/2014/main" id="{336EDB68-ED4A-4B56-BD15-E120D1454B55}"/>
              </a:ext>
            </a:extLst>
          </p:cNvPr>
          <p:cNvGrpSpPr/>
          <p:nvPr/>
        </p:nvGrpSpPr>
        <p:grpSpPr>
          <a:xfrm>
            <a:off x="-2" y="1537960"/>
            <a:ext cx="2867026" cy="921872"/>
            <a:chOff x="-2" y="1537960"/>
            <a:chExt cx="2867026" cy="921872"/>
          </a:xfrm>
        </p:grpSpPr>
        <p:sp>
          <p:nvSpPr>
            <p:cNvPr id="38" name="矩形 37">
              <a:extLst>
                <a:ext uri="{FF2B5EF4-FFF2-40B4-BE49-F238E27FC236}">
                  <a16:creationId xmlns:a16="http://schemas.microsoft.com/office/drawing/2014/main" id="{545CB3FD-59C9-920D-1A01-F1126A8348D8}"/>
                </a:ext>
              </a:extLst>
            </p:cNvPr>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直角三角形 38">
              <a:extLst>
                <a:ext uri="{FF2B5EF4-FFF2-40B4-BE49-F238E27FC236}">
                  <a16:creationId xmlns:a16="http://schemas.microsoft.com/office/drawing/2014/main" id="{6C84D541-3345-1713-464C-DBD8FC3F4EF5}"/>
                </a:ext>
              </a:extLst>
            </p:cNvPr>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文本框 39">
            <a:extLst>
              <a:ext uri="{FF2B5EF4-FFF2-40B4-BE49-F238E27FC236}">
                <a16:creationId xmlns:a16="http://schemas.microsoft.com/office/drawing/2014/main" id="{559224BC-C07A-CFCC-0A71-C644859ABC9E}"/>
              </a:ext>
            </a:extLst>
          </p:cNvPr>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866811" y="3241747"/>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p:cNvSpPr txBox="1"/>
          <p:nvPr/>
        </p:nvSpPr>
        <p:spPr>
          <a:xfrm>
            <a:off x="3920411" y="2686616"/>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02</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326368" y="3311695"/>
            <a:ext cx="4119335" cy="954107"/>
          </a:xfrm>
          <a:prstGeom prst="rect">
            <a:avLst/>
          </a:prstGeom>
          <a:noFill/>
        </p:spPr>
        <p:txBody>
          <a:bodyPr wrap="square" rtlCol="0">
            <a:spAutoFit/>
          </a:bodyPr>
          <a:lstStyle/>
          <a:p>
            <a:r>
              <a:rPr lang="zh-CN" altLang="en-US" sz="3600" b="1" dirty="0">
                <a:solidFill>
                  <a:schemeClr val="bg1"/>
                </a:solidFill>
              </a:rPr>
              <a:t>目的与意义</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Purpose and significance</a:t>
            </a: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42866A1D-4656-AB04-7DD1-324B187DAD55}"/>
              </a:ext>
            </a:extLst>
          </p:cNvPr>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18FC046C-241F-36C3-9BEC-974CA20A1E8A}"/>
              </a:ext>
            </a:extLst>
          </p:cNvPr>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grpSp>
        <p:nvGrpSpPr>
          <p:cNvPr id="6" name="组合 5">
            <a:extLst>
              <a:ext uri="{FF2B5EF4-FFF2-40B4-BE49-F238E27FC236}">
                <a16:creationId xmlns:a16="http://schemas.microsoft.com/office/drawing/2014/main" id="{1348CF8C-226B-2123-4AE4-0BC0A186D815}"/>
              </a:ext>
            </a:extLst>
          </p:cNvPr>
          <p:cNvGrpSpPr/>
          <p:nvPr/>
        </p:nvGrpSpPr>
        <p:grpSpPr>
          <a:xfrm>
            <a:off x="0" y="1657350"/>
            <a:ext cx="2866390" cy="4495165"/>
            <a:chOff x="0" y="2610"/>
            <a:chExt cx="4514" cy="7079"/>
          </a:xfrm>
        </p:grpSpPr>
        <p:sp>
          <p:nvSpPr>
            <p:cNvPr id="7" name="文本框 6">
              <a:extLst>
                <a:ext uri="{FF2B5EF4-FFF2-40B4-BE49-F238E27FC236}">
                  <a16:creationId xmlns:a16="http://schemas.microsoft.com/office/drawing/2014/main" id="{582CE3A5-F0C7-22CB-23AE-C8217EB23839}"/>
                </a:ext>
              </a:extLst>
            </p:cNvPr>
            <p:cNvSpPr txBox="1"/>
            <p:nvPr/>
          </p:nvSpPr>
          <p:spPr>
            <a:xfrm>
              <a:off x="855" y="6962"/>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8" name="文本框 7">
              <a:extLst>
                <a:ext uri="{FF2B5EF4-FFF2-40B4-BE49-F238E27FC236}">
                  <a16:creationId xmlns:a16="http://schemas.microsoft.com/office/drawing/2014/main" id="{A5D29554-A5FA-222F-187E-DB3E112201C4}"/>
                </a:ext>
              </a:extLst>
            </p:cNvPr>
            <p:cNvSpPr txBox="1"/>
            <p:nvPr/>
          </p:nvSpPr>
          <p:spPr>
            <a:xfrm>
              <a:off x="855" y="8865"/>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9" name="文本框 8">
              <a:extLst>
                <a:ext uri="{FF2B5EF4-FFF2-40B4-BE49-F238E27FC236}">
                  <a16:creationId xmlns:a16="http://schemas.microsoft.com/office/drawing/2014/main" id="{F589D34E-2326-D0E6-BCCC-03709C602E09}"/>
                </a:ext>
              </a:extLst>
            </p:cNvPr>
            <p:cNvSpPr txBox="1"/>
            <p:nvPr/>
          </p:nvSpPr>
          <p:spPr>
            <a:xfrm>
              <a:off x="1005" y="2610"/>
              <a:ext cx="2880" cy="824"/>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grpSp>
          <p:nvGrpSpPr>
            <p:cNvPr id="10" name="组合 9">
              <a:extLst>
                <a:ext uri="{FF2B5EF4-FFF2-40B4-BE49-F238E27FC236}">
                  <a16:creationId xmlns:a16="http://schemas.microsoft.com/office/drawing/2014/main" id="{899AFDCE-B374-5BD2-ACFD-8A1531E229F2}"/>
                </a:ext>
              </a:extLst>
            </p:cNvPr>
            <p:cNvGrpSpPr/>
            <p:nvPr/>
          </p:nvGrpSpPr>
          <p:grpSpPr>
            <a:xfrm>
              <a:off x="0" y="4684"/>
              <a:ext cx="4515" cy="1452"/>
              <a:chOff x="-2" y="1537960"/>
              <a:chExt cx="2867026" cy="921872"/>
            </a:xfrm>
          </p:grpSpPr>
          <p:sp>
            <p:nvSpPr>
              <p:cNvPr id="12" name="矩形 11">
                <a:extLst>
                  <a:ext uri="{FF2B5EF4-FFF2-40B4-BE49-F238E27FC236}">
                    <a16:creationId xmlns:a16="http://schemas.microsoft.com/office/drawing/2014/main" id="{F6F66833-6084-FE25-FD08-2EC91FED87F3}"/>
                  </a:ext>
                </a:extLst>
              </p:cNvPr>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直角三角形 19">
                <a:extLst>
                  <a:ext uri="{FF2B5EF4-FFF2-40B4-BE49-F238E27FC236}">
                    <a16:creationId xmlns:a16="http://schemas.microsoft.com/office/drawing/2014/main" id="{A244D06E-FF1B-2B0F-271D-7DEA28C0F5BD}"/>
                  </a:ext>
                </a:extLst>
              </p:cNvPr>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AEECD7E9-909C-07D9-DA7D-D7A20F14E16C}"/>
                </a:ext>
              </a:extLst>
            </p:cNvPr>
            <p:cNvSpPr txBox="1"/>
            <p:nvPr/>
          </p:nvSpPr>
          <p:spPr>
            <a:xfrm>
              <a:off x="855" y="4890"/>
              <a:ext cx="3180" cy="824"/>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B614FD19-3E4B-8D2B-456B-E17ABB4910B1}"/>
              </a:ext>
            </a:extLst>
          </p:cNvPr>
          <p:cNvPicPr>
            <a:picLocks noChangeAspect="1"/>
          </p:cNvPicPr>
          <p:nvPr/>
        </p:nvPicPr>
        <p:blipFill>
          <a:blip r:embed="rId2"/>
          <a:stretch>
            <a:fillRect/>
          </a:stretch>
        </p:blipFill>
        <p:spPr>
          <a:xfrm>
            <a:off x="6349877" y="2748813"/>
            <a:ext cx="2394302" cy="1587908"/>
          </a:xfrm>
          <a:prstGeom prst="rect">
            <a:avLst/>
          </a:prstGeom>
        </p:spPr>
      </p:pic>
      <p:pic>
        <p:nvPicPr>
          <p:cNvPr id="8" name="图片 7">
            <a:extLst>
              <a:ext uri="{FF2B5EF4-FFF2-40B4-BE49-F238E27FC236}">
                <a16:creationId xmlns:a16="http://schemas.microsoft.com/office/drawing/2014/main" id="{130B73AA-02C8-B8DC-8021-59D871707391}"/>
              </a:ext>
            </a:extLst>
          </p:cNvPr>
          <p:cNvPicPr>
            <a:picLocks noChangeAspect="1"/>
          </p:cNvPicPr>
          <p:nvPr/>
        </p:nvPicPr>
        <p:blipFill>
          <a:blip r:embed="rId3"/>
          <a:stretch>
            <a:fillRect/>
          </a:stretch>
        </p:blipFill>
        <p:spPr>
          <a:xfrm>
            <a:off x="3369311" y="1499260"/>
            <a:ext cx="2378365" cy="1900458"/>
          </a:xfrm>
          <a:prstGeom prst="rect">
            <a:avLst/>
          </a:prstGeom>
        </p:spPr>
      </p:pic>
      <p:pic>
        <p:nvPicPr>
          <p:cNvPr id="3" name="图片 2" descr="图神经网络（11）— 在知识图谱上推理_知识图谱推理-CSDN博客">
            <a:extLst>
              <a:ext uri="{FF2B5EF4-FFF2-40B4-BE49-F238E27FC236}">
                <a16:creationId xmlns:a16="http://schemas.microsoft.com/office/drawing/2014/main" id="{27CB4E3C-2B3F-34E6-C5F3-E5A026EC9B61}"/>
              </a:ext>
            </a:extLst>
          </p:cNvPr>
          <p:cNvPicPr>
            <a:picLocks noChangeAspect="1"/>
          </p:cNvPicPr>
          <p:nvPr/>
        </p:nvPicPr>
        <p:blipFill>
          <a:blip r:embed="rId4"/>
          <a:stretch>
            <a:fillRect/>
          </a:stretch>
        </p:blipFill>
        <p:spPr>
          <a:xfrm>
            <a:off x="9388638" y="1392727"/>
            <a:ext cx="2378364" cy="1783435"/>
          </a:xfrm>
          <a:prstGeom prst="rect">
            <a:avLst/>
          </a:prstGeom>
        </p:spPr>
      </p:pic>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研究目的</a:t>
            </a:r>
          </a:p>
        </p:txBody>
      </p:sp>
      <p:sp>
        <p:nvSpPr>
          <p:cNvPr id="26" name="矩形 25"/>
          <p:cNvSpPr/>
          <p:nvPr/>
        </p:nvSpPr>
        <p:spPr>
          <a:xfrm>
            <a:off x="3209212" y="3575541"/>
            <a:ext cx="2752115" cy="167138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6205487" y="4523773"/>
            <a:ext cx="2752115" cy="169615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7296469" y="1581168"/>
            <a:ext cx="1231261" cy="953135"/>
          </a:xfrm>
          <a:prstGeom prst="rect">
            <a:avLst/>
          </a:prstGeom>
          <a:noFill/>
        </p:spPr>
        <p:txBody>
          <a:bodyPr wrap="square" rtlCol="0">
            <a:spAutoFit/>
          </a:bodyPr>
          <a:lstStyle/>
          <a:p>
            <a:pPr algn="ctr"/>
            <a:r>
              <a:rPr lang="zh-CN" altLang="en-US" sz="2800" b="1" dirty="0">
                <a:solidFill>
                  <a:schemeClr val="accent1"/>
                </a:solidFill>
                <a:latin typeface="微软雅黑" panose="020B0503020204020204" pitchFamily="34" charset="-122"/>
                <a:ea typeface="微软雅黑" panose="020B0503020204020204" pitchFamily="34" charset="-122"/>
              </a:rPr>
              <a:t>三大</a:t>
            </a:r>
            <a:endParaRPr lang="en-US" altLang="zh-CN" sz="2800" b="1" dirty="0">
              <a:solidFill>
                <a:schemeClr val="accent1"/>
              </a:solidFill>
              <a:latin typeface="微软雅黑" panose="020B0503020204020204" pitchFamily="34" charset="-122"/>
              <a:ea typeface="微软雅黑" panose="020B0503020204020204" pitchFamily="34" charset="-122"/>
            </a:endParaRPr>
          </a:p>
          <a:p>
            <a:pPr algn="ctr"/>
            <a:r>
              <a:rPr lang="zh-CN" altLang="en-US" sz="2800" b="1" dirty="0">
                <a:solidFill>
                  <a:schemeClr val="accent1"/>
                </a:solidFill>
                <a:latin typeface="微软雅黑" panose="020B0503020204020204" pitchFamily="34" charset="-122"/>
                <a:ea typeface="微软雅黑" panose="020B0503020204020204" pitchFamily="34" charset="-122"/>
              </a:rPr>
              <a:t>挑战</a:t>
            </a:r>
          </a:p>
        </p:txBody>
      </p:sp>
      <p:sp>
        <p:nvSpPr>
          <p:cNvPr id="34" name="矩形 33"/>
          <p:cNvSpPr/>
          <p:nvPr/>
        </p:nvSpPr>
        <p:spPr>
          <a:xfrm>
            <a:off x="9201762" y="3575541"/>
            <a:ext cx="2752115" cy="167138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3209212" y="3575541"/>
            <a:ext cx="2752115" cy="11940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6205487" y="4521795"/>
            <a:ext cx="2752115" cy="1016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9201761" y="3579894"/>
            <a:ext cx="2752115" cy="1016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3271512" y="3870774"/>
            <a:ext cx="2576078" cy="1014730"/>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多模态感知数据的时空对齐与融合机制。如何有效融合视觉、听觉、时序等多源异构数据，实现跨模态的语义对齐与互补增强，是构建可靠感知系统的核心挑战。</a:t>
            </a:r>
          </a:p>
        </p:txBody>
      </p:sp>
      <p:sp>
        <p:nvSpPr>
          <p:cNvPr id="39" name="文本框 38"/>
          <p:cNvSpPr txBox="1"/>
          <p:nvPr/>
        </p:nvSpPr>
        <p:spPr>
          <a:xfrm>
            <a:off x="6303514" y="4822500"/>
            <a:ext cx="2576078" cy="829945"/>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边缘端大模型的实时推理与精度平衡。如何在资源受限的边缘计算平台上实现大模型的高效推理，在保证检测精度的同时满足实时性要求。</a:t>
            </a:r>
          </a:p>
        </p:txBody>
      </p:sp>
      <p:sp>
        <p:nvSpPr>
          <p:cNvPr id="40" name="文本框 39"/>
          <p:cNvSpPr txBox="1"/>
          <p:nvPr/>
        </p:nvSpPr>
        <p:spPr>
          <a:xfrm>
            <a:off x="9299789" y="3869814"/>
            <a:ext cx="2576078" cy="1014730"/>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知识驱动与数据驱动的协同决策机制。如何将知识图谱中的结构化领域知识与大模型的数据驱动推理能力有效融合，实现既准确又可解释的智能决策。</a:t>
            </a:r>
          </a:p>
        </p:txBody>
      </p:sp>
      <p:grpSp>
        <p:nvGrpSpPr>
          <p:cNvPr id="41" name="图形 31" descr="研究"/>
          <p:cNvGrpSpPr/>
          <p:nvPr/>
        </p:nvGrpSpPr>
        <p:grpSpPr>
          <a:xfrm>
            <a:off x="6750777" y="1670854"/>
            <a:ext cx="602093" cy="744969"/>
            <a:chOff x="6750777" y="1670854"/>
            <a:chExt cx="602093" cy="744969"/>
          </a:xfrm>
          <a:solidFill>
            <a:schemeClr val="accent1"/>
          </a:solidFill>
        </p:grpSpPr>
        <p:sp>
          <p:nvSpPr>
            <p:cNvPr id="42" name="任意多边形: 形状 41"/>
            <p:cNvSpPr/>
            <p:nvPr/>
          </p:nvSpPr>
          <p:spPr>
            <a:xfrm>
              <a:off x="6750777" y="1672874"/>
              <a:ext cx="600075" cy="742950"/>
            </a:xfrm>
            <a:custGeom>
              <a:avLst/>
              <a:gdLst>
                <a:gd name="connsiteX0" fmla="*/ 600075 w 600075"/>
                <a:gd name="connsiteY0" fmla="*/ 228600 h 742950"/>
                <a:gd name="connsiteX1" fmla="*/ 414338 w 600075"/>
                <a:gd name="connsiteY1" fmla="*/ 228600 h 742950"/>
                <a:gd name="connsiteX2" fmla="*/ 371475 w 600075"/>
                <a:gd name="connsiteY2" fmla="*/ 185738 h 742950"/>
                <a:gd name="connsiteX3" fmla="*/ 371475 w 600075"/>
                <a:gd name="connsiteY3" fmla="*/ 0 h 742950"/>
                <a:gd name="connsiteX4" fmla="*/ 42863 w 600075"/>
                <a:gd name="connsiteY4" fmla="*/ 0 h 742950"/>
                <a:gd name="connsiteX5" fmla="*/ 0 w 600075"/>
                <a:gd name="connsiteY5" fmla="*/ 42863 h 742950"/>
                <a:gd name="connsiteX6" fmla="*/ 0 w 600075"/>
                <a:gd name="connsiteY6" fmla="*/ 700088 h 742950"/>
                <a:gd name="connsiteX7" fmla="*/ 42863 w 600075"/>
                <a:gd name="connsiteY7" fmla="*/ 742950 h 742950"/>
                <a:gd name="connsiteX8" fmla="*/ 557213 w 600075"/>
                <a:gd name="connsiteY8" fmla="*/ 742950 h 742950"/>
                <a:gd name="connsiteX9" fmla="*/ 600075 w 600075"/>
                <a:gd name="connsiteY9" fmla="*/ 700088 h 742950"/>
                <a:gd name="connsiteX10" fmla="*/ 600075 w 600075"/>
                <a:gd name="connsiteY10" fmla="*/ 228600 h 742950"/>
                <a:gd name="connsiteX11" fmla="*/ 285750 w 600075"/>
                <a:gd name="connsiteY11" fmla="*/ 228600 h 742950"/>
                <a:gd name="connsiteX12" fmla="*/ 457200 w 600075"/>
                <a:gd name="connsiteY12" fmla="*/ 400050 h 742950"/>
                <a:gd name="connsiteX13" fmla="*/ 285750 w 600075"/>
                <a:gd name="connsiteY13" fmla="*/ 571500 h 742950"/>
                <a:gd name="connsiteX14" fmla="*/ 114300 w 600075"/>
                <a:gd name="connsiteY14" fmla="*/ 400050 h 742950"/>
                <a:gd name="connsiteX15" fmla="*/ 285750 w 600075"/>
                <a:gd name="connsiteY15" fmla="*/ 228600 h 742950"/>
                <a:gd name="connsiteX16" fmla="*/ 285750 w 600075"/>
                <a:gd name="connsiteY16" fmla="*/ 285750 h 742950"/>
                <a:gd name="connsiteX17" fmla="*/ 171450 w 600075"/>
                <a:gd name="connsiteY17" fmla="*/ 400050 h 742950"/>
                <a:gd name="connsiteX18" fmla="*/ 285750 w 600075"/>
                <a:gd name="connsiteY18" fmla="*/ 514350 h 742950"/>
                <a:gd name="connsiteX19" fmla="*/ 400050 w 600075"/>
                <a:gd name="connsiteY19" fmla="*/ 400050 h 742950"/>
                <a:gd name="connsiteX20" fmla="*/ 285750 w 600075"/>
                <a:gd name="connsiteY20" fmla="*/ 285750 h 742950"/>
                <a:gd name="connsiteX21" fmla="*/ 536288 w 600075"/>
                <a:gd name="connsiteY21" fmla="*/ 636301 h 742950"/>
                <a:gd name="connsiteX22" fmla="*/ 495876 w 600075"/>
                <a:gd name="connsiteY22" fmla="*/ 636301 h 742950"/>
                <a:gd name="connsiteX23" fmla="*/ 435262 w 600075"/>
                <a:gd name="connsiteY23" fmla="*/ 575686 h 742950"/>
                <a:gd name="connsiteX24" fmla="*/ 435262 w 600075"/>
                <a:gd name="connsiteY24" fmla="*/ 535274 h 742950"/>
                <a:gd name="connsiteX25" fmla="*/ 475674 w 600075"/>
                <a:gd name="connsiteY25" fmla="*/ 535274 h 742950"/>
                <a:gd name="connsiteX26" fmla="*/ 536288 w 600075"/>
                <a:gd name="connsiteY26" fmla="*/ 595889 h 742950"/>
                <a:gd name="connsiteX27" fmla="*/ 536288 w 600075"/>
                <a:gd name="connsiteY27" fmla="*/ 636301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0075" h="742950">
                  <a:moveTo>
                    <a:pt x="600075" y="228600"/>
                  </a:moveTo>
                  <a:lnTo>
                    <a:pt x="414338" y="228600"/>
                  </a:lnTo>
                  <a:cubicBezTo>
                    <a:pt x="390667" y="228600"/>
                    <a:pt x="371475" y="209410"/>
                    <a:pt x="371475" y="185738"/>
                  </a:cubicBezTo>
                  <a:lnTo>
                    <a:pt x="371475" y="0"/>
                  </a:lnTo>
                  <a:lnTo>
                    <a:pt x="42863" y="0"/>
                  </a:lnTo>
                  <a:cubicBezTo>
                    <a:pt x="19190" y="0"/>
                    <a:pt x="0" y="19190"/>
                    <a:pt x="0" y="42863"/>
                  </a:cubicBezTo>
                  <a:lnTo>
                    <a:pt x="0" y="700088"/>
                  </a:lnTo>
                  <a:cubicBezTo>
                    <a:pt x="0" y="723758"/>
                    <a:pt x="19190" y="742950"/>
                    <a:pt x="42863" y="742950"/>
                  </a:cubicBezTo>
                  <a:lnTo>
                    <a:pt x="557213" y="742950"/>
                  </a:lnTo>
                  <a:cubicBezTo>
                    <a:pt x="580883" y="742950"/>
                    <a:pt x="600075" y="723758"/>
                    <a:pt x="600075" y="700088"/>
                  </a:cubicBezTo>
                  <a:lnTo>
                    <a:pt x="600075" y="228600"/>
                  </a:lnTo>
                  <a:moveTo>
                    <a:pt x="285750" y="228600"/>
                  </a:moveTo>
                  <a:cubicBezTo>
                    <a:pt x="380440" y="228600"/>
                    <a:pt x="457200" y="305360"/>
                    <a:pt x="457200" y="400050"/>
                  </a:cubicBezTo>
                  <a:cubicBezTo>
                    <a:pt x="457200" y="494740"/>
                    <a:pt x="380440" y="571500"/>
                    <a:pt x="285750" y="571500"/>
                  </a:cubicBezTo>
                  <a:cubicBezTo>
                    <a:pt x="191060" y="571500"/>
                    <a:pt x="114300" y="494740"/>
                    <a:pt x="114300" y="400050"/>
                  </a:cubicBezTo>
                  <a:cubicBezTo>
                    <a:pt x="114300" y="305360"/>
                    <a:pt x="191060" y="228600"/>
                    <a:pt x="285750" y="228600"/>
                  </a:cubicBezTo>
                  <a:moveTo>
                    <a:pt x="285750" y="285750"/>
                  </a:moveTo>
                  <a:cubicBezTo>
                    <a:pt x="222624" y="285750"/>
                    <a:pt x="171450" y="336924"/>
                    <a:pt x="171450" y="400050"/>
                  </a:cubicBezTo>
                  <a:cubicBezTo>
                    <a:pt x="171450" y="463176"/>
                    <a:pt x="222624" y="514350"/>
                    <a:pt x="285750" y="514350"/>
                  </a:cubicBezTo>
                  <a:cubicBezTo>
                    <a:pt x="348876" y="514350"/>
                    <a:pt x="400050" y="463176"/>
                    <a:pt x="400050" y="400050"/>
                  </a:cubicBezTo>
                  <a:cubicBezTo>
                    <a:pt x="400050" y="336924"/>
                    <a:pt x="348876" y="285750"/>
                    <a:pt x="285750" y="285750"/>
                  </a:cubicBezTo>
                  <a:moveTo>
                    <a:pt x="536288" y="636301"/>
                  </a:moveTo>
                  <a:cubicBezTo>
                    <a:pt x="525130" y="647460"/>
                    <a:pt x="507038" y="647460"/>
                    <a:pt x="495876" y="636301"/>
                  </a:cubicBezTo>
                  <a:lnTo>
                    <a:pt x="435262" y="575686"/>
                  </a:lnTo>
                  <a:cubicBezTo>
                    <a:pt x="424103" y="564524"/>
                    <a:pt x="424103" y="546433"/>
                    <a:pt x="435262" y="535274"/>
                  </a:cubicBezTo>
                  <a:cubicBezTo>
                    <a:pt x="446420" y="524115"/>
                    <a:pt x="464512" y="524115"/>
                    <a:pt x="475674" y="535274"/>
                  </a:cubicBezTo>
                  <a:lnTo>
                    <a:pt x="536288" y="595889"/>
                  </a:lnTo>
                  <a:cubicBezTo>
                    <a:pt x="547447" y="607051"/>
                    <a:pt x="547447" y="625142"/>
                    <a:pt x="536288" y="636301"/>
                  </a:cubicBezTo>
                </a:path>
              </a:pathLst>
            </a:custGeom>
            <a:solidFill>
              <a:schemeClr val="accent1"/>
            </a:solidFill>
            <a:ln w="3572" cap="flat">
              <a:noFill/>
              <a:prstDash val="solid"/>
              <a:miter/>
            </a:ln>
          </p:spPr>
          <p:txBody>
            <a:bodyPr rtlCol="0" anchor="ctr"/>
            <a:lstStyle/>
            <a:p>
              <a:endParaRPr lang="zh-CN" altLang="en-US"/>
            </a:p>
          </p:txBody>
        </p:sp>
        <p:sp>
          <p:nvSpPr>
            <p:cNvPr id="43" name="任意多边形: 形状 42"/>
            <p:cNvSpPr/>
            <p:nvPr/>
          </p:nvSpPr>
          <p:spPr>
            <a:xfrm>
              <a:off x="7150827" y="1670854"/>
              <a:ext cx="202043" cy="202044"/>
            </a:xfrm>
            <a:custGeom>
              <a:avLst/>
              <a:gdLst>
                <a:gd name="connsiteX0" fmla="*/ 28575 w 202043"/>
                <a:gd name="connsiteY0" fmla="*/ 202044 h 202044"/>
                <a:gd name="connsiteX1" fmla="*/ 187756 w 202043"/>
                <a:gd name="connsiteY1" fmla="*/ 202044 h 202044"/>
                <a:gd name="connsiteX2" fmla="*/ 202043 w 202043"/>
                <a:gd name="connsiteY2" fmla="*/ 187757 h 202044"/>
                <a:gd name="connsiteX3" fmla="*/ 197860 w 202043"/>
                <a:gd name="connsiteY3" fmla="*/ 177654 h 202044"/>
                <a:gd name="connsiteX4" fmla="*/ 24389 w 202043"/>
                <a:gd name="connsiteY4" fmla="*/ 4185 h 202044"/>
                <a:gd name="connsiteX5" fmla="*/ 4186 w 202043"/>
                <a:gd name="connsiteY5" fmla="*/ 4185 h 202044"/>
                <a:gd name="connsiteX6" fmla="*/ 0 w 202043"/>
                <a:gd name="connsiteY6" fmla="*/ 14287 h 202044"/>
                <a:gd name="connsiteX7" fmla="*/ 0 w 202043"/>
                <a:gd name="connsiteY7" fmla="*/ 173469 h 202044"/>
                <a:gd name="connsiteX8" fmla="*/ 28575 w 202043"/>
                <a:gd name="connsiteY8" fmla="*/ 202044 h 202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043" h="202044">
                  <a:moveTo>
                    <a:pt x="28575" y="202044"/>
                  </a:moveTo>
                  <a:lnTo>
                    <a:pt x="187756" y="202044"/>
                  </a:lnTo>
                  <a:cubicBezTo>
                    <a:pt x="195649" y="202044"/>
                    <a:pt x="202043" y="195648"/>
                    <a:pt x="202043" y="187757"/>
                  </a:cubicBezTo>
                  <a:cubicBezTo>
                    <a:pt x="202043" y="183968"/>
                    <a:pt x="200539" y="180334"/>
                    <a:pt x="197860" y="177654"/>
                  </a:cubicBezTo>
                  <a:lnTo>
                    <a:pt x="24389" y="4185"/>
                  </a:lnTo>
                  <a:cubicBezTo>
                    <a:pt x="18810" y="-1395"/>
                    <a:pt x="9765" y="-1395"/>
                    <a:pt x="4186" y="4185"/>
                  </a:cubicBezTo>
                  <a:cubicBezTo>
                    <a:pt x="1504" y="6864"/>
                    <a:pt x="0" y="10498"/>
                    <a:pt x="0" y="14287"/>
                  </a:cubicBezTo>
                  <a:lnTo>
                    <a:pt x="0" y="173469"/>
                  </a:lnTo>
                  <a:cubicBezTo>
                    <a:pt x="0" y="189251"/>
                    <a:pt x="12794" y="202044"/>
                    <a:pt x="28575" y="202044"/>
                  </a:cubicBezTo>
                  <a:close/>
                </a:path>
              </a:pathLst>
            </a:custGeom>
            <a:solidFill>
              <a:schemeClr val="accent1"/>
            </a:solidFill>
            <a:ln w="3572" cap="flat">
              <a:noFill/>
              <a:prstDash val="solid"/>
              <a:miter/>
            </a:ln>
          </p:spPr>
          <p:txBody>
            <a:bodyPr rtlCol="0" anchor="ctr"/>
            <a:lstStyle/>
            <a:p>
              <a:endParaRPr lang="zh-CN" altLang="en-US"/>
            </a:p>
          </p:txBody>
        </p:sp>
      </p:grpSp>
      <p:pic>
        <p:nvPicPr>
          <p:cNvPr id="2" name="图片 1" descr="76b499643fee34819cb883d90f0351cf"/>
          <p:cNvPicPr>
            <a:picLocks noChangeAspect="1"/>
          </p:cNvPicPr>
          <p:nvPr/>
        </p:nvPicPr>
        <p:blipFill>
          <a:blip r:embed="rId5"/>
          <a:stretch>
            <a:fillRect/>
          </a:stretch>
        </p:blipFill>
        <p:spPr>
          <a:xfrm>
            <a:off x="10965180" y="0"/>
            <a:ext cx="748030" cy="748030"/>
          </a:xfrm>
          <a:prstGeom prst="rect">
            <a:avLst/>
          </a:prstGeom>
        </p:spPr>
      </p:pic>
      <p:sp>
        <p:nvSpPr>
          <p:cNvPr id="11" name="矩形 10">
            <a:extLst>
              <a:ext uri="{FF2B5EF4-FFF2-40B4-BE49-F238E27FC236}">
                <a16:creationId xmlns:a16="http://schemas.microsoft.com/office/drawing/2014/main" id="{76AE23E9-5C7C-5780-D9A9-C9114954B7B3}"/>
              </a:ext>
            </a:extLst>
          </p:cNvPr>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6CBADD1D-3D5D-C772-71AE-3F43150D8D4A}"/>
              </a:ext>
            </a:extLst>
          </p:cNvPr>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grpSp>
        <p:nvGrpSpPr>
          <p:cNvPr id="13" name="组合 12">
            <a:extLst>
              <a:ext uri="{FF2B5EF4-FFF2-40B4-BE49-F238E27FC236}">
                <a16:creationId xmlns:a16="http://schemas.microsoft.com/office/drawing/2014/main" id="{6B54E192-18BE-6844-68AF-D3CED7F6A884}"/>
              </a:ext>
            </a:extLst>
          </p:cNvPr>
          <p:cNvGrpSpPr/>
          <p:nvPr/>
        </p:nvGrpSpPr>
        <p:grpSpPr>
          <a:xfrm>
            <a:off x="0" y="1657350"/>
            <a:ext cx="2866390" cy="4495165"/>
            <a:chOff x="0" y="2610"/>
            <a:chExt cx="4514" cy="7079"/>
          </a:xfrm>
        </p:grpSpPr>
        <p:sp>
          <p:nvSpPr>
            <p:cNvPr id="15" name="文本框 14">
              <a:extLst>
                <a:ext uri="{FF2B5EF4-FFF2-40B4-BE49-F238E27FC236}">
                  <a16:creationId xmlns:a16="http://schemas.microsoft.com/office/drawing/2014/main" id="{7B344DF2-C4B0-AA60-D0D7-DBB731913C75}"/>
                </a:ext>
              </a:extLst>
            </p:cNvPr>
            <p:cNvSpPr txBox="1"/>
            <p:nvPr/>
          </p:nvSpPr>
          <p:spPr>
            <a:xfrm>
              <a:off x="855" y="6962"/>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17" name="文本框 16">
              <a:extLst>
                <a:ext uri="{FF2B5EF4-FFF2-40B4-BE49-F238E27FC236}">
                  <a16:creationId xmlns:a16="http://schemas.microsoft.com/office/drawing/2014/main" id="{D5C9FD98-CCAA-450D-2C0F-EBA5D1266DE8}"/>
                </a:ext>
              </a:extLst>
            </p:cNvPr>
            <p:cNvSpPr txBox="1"/>
            <p:nvPr/>
          </p:nvSpPr>
          <p:spPr>
            <a:xfrm>
              <a:off x="855" y="8865"/>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23" name="文本框 22">
              <a:extLst>
                <a:ext uri="{FF2B5EF4-FFF2-40B4-BE49-F238E27FC236}">
                  <a16:creationId xmlns:a16="http://schemas.microsoft.com/office/drawing/2014/main" id="{EF3BD001-9908-15DA-B370-5DAB4FBC72B7}"/>
                </a:ext>
              </a:extLst>
            </p:cNvPr>
            <p:cNvSpPr txBox="1"/>
            <p:nvPr/>
          </p:nvSpPr>
          <p:spPr>
            <a:xfrm>
              <a:off x="1005" y="2610"/>
              <a:ext cx="2880" cy="824"/>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grpSp>
          <p:nvGrpSpPr>
            <p:cNvPr id="24" name="组合 23">
              <a:extLst>
                <a:ext uri="{FF2B5EF4-FFF2-40B4-BE49-F238E27FC236}">
                  <a16:creationId xmlns:a16="http://schemas.microsoft.com/office/drawing/2014/main" id="{40E5C024-AA67-9B2A-789F-E8955F4684BC}"/>
                </a:ext>
              </a:extLst>
            </p:cNvPr>
            <p:cNvGrpSpPr/>
            <p:nvPr/>
          </p:nvGrpSpPr>
          <p:grpSpPr>
            <a:xfrm>
              <a:off x="0" y="4684"/>
              <a:ext cx="4515" cy="1452"/>
              <a:chOff x="-2" y="1537960"/>
              <a:chExt cx="2867026" cy="921872"/>
            </a:xfrm>
          </p:grpSpPr>
          <p:sp>
            <p:nvSpPr>
              <p:cNvPr id="32" name="矩形 31">
                <a:extLst>
                  <a:ext uri="{FF2B5EF4-FFF2-40B4-BE49-F238E27FC236}">
                    <a16:creationId xmlns:a16="http://schemas.microsoft.com/office/drawing/2014/main" id="{F23EC540-458D-2206-588C-CE672DFAD113}"/>
                  </a:ext>
                </a:extLst>
              </p:cNvPr>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直角三角形 43">
                <a:extLst>
                  <a:ext uri="{FF2B5EF4-FFF2-40B4-BE49-F238E27FC236}">
                    <a16:creationId xmlns:a16="http://schemas.microsoft.com/office/drawing/2014/main" id="{F7C00658-0B8E-C5CF-99D9-2BFF366B069E}"/>
                  </a:ext>
                </a:extLst>
              </p:cNvPr>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0C93CD45-C96D-27DF-B2D3-8429ABE51ACB}"/>
                </a:ext>
              </a:extLst>
            </p:cNvPr>
            <p:cNvSpPr txBox="1"/>
            <p:nvPr/>
          </p:nvSpPr>
          <p:spPr>
            <a:xfrm>
              <a:off x="855" y="4890"/>
              <a:ext cx="3180" cy="824"/>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grpSp>
        <p:nvGrpSpPr>
          <p:cNvPr id="21" name="组合 20"/>
          <p:cNvGrpSpPr/>
          <p:nvPr/>
        </p:nvGrpSpPr>
        <p:grpSpPr>
          <a:xfrm>
            <a:off x="0" y="1657350"/>
            <a:ext cx="2866390" cy="4495165"/>
            <a:chOff x="0" y="2610"/>
            <a:chExt cx="4514" cy="7079"/>
          </a:xfrm>
        </p:grpSpPr>
        <p:sp>
          <p:nvSpPr>
            <p:cNvPr id="8" name="文本框 7"/>
            <p:cNvSpPr txBox="1"/>
            <p:nvPr/>
          </p:nvSpPr>
          <p:spPr>
            <a:xfrm>
              <a:off x="855" y="6962"/>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10" name="文本框 9"/>
            <p:cNvSpPr txBox="1"/>
            <p:nvPr/>
          </p:nvSpPr>
          <p:spPr>
            <a:xfrm>
              <a:off x="855" y="8865"/>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6" name="文本框 5"/>
            <p:cNvSpPr txBox="1"/>
            <p:nvPr/>
          </p:nvSpPr>
          <p:spPr>
            <a:xfrm>
              <a:off x="1005" y="2610"/>
              <a:ext cx="2880" cy="824"/>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grpSp>
          <p:nvGrpSpPr>
            <p:cNvPr id="2" name="组合 1"/>
            <p:cNvGrpSpPr/>
            <p:nvPr/>
          </p:nvGrpSpPr>
          <p:grpSpPr>
            <a:xfrm>
              <a:off x="0" y="4684"/>
              <a:ext cx="4515" cy="145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855" y="4890"/>
              <a:ext cx="3180" cy="824"/>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p>
          </p:txBody>
        </p:sp>
      </p:gr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研究意义</a:t>
            </a:r>
          </a:p>
        </p:txBody>
      </p:sp>
      <p:sp>
        <p:nvSpPr>
          <p:cNvPr id="78" name="文本框 77"/>
          <p:cNvSpPr txBox="1"/>
          <p:nvPr>
            <p:custDataLst>
              <p:tags r:id="rId1"/>
            </p:custDataLst>
          </p:nvPr>
        </p:nvSpPr>
        <p:spPr>
          <a:xfrm>
            <a:off x="5658950" y="3745487"/>
            <a:ext cx="1554951" cy="2185214"/>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a:t>
            </a:r>
          </a:p>
          <a:p>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79" name="文本框 78"/>
          <p:cNvSpPr txBox="1"/>
          <p:nvPr>
            <p:custDataLst>
              <p:tags r:id="rId2"/>
            </p:custDataLst>
          </p:nvPr>
        </p:nvSpPr>
        <p:spPr>
          <a:xfrm>
            <a:off x="5604296" y="3166546"/>
            <a:ext cx="1632672" cy="365827"/>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输入意义标题</a:t>
            </a:r>
          </a:p>
        </p:txBody>
      </p:sp>
      <p:sp>
        <p:nvSpPr>
          <p:cNvPr id="80" name="矩形 79"/>
          <p:cNvSpPr/>
          <p:nvPr>
            <p:custDataLst>
              <p:tags r:id="rId3"/>
            </p:custDataLst>
          </p:nvPr>
        </p:nvSpPr>
        <p:spPr>
          <a:xfrm>
            <a:off x="5878425" y="3582720"/>
            <a:ext cx="1116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框 75"/>
          <p:cNvSpPr txBox="1"/>
          <p:nvPr>
            <p:custDataLst>
              <p:tags r:id="rId4"/>
            </p:custDataLst>
          </p:nvPr>
        </p:nvSpPr>
        <p:spPr>
          <a:xfrm>
            <a:off x="3382645" y="2353945"/>
            <a:ext cx="3686175" cy="521970"/>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探索具身智能、多模态大模型与知识图谱融合机制，提供工业智能决策新框架</a:t>
            </a:r>
          </a:p>
        </p:txBody>
      </p:sp>
      <p:grpSp>
        <p:nvGrpSpPr>
          <p:cNvPr id="82" name="组合 81"/>
          <p:cNvGrpSpPr/>
          <p:nvPr>
            <p:custDataLst>
              <p:tags r:id="rId5"/>
            </p:custDataLst>
          </p:nvPr>
        </p:nvGrpSpPr>
        <p:grpSpPr>
          <a:xfrm>
            <a:off x="3382573" y="1260496"/>
            <a:ext cx="920153" cy="920152"/>
            <a:chOff x="4002358" y="2650331"/>
            <a:chExt cx="920153" cy="920152"/>
          </a:xfrm>
        </p:grpSpPr>
        <p:sp>
          <p:nvSpPr>
            <p:cNvPr id="81" name="椭圆 80"/>
            <p:cNvSpPr/>
            <p:nvPr>
              <p:custDataLst>
                <p:tags r:id="rId17"/>
              </p:custDataLst>
            </p:nvPr>
          </p:nvSpPr>
          <p:spPr>
            <a:xfrm>
              <a:off x="4002358" y="2650331"/>
              <a:ext cx="920153" cy="920152"/>
            </a:xfrm>
            <a:prstGeom prst="ellipse">
              <a:avLst/>
            </a:prstGeom>
            <a:solidFill>
              <a:schemeClr val="accent1"/>
            </a:solidFill>
            <a:ln w="120650" cap="flat" cmpd="sng" algn="ctr">
              <a:noFill/>
              <a:prstDash val="solid"/>
              <a:miter lim="800000"/>
            </a:ln>
            <a:effectLst/>
          </p:spPr>
          <p:txBody>
            <a:bodyPr/>
            <a:lstStyle/>
            <a:p>
              <a:endParaRPr lang="zh-CN" altLang="en-US"/>
            </a:p>
          </p:txBody>
        </p:sp>
        <p:grpSp>
          <p:nvGrpSpPr>
            <p:cNvPr id="60" name="组合 59"/>
            <p:cNvGrpSpPr/>
            <p:nvPr/>
          </p:nvGrpSpPr>
          <p:grpSpPr>
            <a:xfrm>
              <a:off x="4230772" y="2907320"/>
              <a:ext cx="463325" cy="406175"/>
              <a:chOff x="1035050" y="1357538"/>
              <a:chExt cx="463325" cy="406175"/>
            </a:xfrm>
            <a:solidFill>
              <a:schemeClr val="bg1"/>
            </a:solidFill>
          </p:grpSpPr>
          <p:sp>
            <p:nvSpPr>
              <p:cNvPr id="61" name="AutoShape 147"/>
              <p:cNvSpPr/>
              <p:nvPr>
                <p:custDataLst>
                  <p:tags r:id="rId18"/>
                </p:custDataLst>
              </p:nvPr>
            </p:nvSpPr>
            <p:spPr bwMode="auto">
              <a:xfrm>
                <a:off x="1035050" y="1357538"/>
                <a:ext cx="463325" cy="406175"/>
              </a:xfrm>
              <a:custGeom>
                <a:avLst/>
                <a:gdLst>
                  <a:gd name="T0" fmla="+- 0 10800 597"/>
                  <a:gd name="T1" fmla="*/ T0 w 20407"/>
                  <a:gd name="T2" fmla="+- 0 11028 672"/>
                  <a:gd name="T3" fmla="*/ 11028 h 20712"/>
                  <a:gd name="T4" fmla="+- 0 10800 597"/>
                  <a:gd name="T5" fmla="*/ T4 w 20407"/>
                  <a:gd name="T6" fmla="+- 0 11028 672"/>
                  <a:gd name="T7" fmla="*/ 11028 h 20712"/>
                  <a:gd name="T8" fmla="+- 0 10800 597"/>
                  <a:gd name="T9" fmla="*/ T8 w 20407"/>
                  <a:gd name="T10" fmla="+- 0 11028 672"/>
                  <a:gd name="T11" fmla="*/ 11028 h 20712"/>
                  <a:gd name="T12" fmla="+- 0 10800 597"/>
                  <a:gd name="T13" fmla="*/ T12 w 20407"/>
                  <a:gd name="T14" fmla="+- 0 11028 672"/>
                  <a:gd name="T15" fmla="*/ 11028 h 20712"/>
                </a:gdLst>
                <a:ahLst/>
                <a:cxnLst>
                  <a:cxn ang="0">
                    <a:pos x="T1" y="T3"/>
                  </a:cxn>
                  <a:cxn ang="0">
                    <a:pos x="T5" y="T7"/>
                  </a:cxn>
                  <a:cxn ang="0">
                    <a:pos x="T9" y="T11"/>
                  </a:cxn>
                  <a:cxn ang="0">
                    <a:pos x="T13" y="T15"/>
                  </a:cxn>
                </a:cxnLst>
                <a:rect l="0" t="0" r="r" b="b"/>
                <a:pathLst>
                  <a:path w="20407" h="20712">
                    <a:moveTo>
                      <a:pt x="17706" y="10922"/>
                    </a:moveTo>
                    <a:lnTo>
                      <a:pt x="10657" y="19017"/>
                    </a:lnTo>
                    <a:cubicBezTo>
                      <a:pt x="10407" y="19305"/>
                      <a:pt x="9998" y="19305"/>
                      <a:pt x="9748" y="19017"/>
                    </a:cubicBezTo>
                    <a:lnTo>
                      <a:pt x="2699" y="10922"/>
                    </a:lnTo>
                    <a:cubicBezTo>
                      <a:pt x="817" y="8762"/>
                      <a:pt x="817" y="5247"/>
                      <a:pt x="2699" y="3087"/>
                    </a:cubicBezTo>
                    <a:cubicBezTo>
                      <a:pt x="4512" y="1004"/>
                      <a:pt x="7429" y="931"/>
                      <a:pt x="9338" y="2923"/>
                    </a:cubicBezTo>
                    <a:lnTo>
                      <a:pt x="10202" y="3825"/>
                    </a:lnTo>
                    <a:lnTo>
                      <a:pt x="11067" y="2923"/>
                    </a:lnTo>
                    <a:cubicBezTo>
                      <a:pt x="12976" y="931"/>
                      <a:pt x="15893" y="1004"/>
                      <a:pt x="17706" y="3087"/>
                    </a:cubicBezTo>
                    <a:cubicBezTo>
                      <a:pt x="19588" y="5247"/>
                      <a:pt x="19588" y="8762"/>
                      <a:pt x="17706" y="10922"/>
                    </a:cubicBezTo>
                    <a:moveTo>
                      <a:pt x="18616" y="2043"/>
                    </a:moveTo>
                    <a:cubicBezTo>
                      <a:pt x="16301" y="-617"/>
                      <a:pt x="12601" y="-672"/>
                      <a:pt x="10202" y="1830"/>
                    </a:cubicBezTo>
                    <a:cubicBezTo>
                      <a:pt x="7805" y="-672"/>
                      <a:pt x="4104" y="-617"/>
                      <a:pt x="1789" y="2043"/>
                    </a:cubicBezTo>
                    <a:cubicBezTo>
                      <a:pt x="-597" y="4783"/>
                      <a:pt x="-597" y="9226"/>
                      <a:pt x="1789" y="11967"/>
                    </a:cubicBezTo>
                    <a:cubicBezTo>
                      <a:pt x="2470" y="12750"/>
                      <a:pt x="8838" y="20061"/>
                      <a:pt x="8838" y="20061"/>
                    </a:cubicBezTo>
                    <a:cubicBezTo>
                      <a:pt x="9592" y="20928"/>
                      <a:pt x="10812" y="20928"/>
                      <a:pt x="11567" y="20061"/>
                    </a:cubicBezTo>
                    <a:cubicBezTo>
                      <a:pt x="11567" y="20061"/>
                      <a:pt x="18539" y="12056"/>
                      <a:pt x="18616" y="11967"/>
                    </a:cubicBezTo>
                    <a:cubicBezTo>
                      <a:pt x="21003" y="9226"/>
                      <a:pt x="21003" y="4783"/>
                      <a:pt x="18616" y="2043"/>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2" name="AutoShape 148"/>
              <p:cNvSpPr/>
              <p:nvPr>
                <p:custDataLst>
                  <p:tags r:id="rId19"/>
                </p:custDataLst>
              </p:nvPr>
            </p:nvSpPr>
            <p:spPr bwMode="auto">
              <a:xfrm>
                <a:off x="1108529" y="1431017"/>
                <a:ext cx="67356" cy="673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326" y="0"/>
                    </a:moveTo>
                    <a:cubicBezTo>
                      <a:pt x="19317" y="0"/>
                      <a:pt x="19317" y="4"/>
                      <a:pt x="19308" y="4"/>
                    </a:cubicBezTo>
                    <a:cubicBezTo>
                      <a:pt x="8643" y="13"/>
                      <a:pt x="0" y="8659"/>
                      <a:pt x="0" y="19326"/>
                    </a:cubicBezTo>
                    <a:cubicBezTo>
                      <a:pt x="0" y="20580"/>
                      <a:pt x="1019" y="21600"/>
                      <a:pt x="2273" y="21600"/>
                    </a:cubicBezTo>
                    <a:cubicBezTo>
                      <a:pt x="3528" y="21600"/>
                      <a:pt x="4547" y="20580"/>
                      <a:pt x="4547" y="19326"/>
                    </a:cubicBezTo>
                    <a:lnTo>
                      <a:pt x="4547" y="19321"/>
                    </a:lnTo>
                    <a:cubicBezTo>
                      <a:pt x="4547" y="11164"/>
                      <a:pt x="11164" y="4547"/>
                      <a:pt x="19321" y="4547"/>
                    </a:cubicBezTo>
                    <a:lnTo>
                      <a:pt x="19326" y="4547"/>
                    </a:lnTo>
                    <a:cubicBezTo>
                      <a:pt x="20580" y="4547"/>
                      <a:pt x="21599" y="3528"/>
                      <a:pt x="21599" y="2273"/>
                    </a:cubicBezTo>
                    <a:cubicBezTo>
                      <a:pt x="21599" y="1019"/>
                      <a:pt x="20580" y="0"/>
                      <a:pt x="19326"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sp>
        <p:nvSpPr>
          <p:cNvPr id="83" name="文本框 82"/>
          <p:cNvSpPr txBox="1"/>
          <p:nvPr>
            <p:custDataLst>
              <p:tags r:id="rId6"/>
            </p:custDataLst>
          </p:nvPr>
        </p:nvSpPr>
        <p:spPr>
          <a:xfrm>
            <a:off x="4435810" y="1517451"/>
            <a:ext cx="1606408" cy="368300"/>
          </a:xfrm>
          <a:prstGeom prst="rect">
            <a:avLst/>
          </a:prstGeom>
          <a:noFill/>
        </p:spPr>
        <p:txBody>
          <a:bodyPr wrap="square" rtlCol="0">
            <a:spAutoFit/>
          </a:bodyPr>
          <a:lstStyle/>
          <a:p>
            <a:pPr algn="ctr"/>
            <a:r>
              <a:rPr lang="zh-CN" altLang="en-US" dirty="0">
                <a:solidFill>
                  <a:schemeClr val="accent1"/>
                </a:solidFill>
                <a:latin typeface="微软雅黑" panose="020B0503020204020204" pitchFamily="34" charset="-122"/>
                <a:ea typeface="微软雅黑" panose="020B0503020204020204" pitchFamily="34" charset="-122"/>
              </a:rPr>
              <a:t>理论意义</a:t>
            </a:r>
          </a:p>
        </p:txBody>
      </p:sp>
      <p:sp>
        <p:nvSpPr>
          <p:cNvPr id="84" name="矩形 83"/>
          <p:cNvSpPr/>
          <p:nvPr>
            <p:custDataLst>
              <p:tags r:id="rId7"/>
            </p:custDataLst>
          </p:nvPr>
        </p:nvSpPr>
        <p:spPr>
          <a:xfrm>
            <a:off x="4681014" y="1903780"/>
            <a:ext cx="1116000" cy="4571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文本框 144"/>
          <p:cNvSpPr txBox="1"/>
          <p:nvPr>
            <p:custDataLst>
              <p:tags r:id="rId8"/>
            </p:custDataLst>
          </p:nvPr>
        </p:nvSpPr>
        <p:spPr>
          <a:xfrm>
            <a:off x="10168321" y="3745487"/>
            <a:ext cx="1554951" cy="2185214"/>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a:t>
            </a:r>
          </a:p>
          <a:p>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46" name="文本框 145"/>
          <p:cNvSpPr txBox="1"/>
          <p:nvPr>
            <p:custDataLst>
              <p:tags r:id="rId9"/>
            </p:custDataLst>
          </p:nvPr>
        </p:nvSpPr>
        <p:spPr>
          <a:xfrm>
            <a:off x="10145253" y="3166546"/>
            <a:ext cx="1601086" cy="365827"/>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输入意义标题</a:t>
            </a:r>
          </a:p>
        </p:txBody>
      </p:sp>
      <p:sp>
        <p:nvSpPr>
          <p:cNvPr id="147" name="矩形 146"/>
          <p:cNvSpPr/>
          <p:nvPr>
            <p:custDataLst>
              <p:tags r:id="rId10"/>
            </p:custDataLst>
          </p:nvPr>
        </p:nvSpPr>
        <p:spPr>
          <a:xfrm>
            <a:off x="10387796" y="3582720"/>
            <a:ext cx="1116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文本框 153"/>
          <p:cNvSpPr txBox="1"/>
          <p:nvPr>
            <p:custDataLst>
              <p:tags r:id="rId11"/>
            </p:custDataLst>
          </p:nvPr>
        </p:nvSpPr>
        <p:spPr>
          <a:xfrm>
            <a:off x="3464560" y="4544060"/>
            <a:ext cx="3230880" cy="73723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替代</a:t>
            </a:r>
            <a:r>
              <a:rPr lang="en-US" altLang="zh-CN" sz="1400" dirty="0">
                <a:latin typeface="微软雅黑" panose="020B0503020204020204" pitchFamily="34" charset="-122"/>
                <a:ea typeface="微软雅黑" panose="020B0503020204020204" pitchFamily="34" charset="-122"/>
              </a:rPr>
              <a:t> / </a:t>
            </a:r>
            <a:r>
              <a:rPr lang="zh-CN" altLang="en-US" sz="1400" dirty="0">
                <a:latin typeface="微软雅黑" panose="020B0503020204020204" pitchFamily="34" charset="-122"/>
                <a:ea typeface="微软雅黑" panose="020B0503020204020204" pitchFamily="34" charset="-122"/>
              </a:rPr>
              <a:t>辅助人工巡检，降低安全事故风险，缩减运维成本，提升化工、电力、石油等行业运维效率</a:t>
            </a:r>
          </a:p>
        </p:txBody>
      </p:sp>
      <p:sp>
        <p:nvSpPr>
          <p:cNvPr id="156" name="文本框 155"/>
          <p:cNvSpPr txBox="1"/>
          <p:nvPr>
            <p:custDataLst>
              <p:tags r:id="rId12"/>
            </p:custDataLst>
          </p:nvPr>
        </p:nvSpPr>
        <p:spPr>
          <a:xfrm>
            <a:off x="4383959" y="3690421"/>
            <a:ext cx="1686315" cy="368300"/>
          </a:xfrm>
          <a:prstGeom prst="rect">
            <a:avLst/>
          </a:prstGeom>
          <a:noFill/>
        </p:spPr>
        <p:txBody>
          <a:bodyPr wrap="square" rtlCol="0">
            <a:spAutoFit/>
          </a:bodyPr>
          <a:lstStyle/>
          <a:p>
            <a:pPr algn="ctr"/>
            <a:r>
              <a:rPr lang="zh-CN" altLang="en-US" dirty="0">
                <a:solidFill>
                  <a:schemeClr val="accent1"/>
                </a:solidFill>
                <a:latin typeface="微软雅黑" panose="020B0503020204020204" pitchFamily="34" charset="-122"/>
                <a:ea typeface="微软雅黑" panose="020B0503020204020204" pitchFamily="34" charset="-122"/>
              </a:rPr>
              <a:t>实践意义</a:t>
            </a:r>
          </a:p>
        </p:txBody>
      </p:sp>
      <p:sp>
        <p:nvSpPr>
          <p:cNvPr id="157" name="矩形 156"/>
          <p:cNvSpPr/>
          <p:nvPr>
            <p:custDataLst>
              <p:tags r:id="rId13"/>
            </p:custDataLst>
          </p:nvPr>
        </p:nvSpPr>
        <p:spPr>
          <a:xfrm>
            <a:off x="4681251" y="4121200"/>
            <a:ext cx="1116000" cy="4571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3" name="组合 162"/>
          <p:cNvGrpSpPr/>
          <p:nvPr>
            <p:custDataLst>
              <p:tags r:id="rId14"/>
            </p:custDataLst>
          </p:nvPr>
        </p:nvGrpSpPr>
        <p:grpSpPr>
          <a:xfrm>
            <a:off x="3382810" y="3442356"/>
            <a:ext cx="920153" cy="920152"/>
            <a:chOff x="8231035" y="2118381"/>
            <a:chExt cx="920153" cy="920152"/>
          </a:xfrm>
        </p:grpSpPr>
        <p:sp>
          <p:nvSpPr>
            <p:cNvPr id="158" name="椭圆 157"/>
            <p:cNvSpPr/>
            <p:nvPr>
              <p:custDataLst>
                <p:tags r:id="rId15"/>
              </p:custDataLst>
            </p:nvPr>
          </p:nvSpPr>
          <p:spPr>
            <a:xfrm>
              <a:off x="8231035" y="2118381"/>
              <a:ext cx="920153" cy="920152"/>
            </a:xfrm>
            <a:prstGeom prst="ellipse">
              <a:avLst/>
            </a:prstGeom>
            <a:solidFill>
              <a:schemeClr val="accent1"/>
            </a:solidFill>
            <a:ln w="120650" cap="flat" cmpd="sng" algn="ctr">
              <a:noFill/>
              <a:prstDash val="solid"/>
              <a:miter lim="800000"/>
            </a:ln>
            <a:effectLst/>
          </p:spPr>
          <p:txBody>
            <a:bodyPr/>
            <a:lstStyle/>
            <a:p>
              <a:endParaRPr lang="zh-CN" altLang="en-US"/>
            </a:p>
          </p:txBody>
        </p:sp>
        <p:sp>
          <p:nvSpPr>
            <p:cNvPr id="59" name="AutoShape 139"/>
            <p:cNvSpPr/>
            <p:nvPr>
              <p:custDataLst>
                <p:tags r:id="rId16"/>
              </p:custDataLst>
            </p:nvPr>
          </p:nvSpPr>
          <p:spPr bwMode="auto">
            <a:xfrm>
              <a:off x="8460470" y="2353939"/>
              <a:ext cx="461283" cy="449037"/>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pic>
        <p:nvPicPr>
          <p:cNvPr id="3" name="图片 2" descr="76b499643fee34819cb883d90f0351cf"/>
          <p:cNvPicPr>
            <a:picLocks noChangeAspect="1"/>
          </p:cNvPicPr>
          <p:nvPr/>
        </p:nvPicPr>
        <p:blipFill>
          <a:blip r:embed="rId22"/>
          <a:stretch>
            <a:fillRect/>
          </a:stretch>
        </p:blipFill>
        <p:spPr>
          <a:xfrm>
            <a:off x="10965180" y="0"/>
            <a:ext cx="748030" cy="748030"/>
          </a:xfrm>
          <a:prstGeom prst="rect">
            <a:avLst/>
          </a:prstGeom>
        </p:spPr>
      </p:pic>
      <p:pic>
        <p:nvPicPr>
          <p:cNvPr id="2050" name="图片 16" descr="dbabbce3768cd0356c1ae93a55cfbe9">
            <a:extLst>
              <a:ext uri="{FF2B5EF4-FFF2-40B4-BE49-F238E27FC236}">
                <a16:creationId xmlns:a16="http://schemas.microsoft.com/office/drawing/2014/main" id="{B84F09EF-F9E7-1E72-E944-196F95B99AA3}"/>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7938397" y="1947361"/>
            <a:ext cx="3735388" cy="303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 name="文本框 8">
            <a:extLst>
              <a:ext uri="{FF2B5EF4-FFF2-40B4-BE49-F238E27FC236}">
                <a16:creationId xmlns:a16="http://schemas.microsoft.com/office/drawing/2014/main" id="{31BCD32E-CBBF-2ECF-BE4A-A630A6DE577D}"/>
              </a:ext>
            </a:extLst>
          </p:cNvPr>
          <p:cNvSpPr txBox="1"/>
          <p:nvPr/>
        </p:nvSpPr>
        <p:spPr>
          <a:xfrm>
            <a:off x="9175149" y="5241377"/>
            <a:ext cx="1261884" cy="307777"/>
          </a:xfrm>
          <a:prstGeom prst="rect">
            <a:avLst/>
          </a:prstGeom>
          <a:noFill/>
        </p:spPr>
        <p:txBody>
          <a:bodyPr wrap="none" rtlCol="0">
            <a:spAutoFit/>
          </a:bodyPr>
          <a:lstStyle/>
          <a:p>
            <a:r>
              <a:rPr lang="zh-CN" altLang="en-US" sz="1400" dirty="0">
                <a:solidFill>
                  <a:schemeClr val="bg2">
                    <a:lumMod val="50000"/>
                  </a:schemeClr>
                </a:solidFill>
              </a:rPr>
              <a:t>常规人工检测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917616" y="2970371"/>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grpSp>
        <p:nvGrpSpPr>
          <p:cNvPr id="2" name="组合 1"/>
          <p:cNvGrpSpPr/>
          <p:nvPr/>
        </p:nvGrpSpPr>
        <p:grpSpPr>
          <a:xfrm>
            <a:off x="-2" y="428441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15" name="文本框 14"/>
          <p:cNvSpPr txBox="1"/>
          <p:nvPr/>
        </p:nvSpPr>
        <p:spPr>
          <a:xfrm>
            <a:off x="3961691" y="2385595"/>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03</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377173" y="3040319"/>
            <a:ext cx="4119335" cy="954107"/>
          </a:xfrm>
          <a:prstGeom prst="rect">
            <a:avLst/>
          </a:prstGeom>
          <a:noFill/>
        </p:spPr>
        <p:txBody>
          <a:bodyPr wrap="square" rtlCol="0">
            <a:spAutoFit/>
          </a:bodyPr>
          <a:lstStyle/>
          <a:p>
            <a:r>
              <a:rPr lang="zh-CN" altLang="en-US" sz="3600" b="1" dirty="0">
                <a:solidFill>
                  <a:schemeClr val="bg1"/>
                </a:solidFill>
              </a:rPr>
              <a:t>方法与过程</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Methods and process</a:t>
            </a: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97037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8" name="文本框 7"/>
          <p:cNvSpPr txBox="1"/>
          <p:nvPr/>
        </p:nvSpPr>
        <p:spPr>
          <a:xfrm>
            <a:off x="542925" y="440404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3234508" y="3877448"/>
            <a:ext cx="8478488" cy="2620628"/>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p:cNvSpPr/>
          <p:nvPr/>
        </p:nvSpPr>
        <p:spPr>
          <a:xfrm>
            <a:off x="3236219" y="1325421"/>
            <a:ext cx="8476777" cy="2270314"/>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前提准备</a:t>
            </a:r>
          </a:p>
        </p:txBody>
      </p:sp>
      <p:sp>
        <p:nvSpPr>
          <p:cNvPr id="18" name="任意多边形: 形状 17"/>
          <p:cNvSpPr/>
          <p:nvPr/>
        </p:nvSpPr>
        <p:spPr>
          <a:xfrm>
            <a:off x="6586317" y="2608589"/>
            <a:ext cx="1882359" cy="1839521"/>
          </a:xfrm>
          <a:custGeom>
            <a:avLst/>
            <a:gdLst>
              <a:gd name="connsiteX0" fmla="*/ 509588 w 1019176"/>
              <a:gd name="connsiteY0" fmla="*/ 0 h 995982"/>
              <a:gd name="connsiteX1" fmla="*/ 1019176 w 1019176"/>
              <a:gd name="connsiteY1" fmla="*/ 509588 h 995982"/>
              <a:gd name="connsiteX2" fmla="*/ 1008823 w 1019176"/>
              <a:gd name="connsiteY2" fmla="*/ 612288 h 995982"/>
              <a:gd name="connsiteX3" fmla="*/ 1004675 w 1019176"/>
              <a:gd name="connsiteY3" fmla="*/ 625651 h 995982"/>
              <a:gd name="connsiteX4" fmla="*/ 1004002 w 1019176"/>
              <a:gd name="connsiteY4" fmla="*/ 625442 h 995982"/>
              <a:gd name="connsiteX5" fmla="*/ 979131 w 1019176"/>
              <a:gd name="connsiteY5" fmla="*/ 705562 h 995982"/>
              <a:gd name="connsiteX6" fmla="*/ 707944 w 1019176"/>
              <a:gd name="connsiteY6" fmla="*/ 976749 h 995982"/>
              <a:gd name="connsiteX7" fmla="*/ 645985 w 1019176"/>
              <a:gd name="connsiteY7" fmla="*/ 995982 h 995982"/>
              <a:gd name="connsiteX8" fmla="*/ 620440 w 1019176"/>
              <a:gd name="connsiteY8" fmla="*/ 913689 h 995982"/>
              <a:gd name="connsiteX9" fmla="*/ 511231 w 1019176"/>
              <a:gd name="connsiteY9" fmla="*/ 751711 h 995982"/>
              <a:gd name="connsiteX10" fmla="*/ 511032 w 1019176"/>
              <a:gd name="connsiteY10" fmla="*/ 751547 h 995982"/>
              <a:gd name="connsiteX11" fmla="*/ 509589 w 1019176"/>
              <a:gd name="connsiteY11" fmla="*/ 752738 h 995982"/>
              <a:gd name="connsiteX12" fmla="*/ 435813 w 1019176"/>
              <a:gd name="connsiteY12" fmla="*/ 691867 h 995982"/>
              <a:gd name="connsiteX13" fmla="*/ 150897 w 1019176"/>
              <a:gd name="connsiteY13" fmla="*/ 604837 h 995982"/>
              <a:gd name="connsiteX14" fmla="*/ 48197 w 1019176"/>
              <a:gd name="connsiteY14" fmla="*/ 615190 h 995982"/>
              <a:gd name="connsiteX15" fmla="*/ 14501 w 1019176"/>
              <a:gd name="connsiteY15" fmla="*/ 625650 h 995982"/>
              <a:gd name="connsiteX16" fmla="*/ 10353 w 1019176"/>
              <a:gd name="connsiteY16" fmla="*/ 612288 h 995982"/>
              <a:gd name="connsiteX17" fmla="*/ 0 w 1019176"/>
              <a:gd name="connsiteY17" fmla="*/ 509588 h 995982"/>
              <a:gd name="connsiteX18" fmla="*/ 509588 w 1019176"/>
              <a:gd name="connsiteY18" fmla="*/ 0 h 99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19176" h="995982">
                <a:moveTo>
                  <a:pt x="509588" y="0"/>
                </a:moveTo>
                <a:cubicBezTo>
                  <a:pt x="791026" y="0"/>
                  <a:pt x="1019176" y="228150"/>
                  <a:pt x="1019176" y="509588"/>
                </a:cubicBezTo>
                <a:cubicBezTo>
                  <a:pt x="1019176" y="544768"/>
                  <a:pt x="1015611" y="579115"/>
                  <a:pt x="1008823" y="612288"/>
                </a:cubicBezTo>
                <a:lnTo>
                  <a:pt x="1004675" y="625651"/>
                </a:lnTo>
                <a:lnTo>
                  <a:pt x="1004002" y="625442"/>
                </a:lnTo>
                <a:lnTo>
                  <a:pt x="979131" y="705562"/>
                </a:lnTo>
                <a:cubicBezTo>
                  <a:pt x="927558" y="827494"/>
                  <a:pt x="829876" y="925176"/>
                  <a:pt x="707944" y="976749"/>
                </a:cubicBezTo>
                <a:lnTo>
                  <a:pt x="645985" y="995982"/>
                </a:lnTo>
                <a:lnTo>
                  <a:pt x="620440" y="913689"/>
                </a:lnTo>
                <a:cubicBezTo>
                  <a:pt x="594654" y="852723"/>
                  <a:pt x="557340" y="797820"/>
                  <a:pt x="511231" y="751711"/>
                </a:cubicBezTo>
                <a:lnTo>
                  <a:pt x="511032" y="751547"/>
                </a:lnTo>
                <a:lnTo>
                  <a:pt x="509589" y="752738"/>
                </a:lnTo>
                <a:lnTo>
                  <a:pt x="435813" y="691867"/>
                </a:lnTo>
                <a:cubicBezTo>
                  <a:pt x="354482" y="636921"/>
                  <a:pt x="256436" y="604837"/>
                  <a:pt x="150897" y="604837"/>
                </a:cubicBezTo>
                <a:cubicBezTo>
                  <a:pt x="115717" y="604837"/>
                  <a:pt x="81370" y="608402"/>
                  <a:pt x="48197" y="615190"/>
                </a:cubicBezTo>
                <a:lnTo>
                  <a:pt x="14501" y="625650"/>
                </a:lnTo>
                <a:lnTo>
                  <a:pt x="10353" y="612288"/>
                </a:lnTo>
                <a:cubicBezTo>
                  <a:pt x="3565" y="579115"/>
                  <a:pt x="0" y="544768"/>
                  <a:pt x="0" y="509588"/>
                </a:cubicBezTo>
                <a:cubicBezTo>
                  <a:pt x="0" y="228150"/>
                  <a:pt x="228150" y="0"/>
                  <a:pt x="509588" y="0"/>
                </a:cubicBezTo>
                <a:close/>
              </a:path>
            </a:pathLst>
          </a:custGeom>
          <a:solidFill>
            <a:schemeClr val="accent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19" name="任意多边形: 形状 18"/>
          <p:cNvSpPr/>
          <p:nvPr/>
        </p:nvSpPr>
        <p:spPr>
          <a:xfrm>
            <a:off x="5923835" y="3725701"/>
            <a:ext cx="1603663" cy="1882359"/>
          </a:xfrm>
          <a:custGeom>
            <a:avLst/>
            <a:gdLst>
              <a:gd name="connsiteX0" fmla="*/ 509588 w 868280"/>
              <a:gd name="connsiteY0" fmla="*/ 0 h 1019176"/>
              <a:gd name="connsiteX1" fmla="*/ 794504 w 868280"/>
              <a:gd name="connsiteY1" fmla="*/ 87030 h 1019176"/>
              <a:gd name="connsiteX2" fmla="*/ 868280 w 868280"/>
              <a:gd name="connsiteY2" fmla="*/ 147901 h 1019176"/>
              <a:gd name="connsiteX3" fmla="*/ 866637 w 868280"/>
              <a:gd name="connsiteY3" fmla="*/ 149256 h 1019176"/>
              <a:gd name="connsiteX4" fmla="*/ 757428 w 868280"/>
              <a:gd name="connsiteY4" fmla="*/ 311234 h 1019176"/>
              <a:gd name="connsiteX5" fmla="*/ 731883 w 868280"/>
              <a:gd name="connsiteY5" fmla="*/ 393526 h 1019176"/>
              <a:gd name="connsiteX6" fmla="*/ 727735 w 868280"/>
              <a:gd name="connsiteY6" fmla="*/ 406889 h 1019176"/>
              <a:gd name="connsiteX7" fmla="*/ 717382 w 868280"/>
              <a:gd name="connsiteY7" fmla="*/ 509589 h 1019176"/>
              <a:gd name="connsiteX8" fmla="*/ 866637 w 868280"/>
              <a:gd name="connsiteY8" fmla="*/ 869922 h 1019176"/>
              <a:gd name="connsiteX9" fmla="*/ 868279 w 868280"/>
              <a:gd name="connsiteY9" fmla="*/ 871277 h 1019176"/>
              <a:gd name="connsiteX10" fmla="*/ 794504 w 868280"/>
              <a:gd name="connsiteY10" fmla="*/ 932146 h 1019176"/>
              <a:gd name="connsiteX11" fmla="*/ 509588 w 868280"/>
              <a:gd name="connsiteY11" fmla="*/ 1019176 h 1019176"/>
              <a:gd name="connsiteX12" fmla="*/ 0 w 868280"/>
              <a:gd name="connsiteY12" fmla="*/ 509588 h 1019176"/>
              <a:gd name="connsiteX13" fmla="*/ 311233 w 868280"/>
              <a:gd name="connsiteY13" fmla="*/ 40046 h 1019176"/>
              <a:gd name="connsiteX14" fmla="*/ 373192 w 868280"/>
              <a:gd name="connsiteY14" fmla="*/ 20813 h 1019176"/>
              <a:gd name="connsiteX15" fmla="*/ 406888 w 868280"/>
              <a:gd name="connsiteY15" fmla="*/ 10353 h 1019176"/>
              <a:gd name="connsiteX16" fmla="*/ 509588 w 868280"/>
              <a:gd name="connsiteY16" fmla="*/ 0 h 1019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8280" h="1019176">
                <a:moveTo>
                  <a:pt x="509588" y="0"/>
                </a:moveTo>
                <a:cubicBezTo>
                  <a:pt x="615127" y="0"/>
                  <a:pt x="713173" y="32084"/>
                  <a:pt x="794504" y="87030"/>
                </a:cubicBezTo>
                <a:lnTo>
                  <a:pt x="868280" y="147901"/>
                </a:lnTo>
                <a:lnTo>
                  <a:pt x="866637" y="149256"/>
                </a:lnTo>
                <a:cubicBezTo>
                  <a:pt x="820528" y="195365"/>
                  <a:pt x="783215" y="250268"/>
                  <a:pt x="757428" y="311234"/>
                </a:cubicBezTo>
                <a:lnTo>
                  <a:pt x="731883" y="393526"/>
                </a:lnTo>
                <a:lnTo>
                  <a:pt x="727735" y="406889"/>
                </a:lnTo>
                <a:cubicBezTo>
                  <a:pt x="720947" y="440062"/>
                  <a:pt x="717382" y="474409"/>
                  <a:pt x="717382" y="509589"/>
                </a:cubicBezTo>
                <a:cubicBezTo>
                  <a:pt x="717382" y="650308"/>
                  <a:pt x="774420" y="777705"/>
                  <a:pt x="866637" y="869922"/>
                </a:cubicBezTo>
                <a:lnTo>
                  <a:pt x="868279" y="871277"/>
                </a:lnTo>
                <a:lnTo>
                  <a:pt x="794504" y="932146"/>
                </a:lnTo>
                <a:cubicBezTo>
                  <a:pt x="713173" y="987093"/>
                  <a:pt x="615127" y="1019176"/>
                  <a:pt x="509588" y="1019176"/>
                </a:cubicBezTo>
                <a:cubicBezTo>
                  <a:pt x="228150" y="1019176"/>
                  <a:pt x="0" y="791026"/>
                  <a:pt x="0" y="509588"/>
                </a:cubicBezTo>
                <a:cubicBezTo>
                  <a:pt x="0" y="298510"/>
                  <a:pt x="128334" y="117406"/>
                  <a:pt x="311233" y="40046"/>
                </a:cubicBezTo>
                <a:lnTo>
                  <a:pt x="373192" y="20813"/>
                </a:lnTo>
                <a:lnTo>
                  <a:pt x="406888" y="10353"/>
                </a:lnTo>
                <a:cubicBezTo>
                  <a:pt x="440061" y="3565"/>
                  <a:pt x="474408" y="0"/>
                  <a:pt x="509588" y="0"/>
                </a:cubicBezTo>
                <a:close/>
              </a:path>
            </a:pathLst>
          </a:custGeom>
          <a:solidFill>
            <a:schemeClr val="accent1">
              <a:lumMod val="60000"/>
              <a:lumOff val="4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0" name="任意多边形: 形状 19"/>
          <p:cNvSpPr/>
          <p:nvPr/>
        </p:nvSpPr>
        <p:spPr>
          <a:xfrm>
            <a:off x="7248798" y="3764146"/>
            <a:ext cx="1882359" cy="1843918"/>
          </a:xfrm>
          <a:custGeom>
            <a:avLst/>
            <a:gdLst>
              <a:gd name="connsiteX0" fmla="*/ 645984 w 1019176"/>
              <a:gd name="connsiteY0" fmla="*/ 0 h 998363"/>
              <a:gd name="connsiteX1" fmla="*/ 707943 w 1019176"/>
              <a:gd name="connsiteY1" fmla="*/ 19233 h 998363"/>
              <a:gd name="connsiteX2" fmla="*/ 1019176 w 1019176"/>
              <a:gd name="connsiteY2" fmla="*/ 488775 h 998363"/>
              <a:gd name="connsiteX3" fmla="*/ 509588 w 1019176"/>
              <a:gd name="connsiteY3" fmla="*/ 998363 h 998363"/>
              <a:gd name="connsiteX4" fmla="*/ 224672 w 1019176"/>
              <a:gd name="connsiteY4" fmla="*/ 911333 h 998363"/>
              <a:gd name="connsiteX5" fmla="*/ 150897 w 1019176"/>
              <a:gd name="connsiteY5" fmla="*/ 850463 h 998363"/>
              <a:gd name="connsiteX6" fmla="*/ 149255 w 1019176"/>
              <a:gd name="connsiteY6" fmla="*/ 849108 h 998363"/>
              <a:gd name="connsiteX7" fmla="*/ 0 w 1019176"/>
              <a:gd name="connsiteY7" fmla="*/ 488775 h 998363"/>
              <a:gd name="connsiteX8" fmla="*/ 10353 w 1019176"/>
              <a:gd name="connsiteY8" fmla="*/ 386075 h 998363"/>
              <a:gd name="connsiteX9" fmla="*/ 14501 w 1019176"/>
              <a:gd name="connsiteY9" fmla="*/ 372712 h 998363"/>
              <a:gd name="connsiteX10" fmla="*/ 48197 w 1019176"/>
              <a:gd name="connsiteY10" fmla="*/ 383172 h 998363"/>
              <a:gd name="connsiteX11" fmla="*/ 150897 w 1019176"/>
              <a:gd name="connsiteY11" fmla="*/ 393525 h 998363"/>
              <a:gd name="connsiteX12" fmla="*/ 253597 w 1019176"/>
              <a:gd name="connsiteY12" fmla="*/ 383172 h 998363"/>
              <a:gd name="connsiteX13" fmla="*/ 287293 w 1019176"/>
              <a:gd name="connsiteY13" fmla="*/ 372712 h 998363"/>
              <a:gd name="connsiteX14" fmla="*/ 349252 w 1019176"/>
              <a:gd name="connsiteY14" fmla="*/ 353479 h 998363"/>
              <a:gd name="connsiteX15" fmla="*/ 620439 w 1019176"/>
              <a:gd name="connsiteY15" fmla="*/ 82292 h 998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19176" h="998363">
                <a:moveTo>
                  <a:pt x="645984" y="0"/>
                </a:moveTo>
                <a:lnTo>
                  <a:pt x="707943" y="19233"/>
                </a:lnTo>
                <a:cubicBezTo>
                  <a:pt x="890842" y="96593"/>
                  <a:pt x="1019176" y="277697"/>
                  <a:pt x="1019176" y="488775"/>
                </a:cubicBezTo>
                <a:cubicBezTo>
                  <a:pt x="1019176" y="770213"/>
                  <a:pt x="791026" y="998363"/>
                  <a:pt x="509588" y="998363"/>
                </a:cubicBezTo>
                <a:cubicBezTo>
                  <a:pt x="404049" y="998363"/>
                  <a:pt x="306003" y="966280"/>
                  <a:pt x="224672" y="911333"/>
                </a:cubicBezTo>
                <a:lnTo>
                  <a:pt x="150897" y="850463"/>
                </a:lnTo>
                <a:lnTo>
                  <a:pt x="149255" y="849108"/>
                </a:lnTo>
                <a:cubicBezTo>
                  <a:pt x="57038" y="756891"/>
                  <a:pt x="0" y="629494"/>
                  <a:pt x="0" y="488775"/>
                </a:cubicBezTo>
                <a:cubicBezTo>
                  <a:pt x="0" y="453595"/>
                  <a:pt x="3565" y="419248"/>
                  <a:pt x="10353" y="386075"/>
                </a:cubicBezTo>
                <a:lnTo>
                  <a:pt x="14501" y="372712"/>
                </a:lnTo>
                <a:lnTo>
                  <a:pt x="48197" y="383172"/>
                </a:lnTo>
                <a:cubicBezTo>
                  <a:pt x="81370" y="389960"/>
                  <a:pt x="115717" y="393525"/>
                  <a:pt x="150897" y="393525"/>
                </a:cubicBezTo>
                <a:cubicBezTo>
                  <a:pt x="186077" y="393525"/>
                  <a:pt x="220424" y="389960"/>
                  <a:pt x="253597" y="383172"/>
                </a:cubicBezTo>
                <a:lnTo>
                  <a:pt x="287293" y="372712"/>
                </a:lnTo>
                <a:lnTo>
                  <a:pt x="349252" y="353479"/>
                </a:lnTo>
                <a:cubicBezTo>
                  <a:pt x="471184" y="301906"/>
                  <a:pt x="568866" y="204224"/>
                  <a:pt x="620439" y="82292"/>
                </a:cubicBezTo>
                <a:close/>
              </a:path>
            </a:pathLst>
          </a:custGeom>
          <a:solidFill>
            <a:schemeClr val="accent1">
              <a:lumMod val="20000"/>
              <a:lumOff val="8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1" name="任意多边形: 形状 20"/>
          <p:cNvSpPr/>
          <p:nvPr/>
        </p:nvSpPr>
        <p:spPr>
          <a:xfrm>
            <a:off x="7275582" y="3998868"/>
            <a:ext cx="503831" cy="492096"/>
          </a:xfrm>
          <a:custGeom>
            <a:avLst/>
            <a:gdLst>
              <a:gd name="connsiteX0" fmla="*/ 136397 w 272792"/>
              <a:gd name="connsiteY0" fmla="*/ 0 h 266438"/>
              <a:gd name="connsiteX1" fmla="*/ 138038 w 272792"/>
              <a:gd name="connsiteY1" fmla="*/ 1354 h 266438"/>
              <a:gd name="connsiteX2" fmla="*/ 247247 w 272792"/>
              <a:gd name="connsiteY2" fmla="*/ 163332 h 266438"/>
              <a:gd name="connsiteX3" fmla="*/ 272792 w 272792"/>
              <a:gd name="connsiteY3" fmla="*/ 245625 h 266438"/>
              <a:gd name="connsiteX4" fmla="*/ 239096 w 272792"/>
              <a:gd name="connsiteY4" fmla="*/ 256085 h 266438"/>
              <a:gd name="connsiteX5" fmla="*/ 136396 w 272792"/>
              <a:gd name="connsiteY5" fmla="*/ 266438 h 266438"/>
              <a:gd name="connsiteX6" fmla="*/ 33696 w 272792"/>
              <a:gd name="connsiteY6" fmla="*/ 256085 h 266438"/>
              <a:gd name="connsiteX7" fmla="*/ 0 w 272792"/>
              <a:gd name="connsiteY7" fmla="*/ 245625 h 266438"/>
              <a:gd name="connsiteX8" fmla="*/ 25545 w 272792"/>
              <a:gd name="connsiteY8" fmla="*/ 163333 h 266438"/>
              <a:gd name="connsiteX9" fmla="*/ 134754 w 272792"/>
              <a:gd name="connsiteY9" fmla="*/ 1355 h 266438"/>
              <a:gd name="connsiteX10" fmla="*/ 136397 w 272792"/>
              <a:gd name="connsiteY10" fmla="*/ 0 h 26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92" h="266438">
                <a:moveTo>
                  <a:pt x="136397" y="0"/>
                </a:moveTo>
                <a:lnTo>
                  <a:pt x="138038" y="1354"/>
                </a:lnTo>
                <a:cubicBezTo>
                  <a:pt x="184147" y="47463"/>
                  <a:pt x="221461" y="102366"/>
                  <a:pt x="247247" y="163332"/>
                </a:cubicBezTo>
                <a:lnTo>
                  <a:pt x="272792" y="245625"/>
                </a:lnTo>
                <a:lnTo>
                  <a:pt x="239096" y="256085"/>
                </a:lnTo>
                <a:cubicBezTo>
                  <a:pt x="205923" y="262873"/>
                  <a:pt x="171576" y="266438"/>
                  <a:pt x="136396" y="266438"/>
                </a:cubicBezTo>
                <a:cubicBezTo>
                  <a:pt x="101216" y="266438"/>
                  <a:pt x="66869" y="262873"/>
                  <a:pt x="33696" y="256085"/>
                </a:cubicBezTo>
                <a:lnTo>
                  <a:pt x="0" y="245625"/>
                </a:lnTo>
                <a:lnTo>
                  <a:pt x="25545" y="163333"/>
                </a:lnTo>
                <a:cubicBezTo>
                  <a:pt x="51332" y="102367"/>
                  <a:pt x="88645" y="47464"/>
                  <a:pt x="134754" y="1355"/>
                </a:cubicBezTo>
                <a:lnTo>
                  <a:pt x="136397" y="0"/>
                </a:lnTo>
                <a:close/>
              </a:path>
            </a:pathLst>
          </a:custGeom>
          <a:solidFill>
            <a:schemeClr val="bg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2" name="文本框 21"/>
          <p:cNvSpPr txBox="1"/>
          <p:nvPr/>
        </p:nvSpPr>
        <p:spPr>
          <a:xfrm>
            <a:off x="6540443" y="3078350"/>
            <a:ext cx="1974105" cy="553085"/>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硬件平台准备</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6015990" y="4405630"/>
            <a:ext cx="1336675" cy="918845"/>
          </a:xfrm>
          <a:prstGeom prst="rect">
            <a:avLst/>
          </a:prstGeom>
          <a:noFill/>
        </p:spPr>
        <p:txBody>
          <a:bodyPr wrap="square" rtlCol="0">
            <a:noAutofit/>
          </a:bodyPr>
          <a:lstStyle/>
          <a:p>
            <a:pPr algn="ctr"/>
            <a:r>
              <a:rPr lang="zh-CN" altLang="en-US" dirty="0">
                <a:solidFill>
                  <a:schemeClr val="tx1"/>
                </a:solidFill>
                <a:latin typeface="微软雅黑" panose="020B0503020204020204" pitchFamily="34" charset="-122"/>
                <a:ea typeface="微软雅黑" panose="020B0503020204020204" pitchFamily="34" charset="-122"/>
              </a:rPr>
              <a:t>技术环境</a:t>
            </a:r>
          </a:p>
          <a:p>
            <a:pPr algn="ctr"/>
            <a:r>
              <a:rPr lang="zh-CN" altLang="en-US" dirty="0">
                <a:solidFill>
                  <a:schemeClr val="tx1"/>
                </a:solidFill>
                <a:latin typeface="微软雅黑" panose="020B0503020204020204" pitchFamily="34" charset="-122"/>
                <a:ea typeface="微软雅黑" panose="020B0503020204020204" pitchFamily="34" charset="-122"/>
              </a:rPr>
              <a:t>准备</a:t>
            </a:r>
            <a:endParaRPr lang="zh-CN" altLang="en-US" dirty="0">
              <a:solidFill>
                <a:srgbClr val="00B0F0"/>
              </a:solidFill>
              <a:latin typeface="微软雅黑" panose="020B0503020204020204" pitchFamily="34" charset="-122"/>
              <a:ea typeface="微软雅黑" panose="020B0503020204020204" pitchFamily="34" charset="-122"/>
            </a:endParaRPr>
          </a:p>
          <a:p>
            <a:pPr algn="ctr"/>
            <a:endParaRPr lang="zh-CN" altLang="en-US" sz="1200" dirty="0">
              <a:solidFill>
                <a:srgbClr val="00B0F0"/>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7352474" y="4448169"/>
            <a:ext cx="1974105" cy="829945"/>
          </a:xfrm>
          <a:prstGeom prst="rect">
            <a:avLst/>
          </a:prstGeom>
          <a:noFill/>
        </p:spPr>
        <p:txBody>
          <a:bodyPr wrap="square" rtlCol="0">
            <a:spAutoFit/>
          </a:bodyPr>
          <a:lstStyle/>
          <a:p>
            <a:pPr algn="ctr"/>
            <a:r>
              <a:rPr lang="zh-CN" altLang="en-US" dirty="0">
                <a:solidFill>
                  <a:srgbClr val="0070C0"/>
                </a:solidFill>
                <a:latin typeface="微软雅黑" panose="020B0503020204020204" pitchFamily="34" charset="-122"/>
                <a:ea typeface="微软雅黑" panose="020B0503020204020204" pitchFamily="34" charset="-122"/>
              </a:rPr>
              <a:t>数据与知识</a:t>
            </a:r>
          </a:p>
          <a:p>
            <a:pPr algn="ctr"/>
            <a:r>
              <a:rPr lang="zh-CN" altLang="en-US" dirty="0">
                <a:solidFill>
                  <a:srgbClr val="0070C0"/>
                </a:solidFill>
                <a:latin typeface="微软雅黑" panose="020B0503020204020204" pitchFamily="34" charset="-122"/>
                <a:ea typeface="微软雅黑" panose="020B0503020204020204" pitchFamily="34" charset="-122"/>
              </a:rPr>
              <a:t>准备</a:t>
            </a:r>
            <a:endParaRPr lang="zh-CN" altLang="en-US"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4043664" y="1641397"/>
            <a:ext cx="7176582" cy="523220"/>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完成四轮全向移动机器人底盘结构设计与加工，完成</a:t>
            </a:r>
            <a:r>
              <a:rPr lang="en-US" altLang="zh-CN" sz="1400" dirty="0">
                <a:latin typeface="微软雅黑" panose="020B0503020204020204" pitchFamily="34" charset="-122"/>
                <a:ea typeface="微软雅黑" panose="020B0503020204020204" pitchFamily="34" charset="-122"/>
              </a:rPr>
              <a:t> STM32 </a:t>
            </a:r>
            <a:r>
              <a:rPr lang="zh-CN" altLang="en-US" sz="1400" dirty="0">
                <a:latin typeface="微软雅黑" panose="020B0503020204020204" pitchFamily="34" charset="-122"/>
                <a:ea typeface="微软雅黑" panose="020B0503020204020204" pitchFamily="34" charset="-122"/>
              </a:rPr>
              <a:t>控制板、</a:t>
            </a:r>
            <a:r>
              <a:rPr lang="en-US" altLang="zh-CN" sz="1400" dirty="0">
                <a:latin typeface="微软雅黑" panose="020B0503020204020204" pitchFamily="34" charset="-122"/>
                <a:ea typeface="微软雅黑" panose="020B0503020204020204" pitchFamily="34" charset="-122"/>
              </a:rPr>
              <a:t>Jetson </a:t>
            </a:r>
            <a:r>
              <a:rPr lang="zh-CN" altLang="en-US" sz="1400" dirty="0">
                <a:latin typeface="微软雅黑" panose="020B0503020204020204" pitchFamily="34" charset="-122"/>
                <a:ea typeface="微软雅黑" panose="020B0503020204020204" pitchFamily="34" charset="-122"/>
              </a:rPr>
              <a:t>边缘计算平台、激光雷达、多模态传感器的选型与集成，搭建稳定硬件实验环境。</a:t>
            </a:r>
          </a:p>
        </p:txBody>
      </p:sp>
      <p:sp>
        <p:nvSpPr>
          <p:cNvPr id="39" name="文本框 38"/>
          <p:cNvSpPr txBox="1"/>
          <p:nvPr/>
        </p:nvSpPr>
        <p:spPr>
          <a:xfrm>
            <a:off x="3397103" y="4490909"/>
            <a:ext cx="2420078" cy="1014730"/>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搭建</a:t>
            </a:r>
            <a:r>
              <a:rPr lang="en-US" altLang="zh-CN" sz="1200" dirty="0">
                <a:latin typeface="微软雅黑" panose="020B0503020204020204" pitchFamily="34" charset="-122"/>
                <a:ea typeface="微软雅黑" panose="020B0503020204020204" pitchFamily="34" charset="-122"/>
              </a:rPr>
              <a:t> ROS2+Humble </a:t>
            </a:r>
            <a:r>
              <a:rPr lang="zh-CN" altLang="en-US" sz="1200" dirty="0">
                <a:latin typeface="微软雅黑" panose="020B0503020204020204" pitchFamily="34" charset="-122"/>
                <a:ea typeface="微软雅黑" panose="020B0503020204020204" pitchFamily="34" charset="-122"/>
              </a:rPr>
              <a:t>开发环境，配置</a:t>
            </a:r>
            <a:r>
              <a:rPr lang="en-US" altLang="zh-CN" sz="1200" dirty="0">
                <a:latin typeface="微软雅黑" panose="020B0503020204020204" pitchFamily="34" charset="-122"/>
                <a:ea typeface="微软雅黑" panose="020B0503020204020204" pitchFamily="34" charset="-122"/>
              </a:rPr>
              <a:t> Ubuntu </a:t>
            </a:r>
            <a:r>
              <a:rPr lang="zh-CN" altLang="en-US" sz="1200" dirty="0">
                <a:latin typeface="微软雅黑" panose="020B0503020204020204" pitchFamily="34" charset="-122"/>
                <a:ea typeface="微软雅黑" panose="020B0503020204020204" pitchFamily="34" charset="-122"/>
              </a:rPr>
              <a:t>系统、</a:t>
            </a:r>
            <a:r>
              <a:rPr lang="en-US" altLang="zh-CN" sz="1200" dirty="0">
                <a:latin typeface="微软雅黑" panose="020B0503020204020204" pitchFamily="34" charset="-122"/>
                <a:ea typeface="微软雅黑" panose="020B0503020204020204" pitchFamily="34" charset="-122"/>
              </a:rPr>
              <a:t>PyTorch </a:t>
            </a:r>
            <a:r>
              <a:rPr lang="zh-CN" altLang="en-US" sz="1200" dirty="0">
                <a:latin typeface="微软雅黑" panose="020B0503020204020204" pitchFamily="34" charset="-122"/>
                <a:ea typeface="微软雅黑" panose="020B0503020204020204" pitchFamily="34" charset="-122"/>
              </a:rPr>
              <a:t>深度学习框架、</a:t>
            </a:r>
            <a:r>
              <a:rPr lang="en-US" altLang="zh-CN" sz="1200" dirty="0">
                <a:latin typeface="微软雅黑" panose="020B0503020204020204" pitchFamily="34" charset="-122"/>
                <a:ea typeface="微软雅黑" panose="020B0503020204020204" pitchFamily="34" charset="-122"/>
              </a:rPr>
              <a:t>TensorRT </a:t>
            </a:r>
            <a:r>
              <a:rPr lang="zh-CN" altLang="en-US" sz="1200" dirty="0">
                <a:latin typeface="微软雅黑" panose="020B0503020204020204" pitchFamily="34" charset="-122"/>
                <a:ea typeface="微软雅黑" panose="020B0503020204020204" pitchFamily="34" charset="-122"/>
              </a:rPr>
              <a:t>加速工具，完成</a:t>
            </a:r>
            <a:r>
              <a:rPr lang="en-US" altLang="zh-CN" sz="1200" dirty="0">
                <a:latin typeface="微软雅黑" panose="020B0503020204020204" pitchFamily="34" charset="-122"/>
                <a:ea typeface="微软雅黑" panose="020B0503020204020204" pitchFamily="34" charset="-122"/>
              </a:rPr>
              <a:t> SLAM</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YOLOv8</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VLM</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RAG </a:t>
            </a:r>
            <a:r>
              <a:rPr lang="zh-CN" altLang="en-US" sz="1200" dirty="0">
                <a:latin typeface="微软雅黑" panose="020B0503020204020204" pitchFamily="34" charset="-122"/>
                <a:ea typeface="微软雅黑" panose="020B0503020204020204" pitchFamily="34" charset="-122"/>
              </a:rPr>
              <a:t>等核心算法环境部署。</a:t>
            </a:r>
          </a:p>
        </p:txBody>
      </p:sp>
      <p:sp>
        <p:nvSpPr>
          <p:cNvPr id="40" name="文本框 39"/>
          <p:cNvSpPr txBox="1"/>
          <p:nvPr/>
        </p:nvSpPr>
        <p:spPr>
          <a:xfrm>
            <a:off x="9303392" y="4310599"/>
            <a:ext cx="2420078" cy="1014730"/>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收集工业设备手册、故障案例、维修文档等资料，构建工业设备知识图谱与向量数据库，准备用于模型训练与验证的工业场景数据集。</a:t>
            </a:r>
          </a:p>
        </p:txBody>
      </p:sp>
      <p:sp>
        <p:nvSpPr>
          <p:cNvPr id="42" name="矩形 41"/>
          <p:cNvSpPr/>
          <p:nvPr/>
        </p:nvSpPr>
        <p:spPr>
          <a:xfrm>
            <a:off x="3463057" y="5520686"/>
            <a:ext cx="2124958" cy="876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9377474" y="5504723"/>
            <a:ext cx="2124958" cy="876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3787631" y="1641396"/>
            <a:ext cx="84507" cy="646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Freeform 18"/>
          <p:cNvSpPr/>
          <p:nvPr/>
        </p:nvSpPr>
        <p:spPr bwMode="auto">
          <a:xfrm rot="1573306" flipH="1">
            <a:off x="5618388" y="2878463"/>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
        <p:nvSpPr>
          <p:cNvPr id="46" name="Freeform 18"/>
          <p:cNvSpPr/>
          <p:nvPr/>
        </p:nvSpPr>
        <p:spPr bwMode="auto">
          <a:xfrm rot="19761877" flipV="1">
            <a:off x="8990491" y="2893478"/>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
        <p:nvSpPr>
          <p:cNvPr id="47" name="Freeform 18"/>
          <p:cNvSpPr/>
          <p:nvPr/>
        </p:nvSpPr>
        <p:spPr bwMode="auto">
          <a:xfrm rot="5400000" flipV="1">
            <a:off x="7455237" y="5348511"/>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pic>
        <p:nvPicPr>
          <p:cNvPr id="3" name="图片 2" descr="76b499643fee34819cb883d90f0351cf"/>
          <p:cNvPicPr>
            <a:picLocks noChangeAspect="1"/>
          </p:cNvPicPr>
          <p:nvPr/>
        </p:nvPicPr>
        <p:blipFill>
          <a:blip r:embed="rId3"/>
          <a:stretch>
            <a:fillRect/>
          </a:stretch>
        </p:blipFill>
        <p:spPr>
          <a:xfrm>
            <a:off x="10965180" y="0"/>
            <a:ext cx="748030" cy="748030"/>
          </a:xfrm>
          <a:prstGeom prst="rect">
            <a:avLst/>
          </a:prstGeom>
        </p:spPr>
      </p:pic>
      <p:sp>
        <p:nvSpPr>
          <p:cNvPr id="2" name="矩形 1">
            <a:extLst>
              <a:ext uri="{FF2B5EF4-FFF2-40B4-BE49-F238E27FC236}">
                <a16:creationId xmlns:a16="http://schemas.microsoft.com/office/drawing/2014/main" id="{A5BC84D7-86D6-3A6F-2A33-701B56975988}"/>
              </a:ext>
            </a:extLst>
          </p:cNvPr>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3B38809A-9C8C-2496-B3FE-B1F39876A335}"/>
              </a:ext>
            </a:extLst>
          </p:cNvPr>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7" name="文本框 6">
            <a:extLst>
              <a:ext uri="{FF2B5EF4-FFF2-40B4-BE49-F238E27FC236}">
                <a16:creationId xmlns:a16="http://schemas.microsoft.com/office/drawing/2014/main" id="{3252A4C1-AFF2-94DB-B1E7-B3FBCC28F2C4}"/>
              </a:ext>
            </a:extLst>
          </p:cNvPr>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grpSp>
        <p:nvGrpSpPr>
          <p:cNvPr id="8" name="组合 7">
            <a:extLst>
              <a:ext uri="{FF2B5EF4-FFF2-40B4-BE49-F238E27FC236}">
                <a16:creationId xmlns:a16="http://schemas.microsoft.com/office/drawing/2014/main" id="{56F35DE0-3430-7FF2-9610-D4386DD16057}"/>
              </a:ext>
            </a:extLst>
          </p:cNvPr>
          <p:cNvGrpSpPr/>
          <p:nvPr/>
        </p:nvGrpSpPr>
        <p:grpSpPr>
          <a:xfrm>
            <a:off x="-2" y="4284411"/>
            <a:ext cx="2867026" cy="921872"/>
            <a:chOff x="-2" y="1537960"/>
            <a:chExt cx="2867026" cy="921872"/>
          </a:xfrm>
        </p:grpSpPr>
        <p:sp>
          <p:nvSpPr>
            <p:cNvPr id="9" name="矩形 8">
              <a:extLst>
                <a:ext uri="{FF2B5EF4-FFF2-40B4-BE49-F238E27FC236}">
                  <a16:creationId xmlns:a16="http://schemas.microsoft.com/office/drawing/2014/main" id="{4F877143-7231-8EE3-3195-D19614377E30}"/>
                </a:ext>
              </a:extLst>
            </p:cNvPr>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9">
              <a:extLst>
                <a:ext uri="{FF2B5EF4-FFF2-40B4-BE49-F238E27FC236}">
                  <a16:creationId xmlns:a16="http://schemas.microsoft.com/office/drawing/2014/main" id="{E3ACA836-1F15-2011-7655-27D30C788109}"/>
                </a:ext>
              </a:extLst>
            </p:cNvPr>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538FB2FE-6F24-50D4-3131-EC4061BED4A8}"/>
              </a:ext>
            </a:extLst>
          </p:cNvPr>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12" name="文本框 11">
            <a:extLst>
              <a:ext uri="{FF2B5EF4-FFF2-40B4-BE49-F238E27FC236}">
                <a16:creationId xmlns:a16="http://schemas.microsoft.com/office/drawing/2014/main" id="{1A4659C9-4AAF-81FA-AC20-FF1CEF2CC2D5}"/>
              </a:ext>
            </a:extLst>
          </p:cNvPr>
          <p:cNvSpPr txBox="1"/>
          <p:nvPr/>
        </p:nvSpPr>
        <p:spPr>
          <a:xfrm>
            <a:off x="542925" y="297037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26" name="文本框 25">
            <a:extLst>
              <a:ext uri="{FF2B5EF4-FFF2-40B4-BE49-F238E27FC236}">
                <a16:creationId xmlns:a16="http://schemas.microsoft.com/office/drawing/2014/main" id="{266B4DCE-8AEC-7B5D-A0E8-AC24C8FD21FF}"/>
              </a:ext>
            </a:extLst>
          </p:cNvPr>
          <p:cNvSpPr txBox="1"/>
          <p:nvPr/>
        </p:nvSpPr>
        <p:spPr>
          <a:xfrm>
            <a:off x="542925" y="440404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研究方法</a:t>
            </a:r>
          </a:p>
        </p:txBody>
      </p:sp>
      <p:grpSp>
        <p:nvGrpSpPr>
          <p:cNvPr id="87" name="组合 86"/>
          <p:cNvGrpSpPr/>
          <p:nvPr>
            <p:custDataLst>
              <p:tags r:id="rId1"/>
            </p:custDataLst>
          </p:nvPr>
        </p:nvGrpSpPr>
        <p:grpSpPr>
          <a:xfrm>
            <a:off x="7049520" y="1208896"/>
            <a:ext cx="1313397" cy="1651534"/>
            <a:chOff x="8091905" y="1675745"/>
            <a:chExt cx="1313397" cy="1651534"/>
          </a:xfrm>
        </p:grpSpPr>
        <p:grpSp>
          <p:nvGrpSpPr>
            <p:cNvPr id="36" name="组合 3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8174990" y="1675745"/>
              <a:ext cx="1230312" cy="504825"/>
              <a:chOff x="7434263" y="1960563"/>
              <a:chExt cx="1230312" cy="504825"/>
            </a:xfrm>
            <a:solidFill>
              <a:srgbClr val="2D2C3A"/>
            </a:solidFill>
          </p:grpSpPr>
          <p:sp>
            <p:nvSpPr>
              <p:cNvPr id="37" name="Freeform 36"/>
              <p:cNvSpPr/>
              <p:nvPr>
                <p:custDataLst>
                  <p:tags r:id="rId37"/>
                </p:custDataLst>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solidFill>
                <a:schemeClr val="accent1">
                  <a:lumMod val="60000"/>
                  <a:lumOff val="40000"/>
                </a:schemeClr>
              </a:soli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8" name="Freeform 37"/>
              <p:cNvSpPr/>
              <p:nvPr>
                <p:custDataLst>
                  <p:tags r:id="rId38"/>
                </p:custDataLst>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solidFill>
                <a:schemeClr val="accent1">
                  <a:lumMod val="60000"/>
                  <a:lumOff val="40000"/>
                </a:schemeClr>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nvGrpSpPr>
            <p:cNvPr id="61" name="组合 60"/>
            <p:cNvGrpSpPr/>
            <p:nvPr/>
          </p:nvGrpSpPr>
          <p:grpSpPr>
            <a:xfrm>
              <a:off x="8091905" y="2095638"/>
              <a:ext cx="1231641" cy="1231641"/>
              <a:chOff x="5113438" y="2105344"/>
              <a:chExt cx="1231641" cy="1231641"/>
            </a:xfrm>
          </p:grpSpPr>
          <p:sp>
            <p:nvSpPr>
              <p:cNvPr id="62" name="椭圆 61"/>
              <p:cNvSpPr/>
              <p:nvPr>
                <p:custDataLst>
                  <p:tags r:id="rId33"/>
                </p:custDataLst>
              </p:nvPr>
            </p:nvSpPr>
            <p:spPr>
              <a:xfrm>
                <a:off x="5113438" y="2105344"/>
                <a:ext cx="1231641" cy="1231641"/>
              </a:xfrm>
              <a:prstGeom prst="ellipse">
                <a:avLst/>
              </a:prstGeom>
              <a:solidFill>
                <a:schemeClr val="accent1">
                  <a:lumMod val="60000"/>
                  <a:lumOff val="40000"/>
                </a:schemeClr>
              </a:soli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62"/>
              <p:cNvGrpSpPr/>
              <p:nvPr/>
            </p:nvGrpSpPr>
            <p:grpSpPr>
              <a:xfrm>
                <a:off x="5504988" y="2496894"/>
                <a:ext cx="448540" cy="448540"/>
                <a:chOff x="5394312" y="2141343"/>
                <a:chExt cx="359165" cy="359165"/>
              </a:xfrm>
              <a:solidFill>
                <a:schemeClr val="bg1"/>
              </a:solidFill>
            </p:grpSpPr>
            <p:sp>
              <p:nvSpPr>
                <p:cNvPr id="64" name="AutoShape 56"/>
                <p:cNvSpPr/>
                <p:nvPr>
                  <p:custDataLst>
                    <p:tags r:id="rId34"/>
                  </p:custDataLst>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5" name="AutoShape 57"/>
                <p:cNvSpPr/>
                <p:nvPr>
                  <p:custDataLst>
                    <p:tags r:id="rId35"/>
                  </p:custDataLst>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6" name="AutoShape 58"/>
                <p:cNvSpPr/>
                <p:nvPr>
                  <p:custDataLst>
                    <p:tags r:id="rId36"/>
                  </p:custDataLst>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grpSp>
      <p:grpSp>
        <p:nvGrpSpPr>
          <p:cNvPr id="89" name="组合 88"/>
          <p:cNvGrpSpPr/>
          <p:nvPr>
            <p:custDataLst>
              <p:tags r:id="rId2"/>
            </p:custDataLst>
          </p:nvPr>
        </p:nvGrpSpPr>
        <p:grpSpPr>
          <a:xfrm>
            <a:off x="4132380" y="1208896"/>
            <a:ext cx="1284713" cy="1651534"/>
            <a:chOff x="3459422" y="1675745"/>
            <a:chExt cx="1284713" cy="1651534"/>
          </a:xfrm>
        </p:grpSpPr>
        <p:grpSp>
          <p:nvGrpSpPr>
            <p:cNvPr id="30" name="组合 29"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3513823" y="1675745"/>
              <a:ext cx="1230312" cy="504825"/>
              <a:chOff x="7434263" y="1960563"/>
              <a:chExt cx="1230312" cy="504825"/>
            </a:xfrm>
            <a:solidFill>
              <a:srgbClr val="2D2C3A"/>
            </a:solidFill>
          </p:grpSpPr>
          <p:sp>
            <p:nvSpPr>
              <p:cNvPr id="31" name="Freeform 36"/>
              <p:cNvSpPr/>
              <p:nvPr>
                <p:custDataLst>
                  <p:tags r:id="rId31"/>
                </p:custDataLst>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2" name="Freeform 37"/>
              <p:cNvSpPr/>
              <p:nvPr>
                <p:custDataLst>
                  <p:tags r:id="rId32"/>
                </p:custDataLst>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67" name="组合 66"/>
            <p:cNvGrpSpPr/>
            <p:nvPr/>
          </p:nvGrpSpPr>
          <p:grpSpPr>
            <a:xfrm>
              <a:off x="3459422" y="2095638"/>
              <a:ext cx="1231641" cy="1231641"/>
              <a:chOff x="765384" y="2105344"/>
              <a:chExt cx="1231641" cy="1231641"/>
            </a:xfrm>
          </p:grpSpPr>
          <p:sp>
            <p:nvSpPr>
              <p:cNvPr id="68" name="椭圆 67"/>
              <p:cNvSpPr/>
              <p:nvPr>
                <p:custDataLst>
                  <p:tags r:id="rId17"/>
                </p:custDataLst>
              </p:nvPr>
            </p:nvSpPr>
            <p:spPr>
              <a:xfrm>
                <a:off x="765384" y="2105344"/>
                <a:ext cx="1231641" cy="1231641"/>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9" name="组合 162"/>
              <p:cNvGrpSpPr/>
              <p:nvPr/>
            </p:nvGrpSpPr>
            <p:grpSpPr bwMode="auto">
              <a:xfrm>
                <a:off x="1156187" y="2497138"/>
                <a:ext cx="450035" cy="448053"/>
                <a:chOff x="4675188" y="1422400"/>
                <a:chExt cx="360362" cy="358775"/>
              </a:xfrm>
              <a:solidFill>
                <a:schemeClr val="bg1"/>
              </a:solidFill>
            </p:grpSpPr>
            <p:sp>
              <p:nvSpPr>
                <p:cNvPr id="70" name="AutoShape 84"/>
                <p:cNvSpPr/>
                <p:nvPr>
                  <p:custDataLst>
                    <p:tags r:id="rId18"/>
                  </p:custDataLst>
                </p:nvPr>
              </p:nvSpPr>
              <p:spPr bwMode="auto">
                <a:xfrm>
                  <a:off x="4675188" y="1422400"/>
                  <a:ext cx="360362"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1" name="AutoShape 85"/>
                <p:cNvSpPr/>
                <p:nvPr>
                  <p:custDataLst>
                    <p:tags r:id="rId19"/>
                  </p:custDataLst>
                </p:nvPr>
              </p:nvSpPr>
              <p:spPr bwMode="auto">
                <a:xfrm>
                  <a:off x="4889500" y="1557338"/>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2" name="AutoShape 86"/>
                <p:cNvSpPr/>
                <p:nvPr>
                  <p:custDataLst>
                    <p:tags r:id="rId20"/>
                  </p:custDataLst>
                </p:nvPr>
              </p:nvSpPr>
              <p:spPr bwMode="auto">
                <a:xfrm>
                  <a:off x="4889500" y="1522413"/>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3" name="AutoShape 87"/>
                <p:cNvSpPr/>
                <p:nvPr>
                  <p:custDataLst>
                    <p:tags r:id="rId21"/>
                  </p:custDataLst>
                </p:nvPr>
              </p:nvSpPr>
              <p:spPr bwMode="auto">
                <a:xfrm>
                  <a:off x="4889500" y="1489075"/>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4" name="AutoShape 88"/>
                <p:cNvSpPr/>
                <p:nvPr>
                  <p:custDataLst>
                    <p:tags r:id="rId22"/>
                  </p:custDataLst>
                </p:nvPr>
              </p:nvSpPr>
              <p:spPr bwMode="auto">
                <a:xfrm>
                  <a:off x="4765675"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5" name="AutoShape 89"/>
                <p:cNvSpPr/>
                <p:nvPr>
                  <p:custDataLst>
                    <p:tags r:id="rId23"/>
                  </p:custDataLst>
                </p:nvPr>
              </p:nvSpPr>
              <p:spPr bwMode="auto">
                <a:xfrm>
                  <a:off x="4765675"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6" name="AutoShape 90"/>
                <p:cNvSpPr/>
                <p:nvPr>
                  <p:custDataLst>
                    <p:tags r:id="rId24"/>
                  </p:custDataLst>
                </p:nvPr>
              </p:nvSpPr>
              <p:spPr bwMode="auto">
                <a:xfrm>
                  <a:off x="4765675"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7" name="AutoShape 91"/>
                <p:cNvSpPr/>
                <p:nvPr>
                  <p:custDataLst>
                    <p:tags r:id="rId25"/>
                  </p:custDataLst>
                </p:nvPr>
              </p:nvSpPr>
              <p:spPr bwMode="auto">
                <a:xfrm>
                  <a:off x="4889500"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8" name="AutoShape 92"/>
                <p:cNvSpPr/>
                <p:nvPr>
                  <p:custDataLst>
                    <p:tags r:id="rId26"/>
                  </p:custDataLst>
                </p:nvPr>
              </p:nvSpPr>
              <p:spPr bwMode="auto">
                <a:xfrm>
                  <a:off x="4889500"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9" name="AutoShape 93"/>
                <p:cNvSpPr/>
                <p:nvPr>
                  <p:custDataLst>
                    <p:tags r:id="rId27"/>
                  </p:custDataLst>
                </p:nvPr>
              </p:nvSpPr>
              <p:spPr bwMode="auto">
                <a:xfrm>
                  <a:off x="4889500"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80" name="AutoShape 94"/>
                <p:cNvSpPr/>
                <p:nvPr>
                  <p:custDataLst>
                    <p:tags r:id="rId28"/>
                  </p:custDataLst>
                </p:nvPr>
              </p:nvSpPr>
              <p:spPr bwMode="auto">
                <a:xfrm>
                  <a:off x="4765675" y="1590675"/>
                  <a:ext cx="223838"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81" name="AutoShape 95"/>
                <p:cNvSpPr/>
                <p:nvPr>
                  <p:custDataLst>
                    <p:tags r:id="rId29"/>
                  </p:custDataLst>
                </p:nvPr>
              </p:nvSpPr>
              <p:spPr bwMode="auto">
                <a:xfrm>
                  <a:off x="4765675" y="1624013"/>
                  <a:ext cx="223838"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82" name="AutoShape 96"/>
                <p:cNvSpPr/>
                <p:nvPr>
                  <p:custDataLst>
                    <p:tags r:id="rId30"/>
                  </p:custDataLst>
                </p:nvPr>
              </p:nvSpPr>
              <p:spPr bwMode="auto">
                <a:xfrm>
                  <a:off x="4765675" y="1466850"/>
                  <a:ext cx="100013" cy="101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grpSp>
      <p:sp>
        <p:nvSpPr>
          <p:cNvPr id="91" name="任意多边形: 形状 90"/>
          <p:cNvSpPr/>
          <p:nvPr>
            <p:custDataLst>
              <p:tags r:id="rId3"/>
            </p:custDataLst>
          </p:nvPr>
        </p:nvSpPr>
        <p:spPr>
          <a:xfrm>
            <a:off x="3589776" y="3656680"/>
            <a:ext cx="2581809" cy="281990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20000"/>
              <a:lumOff val="80000"/>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grpSp>
        <p:nvGrpSpPr>
          <p:cNvPr id="104" name="组合 103"/>
          <p:cNvGrpSpPr/>
          <p:nvPr>
            <p:custDataLst>
              <p:tags r:id="rId4"/>
            </p:custDataLst>
          </p:nvPr>
        </p:nvGrpSpPr>
        <p:grpSpPr>
          <a:xfrm>
            <a:off x="9995344" y="1208896"/>
            <a:ext cx="1313397" cy="1651534"/>
            <a:chOff x="9073333" y="1730607"/>
            <a:chExt cx="1313397" cy="1651534"/>
          </a:xfrm>
        </p:grpSpPr>
        <p:grpSp>
          <p:nvGrpSpPr>
            <p:cNvPr id="94" name="组合 93"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9156418" y="1730607"/>
              <a:ext cx="1230312" cy="504825"/>
              <a:chOff x="7434263" y="1960563"/>
              <a:chExt cx="1230312" cy="504825"/>
            </a:xfrm>
            <a:solidFill>
              <a:srgbClr val="2D2C3A"/>
            </a:solidFill>
          </p:grpSpPr>
          <p:sp>
            <p:nvSpPr>
              <p:cNvPr id="101" name="Freeform 36"/>
              <p:cNvSpPr/>
              <p:nvPr>
                <p:custDataLst>
                  <p:tags r:id="rId15"/>
                </p:custDataLst>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2" name="Freeform 37"/>
              <p:cNvSpPr/>
              <p:nvPr>
                <p:custDataLst>
                  <p:tags r:id="rId16"/>
                </p:custDataLst>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sp>
          <p:nvSpPr>
            <p:cNvPr id="96" name="椭圆 95"/>
            <p:cNvSpPr/>
            <p:nvPr>
              <p:custDataLst>
                <p:tags r:id="rId13"/>
              </p:custDataLst>
            </p:nvPr>
          </p:nvSpPr>
          <p:spPr>
            <a:xfrm>
              <a:off x="9073333" y="2150500"/>
              <a:ext cx="1231641" cy="1231641"/>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AutoShape 112"/>
            <p:cNvSpPr/>
            <p:nvPr>
              <p:custDataLst>
                <p:tags r:id="rId14"/>
              </p:custDataLst>
            </p:nvPr>
          </p:nvSpPr>
          <p:spPr bwMode="auto">
            <a:xfrm>
              <a:off x="9464135" y="2525417"/>
              <a:ext cx="450036" cy="448053"/>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sp>
        <p:nvSpPr>
          <p:cNvPr id="108" name="任意多边形: 形状 107"/>
          <p:cNvSpPr/>
          <p:nvPr>
            <p:custDataLst>
              <p:tags r:id="rId5"/>
            </p:custDataLst>
          </p:nvPr>
        </p:nvSpPr>
        <p:spPr>
          <a:xfrm>
            <a:off x="6465326" y="3656680"/>
            <a:ext cx="2581809" cy="281990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60000"/>
              <a:lumOff val="40000"/>
              <a:alpha val="3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sp>
        <p:nvSpPr>
          <p:cNvPr id="109" name="任意多边形: 形状 108"/>
          <p:cNvSpPr/>
          <p:nvPr>
            <p:custDataLst>
              <p:tags r:id="rId6"/>
            </p:custDataLst>
          </p:nvPr>
        </p:nvSpPr>
        <p:spPr>
          <a:xfrm>
            <a:off x="9340875" y="3656680"/>
            <a:ext cx="2581809" cy="281990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20000"/>
              <a:lumOff val="80000"/>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sp>
        <p:nvSpPr>
          <p:cNvPr id="111" name="文本框 110"/>
          <p:cNvSpPr txBox="1"/>
          <p:nvPr>
            <p:custDataLst>
              <p:tags r:id="rId7"/>
            </p:custDataLst>
          </p:nvPr>
        </p:nvSpPr>
        <p:spPr>
          <a:xfrm>
            <a:off x="3728051" y="2955384"/>
            <a:ext cx="2125545" cy="645160"/>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多传感器融合与自主导航方法</a:t>
            </a:r>
          </a:p>
        </p:txBody>
      </p:sp>
      <p:sp>
        <p:nvSpPr>
          <p:cNvPr id="112" name="文本框 111"/>
          <p:cNvSpPr txBox="1"/>
          <p:nvPr>
            <p:custDataLst>
              <p:tags r:id="rId8"/>
            </p:custDataLst>
          </p:nvPr>
        </p:nvSpPr>
        <p:spPr>
          <a:xfrm>
            <a:off x="6638221" y="2955384"/>
            <a:ext cx="2125545" cy="645160"/>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双轨协同视觉异常检测方法</a:t>
            </a:r>
          </a:p>
        </p:txBody>
      </p:sp>
      <p:sp>
        <p:nvSpPr>
          <p:cNvPr id="113" name="文本框 112"/>
          <p:cNvSpPr txBox="1"/>
          <p:nvPr>
            <p:custDataLst>
              <p:tags r:id="rId9"/>
            </p:custDataLst>
          </p:nvPr>
        </p:nvSpPr>
        <p:spPr>
          <a:xfrm>
            <a:off x="9548391" y="2955384"/>
            <a:ext cx="2125545" cy="645160"/>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RAG + </a:t>
            </a:r>
            <a:r>
              <a:rPr lang="zh-CN" altLang="en-US" b="1" dirty="0">
                <a:latin typeface="微软雅黑" panose="020B0503020204020204" pitchFamily="34" charset="-122"/>
                <a:ea typeface="微软雅黑" panose="020B0503020204020204" pitchFamily="34" charset="-122"/>
              </a:rPr>
              <a:t>知识图谱融合智能决策方法</a:t>
            </a:r>
          </a:p>
        </p:txBody>
      </p:sp>
      <p:sp>
        <p:nvSpPr>
          <p:cNvPr id="117" name="文本框 116"/>
          <p:cNvSpPr txBox="1"/>
          <p:nvPr>
            <p:custDataLst>
              <p:tags r:id="rId10"/>
            </p:custDataLst>
          </p:nvPr>
        </p:nvSpPr>
        <p:spPr>
          <a:xfrm>
            <a:off x="3775595" y="4139724"/>
            <a:ext cx="2233138" cy="2277547"/>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基于</a:t>
            </a:r>
            <a:r>
              <a:rPr lang="en-US" altLang="zh-CN" sz="1600" dirty="0">
                <a:latin typeface="微软雅黑" panose="020B0503020204020204" pitchFamily="34" charset="-122"/>
                <a:ea typeface="微软雅黑" panose="020B0503020204020204" pitchFamily="34" charset="-122"/>
              </a:rPr>
              <a:t> ROS2 </a:t>
            </a:r>
            <a:r>
              <a:rPr lang="zh-CN" altLang="en-US" sz="1600" dirty="0">
                <a:latin typeface="微软雅黑" panose="020B0503020204020204" pitchFamily="34" charset="-122"/>
                <a:ea typeface="微软雅黑" panose="020B0503020204020204" pitchFamily="34" charset="-122"/>
              </a:rPr>
              <a:t>搭建机器人系统，采用</a:t>
            </a:r>
            <a:r>
              <a:rPr lang="en-US" altLang="zh-CN" sz="1600" dirty="0">
                <a:latin typeface="微软雅黑" panose="020B0503020204020204" pitchFamily="34" charset="-122"/>
                <a:ea typeface="微软雅黑" panose="020B0503020204020204" pitchFamily="34" charset="-122"/>
              </a:rPr>
              <a:t>Cartographer SLAM+AMCL </a:t>
            </a:r>
            <a:r>
              <a:rPr lang="zh-CN" altLang="en-US" sz="1600" dirty="0">
                <a:latin typeface="微软雅黑" panose="020B0503020204020204" pitchFamily="34" charset="-122"/>
                <a:ea typeface="微软雅黑" panose="020B0503020204020204" pitchFamily="34" charset="-122"/>
              </a:rPr>
              <a:t>定位</a:t>
            </a:r>
            <a:r>
              <a:rPr lang="en-US" altLang="zh-CN" sz="1600" dirty="0">
                <a:latin typeface="微软雅黑" panose="020B0503020204020204" pitchFamily="34" charset="-122"/>
                <a:ea typeface="微软雅黑" panose="020B0503020204020204" pitchFamily="34" charset="-122"/>
              </a:rPr>
              <a:t> + EKF </a:t>
            </a:r>
            <a:r>
              <a:rPr lang="zh-CN" altLang="en-US" sz="1600" dirty="0">
                <a:latin typeface="微软雅黑" panose="020B0503020204020204" pitchFamily="34" charset="-122"/>
                <a:ea typeface="微软雅黑" panose="020B0503020204020204" pitchFamily="34" charset="-122"/>
              </a:rPr>
              <a:t>滤波，融合激光雷达、</a:t>
            </a:r>
            <a:r>
              <a:rPr lang="en-US" altLang="zh-CN" sz="1600" dirty="0">
                <a:latin typeface="微软雅黑" panose="020B0503020204020204" pitchFamily="34" charset="-122"/>
                <a:ea typeface="微软雅黑" panose="020B0503020204020204" pitchFamily="34" charset="-122"/>
              </a:rPr>
              <a:t>IMU</a:t>
            </a:r>
            <a:r>
              <a:rPr lang="zh-CN" altLang="en-US" sz="1600" dirty="0">
                <a:latin typeface="微软雅黑" panose="020B0503020204020204" pitchFamily="34" charset="-122"/>
                <a:ea typeface="微软雅黑" panose="020B0503020204020204" pitchFamily="34" charset="-122"/>
              </a:rPr>
              <a:t>、里程计数据，实现工业场景高精度建图与自主导航。</a:t>
            </a: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
        <p:nvSpPr>
          <p:cNvPr id="118" name="文本框 117"/>
          <p:cNvSpPr txBox="1"/>
          <p:nvPr>
            <p:custDataLst>
              <p:tags r:id="rId11"/>
            </p:custDataLst>
          </p:nvPr>
        </p:nvSpPr>
        <p:spPr>
          <a:xfrm>
            <a:off x="6714482" y="4136011"/>
            <a:ext cx="2209943" cy="2277547"/>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提出快轨</a:t>
            </a:r>
            <a:r>
              <a:rPr lang="en-US" altLang="zh-CN" sz="1600" dirty="0">
                <a:latin typeface="微软雅黑" panose="020B0503020204020204" pitchFamily="34" charset="-122"/>
                <a:ea typeface="微软雅黑" panose="020B0503020204020204" pitchFamily="34" charset="-122"/>
              </a:rPr>
              <a:t> + </a:t>
            </a:r>
            <a:r>
              <a:rPr lang="zh-CN" altLang="en-US" sz="1600" dirty="0">
                <a:latin typeface="微软雅黑" panose="020B0503020204020204" pitchFamily="34" charset="-122"/>
                <a:ea typeface="微软雅黑" panose="020B0503020204020204" pitchFamily="34" charset="-122"/>
              </a:rPr>
              <a:t>慢轨检测策略：快轨用</a:t>
            </a:r>
            <a:r>
              <a:rPr lang="en-US" altLang="zh-CN" sz="1600" dirty="0">
                <a:latin typeface="微软雅黑" panose="020B0503020204020204" pitchFamily="34" charset="-122"/>
                <a:ea typeface="微软雅黑" panose="020B0503020204020204" pitchFamily="34" charset="-122"/>
              </a:rPr>
              <a:t> YOLOv8 </a:t>
            </a:r>
            <a:r>
              <a:rPr lang="zh-CN" altLang="en-US" sz="1600" dirty="0">
                <a:latin typeface="微软雅黑" panose="020B0503020204020204" pitchFamily="34" charset="-122"/>
                <a:ea typeface="微软雅黑" panose="020B0503020204020204" pitchFamily="34" charset="-122"/>
              </a:rPr>
              <a:t>实现实时目标检测，慢轨用</a:t>
            </a:r>
            <a:r>
              <a:rPr lang="en-US" altLang="zh-CN" sz="1600" dirty="0">
                <a:latin typeface="微软雅黑" panose="020B0503020204020204" pitchFamily="34" charset="-122"/>
                <a:ea typeface="微软雅黑" panose="020B0503020204020204" pitchFamily="34" charset="-122"/>
              </a:rPr>
              <a:t> VLM+SAM </a:t>
            </a:r>
            <a:r>
              <a:rPr lang="zh-CN" altLang="en-US" sz="1600" dirty="0">
                <a:latin typeface="微软雅黑" panose="020B0503020204020204" pitchFamily="34" charset="-122"/>
                <a:ea typeface="微软雅黑" panose="020B0503020204020204" pitchFamily="34" charset="-122"/>
              </a:rPr>
              <a:t>做深度语义分析，通过自适应阈值兼顾检测速度与缺陷定位精度。</a:t>
            </a: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
        <p:nvSpPr>
          <p:cNvPr id="119" name="文本框 118"/>
          <p:cNvSpPr txBox="1"/>
          <p:nvPr>
            <p:custDataLst>
              <p:tags r:id="rId12"/>
            </p:custDataLst>
          </p:nvPr>
        </p:nvSpPr>
        <p:spPr>
          <a:xfrm>
            <a:off x="9586562" y="4196483"/>
            <a:ext cx="2126434" cy="1815882"/>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以</a:t>
            </a:r>
            <a:r>
              <a:rPr lang="en-US" altLang="zh-CN" sz="1600" dirty="0">
                <a:latin typeface="微软雅黑" panose="020B0503020204020204" pitchFamily="34" charset="-122"/>
                <a:ea typeface="微软雅黑" panose="020B0503020204020204" pitchFamily="34" charset="-122"/>
              </a:rPr>
              <a:t> Neo4j </a:t>
            </a:r>
            <a:r>
              <a:rPr lang="zh-CN" altLang="en-US" sz="1600" dirty="0">
                <a:latin typeface="微软雅黑" panose="020B0503020204020204" pitchFamily="34" charset="-122"/>
                <a:ea typeface="微软雅黑" panose="020B0503020204020204" pitchFamily="34" charset="-122"/>
              </a:rPr>
              <a:t>构建设备知识图谱，结合</a:t>
            </a:r>
            <a:r>
              <a:rPr lang="en-US" altLang="zh-CN" sz="1600" dirty="0">
                <a:latin typeface="微软雅黑" panose="020B0503020204020204" pitchFamily="34" charset="-122"/>
                <a:ea typeface="微软雅黑" panose="020B0503020204020204" pitchFamily="34" charset="-122"/>
              </a:rPr>
              <a:t> FAISS </a:t>
            </a:r>
            <a:r>
              <a:rPr lang="zh-CN" altLang="en-US" sz="1600" dirty="0">
                <a:latin typeface="微软雅黑" panose="020B0503020204020204" pitchFamily="34" charset="-122"/>
                <a:ea typeface="微软雅黑" panose="020B0503020204020204" pitchFamily="34" charset="-122"/>
              </a:rPr>
              <a:t>向量库与</a:t>
            </a:r>
            <a:r>
              <a:rPr lang="en-US" altLang="zh-CN" sz="1600" dirty="0">
                <a:latin typeface="微软雅黑" panose="020B0503020204020204" pitchFamily="34" charset="-122"/>
                <a:ea typeface="微软雅黑" panose="020B0503020204020204" pitchFamily="34" charset="-122"/>
              </a:rPr>
              <a:t> LangChain </a:t>
            </a:r>
            <a:r>
              <a:rPr lang="zh-CN" altLang="en-US" sz="1600" dirty="0">
                <a:latin typeface="微软雅黑" panose="020B0503020204020204" pitchFamily="34" charset="-122"/>
                <a:ea typeface="微软雅黑" panose="020B0503020204020204" pitchFamily="34" charset="-122"/>
              </a:rPr>
              <a:t>框架，实现检索增强生成推理，完成可解释、可追溯的故障诊断与运维决策。</a:t>
            </a:r>
          </a:p>
        </p:txBody>
      </p:sp>
      <p:pic>
        <p:nvPicPr>
          <p:cNvPr id="3" name="图片 2" descr="76b499643fee34819cb883d90f0351cf"/>
          <p:cNvPicPr>
            <a:picLocks noChangeAspect="1"/>
          </p:cNvPicPr>
          <p:nvPr/>
        </p:nvPicPr>
        <p:blipFill>
          <a:blip r:embed="rId40"/>
          <a:stretch>
            <a:fillRect/>
          </a:stretch>
        </p:blipFill>
        <p:spPr>
          <a:xfrm>
            <a:off x="10965180" y="0"/>
            <a:ext cx="748030" cy="748030"/>
          </a:xfrm>
          <a:prstGeom prst="rect">
            <a:avLst/>
          </a:prstGeom>
        </p:spPr>
      </p:pic>
      <p:grpSp>
        <p:nvGrpSpPr>
          <p:cNvPr id="48" name="组合 47"/>
          <p:cNvGrpSpPr/>
          <p:nvPr/>
        </p:nvGrpSpPr>
        <p:grpSpPr>
          <a:xfrm>
            <a:off x="0" y="1657350"/>
            <a:ext cx="2867025" cy="4495165"/>
            <a:chOff x="0" y="2610"/>
            <a:chExt cx="4515" cy="7079"/>
          </a:xfrm>
        </p:grpSpPr>
        <p:sp>
          <p:nvSpPr>
            <p:cNvPr id="15" name="矩形 14"/>
            <p:cNvSpPr/>
            <p:nvPr/>
          </p:nvSpPr>
          <p:spPr>
            <a:xfrm>
              <a:off x="0" y="6568"/>
              <a:ext cx="4515" cy="12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p:cNvGrpSpPr/>
            <p:nvPr/>
          </p:nvGrpSpPr>
          <p:grpSpPr>
            <a:xfrm>
              <a:off x="840" y="2610"/>
              <a:ext cx="3195" cy="7079"/>
              <a:chOff x="840" y="2610"/>
              <a:chExt cx="3195" cy="7079"/>
            </a:xfrm>
          </p:grpSpPr>
          <p:sp>
            <p:nvSpPr>
              <p:cNvPr id="44" name="文本框 43"/>
              <p:cNvSpPr txBox="1"/>
              <p:nvPr/>
            </p:nvSpPr>
            <p:spPr>
              <a:xfrm>
                <a:off x="855" y="8865"/>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45" name="文本框 44"/>
              <p:cNvSpPr txBox="1"/>
              <p:nvPr/>
            </p:nvSpPr>
            <p:spPr>
              <a:xfrm>
                <a:off x="855" y="2610"/>
                <a:ext cx="2880" cy="824"/>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sp>
            <p:nvSpPr>
              <p:cNvPr id="46" name="文本框 45"/>
              <p:cNvSpPr txBox="1"/>
              <p:nvPr/>
            </p:nvSpPr>
            <p:spPr>
              <a:xfrm>
                <a:off x="840" y="4716"/>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47" name="文本框 46"/>
              <p:cNvSpPr txBox="1"/>
              <p:nvPr/>
            </p:nvSpPr>
            <p:spPr>
              <a:xfrm>
                <a:off x="850" y="6747"/>
                <a:ext cx="3180" cy="824"/>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p>
            </p:txBody>
          </p:sp>
        </p:grpSp>
      </p:grpSp>
      <p:sp>
        <p:nvSpPr>
          <p:cNvPr id="17" name="矩形 16">
            <a:extLst>
              <a:ext uri="{FF2B5EF4-FFF2-40B4-BE49-F238E27FC236}">
                <a16:creationId xmlns:a16="http://schemas.microsoft.com/office/drawing/2014/main" id="{0C3EA29F-F57E-264D-F5A3-48EA1A0879C5}"/>
              </a:ext>
            </a:extLst>
          </p:cNvPr>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078D9964-CD6B-5CF3-224A-5D777E2D55BA}"/>
              </a:ext>
            </a:extLst>
          </p:cNvPr>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19" name="文本框 18">
            <a:extLst>
              <a:ext uri="{FF2B5EF4-FFF2-40B4-BE49-F238E27FC236}">
                <a16:creationId xmlns:a16="http://schemas.microsoft.com/office/drawing/2014/main" id="{66C3CFAD-153B-8D4C-CCE8-5E80386E75DE}"/>
              </a:ext>
            </a:extLst>
          </p:cNvPr>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grpSp>
        <p:nvGrpSpPr>
          <p:cNvPr id="20" name="组合 19">
            <a:extLst>
              <a:ext uri="{FF2B5EF4-FFF2-40B4-BE49-F238E27FC236}">
                <a16:creationId xmlns:a16="http://schemas.microsoft.com/office/drawing/2014/main" id="{1CBF3DC8-58EC-9560-A65A-40089106A81B}"/>
              </a:ext>
            </a:extLst>
          </p:cNvPr>
          <p:cNvGrpSpPr/>
          <p:nvPr/>
        </p:nvGrpSpPr>
        <p:grpSpPr>
          <a:xfrm>
            <a:off x="-2" y="4284411"/>
            <a:ext cx="2867026" cy="921872"/>
            <a:chOff x="-2" y="1537960"/>
            <a:chExt cx="2867026" cy="921872"/>
          </a:xfrm>
        </p:grpSpPr>
        <p:sp>
          <p:nvSpPr>
            <p:cNvPr id="21" name="矩形 20">
              <a:extLst>
                <a:ext uri="{FF2B5EF4-FFF2-40B4-BE49-F238E27FC236}">
                  <a16:creationId xmlns:a16="http://schemas.microsoft.com/office/drawing/2014/main" id="{6C70CE21-69D6-5815-530A-3E8F286184B1}"/>
                </a:ext>
              </a:extLst>
            </p:cNvPr>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直角三角形 21">
              <a:extLst>
                <a:ext uri="{FF2B5EF4-FFF2-40B4-BE49-F238E27FC236}">
                  <a16:creationId xmlns:a16="http://schemas.microsoft.com/office/drawing/2014/main" id="{5A649CEA-36C4-5585-9673-E5373FE94140}"/>
                </a:ext>
              </a:extLst>
            </p:cNvPr>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文本框 22">
            <a:extLst>
              <a:ext uri="{FF2B5EF4-FFF2-40B4-BE49-F238E27FC236}">
                <a16:creationId xmlns:a16="http://schemas.microsoft.com/office/drawing/2014/main" id="{9EA32078-8573-1F91-54B1-BC838665421D}"/>
              </a:ext>
            </a:extLst>
          </p:cNvPr>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24" name="文本框 23">
            <a:extLst>
              <a:ext uri="{FF2B5EF4-FFF2-40B4-BE49-F238E27FC236}">
                <a16:creationId xmlns:a16="http://schemas.microsoft.com/office/drawing/2014/main" id="{0647DD5E-3A26-A596-E730-01B1D261EE97}"/>
              </a:ext>
            </a:extLst>
          </p:cNvPr>
          <p:cNvSpPr txBox="1"/>
          <p:nvPr/>
        </p:nvSpPr>
        <p:spPr>
          <a:xfrm>
            <a:off x="542925" y="297037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25" name="文本框 24">
            <a:extLst>
              <a:ext uri="{FF2B5EF4-FFF2-40B4-BE49-F238E27FC236}">
                <a16:creationId xmlns:a16="http://schemas.microsoft.com/office/drawing/2014/main" id="{0DC397C7-A88F-67FE-2FBA-B080D6D26EB4}"/>
              </a:ext>
            </a:extLst>
          </p:cNvPr>
          <p:cNvSpPr txBox="1"/>
          <p:nvPr/>
        </p:nvSpPr>
        <p:spPr>
          <a:xfrm>
            <a:off x="542925" y="440404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研究过程</a:t>
            </a:r>
          </a:p>
        </p:txBody>
      </p:sp>
      <p:pic>
        <p:nvPicPr>
          <p:cNvPr id="2" name="图片 1" descr="76b499643fee34819cb883d90f0351cf"/>
          <p:cNvPicPr>
            <a:picLocks noChangeAspect="1"/>
          </p:cNvPicPr>
          <p:nvPr/>
        </p:nvPicPr>
        <p:blipFill>
          <a:blip r:embed="rId15"/>
          <a:stretch>
            <a:fillRect/>
          </a:stretch>
        </p:blipFill>
        <p:spPr>
          <a:xfrm>
            <a:off x="10965180" y="0"/>
            <a:ext cx="748030" cy="748030"/>
          </a:xfrm>
          <a:prstGeom prst="rect">
            <a:avLst/>
          </a:prstGeom>
        </p:spPr>
      </p:pic>
      <p:grpSp>
        <p:nvGrpSpPr>
          <p:cNvPr id="29" name="组合 28"/>
          <p:cNvGrpSpPr/>
          <p:nvPr/>
        </p:nvGrpSpPr>
        <p:grpSpPr>
          <a:xfrm>
            <a:off x="3531870" y="1109980"/>
            <a:ext cx="7955280" cy="3061970"/>
            <a:chOff x="5562" y="3647"/>
            <a:chExt cx="12528" cy="4822"/>
          </a:xfrm>
        </p:grpSpPr>
        <p:sp>
          <p:nvSpPr>
            <p:cNvPr id="21" name="箭头: 五边形 20"/>
            <p:cNvSpPr/>
            <p:nvPr>
              <p:custDataLst>
                <p:tags r:id="rId1"/>
              </p:custDataLst>
            </p:nvPr>
          </p:nvSpPr>
          <p:spPr>
            <a:xfrm>
              <a:off x="6225" y="3647"/>
              <a:ext cx="3518" cy="1421"/>
            </a:xfrm>
            <a:prstGeom prst="homePlate">
              <a:avLst/>
            </a:prstGeom>
            <a:solidFill>
              <a:schemeClr val="accent1">
                <a:lumMod val="60000"/>
                <a:lumOff val="40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2" name="箭头: V 形 21"/>
            <p:cNvSpPr/>
            <p:nvPr>
              <p:custDataLst>
                <p:tags r:id="rId2"/>
              </p:custDataLst>
            </p:nvPr>
          </p:nvSpPr>
          <p:spPr>
            <a:xfrm>
              <a:off x="9260" y="3675"/>
              <a:ext cx="3430" cy="1413"/>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3" name="箭头: V 形 22"/>
            <p:cNvSpPr/>
            <p:nvPr>
              <p:custDataLst>
                <p:tags r:id="rId3"/>
              </p:custDataLst>
            </p:nvPr>
          </p:nvSpPr>
          <p:spPr>
            <a:xfrm>
              <a:off x="12318" y="3665"/>
              <a:ext cx="3923" cy="1413"/>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4" name="任意多边形: 形状 23"/>
            <p:cNvSpPr/>
            <p:nvPr/>
          </p:nvSpPr>
          <p:spPr>
            <a:xfrm flipH="1">
              <a:off x="14974" y="3675"/>
              <a:ext cx="3117" cy="4795"/>
            </a:xfrm>
            <a:custGeom>
              <a:avLst/>
              <a:gdLst>
                <a:gd name="connsiteX0" fmla="*/ 1522466 w 1979578"/>
                <a:gd name="connsiteY0" fmla="*/ 0 h 3044932"/>
                <a:gd name="connsiteX1" fmla="*/ 0 w 1979578"/>
                <a:gd name="connsiteY1" fmla="*/ 1522466 h 3044932"/>
                <a:gd name="connsiteX2" fmla="*/ 1522466 w 1979578"/>
                <a:gd name="connsiteY2" fmla="*/ 3044932 h 3044932"/>
                <a:gd name="connsiteX3" fmla="*/ 1528624 w 1979578"/>
                <a:gd name="connsiteY3" fmla="*/ 3044621 h 3044932"/>
                <a:gd name="connsiteX4" fmla="*/ 1528624 w 1979578"/>
                <a:gd name="connsiteY4" fmla="*/ 3044567 h 3044932"/>
                <a:gd name="connsiteX5" fmla="*/ 1530821 w 1979578"/>
                <a:gd name="connsiteY5" fmla="*/ 3044567 h 3044932"/>
                <a:gd name="connsiteX6" fmla="*/ 1979578 w 1979578"/>
                <a:gd name="connsiteY6" fmla="*/ 2595810 h 3044932"/>
                <a:gd name="connsiteX7" fmla="*/ 1530821 w 1979578"/>
                <a:gd name="connsiteY7" fmla="*/ 2147052 h 3044932"/>
                <a:gd name="connsiteX8" fmla="*/ 1528624 w 1979578"/>
                <a:gd name="connsiteY8" fmla="*/ 2147052 h 3044932"/>
                <a:gd name="connsiteX9" fmla="*/ 1528624 w 1979578"/>
                <a:gd name="connsiteY9" fmla="*/ 2146360 h 3044932"/>
                <a:gd name="connsiteX10" fmla="*/ 1522466 w 1979578"/>
                <a:gd name="connsiteY10" fmla="*/ 2146981 h 3044932"/>
                <a:gd name="connsiteX11" fmla="*/ 897951 w 1979578"/>
                <a:gd name="connsiteY11" fmla="*/ 1522466 h 3044932"/>
                <a:gd name="connsiteX12" fmla="*/ 1396604 w 1979578"/>
                <a:gd name="connsiteY12" fmla="*/ 910639 h 3044932"/>
                <a:gd name="connsiteX13" fmla="*/ 1515959 w 1979578"/>
                <a:gd name="connsiteY13" fmla="*/ 898607 h 3044932"/>
                <a:gd name="connsiteX14" fmla="*/ 1512515 w 1979578"/>
                <a:gd name="connsiteY14" fmla="*/ 898607 h 3044932"/>
                <a:gd name="connsiteX15" fmla="*/ 1063758 w 1979578"/>
                <a:gd name="connsiteY15" fmla="*/ 449850 h 3044932"/>
                <a:gd name="connsiteX16" fmla="*/ 1512515 w 1979578"/>
                <a:gd name="connsiteY16" fmla="*/ 1092 h 3044932"/>
                <a:gd name="connsiteX17" fmla="*/ 1528624 w 1979578"/>
                <a:gd name="connsiteY17" fmla="*/ 1092 h 3044932"/>
                <a:gd name="connsiteX18" fmla="*/ 1528624 w 1979578"/>
                <a:gd name="connsiteY18" fmla="*/ 311 h 3044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79578" h="3044932">
                  <a:moveTo>
                    <a:pt x="1522466" y="0"/>
                  </a:moveTo>
                  <a:cubicBezTo>
                    <a:pt x="681631" y="0"/>
                    <a:pt x="0" y="681632"/>
                    <a:pt x="0" y="1522466"/>
                  </a:cubicBezTo>
                  <a:cubicBezTo>
                    <a:pt x="0" y="2363301"/>
                    <a:pt x="681631" y="3044932"/>
                    <a:pt x="1522466" y="3044932"/>
                  </a:cubicBezTo>
                  <a:lnTo>
                    <a:pt x="1528624" y="3044621"/>
                  </a:lnTo>
                  <a:lnTo>
                    <a:pt x="1528624" y="3044567"/>
                  </a:lnTo>
                  <a:lnTo>
                    <a:pt x="1530821" y="3044567"/>
                  </a:lnTo>
                  <a:lnTo>
                    <a:pt x="1979578" y="2595810"/>
                  </a:lnTo>
                  <a:lnTo>
                    <a:pt x="1530821" y="2147052"/>
                  </a:lnTo>
                  <a:lnTo>
                    <a:pt x="1528624" y="2147052"/>
                  </a:lnTo>
                  <a:lnTo>
                    <a:pt x="1528624" y="2146360"/>
                  </a:lnTo>
                  <a:lnTo>
                    <a:pt x="1522466" y="2146981"/>
                  </a:lnTo>
                  <a:cubicBezTo>
                    <a:pt x="1177556" y="2146981"/>
                    <a:pt x="897951" y="1867376"/>
                    <a:pt x="897951" y="1522466"/>
                  </a:cubicBezTo>
                  <a:cubicBezTo>
                    <a:pt x="897951" y="1220670"/>
                    <a:pt x="1112024" y="968873"/>
                    <a:pt x="1396604" y="910639"/>
                  </a:cubicBezTo>
                  <a:lnTo>
                    <a:pt x="1515959" y="898607"/>
                  </a:lnTo>
                  <a:lnTo>
                    <a:pt x="1512515" y="898607"/>
                  </a:lnTo>
                  <a:lnTo>
                    <a:pt x="1063758" y="449850"/>
                  </a:lnTo>
                  <a:lnTo>
                    <a:pt x="1512515" y="1092"/>
                  </a:lnTo>
                  <a:lnTo>
                    <a:pt x="1528624" y="1092"/>
                  </a:lnTo>
                  <a:lnTo>
                    <a:pt x="1528624" y="311"/>
                  </a:lnTo>
                  <a:close/>
                </a:path>
              </a:pathLst>
            </a:custGeom>
            <a:solidFill>
              <a:schemeClr val="bg1">
                <a:lumMod val="85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5" name="箭头: V 形 24"/>
            <p:cNvSpPr/>
            <p:nvPr>
              <p:custDataLst>
                <p:tags r:id="rId4"/>
              </p:custDataLst>
            </p:nvPr>
          </p:nvSpPr>
          <p:spPr>
            <a:xfrm flipH="1">
              <a:off x="10964" y="7057"/>
              <a:ext cx="4293" cy="1413"/>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6" name="箭头: V 形 25"/>
            <p:cNvSpPr/>
            <p:nvPr>
              <p:custDataLst>
                <p:tags r:id="rId5"/>
              </p:custDataLst>
            </p:nvPr>
          </p:nvSpPr>
          <p:spPr>
            <a:xfrm flipH="1">
              <a:off x="6605" y="7057"/>
              <a:ext cx="4610" cy="1413"/>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33" name="文本框 32"/>
            <p:cNvSpPr txBox="1"/>
            <p:nvPr>
              <p:custDataLst>
                <p:tags r:id="rId6"/>
              </p:custDataLst>
            </p:nvPr>
          </p:nvSpPr>
          <p:spPr>
            <a:xfrm>
              <a:off x="6018" y="5180"/>
              <a:ext cx="3470" cy="483"/>
            </a:xfrm>
            <a:prstGeom prst="rect">
              <a:avLst/>
            </a:prstGeom>
            <a:noFill/>
          </p:spPr>
          <p:txBody>
            <a:bodyPr wrap="square" rtlCol="0">
              <a:spAutoFit/>
            </a:bodyPr>
            <a:lstStyle/>
            <a:p>
              <a:pPr algn="ctr"/>
              <a:r>
                <a:rPr lang="en-US" sz="1400" dirty="0">
                  <a:latin typeface="微软雅黑" panose="020B0503020204020204" pitchFamily="34" charset="-122"/>
                  <a:ea typeface="微软雅黑" panose="020B0503020204020204" pitchFamily="34" charset="-122"/>
                </a:rPr>
                <a:t>2025.5-2025.7</a:t>
              </a:r>
              <a:endParaRPr lang="zh-CN" altLang="en-US" sz="1400" dirty="0">
                <a:latin typeface="微软雅黑" panose="020B0503020204020204" pitchFamily="34" charset="-122"/>
                <a:ea typeface="微软雅黑" panose="020B0503020204020204" pitchFamily="34" charset="-122"/>
              </a:endParaRPr>
            </a:p>
          </p:txBody>
        </p:sp>
        <p:sp>
          <p:nvSpPr>
            <p:cNvPr id="122" name="文本框 121"/>
            <p:cNvSpPr txBox="1"/>
            <p:nvPr>
              <p:custDataLst>
                <p:tags r:id="rId7"/>
              </p:custDataLst>
            </p:nvPr>
          </p:nvSpPr>
          <p:spPr>
            <a:xfrm>
              <a:off x="8990" y="5208"/>
              <a:ext cx="3470" cy="483"/>
            </a:xfrm>
            <a:prstGeom prst="rect">
              <a:avLst/>
            </a:prstGeom>
            <a:noFill/>
          </p:spPr>
          <p:txBody>
            <a:bodyPr wrap="square" rtlCol="0">
              <a:spAutoFit/>
            </a:bodyPr>
            <a:lstStyle/>
            <a:p>
              <a:pPr algn="ctr"/>
              <a:r>
                <a:rPr lang="en-US" sz="1400" dirty="0">
                  <a:latin typeface="微软雅黑" panose="020B0503020204020204" pitchFamily="34" charset="-122"/>
                  <a:ea typeface="微软雅黑" panose="020B0503020204020204" pitchFamily="34" charset="-122"/>
                </a:rPr>
                <a:t>2025.8-2025.10</a:t>
              </a:r>
            </a:p>
          </p:txBody>
        </p:sp>
        <p:sp>
          <p:nvSpPr>
            <p:cNvPr id="124" name="文本框 123"/>
            <p:cNvSpPr txBox="1"/>
            <p:nvPr>
              <p:custDataLst>
                <p:tags r:id="rId8"/>
              </p:custDataLst>
            </p:nvPr>
          </p:nvSpPr>
          <p:spPr>
            <a:xfrm>
              <a:off x="12460" y="5166"/>
              <a:ext cx="3470" cy="483"/>
            </a:xfrm>
            <a:prstGeom prst="rect">
              <a:avLst/>
            </a:prstGeom>
            <a:noFill/>
          </p:spPr>
          <p:txBody>
            <a:bodyPr wrap="square" rtlCol="0">
              <a:spAutoFit/>
            </a:bodyPr>
            <a:lstStyle/>
            <a:p>
              <a:pPr algn="ctr"/>
              <a:r>
                <a:rPr lang="en-US" sz="1400" dirty="0">
                  <a:latin typeface="微软雅黑" panose="020B0503020204020204" pitchFamily="34" charset="-122"/>
                  <a:ea typeface="微软雅黑" panose="020B0503020204020204" pitchFamily="34" charset="-122"/>
                </a:rPr>
                <a:t>2025.11-2026.1</a:t>
              </a:r>
            </a:p>
          </p:txBody>
        </p:sp>
        <p:sp>
          <p:nvSpPr>
            <p:cNvPr id="126" name="椭圆 125"/>
            <p:cNvSpPr/>
            <p:nvPr>
              <p:custDataLst>
                <p:tags r:id="rId9"/>
              </p:custDataLst>
            </p:nvPr>
          </p:nvSpPr>
          <p:spPr>
            <a:xfrm>
              <a:off x="5562" y="5202"/>
              <a:ext cx="488" cy="48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文本框 128"/>
            <p:cNvSpPr txBox="1"/>
            <p:nvPr>
              <p:custDataLst>
                <p:tags r:id="rId10"/>
              </p:custDataLst>
            </p:nvPr>
          </p:nvSpPr>
          <p:spPr>
            <a:xfrm>
              <a:off x="7371" y="6408"/>
              <a:ext cx="3470" cy="483"/>
            </a:xfrm>
            <a:prstGeom prst="rect">
              <a:avLst/>
            </a:prstGeom>
            <a:noFill/>
          </p:spPr>
          <p:txBody>
            <a:bodyPr wrap="square" rtlCol="0">
              <a:spAutoFit/>
            </a:bodyPr>
            <a:lstStyle/>
            <a:p>
              <a:pPr algn="ctr"/>
              <a:r>
                <a:rPr lang="en-US" sz="1400" dirty="0">
                  <a:latin typeface="微软雅黑" panose="020B0503020204020204" pitchFamily="34" charset="-122"/>
                  <a:ea typeface="微软雅黑" panose="020B0503020204020204" pitchFamily="34" charset="-122"/>
                </a:rPr>
                <a:t>2026.5</a:t>
              </a:r>
            </a:p>
          </p:txBody>
        </p:sp>
        <p:sp>
          <p:nvSpPr>
            <p:cNvPr id="130" name="文本框 129"/>
            <p:cNvSpPr txBox="1"/>
            <p:nvPr>
              <p:custDataLst>
                <p:tags r:id="rId11"/>
              </p:custDataLst>
            </p:nvPr>
          </p:nvSpPr>
          <p:spPr>
            <a:xfrm>
              <a:off x="11381" y="6408"/>
              <a:ext cx="3470" cy="483"/>
            </a:xfrm>
            <a:prstGeom prst="rect">
              <a:avLst/>
            </a:prstGeom>
            <a:noFill/>
          </p:spPr>
          <p:txBody>
            <a:bodyPr wrap="square" rtlCol="0">
              <a:spAutoFit/>
            </a:bodyPr>
            <a:lstStyle/>
            <a:p>
              <a:pPr algn="ctr"/>
              <a:r>
                <a:rPr lang="en-US" sz="1400" dirty="0">
                  <a:latin typeface="微软雅黑" panose="020B0503020204020204" pitchFamily="34" charset="-122"/>
                  <a:ea typeface="微软雅黑" panose="020B0503020204020204" pitchFamily="34" charset="-122"/>
                </a:rPr>
                <a:t>2026.2-2026.4</a:t>
              </a:r>
            </a:p>
          </p:txBody>
        </p:sp>
        <p:sp>
          <p:nvSpPr>
            <p:cNvPr id="140" name="图形 28" descr="已办事项"/>
            <p:cNvSpPr/>
            <p:nvPr>
              <p:custDataLst>
                <p:tags r:id="rId12"/>
              </p:custDataLst>
            </p:nvPr>
          </p:nvSpPr>
          <p:spPr>
            <a:xfrm>
              <a:off x="6398" y="4168"/>
              <a:ext cx="443" cy="381"/>
            </a:xfrm>
            <a:custGeom>
              <a:avLst/>
              <a:gdLst>
                <a:gd name="connsiteX0" fmla="*/ 225296 w 281620"/>
                <a:gd name="connsiteY0" fmla="*/ 118281 h 242193"/>
                <a:gd name="connsiteX1" fmla="*/ 157707 w 281620"/>
                <a:gd name="connsiteY1" fmla="*/ 185869 h 242193"/>
                <a:gd name="connsiteX2" fmla="*/ 187922 w 281620"/>
                <a:gd name="connsiteY2" fmla="*/ 242193 h 242193"/>
                <a:gd name="connsiteX3" fmla="*/ 11265 w 281620"/>
                <a:gd name="connsiteY3" fmla="*/ 242193 h 242193"/>
                <a:gd name="connsiteX4" fmla="*/ 0 w 281620"/>
                <a:gd name="connsiteY4" fmla="*/ 230929 h 242193"/>
                <a:gd name="connsiteX5" fmla="*/ 0 w 281620"/>
                <a:gd name="connsiteY5" fmla="*/ 22530 h 242193"/>
                <a:gd name="connsiteX6" fmla="*/ 11265 w 281620"/>
                <a:gd name="connsiteY6" fmla="*/ 11265 h 242193"/>
                <a:gd name="connsiteX7" fmla="*/ 50692 w 281620"/>
                <a:gd name="connsiteY7" fmla="*/ 11265 h 242193"/>
                <a:gd name="connsiteX8" fmla="*/ 50692 w 281620"/>
                <a:gd name="connsiteY8" fmla="*/ 22530 h 242193"/>
                <a:gd name="connsiteX9" fmla="*/ 61956 w 281620"/>
                <a:gd name="connsiteY9" fmla="*/ 33794 h 242193"/>
                <a:gd name="connsiteX10" fmla="*/ 152075 w 281620"/>
                <a:gd name="connsiteY10" fmla="*/ 33794 h 242193"/>
                <a:gd name="connsiteX11" fmla="*/ 163340 w 281620"/>
                <a:gd name="connsiteY11" fmla="*/ 22530 h 242193"/>
                <a:gd name="connsiteX12" fmla="*/ 163340 w 281620"/>
                <a:gd name="connsiteY12" fmla="*/ 11265 h 242193"/>
                <a:gd name="connsiteX13" fmla="*/ 214031 w 281620"/>
                <a:gd name="connsiteY13" fmla="*/ 11265 h 242193"/>
                <a:gd name="connsiteX14" fmla="*/ 225296 w 281620"/>
                <a:gd name="connsiteY14" fmla="*/ 22530 h 242193"/>
                <a:gd name="connsiteX15" fmla="*/ 225296 w 281620"/>
                <a:gd name="connsiteY15" fmla="*/ 118281 h 242193"/>
                <a:gd name="connsiteX16" fmla="*/ 73221 w 281620"/>
                <a:gd name="connsiteY16" fmla="*/ 0 h 242193"/>
                <a:gd name="connsiteX17" fmla="*/ 140810 w 281620"/>
                <a:gd name="connsiteY17" fmla="*/ 0 h 242193"/>
                <a:gd name="connsiteX18" fmla="*/ 152075 w 281620"/>
                <a:gd name="connsiteY18" fmla="*/ 11265 h 242193"/>
                <a:gd name="connsiteX19" fmla="*/ 140810 w 281620"/>
                <a:gd name="connsiteY19" fmla="*/ 22530 h 242193"/>
                <a:gd name="connsiteX20" fmla="*/ 73221 w 281620"/>
                <a:gd name="connsiteY20" fmla="*/ 22530 h 242193"/>
                <a:gd name="connsiteX21" fmla="*/ 61956 w 281620"/>
                <a:gd name="connsiteY21" fmla="*/ 11265 h 242193"/>
                <a:gd name="connsiteX22" fmla="*/ 73221 w 281620"/>
                <a:gd name="connsiteY22" fmla="*/ 0 h 242193"/>
                <a:gd name="connsiteX23" fmla="*/ 59140 w 281620"/>
                <a:gd name="connsiteY23" fmla="*/ 78854 h 242193"/>
                <a:gd name="connsiteX24" fmla="*/ 50692 w 281620"/>
                <a:gd name="connsiteY24" fmla="*/ 87302 h 242193"/>
                <a:gd name="connsiteX25" fmla="*/ 59140 w 281620"/>
                <a:gd name="connsiteY25" fmla="*/ 95751 h 242193"/>
                <a:gd name="connsiteX26" fmla="*/ 166156 w 281620"/>
                <a:gd name="connsiteY26" fmla="*/ 95751 h 242193"/>
                <a:gd name="connsiteX27" fmla="*/ 174604 w 281620"/>
                <a:gd name="connsiteY27" fmla="*/ 87302 h 242193"/>
                <a:gd name="connsiteX28" fmla="*/ 166156 w 281620"/>
                <a:gd name="connsiteY28" fmla="*/ 78854 h 242193"/>
                <a:gd name="connsiteX29" fmla="*/ 59140 w 281620"/>
                <a:gd name="connsiteY29" fmla="*/ 78854 h 242193"/>
                <a:gd name="connsiteX30" fmla="*/ 59140 w 281620"/>
                <a:gd name="connsiteY30" fmla="*/ 118281 h 242193"/>
                <a:gd name="connsiteX31" fmla="*/ 50692 w 281620"/>
                <a:gd name="connsiteY31" fmla="*/ 126729 h 242193"/>
                <a:gd name="connsiteX32" fmla="*/ 59140 w 281620"/>
                <a:gd name="connsiteY32" fmla="*/ 135178 h 242193"/>
                <a:gd name="connsiteX33" fmla="*/ 143626 w 281620"/>
                <a:gd name="connsiteY33" fmla="*/ 135178 h 242193"/>
                <a:gd name="connsiteX34" fmla="*/ 152075 w 281620"/>
                <a:gd name="connsiteY34" fmla="*/ 126729 h 242193"/>
                <a:gd name="connsiteX35" fmla="*/ 143626 w 281620"/>
                <a:gd name="connsiteY35" fmla="*/ 118281 h 242193"/>
                <a:gd name="connsiteX36" fmla="*/ 59140 w 281620"/>
                <a:gd name="connsiteY36" fmla="*/ 118281 h 242193"/>
                <a:gd name="connsiteX37" fmla="*/ 59140 w 281620"/>
                <a:gd name="connsiteY37" fmla="*/ 157707 h 242193"/>
                <a:gd name="connsiteX38" fmla="*/ 50692 w 281620"/>
                <a:gd name="connsiteY38" fmla="*/ 166156 h 242193"/>
                <a:gd name="connsiteX39" fmla="*/ 59140 w 281620"/>
                <a:gd name="connsiteY39" fmla="*/ 174605 h 242193"/>
                <a:gd name="connsiteX40" fmla="*/ 121097 w 281620"/>
                <a:gd name="connsiteY40" fmla="*/ 174605 h 242193"/>
                <a:gd name="connsiteX41" fmla="*/ 129545 w 281620"/>
                <a:gd name="connsiteY41" fmla="*/ 166156 h 242193"/>
                <a:gd name="connsiteX42" fmla="*/ 121097 w 281620"/>
                <a:gd name="connsiteY42" fmla="*/ 157707 h 242193"/>
                <a:gd name="connsiteX43" fmla="*/ 59140 w 281620"/>
                <a:gd name="connsiteY43" fmla="*/ 157707 h 242193"/>
                <a:gd name="connsiteX44" fmla="*/ 225296 w 281620"/>
                <a:gd name="connsiteY44" fmla="*/ 242193 h 242193"/>
                <a:gd name="connsiteX45" fmla="*/ 168972 w 281620"/>
                <a:gd name="connsiteY45" fmla="*/ 185869 h 242193"/>
                <a:gd name="connsiteX46" fmla="*/ 225296 w 281620"/>
                <a:gd name="connsiteY46" fmla="*/ 129545 h 242193"/>
                <a:gd name="connsiteX47" fmla="*/ 281620 w 281620"/>
                <a:gd name="connsiteY47" fmla="*/ 185869 h 242193"/>
                <a:gd name="connsiteX48" fmla="*/ 225296 w 281620"/>
                <a:gd name="connsiteY48" fmla="*/ 242193 h 242193"/>
                <a:gd name="connsiteX49" fmla="*/ 221030 w 281620"/>
                <a:gd name="connsiteY49" fmla="*/ 199868 h 242193"/>
                <a:gd name="connsiteX50" fmla="*/ 209082 w 281620"/>
                <a:gd name="connsiteY50" fmla="*/ 187919 h 242193"/>
                <a:gd name="connsiteX51" fmla="*/ 201116 w 281620"/>
                <a:gd name="connsiteY51" fmla="*/ 187919 h 242193"/>
                <a:gd name="connsiteX52" fmla="*/ 201116 w 281620"/>
                <a:gd name="connsiteY52" fmla="*/ 195884 h 242193"/>
                <a:gd name="connsiteX53" fmla="*/ 217048 w 281620"/>
                <a:gd name="connsiteY53" fmla="*/ 211816 h 242193"/>
                <a:gd name="connsiteX54" fmla="*/ 225013 w 281620"/>
                <a:gd name="connsiteY54" fmla="*/ 211816 h 242193"/>
                <a:gd name="connsiteX55" fmla="*/ 256875 w 281620"/>
                <a:gd name="connsiteY55" fmla="*/ 179954 h 242193"/>
                <a:gd name="connsiteX56" fmla="*/ 256875 w 281620"/>
                <a:gd name="connsiteY56" fmla="*/ 171989 h 242193"/>
                <a:gd name="connsiteX57" fmla="*/ 248909 w 281620"/>
                <a:gd name="connsiteY57" fmla="*/ 171989 h 242193"/>
                <a:gd name="connsiteX58" fmla="*/ 221030 w 281620"/>
                <a:gd name="connsiteY58" fmla="*/ 199868 h 242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81620" h="242193">
                  <a:moveTo>
                    <a:pt x="225296" y="118281"/>
                  </a:moveTo>
                  <a:cubicBezTo>
                    <a:pt x="187968" y="118281"/>
                    <a:pt x="157707" y="148540"/>
                    <a:pt x="157707" y="185869"/>
                  </a:cubicBezTo>
                  <a:cubicBezTo>
                    <a:pt x="157707" y="209378"/>
                    <a:pt x="169710" y="230085"/>
                    <a:pt x="187922" y="242193"/>
                  </a:cubicBezTo>
                  <a:lnTo>
                    <a:pt x="11265" y="242193"/>
                  </a:lnTo>
                  <a:cubicBezTo>
                    <a:pt x="5043" y="242193"/>
                    <a:pt x="0" y="237149"/>
                    <a:pt x="0" y="230929"/>
                  </a:cubicBezTo>
                  <a:lnTo>
                    <a:pt x="0" y="22530"/>
                  </a:lnTo>
                  <a:cubicBezTo>
                    <a:pt x="0" y="16308"/>
                    <a:pt x="5043" y="11265"/>
                    <a:pt x="11265" y="11265"/>
                  </a:cubicBezTo>
                  <a:lnTo>
                    <a:pt x="50692" y="11265"/>
                  </a:lnTo>
                  <a:lnTo>
                    <a:pt x="50692" y="22530"/>
                  </a:lnTo>
                  <a:cubicBezTo>
                    <a:pt x="50692" y="28751"/>
                    <a:pt x="55735" y="33794"/>
                    <a:pt x="61956" y="33794"/>
                  </a:cubicBezTo>
                  <a:lnTo>
                    <a:pt x="152075" y="33794"/>
                  </a:lnTo>
                  <a:cubicBezTo>
                    <a:pt x="158296" y="33794"/>
                    <a:pt x="163340" y="28751"/>
                    <a:pt x="163340" y="22530"/>
                  </a:cubicBezTo>
                  <a:lnTo>
                    <a:pt x="163340" y="11265"/>
                  </a:lnTo>
                  <a:lnTo>
                    <a:pt x="214031" y="11265"/>
                  </a:lnTo>
                  <a:cubicBezTo>
                    <a:pt x="220252" y="11265"/>
                    <a:pt x="225296" y="16308"/>
                    <a:pt x="225296" y="22530"/>
                  </a:cubicBezTo>
                  <a:lnTo>
                    <a:pt x="225296" y="118281"/>
                  </a:lnTo>
                  <a:moveTo>
                    <a:pt x="73221" y="0"/>
                  </a:moveTo>
                  <a:lnTo>
                    <a:pt x="140810" y="0"/>
                  </a:lnTo>
                  <a:cubicBezTo>
                    <a:pt x="147031" y="0"/>
                    <a:pt x="152075" y="5044"/>
                    <a:pt x="152075" y="11265"/>
                  </a:cubicBezTo>
                  <a:cubicBezTo>
                    <a:pt x="152075" y="17486"/>
                    <a:pt x="147031" y="22530"/>
                    <a:pt x="140810" y="22530"/>
                  </a:cubicBezTo>
                  <a:lnTo>
                    <a:pt x="73221" y="22530"/>
                  </a:lnTo>
                  <a:cubicBezTo>
                    <a:pt x="67000" y="22530"/>
                    <a:pt x="61956" y="17486"/>
                    <a:pt x="61956" y="11265"/>
                  </a:cubicBezTo>
                  <a:cubicBezTo>
                    <a:pt x="61956" y="5044"/>
                    <a:pt x="67000" y="0"/>
                    <a:pt x="73221" y="0"/>
                  </a:cubicBezTo>
                  <a:moveTo>
                    <a:pt x="59140" y="78854"/>
                  </a:moveTo>
                  <a:cubicBezTo>
                    <a:pt x="54474" y="78854"/>
                    <a:pt x="50692" y="82636"/>
                    <a:pt x="50692" y="87302"/>
                  </a:cubicBezTo>
                  <a:cubicBezTo>
                    <a:pt x="50692" y="91969"/>
                    <a:pt x="54474" y="95751"/>
                    <a:pt x="59140" y="95751"/>
                  </a:cubicBezTo>
                  <a:lnTo>
                    <a:pt x="166156" y="95751"/>
                  </a:lnTo>
                  <a:cubicBezTo>
                    <a:pt x="170822" y="95751"/>
                    <a:pt x="174604" y="91969"/>
                    <a:pt x="174604" y="87302"/>
                  </a:cubicBezTo>
                  <a:cubicBezTo>
                    <a:pt x="174604" y="82636"/>
                    <a:pt x="170822" y="78854"/>
                    <a:pt x="166156" y="78854"/>
                  </a:cubicBezTo>
                  <a:lnTo>
                    <a:pt x="59140" y="78854"/>
                  </a:lnTo>
                  <a:moveTo>
                    <a:pt x="59140" y="118281"/>
                  </a:moveTo>
                  <a:cubicBezTo>
                    <a:pt x="54474" y="118281"/>
                    <a:pt x="50692" y="122063"/>
                    <a:pt x="50692" y="126729"/>
                  </a:cubicBezTo>
                  <a:cubicBezTo>
                    <a:pt x="50692" y="131396"/>
                    <a:pt x="54474" y="135178"/>
                    <a:pt x="59140" y="135178"/>
                  </a:cubicBezTo>
                  <a:lnTo>
                    <a:pt x="143626" y="135178"/>
                  </a:lnTo>
                  <a:cubicBezTo>
                    <a:pt x="148293" y="135178"/>
                    <a:pt x="152075" y="131396"/>
                    <a:pt x="152075" y="126729"/>
                  </a:cubicBezTo>
                  <a:cubicBezTo>
                    <a:pt x="152075" y="122063"/>
                    <a:pt x="148293" y="118281"/>
                    <a:pt x="143626" y="118281"/>
                  </a:cubicBezTo>
                  <a:lnTo>
                    <a:pt x="59140" y="118281"/>
                  </a:lnTo>
                  <a:moveTo>
                    <a:pt x="59140" y="157707"/>
                  </a:moveTo>
                  <a:cubicBezTo>
                    <a:pt x="54474" y="157707"/>
                    <a:pt x="50692" y="161489"/>
                    <a:pt x="50692" y="166156"/>
                  </a:cubicBezTo>
                  <a:cubicBezTo>
                    <a:pt x="50692" y="170822"/>
                    <a:pt x="54474" y="174605"/>
                    <a:pt x="59140" y="174605"/>
                  </a:cubicBezTo>
                  <a:lnTo>
                    <a:pt x="121097" y="174605"/>
                  </a:lnTo>
                  <a:cubicBezTo>
                    <a:pt x="125763" y="174605"/>
                    <a:pt x="129545" y="170822"/>
                    <a:pt x="129545" y="166156"/>
                  </a:cubicBezTo>
                  <a:cubicBezTo>
                    <a:pt x="129545" y="161489"/>
                    <a:pt x="125763" y="157707"/>
                    <a:pt x="121097" y="157707"/>
                  </a:cubicBezTo>
                  <a:lnTo>
                    <a:pt x="59140" y="157707"/>
                  </a:lnTo>
                  <a:moveTo>
                    <a:pt x="225296" y="242193"/>
                  </a:moveTo>
                  <a:cubicBezTo>
                    <a:pt x="194189" y="242193"/>
                    <a:pt x="168972" y="216976"/>
                    <a:pt x="168972" y="185869"/>
                  </a:cubicBezTo>
                  <a:cubicBezTo>
                    <a:pt x="168972" y="154762"/>
                    <a:pt x="194189" y="129545"/>
                    <a:pt x="225296" y="129545"/>
                  </a:cubicBezTo>
                  <a:cubicBezTo>
                    <a:pt x="256403" y="129545"/>
                    <a:pt x="281620" y="154762"/>
                    <a:pt x="281620" y="185869"/>
                  </a:cubicBezTo>
                  <a:cubicBezTo>
                    <a:pt x="281620" y="216976"/>
                    <a:pt x="256403" y="242193"/>
                    <a:pt x="225296" y="242193"/>
                  </a:cubicBezTo>
                  <a:moveTo>
                    <a:pt x="221030" y="199868"/>
                  </a:moveTo>
                  <a:lnTo>
                    <a:pt x="209082" y="187919"/>
                  </a:lnTo>
                  <a:cubicBezTo>
                    <a:pt x="206883" y="185720"/>
                    <a:pt x="203316" y="185720"/>
                    <a:pt x="201116" y="187919"/>
                  </a:cubicBezTo>
                  <a:cubicBezTo>
                    <a:pt x="198917" y="190119"/>
                    <a:pt x="198917" y="193685"/>
                    <a:pt x="201116" y="195884"/>
                  </a:cubicBezTo>
                  <a:lnTo>
                    <a:pt x="217048" y="211816"/>
                  </a:lnTo>
                  <a:cubicBezTo>
                    <a:pt x="219247" y="214015"/>
                    <a:pt x="222813" y="214015"/>
                    <a:pt x="225013" y="211816"/>
                  </a:cubicBezTo>
                  <a:lnTo>
                    <a:pt x="256875" y="179954"/>
                  </a:lnTo>
                  <a:cubicBezTo>
                    <a:pt x="259074" y="177754"/>
                    <a:pt x="259074" y="174188"/>
                    <a:pt x="256875" y="171989"/>
                  </a:cubicBezTo>
                  <a:cubicBezTo>
                    <a:pt x="254675" y="169788"/>
                    <a:pt x="251109" y="169788"/>
                    <a:pt x="248909" y="171989"/>
                  </a:cubicBezTo>
                  <a:lnTo>
                    <a:pt x="221030" y="199868"/>
                  </a:lnTo>
                </a:path>
              </a:pathLst>
            </a:custGeom>
            <a:solidFill>
              <a:schemeClr val="bg1"/>
            </a:solidFill>
            <a:ln w="1079" cap="flat">
              <a:noFill/>
              <a:prstDash val="solid"/>
              <a:miter/>
            </a:ln>
          </p:spPr>
          <p:txBody>
            <a:bodyPr rtlCol="0" anchor="ctr"/>
            <a:lstStyle/>
            <a:p>
              <a:endParaRPr lang="zh-CN" altLang="en-US"/>
            </a:p>
          </p:txBody>
        </p:sp>
        <p:sp>
          <p:nvSpPr>
            <p:cNvPr id="141" name="图形 126" descr="时间"/>
            <p:cNvSpPr/>
            <p:nvPr>
              <p:custDataLst>
                <p:tags r:id="rId13"/>
              </p:custDataLst>
            </p:nvPr>
          </p:nvSpPr>
          <p:spPr>
            <a:xfrm>
              <a:off x="5647" y="5287"/>
              <a:ext cx="319" cy="319"/>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sp>
          <p:nvSpPr>
            <p:cNvPr id="15" name="文本框 14"/>
            <p:cNvSpPr txBox="1"/>
            <p:nvPr/>
          </p:nvSpPr>
          <p:spPr>
            <a:xfrm>
              <a:off x="6842" y="3813"/>
              <a:ext cx="2247" cy="1016"/>
            </a:xfrm>
            <a:prstGeom prst="rect">
              <a:avLst/>
            </a:prstGeom>
            <a:noFill/>
          </p:spPr>
          <p:txBody>
            <a:bodyPr wrap="square" rtlCol="0">
              <a:spAutoFit/>
            </a:bodyPr>
            <a:lstStyle/>
            <a:p>
              <a:pPr algn="ctr"/>
              <a:r>
                <a:rPr lang="zh-CN" altLang="en-US">
                  <a:solidFill>
                    <a:schemeClr val="bg1"/>
                  </a:solidFill>
                  <a:ea typeface="+mn-lt"/>
                  <a:cs typeface="+mn-lt"/>
                </a:rPr>
                <a:t>机械设计</a:t>
              </a:r>
            </a:p>
            <a:p>
              <a:pPr algn="ctr"/>
              <a:r>
                <a:rPr lang="en-US" altLang="zh-CN">
                  <a:solidFill>
                    <a:schemeClr val="bg1"/>
                  </a:solidFill>
                  <a:ea typeface="+mn-lt"/>
                  <a:cs typeface="+mn-lt"/>
                </a:rPr>
                <a:t>STM32</a:t>
              </a:r>
              <a:r>
                <a:rPr lang="zh-CN" altLang="en-US">
                  <a:solidFill>
                    <a:schemeClr val="bg1"/>
                  </a:solidFill>
                  <a:ea typeface="+mn-lt"/>
                  <a:cs typeface="+mn-lt"/>
                </a:rPr>
                <a:t>开发</a:t>
              </a:r>
            </a:p>
          </p:txBody>
        </p:sp>
        <p:sp>
          <p:nvSpPr>
            <p:cNvPr id="17" name="文本框 16"/>
            <p:cNvSpPr txBox="1"/>
            <p:nvPr/>
          </p:nvSpPr>
          <p:spPr>
            <a:xfrm>
              <a:off x="9815" y="3813"/>
              <a:ext cx="2491" cy="1016"/>
            </a:xfrm>
            <a:prstGeom prst="rect">
              <a:avLst/>
            </a:prstGeom>
            <a:noFill/>
          </p:spPr>
          <p:txBody>
            <a:bodyPr wrap="square" rtlCol="0">
              <a:spAutoFit/>
            </a:bodyPr>
            <a:lstStyle/>
            <a:p>
              <a:pPr algn="ctr"/>
              <a:r>
                <a:rPr lang="en-US" altLang="zh-CN">
                  <a:solidFill>
                    <a:schemeClr val="bg1"/>
                  </a:solidFill>
                </a:rPr>
                <a:t>ROS2+SLAM YOLO</a:t>
              </a:r>
              <a:r>
                <a:rPr lang="zh-CN" altLang="en-US">
                  <a:solidFill>
                    <a:schemeClr val="bg1"/>
                  </a:solidFill>
                </a:rPr>
                <a:t>部署</a:t>
              </a:r>
            </a:p>
          </p:txBody>
        </p:sp>
        <p:sp>
          <p:nvSpPr>
            <p:cNvPr id="18" name="文本框 17"/>
            <p:cNvSpPr txBox="1"/>
            <p:nvPr/>
          </p:nvSpPr>
          <p:spPr>
            <a:xfrm>
              <a:off x="12861" y="3813"/>
              <a:ext cx="2945" cy="1016"/>
            </a:xfrm>
            <a:prstGeom prst="rect">
              <a:avLst/>
            </a:prstGeom>
            <a:noFill/>
          </p:spPr>
          <p:txBody>
            <a:bodyPr wrap="square" rtlCol="0">
              <a:spAutoFit/>
            </a:bodyPr>
            <a:lstStyle/>
            <a:p>
              <a:pPr algn="ctr"/>
              <a:r>
                <a:rPr lang="en-US" altLang="zh-CN">
                  <a:solidFill>
                    <a:schemeClr val="bg1"/>
                  </a:solidFill>
                </a:rPr>
                <a:t>VLM+</a:t>
              </a:r>
              <a:r>
                <a:rPr lang="zh-CN" altLang="en-US">
                  <a:solidFill>
                    <a:schemeClr val="bg1"/>
                  </a:solidFill>
                </a:rPr>
                <a:t>知识图谱</a:t>
              </a:r>
            </a:p>
            <a:p>
              <a:pPr algn="ctr"/>
              <a:r>
                <a:rPr lang="en-US" altLang="zh-CN">
                  <a:solidFill>
                    <a:schemeClr val="bg1"/>
                  </a:solidFill>
                </a:rPr>
                <a:t>RAG</a:t>
              </a:r>
              <a:r>
                <a:rPr lang="zh-CN" altLang="en-US">
                  <a:solidFill>
                    <a:schemeClr val="bg1"/>
                  </a:solidFill>
                </a:rPr>
                <a:t>系统</a:t>
              </a:r>
            </a:p>
          </p:txBody>
        </p:sp>
        <p:sp>
          <p:nvSpPr>
            <p:cNvPr id="19" name="文本框 18"/>
            <p:cNvSpPr txBox="1"/>
            <p:nvPr/>
          </p:nvSpPr>
          <p:spPr>
            <a:xfrm>
              <a:off x="11505" y="7434"/>
              <a:ext cx="3206" cy="580"/>
            </a:xfrm>
            <a:prstGeom prst="rect">
              <a:avLst/>
            </a:prstGeom>
            <a:noFill/>
          </p:spPr>
          <p:txBody>
            <a:bodyPr wrap="square" rtlCol="0">
              <a:spAutoFit/>
            </a:bodyPr>
            <a:lstStyle/>
            <a:p>
              <a:r>
                <a:rPr lang="zh-CN" altLang="en-US">
                  <a:solidFill>
                    <a:schemeClr val="bg1"/>
                  </a:solidFill>
                </a:rPr>
                <a:t>系统集成测试论文</a:t>
              </a:r>
            </a:p>
          </p:txBody>
        </p:sp>
        <p:sp>
          <p:nvSpPr>
            <p:cNvPr id="20" name="文本框 19"/>
            <p:cNvSpPr txBox="1"/>
            <p:nvPr/>
          </p:nvSpPr>
          <p:spPr>
            <a:xfrm>
              <a:off x="7184" y="7434"/>
              <a:ext cx="3289" cy="580"/>
            </a:xfrm>
            <a:prstGeom prst="rect">
              <a:avLst/>
            </a:prstGeom>
            <a:noFill/>
          </p:spPr>
          <p:txBody>
            <a:bodyPr wrap="square" rtlCol="0">
              <a:spAutoFit/>
            </a:bodyPr>
            <a:lstStyle/>
            <a:p>
              <a:pPr algn="ctr"/>
              <a:r>
                <a:rPr lang="zh-CN" altLang="en-US">
                  <a:solidFill>
                    <a:schemeClr val="bg1"/>
                  </a:solidFill>
                </a:rPr>
                <a:t>结题答辩</a:t>
              </a:r>
            </a:p>
          </p:txBody>
        </p:sp>
      </p:grpSp>
      <p:sp>
        <p:nvSpPr>
          <p:cNvPr id="32" name="矩形 31"/>
          <p:cNvSpPr/>
          <p:nvPr/>
        </p:nvSpPr>
        <p:spPr>
          <a:xfrm>
            <a:off x="3531870" y="4407535"/>
            <a:ext cx="2280285" cy="5238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3338830" y="4468495"/>
            <a:ext cx="2665730" cy="368300"/>
          </a:xfrm>
          <a:prstGeom prst="rect">
            <a:avLst/>
          </a:prstGeom>
          <a:noFill/>
        </p:spPr>
        <p:txBody>
          <a:bodyPr wrap="square" rtlCol="0">
            <a:spAutoFit/>
          </a:bodyPr>
          <a:lstStyle/>
          <a:p>
            <a:pPr algn="ctr"/>
            <a:r>
              <a:rPr lang="zh-CN" altLang="en-US">
                <a:solidFill>
                  <a:schemeClr val="bg1"/>
                </a:solidFill>
              </a:rPr>
              <a:t>预期成果</a:t>
            </a:r>
          </a:p>
        </p:txBody>
      </p:sp>
      <p:sp>
        <p:nvSpPr>
          <p:cNvPr id="34" name="流程图: 多文档 33"/>
          <p:cNvSpPr/>
          <p:nvPr/>
        </p:nvSpPr>
        <p:spPr>
          <a:xfrm>
            <a:off x="3531870" y="5490844"/>
            <a:ext cx="1908175" cy="822031"/>
          </a:xfrm>
          <a:prstGeom prst="flowChartMultidocumen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流程图: 多文档 34"/>
          <p:cNvSpPr/>
          <p:nvPr/>
        </p:nvSpPr>
        <p:spPr>
          <a:xfrm>
            <a:off x="5595620" y="5486399"/>
            <a:ext cx="1913255" cy="826477"/>
          </a:xfrm>
          <a:prstGeom prst="flowChartMultidocumen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流程图: 多文档 35"/>
          <p:cNvSpPr/>
          <p:nvPr/>
        </p:nvSpPr>
        <p:spPr>
          <a:xfrm>
            <a:off x="7669456" y="5486399"/>
            <a:ext cx="2023110" cy="826476"/>
          </a:xfrm>
          <a:prstGeom prst="flowChartMultidocumen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流程图: 多文档 36"/>
          <p:cNvSpPr/>
          <p:nvPr/>
        </p:nvSpPr>
        <p:spPr>
          <a:xfrm>
            <a:off x="9808210" y="5490845"/>
            <a:ext cx="1904786" cy="822030"/>
          </a:xfrm>
          <a:prstGeom prst="flowChartMultidocumen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3521710" y="5630545"/>
            <a:ext cx="1852930" cy="368300"/>
          </a:xfrm>
          <a:prstGeom prst="rect">
            <a:avLst/>
          </a:prstGeom>
          <a:noFill/>
        </p:spPr>
        <p:txBody>
          <a:bodyPr wrap="square" rtlCol="0">
            <a:spAutoFit/>
          </a:bodyPr>
          <a:lstStyle/>
          <a:p>
            <a:r>
              <a:rPr lang="zh-CN" altLang="en-US" dirty="0">
                <a:solidFill>
                  <a:schemeClr val="bg1"/>
                </a:solidFill>
              </a:rPr>
              <a:t>📑</a:t>
            </a:r>
            <a:r>
              <a:rPr lang="en-US" altLang="zh-CN" dirty="0">
                <a:solidFill>
                  <a:schemeClr val="bg1"/>
                </a:solidFill>
              </a:rPr>
              <a:t> SCI/EI1-2</a:t>
            </a:r>
            <a:r>
              <a:rPr lang="zh-CN" altLang="en-US" dirty="0">
                <a:solidFill>
                  <a:schemeClr val="bg1"/>
                </a:solidFill>
              </a:rPr>
              <a:t>篇</a:t>
            </a:r>
          </a:p>
        </p:txBody>
      </p:sp>
      <p:sp>
        <p:nvSpPr>
          <p:cNvPr id="40" name="文本框 39"/>
          <p:cNvSpPr txBox="1"/>
          <p:nvPr/>
        </p:nvSpPr>
        <p:spPr>
          <a:xfrm>
            <a:off x="5530215" y="5631180"/>
            <a:ext cx="2044700" cy="646331"/>
          </a:xfrm>
          <a:prstGeom prst="rect">
            <a:avLst/>
          </a:prstGeom>
          <a:noFill/>
        </p:spPr>
        <p:txBody>
          <a:bodyPr wrap="square" rtlCol="0">
            <a:spAutoFit/>
          </a:bodyPr>
          <a:lstStyle/>
          <a:p>
            <a:pPr algn="ctr"/>
            <a:r>
              <a:rPr lang="zh-CN" altLang="en-US" dirty="0">
                <a:solidFill>
                  <a:schemeClr val="bg1"/>
                </a:solidFill>
              </a:rPr>
              <a:t>💻</a:t>
            </a:r>
            <a:r>
              <a:rPr lang="en-US" altLang="zh-CN" dirty="0">
                <a:solidFill>
                  <a:schemeClr val="bg1"/>
                </a:solidFill>
              </a:rPr>
              <a:t> ROS2</a:t>
            </a:r>
            <a:r>
              <a:rPr lang="zh-CN" altLang="en-US" dirty="0">
                <a:solidFill>
                  <a:schemeClr val="bg1"/>
                </a:solidFill>
              </a:rPr>
              <a:t>巡检平台</a:t>
            </a:r>
          </a:p>
        </p:txBody>
      </p:sp>
      <p:sp>
        <p:nvSpPr>
          <p:cNvPr id="41" name="文本框 40"/>
          <p:cNvSpPr txBox="1"/>
          <p:nvPr/>
        </p:nvSpPr>
        <p:spPr>
          <a:xfrm>
            <a:off x="7664450" y="5631180"/>
            <a:ext cx="2143125" cy="368300"/>
          </a:xfrm>
          <a:prstGeom prst="rect">
            <a:avLst/>
          </a:prstGeom>
          <a:noFill/>
        </p:spPr>
        <p:txBody>
          <a:bodyPr wrap="square" rtlCol="0">
            <a:spAutoFit/>
          </a:bodyPr>
          <a:lstStyle/>
          <a:p>
            <a:r>
              <a:rPr lang="zh-CN" altLang="en-US" dirty="0">
                <a:solidFill>
                  <a:schemeClr val="bg1"/>
                </a:solidFill>
              </a:rPr>
              <a:t>🤖</a:t>
            </a:r>
            <a:r>
              <a:rPr lang="en-US" altLang="zh-CN" dirty="0">
                <a:solidFill>
                  <a:schemeClr val="bg1"/>
                </a:solidFill>
              </a:rPr>
              <a:t> </a:t>
            </a:r>
            <a:r>
              <a:rPr lang="zh-CN" altLang="en-US" dirty="0">
                <a:solidFill>
                  <a:schemeClr val="bg1"/>
                </a:solidFill>
              </a:rPr>
              <a:t>巡检机器人</a:t>
            </a:r>
            <a:r>
              <a:rPr lang="en-US" altLang="zh-CN" dirty="0">
                <a:solidFill>
                  <a:schemeClr val="bg1"/>
                </a:solidFill>
              </a:rPr>
              <a:t>1</a:t>
            </a:r>
            <a:r>
              <a:rPr lang="zh-CN" altLang="en-US" dirty="0">
                <a:solidFill>
                  <a:schemeClr val="bg1"/>
                </a:solidFill>
              </a:rPr>
              <a:t>台</a:t>
            </a:r>
          </a:p>
        </p:txBody>
      </p:sp>
      <p:sp>
        <p:nvSpPr>
          <p:cNvPr id="42" name="文本框 41"/>
          <p:cNvSpPr txBox="1"/>
          <p:nvPr/>
        </p:nvSpPr>
        <p:spPr>
          <a:xfrm>
            <a:off x="9782175" y="5631180"/>
            <a:ext cx="1849120" cy="368300"/>
          </a:xfrm>
          <a:prstGeom prst="rect">
            <a:avLst/>
          </a:prstGeom>
          <a:noFill/>
        </p:spPr>
        <p:txBody>
          <a:bodyPr wrap="square" rtlCol="0">
            <a:spAutoFit/>
          </a:bodyPr>
          <a:lstStyle/>
          <a:p>
            <a:pPr algn="ctr"/>
            <a:r>
              <a:rPr lang="zh-CN" altLang="en-US">
                <a:solidFill>
                  <a:schemeClr val="bg1"/>
                </a:solidFill>
              </a:rPr>
              <a:t>📄</a:t>
            </a:r>
            <a:r>
              <a:rPr lang="en-US" altLang="zh-CN">
                <a:solidFill>
                  <a:schemeClr val="bg1"/>
                </a:solidFill>
              </a:rPr>
              <a:t> </a:t>
            </a:r>
            <a:r>
              <a:rPr lang="zh-CN" altLang="en-US">
                <a:solidFill>
                  <a:schemeClr val="bg1"/>
                </a:solidFill>
              </a:rPr>
              <a:t>发明专利</a:t>
            </a:r>
            <a:r>
              <a:rPr lang="en-US" altLang="zh-CN">
                <a:solidFill>
                  <a:schemeClr val="bg1"/>
                </a:solidFill>
              </a:rPr>
              <a:t>1</a:t>
            </a:r>
            <a:r>
              <a:rPr lang="zh-CN" altLang="en-US">
                <a:solidFill>
                  <a:schemeClr val="bg1"/>
                </a:solidFill>
              </a:rPr>
              <a:t>项</a:t>
            </a:r>
          </a:p>
        </p:txBody>
      </p:sp>
      <p:sp>
        <p:nvSpPr>
          <p:cNvPr id="3" name="矩形 2">
            <a:extLst>
              <a:ext uri="{FF2B5EF4-FFF2-40B4-BE49-F238E27FC236}">
                <a16:creationId xmlns:a16="http://schemas.microsoft.com/office/drawing/2014/main" id="{9E98E109-9E14-C368-56BD-E6AB978F67EC}"/>
              </a:ext>
            </a:extLst>
          </p:cNvPr>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3CEB7FD6-F91D-5C32-21B8-788690DBBDCD}"/>
              </a:ext>
            </a:extLst>
          </p:cNvPr>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7" name="文本框 6">
            <a:extLst>
              <a:ext uri="{FF2B5EF4-FFF2-40B4-BE49-F238E27FC236}">
                <a16:creationId xmlns:a16="http://schemas.microsoft.com/office/drawing/2014/main" id="{EE974442-E813-B918-57A9-8C41FC4AA56F}"/>
              </a:ext>
            </a:extLst>
          </p:cNvPr>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grpSp>
        <p:nvGrpSpPr>
          <p:cNvPr id="8" name="组合 7">
            <a:extLst>
              <a:ext uri="{FF2B5EF4-FFF2-40B4-BE49-F238E27FC236}">
                <a16:creationId xmlns:a16="http://schemas.microsoft.com/office/drawing/2014/main" id="{7815BB9C-6C02-0D48-C043-819C6D8654DC}"/>
              </a:ext>
            </a:extLst>
          </p:cNvPr>
          <p:cNvGrpSpPr/>
          <p:nvPr/>
        </p:nvGrpSpPr>
        <p:grpSpPr>
          <a:xfrm>
            <a:off x="-2" y="4284411"/>
            <a:ext cx="2867026" cy="921872"/>
            <a:chOff x="-2" y="1537960"/>
            <a:chExt cx="2867026" cy="921872"/>
          </a:xfrm>
        </p:grpSpPr>
        <p:sp>
          <p:nvSpPr>
            <p:cNvPr id="9" name="矩形 8">
              <a:extLst>
                <a:ext uri="{FF2B5EF4-FFF2-40B4-BE49-F238E27FC236}">
                  <a16:creationId xmlns:a16="http://schemas.microsoft.com/office/drawing/2014/main" id="{BE1D865B-6B55-DC99-E699-13D2FE54D041}"/>
                </a:ext>
              </a:extLst>
            </p:cNvPr>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9">
              <a:extLst>
                <a:ext uri="{FF2B5EF4-FFF2-40B4-BE49-F238E27FC236}">
                  <a16:creationId xmlns:a16="http://schemas.microsoft.com/office/drawing/2014/main" id="{1BCBA3FB-96A4-1796-2914-62048C4523FA}"/>
                </a:ext>
              </a:extLst>
            </p:cNvPr>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文本框 12">
            <a:extLst>
              <a:ext uri="{FF2B5EF4-FFF2-40B4-BE49-F238E27FC236}">
                <a16:creationId xmlns:a16="http://schemas.microsoft.com/office/drawing/2014/main" id="{6710A0C4-B12E-0DCF-6D57-83D591E29E78}"/>
              </a:ext>
            </a:extLst>
          </p:cNvPr>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27" name="文本框 26">
            <a:extLst>
              <a:ext uri="{FF2B5EF4-FFF2-40B4-BE49-F238E27FC236}">
                <a16:creationId xmlns:a16="http://schemas.microsoft.com/office/drawing/2014/main" id="{00BCEF4D-31B6-D7F3-B86C-9CABFD950B4F}"/>
              </a:ext>
            </a:extLst>
          </p:cNvPr>
          <p:cNvSpPr txBox="1"/>
          <p:nvPr/>
        </p:nvSpPr>
        <p:spPr>
          <a:xfrm>
            <a:off x="542925" y="297037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28" name="文本框 27">
            <a:extLst>
              <a:ext uri="{FF2B5EF4-FFF2-40B4-BE49-F238E27FC236}">
                <a16:creationId xmlns:a16="http://schemas.microsoft.com/office/drawing/2014/main" id="{C2889A09-E2FB-A4AF-87ED-19EA0EEBDFE7}"/>
              </a:ext>
            </a:extLst>
          </p:cNvPr>
          <p:cNvSpPr txBox="1"/>
          <p:nvPr/>
        </p:nvSpPr>
        <p:spPr>
          <a:xfrm>
            <a:off x="542925" y="440404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研究过程</a:t>
            </a:r>
          </a:p>
        </p:txBody>
      </p:sp>
      <p:sp>
        <p:nvSpPr>
          <p:cNvPr id="32" name="矩形 31"/>
          <p:cNvSpPr/>
          <p:nvPr/>
        </p:nvSpPr>
        <p:spPr>
          <a:xfrm>
            <a:off x="3396996" y="1397613"/>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7912100" y="1397613"/>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3403600" y="4284411"/>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7918704" y="4284411"/>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6273639" y="2650331"/>
            <a:ext cx="2432372" cy="2432372"/>
          </a:xfrm>
          <a:prstGeom prst="ellipse">
            <a:avLst/>
          </a:prstGeom>
          <a:solidFill>
            <a:schemeClr val="bg1">
              <a:lumMod val="95000"/>
            </a:schemeClr>
          </a:solid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750068" y="3112236"/>
            <a:ext cx="1504915" cy="1504915"/>
          </a:xfrm>
          <a:prstGeom prst="ellipse">
            <a:avLst/>
          </a:prstGeom>
          <a:ln>
            <a:noFill/>
          </a:ln>
          <a:effectLst>
            <a:outerShdw blurRad="254000" dist="127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6923087" y="4025962"/>
            <a:ext cx="1133475" cy="368300"/>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特色创新</a:t>
            </a:r>
          </a:p>
        </p:txBody>
      </p:sp>
      <p:sp>
        <p:nvSpPr>
          <p:cNvPr id="47" name="文本框 46"/>
          <p:cNvSpPr txBox="1"/>
          <p:nvPr/>
        </p:nvSpPr>
        <p:spPr>
          <a:xfrm>
            <a:off x="3644265" y="1878965"/>
            <a:ext cx="3198495" cy="805815"/>
          </a:xfrm>
          <a:prstGeom prst="rect">
            <a:avLst/>
          </a:prstGeom>
          <a:noFill/>
        </p:spPr>
        <p:txBody>
          <a:bodyPr wrap="square" rtlCol="0">
            <a:noAutofit/>
          </a:bodyPr>
          <a:lstStyle/>
          <a:p>
            <a:pPr marL="0" indent="0">
              <a:lnSpc>
                <a:spcPts val="2000"/>
              </a:lnSpc>
              <a:buNone/>
            </a:pPr>
            <a:r>
              <a:rPr lang="en-US" sz="16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0"/>
                <a:sym typeface="+mn-ea"/>
              </a:rPr>
              <a:t>YOLO实时快轨 + VLM深度慢轨</a:t>
            </a:r>
            <a:endParaRPr lang="en-US" sz="1600" dirty="0">
              <a:solidFill>
                <a:srgbClr val="002060"/>
              </a:solidFill>
            </a:endParaRPr>
          </a:p>
          <a:p>
            <a:pPr marL="0" indent="0">
              <a:lnSpc>
                <a:spcPts val="2000"/>
              </a:lnSpc>
              <a:buNone/>
            </a:pPr>
            <a:endParaRPr lang="en-US" sz="16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0" indent="0">
              <a:lnSpc>
                <a:spcPts val="2000"/>
              </a:lnSpc>
              <a:buNone/>
            </a:pPr>
            <a:r>
              <a:rPr lang="en-US" sz="16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0"/>
                <a:sym typeface="+mn-ea"/>
              </a:rPr>
              <a:t>置信度自适应协同触发机制</a:t>
            </a:r>
            <a:endParaRPr lang="zh-CN" altLang="en-US" sz="1600" dirty="0">
              <a:solidFill>
                <a:srgbClr val="002060"/>
              </a:solidFill>
              <a:latin typeface="微软雅黑" panose="020B0503020204020204" pitchFamily="34" charset="-122"/>
              <a:ea typeface="微软雅黑" panose="020B0503020204020204" pitchFamily="34" charset="-122"/>
            </a:endParaRPr>
          </a:p>
        </p:txBody>
      </p:sp>
      <p:sp>
        <p:nvSpPr>
          <p:cNvPr id="45" name="矩形: 剪去单角 44"/>
          <p:cNvSpPr/>
          <p:nvPr/>
        </p:nvSpPr>
        <p:spPr>
          <a:xfrm>
            <a:off x="4046538" y="1059330"/>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椭圆 47"/>
          <p:cNvSpPr/>
          <p:nvPr/>
        </p:nvSpPr>
        <p:spPr>
          <a:xfrm>
            <a:off x="4133850" y="1135549"/>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4067175" y="1287780"/>
            <a:ext cx="2275205" cy="368300"/>
          </a:xfrm>
          <a:prstGeom prst="rect">
            <a:avLst/>
          </a:prstGeom>
          <a:noFill/>
        </p:spPr>
        <p:txBody>
          <a:bodyPr wrap="square" rtlCol="0">
            <a:spAutoFit/>
          </a:bodyPr>
          <a:lstStyle/>
          <a:p>
            <a:pPr algn="ctr"/>
            <a:r>
              <a:rPr 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0"/>
                <a:sym typeface="+mn-ea"/>
              </a:rPr>
              <a:t>双轨协同视觉检测</a:t>
            </a:r>
            <a:endParaRPr lang="en-US"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52" name="矩形: 剪去单角 51"/>
          <p:cNvSpPr/>
          <p:nvPr/>
        </p:nvSpPr>
        <p:spPr>
          <a:xfrm flipH="1">
            <a:off x="8864908" y="1069313"/>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椭圆 52"/>
          <p:cNvSpPr/>
          <p:nvPr/>
        </p:nvSpPr>
        <p:spPr>
          <a:xfrm flipH="1">
            <a:off x="10921023" y="1145532"/>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8864600" y="1297763"/>
            <a:ext cx="2305050" cy="368300"/>
          </a:xfrm>
          <a:prstGeom prst="rect">
            <a:avLst/>
          </a:prstGeom>
          <a:noFill/>
        </p:spPr>
        <p:txBody>
          <a:bodyPr wrap="square" rtlCol="0">
            <a:spAutoFit/>
          </a:bodyPr>
          <a:lstStyle/>
          <a:p>
            <a:pPr algn="ctr"/>
            <a:r>
              <a:rPr 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0"/>
                <a:sym typeface="+mn-ea"/>
              </a:rPr>
              <a:t>RAG与知识图谱融合</a:t>
            </a:r>
            <a:endParaRPr lang="en-US"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60" name="矩形: 剪去单角 59"/>
          <p:cNvSpPr/>
          <p:nvPr/>
        </p:nvSpPr>
        <p:spPr>
          <a:xfrm>
            <a:off x="4036320" y="5994967"/>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椭圆 60"/>
          <p:cNvSpPr/>
          <p:nvPr/>
        </p:nvSpPr>
        <p:spPr>
          <a:xfrm>
            <a:off x="4123632" y="6071186"/>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3867150" y="6152515"/>
            <a:ext cx="2571750" cy="583565"/>
          </a:xfrm>
          <a:prstGeom prst="rect">
            <a:avLst/>
          </a:prstGeom>
          <a:noFill/>
        </p:spPr>
        <p:txBody>
          <a:bodyPr wrap="square" rtlCol="0">
            <a:spAutoFit/>
          </a:bodyPr>
          <a:lstStyle/>
          <a:p>
            <a:pPr algn="ctr"/>
            <a:r>
              <a:rPr 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0"/>
                <a:sym typeface="+mn-ea"/>
              </a:rPr>
              <a:t>边缘端轻量化部署</a:t>
            </a:r>
            <a:endParaRPr lang="en-US" dirty="0">
              <a:solidFill>
                <a:schemeClr val="bg1"/>
              </a:solidFill>
            </a:endParaRPr>
          </a:p>
          <a:p>
            <a:pPr algn="ctr"/>
            <a:endParaRPr lang="en-US" altLang="en-US" sz="1400" dirty="0">
              <a:solidFill>
                <a:schemeClr val="bg1"/>
              </a:solidFill>
              <a:latin typeface="微软雅黑" panose="020B0503020204020204" pitchFamily="34" charset="-122"/>
              <a:ea typeface="微软雅黑" panose="020B0503020204020204" pitchFamily="34" charset="-122"/>
            </a:endParaRPr>
          </a:p>
        </p:txBody>
      </p:sp>
      <p:sp>
        <p:nvSpPr>
          <p:cNvPr id="64" name="矩形: 剪去单角 63"/>
          <p:cNvSpPr/>
          <p:nvPr/>
        </p:nvSpPr>
        <p:spPr>
          <a:xfrm flipH="1">
            <a:off x="8660765" y="5995035"/>
            <a:ext cx="2508885" cy="70040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椭圆 64"/>
          <p:cNvSpPr/>
          <p:nvPr/>
        </p:nvSpPr>
        <p:spPr>
          <a:xfrm flipH="1">
            <a:off x="10921023" y="6060053"/>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p:cNvSpPr txBox="1"/>
          <p:nvPr/>
        </p:nvSpPr>
        <p:spPr>
          <a:xfrm>
            <a:off x="8605520" y="6152515"/>
            <a:ext cx="2564765" cy="583565"/>
          </a:xfrm>
          <a:prstGeom prst="rect">
            <a:avLst/>
          </a:prstGeom>
          <a:noFill/>
        </p:spPr>
        <p:txBody>
          <a:bodyPr wrap="square" rtlCol="0">
            <a:spAutoFit/>
          </a:bodyPr>
          <a:lstStyle/>
          <a:p>
            <a:pPr algn="ctr"/>
            <a:r>
              <a:rPr 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0"/>
                <a:sym typeface="+mn-ea"/>
              </a:rPr>
              <a:t>全向轮+惯导精确定位</a:t>
            </a:r>
            <a:endParaRPr lang="en-US" dirty="0">
              <a:solidFill>
                <a:schemeClr val="bg1"/>
              </a:solidFill>
            </a:endParaRPr>
          </a:p>
          <a:p>
            <a:pPr algn="ctr"/>
            <a:endParaRPr lang="en-US" altLang="en-US" sz="1400" dirty="0">
              <a:solidFill>
                <a:schemeClr val="bg1"/>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3555806" y="4631025"/>
            <a:ext cx="2958243" cy="860425"/>
          </a:xfrm>
          <a:prstGeom prst="rect">
            <a:avLst/>
          </a:prstGeom>
          <a:noFill/>
        </p:spPr>
        <p:txBody>
          <a:bodyPr wrap="square" rtlCol="0">
            <a:spAutoFit/>
          </a:bodyPr>
          <a:lstStyle/>
          <a:p>
            <a:pPr marL="0" indent="0">
              <a:lnSpc>
                <a:spcPts val="2000"/>
              </a:lnSpc>
              <a:buNone/>
            </a:pPr>
            <a:r>
              <a:rPr lang="en-US" sz="16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0"/>
                <a:sym typeface="+mn-ea"/>
              </a:rPr>
              <a:t>TensorRT加速 + 模型量化</a:t>
            </a:r>
          </a:p>
          <a:p>
            <a:pPr marL="0" indent="0">
              <a:lnSpc>
                <a:spcPts val="2000"/>
              </a:lnSpc>
              <a:buNone/>
            </a:pPr>
            <a:endParaRPr lang="en-US" sz="1600" dirty="0">
              <a:solidFill>
                <a:srgbClr val="002060"/>
              </a:solidFill>
            </a:endParaRPr>
          </a:p>
          <a:p>
            <a:pPr marL="0" indent="0">
              <a:lnSpc>
                <a:spcPts val="2000"/>
              </a:lnSpc>
              <a:buNone/>
            </a:pPr>
            <a:r>
              <a:rPr lang="en-US" sz="16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0"/>
                <a:sym typeface="+mn-ea"/>
              </a:rPr>
              <a:t>Jetson端侧实时多模态推理</a:t>
            </a:r>
            <a:endParaRPr lang="zh-CN" altLang="en-US" sz="1600" dirty="0">
              <a:solidFill>
                <a:srgbClr val="002060"/>
              </a:solidFill>
              <a:latin typeface="微软雅黑" panose="020B0503020204020204" pitchFamily="34" charset="-122"/>
              <a:ea typeface="微软雅黑" panose="020B0503020204020204" pitchFamily="34" charset="-122"/>
            </a:endParaRPr>
          </a:p>
        </p:txBody>
      </p:sp>
      <p:sp>
        <p:nvSpPr>
          <p:cNvPr id="68" name="文本框 67"/>
          <p:cNvSpPr txBox="1"/>
          <p:nvPr/>
        </p:nvSpPr>
        <p:spPr>
          <a:xfrm>
            <a:off x="8441541" y="4663699"/>
            <a:ext cx="2958243" cy="860425"/>
          </a:xfrm>
          <a:prstGeom prst="rect">
            <a:avLst/>
          </a:prstGeom>
          <a:noFill/>
        </p:spPr>
        <p:txBody>
          <a:bodyPr wrap="square" rtlCol="0">
            <a:spAutoFit/>
          </a:bodyPr>
          <a:lstStyle/>
          <a:p>
            <a:pPr marL="0" indent="0">
              <a:lnSpc>
                <a:spcPts val="2000"/>
              </a:lnSpc>
              <a:buNone/>
            </a:pPr>
            <a:r>
              <a:rPr lang="en-US" sz="16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0"/>
                <a:sym typeface="+mn-ea"/>
              </a:rPr>
              <a:t>四轮全向驱动 + IMU融合</a:t>
            </a:r>
          </a:p>
          <a:p>
            <a:pPr marL="0" indent="0">
              <a:lnSpc>
                <a:spcPts val="2000"/>
              </a:lnSpc>
              <a:buNone/>
            </a:pPr>
            <a:endParaRPr lang="en-US" sz="1600" dirty="0">
              <a:solidFill>
                <a:srgbClr val="002060"/>
              </a:solidFill>
            </a:endParaRPr>
          </a:p>
          <a:p>
            <a:pPr marL="0" indent="0">
              <a:lnSpc>
                <a:spcPts val="2000"/>
              </a:lnSpc>
              <a:buNone/>
            </a:pPr>
            <a:r>
              <a:rPr lang="en-US" sz="16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0"/>
                <a:sym typeface="+mn-ea"/>
              </a:rPr>
              <a:t>高精度SLAM导航定位</a:t>
            </a:r>
            <a:endParaRPr lang="zh-CN" altLang="en-US" sz="1600" dirty="0">
              <a:solidFill>
                <a:srgbClr val="002060"/>
              </a:solidFill>
              <a:latin typeface="微软雅黑" panose="020B0503020204020204" pitchFamily="34" charset="-122"/>
              <a:ea typeface="微软雅黑" panose="020B0503020204020204" pitchFamily="34" charset="-122"/>
            </a:endParaRPr>
          </a:p>
        </p:txBody>
      </p:sp>
      <p:sp>
        <p:nvSpPr>
          <p:cNvPr id="69" name="文本框 68"/>
          <p:cNvSpPr txBox="1"/>
          <p:nvPr/>
        </p:nvSpPr>
        <p:spPr>
          <a:xfrm>
            <a:off x="8408780" y="1874980"/>
            <a:ext cx="2958243" cy="860425"/>
          </a:xfrm>
          <a:prstGeom prst="rect">
            <a:avLst/>
          </a:prstGeom>
          <a:noFill/>
        </p:spPr>
        <p:txBody>
          <a:bodyPr wrap="square" rtlCol="0">
            <a:spAutoFit/>
          </a:bodyPr>
          <a:lstStyle/>
          <a:p>
            <a:pPr marL="0" indent="0">
              <a:lnSpc>
                <a:spcPts val="2000"/>
              </a:lnSpc>
              <a:buNone/>
            </a:pPr>
            <a:r>
              <a:rPr lang="en-US" sz="16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0"/>
                <a:sym typeface="+mn-ea"/>
              </a:rPr>
              <a:t>向量检索+图谱推理双通道</a:t>
            </a:r>
          </a:p>
          <a:p>
            <a:pPr marL="0" indent="0">
              <a:lnSpc>
                <a:spcPts val="2000"/>
              </a:lnSpc>
              <a:buNone/>
            </a:pPr>
            <a:endParaRPr lang="en-US" sz="1600" dirty="0">
              <a:solidFill>
                <a:srgbClr val="002060"/>
              </a:solidFill>
            </a:endParaRPr>
          </a:p>
          <a:p>
            <a:pPr marL="0" indent="0">
              <a:lnSpc>
                <a:spcPts val="2000"/>
              </a:lnSpc>
              <a:buNone/>
            </a:pPr>
            <a:r>
              <a:rPr lang="en-US" sz="16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0"/>
                <a:sym typeface="+mn-ea"/>
              </a:rPr>
              <a:t>实现可解释的多跳推理决策</a:t>
            </a:r>
            <a:endParaRPr lang="zh-CN" altLang="en-US" sz="1600" dirty="0">
              <a:solidFill>
                <a:srgbClr val="002060"/>
              </a:solidFill>
              <a:latin typeface="微软雅黑" panose="020B0503020204020204" pitchFamily="34" charset="-122"/>
              <a:ea typeface="微软雅黑" panose="020B0503020204020204" pitchFamily="34" charset="-122"/>
            </a:endParaRPr>
          </a:p>
        </p:txBody>
      </p:sp>
      <p:sp>
        <p:nvSpPr>
          <p:cNvPr id="70" name="弧形 69"/>
          <p:cNvSpPr/>
          <p:nvPr/>
        </p:nvSpPr>
        <p:spPr>
          <a:xfrm>
            <a:off x="6515163" y="2891855"/>
            <a:ext cx="1949325" cy="1949325"/>
          </a:xfrm>
          <a:prstGeom prst="arc">
            <a:avLst>
              <a:gd name="adj1" fmla="val 14596398"/>
              <a:gd name="adj2" fmla="val 10284191"/>
            </a:avLst>
          </a:prstGeom>
          <a:ln w="53975">
            <a:gradFill flip="none" rotWithShape="1">
              <a:gsLst>
                <a:gs pos="0">
                  <a:schemeClr val="accent1">
                    <a:lumMod val="60000"/>
                    <a:lumOff val="40000"/>
                    <a:alpha val="0"/>
                  </a:schemeClr>
                </a:gs>
                <a:gs pos="100000">
                  <a:schemeClr val="accent1"/>
                </a:gs>
              </a:gsLst>
              <a:lin ang="5400000" scaled="1"/>
              <a:tileRect/>
            </a:gra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 name="图形 43" descr="循环箭头"/>
          <p:cNvSpPr/>
          <p:nvPr/>
        </p:nvSpPr>
        <p:spPr>
          <a:xfrm>
            <a:off x="7182725" y="3389511"/>
            <a:ext cx="639600" cy="633302"/>
          </a:xfrm>
          <a:custGeom>
            <a:avLst/>
            <a:gdLst>
              <a:gd name="connsiteX0" fmla="*/ 176017 w 639600"/>
              <a:gd name="connsiteY0" fmla="*/ 503913 h 633302"/>
              <a:gd name="connsiteX1" fmla="*/ 306906 w 639600"/>
              <a:gd name="connsiteY1" fmla="*/ 503913 h 633302"/>
              <a:gd name="connsiteX2" fmla="*/ 306906 w 639600"/>
              <a:gd name="connsiteY2" fmla="*/ 612613 h 633302"/>
              <a:gd name="connsiteX3" fmla="*/ 137935 w 639600"/>
              <a:gd name="connsiteY3" fmla="*/ 614336 h 633302"/>
              <a:gd name="connsiteX4" fmla="*/ 30885 w 639600"/>
              <a:gd name="connsiteY4" fmla="*/ 503988 h 633302"/>
              <a:gd name="connsiteX5" fmla="*/ 176017 w 639600"/>
              <a:gd name="connsiteY5" fmla="*/ 503988 h 633302"/>
              <a:gd name="connsiteX6" fmla="*/ 176017 w 639600"/>
              <a:gd name="connsiteY6" fmla="*/ 503913 h 633302"/>
              <a:gd name="connsiteX7" fmla="*/ 387942 w 639600"/>
              <a:gd name="connsiteY7" fmla="*/ 474604 h 633302"/>
              <a:gd name="connsiteX8" fmla="*/ 387942 w 639600"/>
              <a:gd name="connsiteY8" fmla="*/ 503913 h 633302"/>
              <a:gd name="connsiteX9" fmla="*/ 506463 w 639600"/>
              <a:gd name="connsiteY9" fmla="*/ 503913 h 633302"/>
              <a:gd name="connsiteX10" fmla="*/ 506463 w 639600"/>
              <a:gd name="connsiteY10" fmla="*/ 503988 h 633302"/>
              <a:gd name="connsiteX11" fmla="*/ 608265 w 639600"/>
              <a:gd name="connsiteY11" fmla="*/ 503988 h 633302"/>
              <a:gd name="connsiteX12" fmla="*/ 498216 w 639600"/>
              <a:gd name="connsiteY12" fmla="*/ 610889 h 633302"/>
              <a:gd name="connsiteX13" fmla="*/ 382768 w 639600"/>
              <a:gd name="connsiteY13" fmla="*/ 610889 h 633302"/>
              <a:gd name="connsiteX14" fmla="*/ 384495 w 639600"/>
              <a:gd name="connsiteY14" fmla="*/ 633302 h 633302"/>
              <a:gd name="connsiteX15" fmla="*/ 334493 w 639600"/>
              <a:gd name="connsiteY15" fmla="*/ 557437 h 633302"/>
              <a:gd name="connsiteX16" fmla="*/ 387942 w 639600"/>
              <a:gd name="connsiteY16" fmla="*/ 474604 h 633302"/>
              <a:gd name="connsiteX17" fmla="*/ 75864 w 639600"/>
              <a:gd name="connsiteY17" fmla="*/ 331418 h 633302"/>
              <a:gd name="connsiteX18" fmla="*/ 158626 w 639600"/>
              <a:gd name="connsiteY18" fmla="*/ 384870 h 633302"/>
              <a:gd name="connsiteX19" fmla="*/ 129314 w 639600"/>
              <a:gd name="connsiteY19" fmla="*/ 384870 h 633302"/>
              <a:gd name="connsiteX20" fmla="*/ 129314 w 639600"/>
              <a:gd name="connsiteY20" fmla="*/ 495741 h 633302"/>
              <a:gd name="connsiteX21" fmla="*/ 22864 w 639600"/>
              <a:gd name="connsiteY21" fmla="*/ 495741 h 633302"/>
              <a:gd name="connsiteX22" fmla="*/ 22415 w 639600"/>
              <a:gd name="connsiteY22" fmla="*/ 495293 h 633302"/>
              <a:gd name="connsiteX23" fmla="*/ 22415 w 639600"/>
              <a:gd name="connsiteY23" fmla="*/ 379696 h 633302"/>
              <a:gd name="connsiteX24" fmla="*/ 0 w 639600"/>
              <a:gd name="connsiteY24" fmla="*/ 381420 h 633302"/>
              <a:gd name="connsiteX25" fmla="*/ 75864 w 639600"/>
              <a:gd name="connsiteY25" fmla="*/ 331418 h 633302"/>
              <a:gd name="connsiteX26" fmla="*/ 506836 w 639600"/>
              <a:gd name="connsiteY26" fmla="*/ 326247 h 633302"/>
              <a:gd name="connsiteX27" fmla="*/ 615463 w 639600"/>
              <a:gd name="connsiteY27" fmla="*/ 326247 h 633302"/>
              <a:gd name="connsiteX28" fmla="*/ 617187 w 639600"/>
              <a:gd name="connsiteY28" fmla="*/ 495293 h 633302"/>
              <a:gd name="connsiteX29" fmla="*/ 616809 w 639600"/>
              <a:gd name="connsiteY29" fmla="*/ 495741 h 633302"/>
              <a:gd name="connsiteX30" fmla="*/ 506836 w 639600"/>
              <a:gd name="connsiteY30" fmla="*/ 495741 h 633302"/>
              <a:gd name="connsiteX31" fmla="*/ 506836 w 639600"/>
              <a:gd name="connsiteY31" fmla="*/ 326247 h 633302"/>
              <a:gd name="connsiteX32" fmla="*/ 510286 w 639600"/>
              <a:gd name="connsiteY32" fmla="*/ 137785 h 633302"/>
              <a:gd name="connsiteX33" fmla="*/ 616809 w 639600"/>
              <a:gd name="connsiteY33" fmla="*/ 137785 h 633302"/>
              <a:gd name="connsiteX34" fmla="*/ 617187 w 639600"/>
              <a:gd name="connsiteY34" fmla="*/ 138235 h 633302"/>
              <a:gd name="connsiteX35" fmla="*/ 617187 w 639600"/>
              <a:gd name="connsiteY35" fmla="*/ 253829 h 633302"/>
              <a:gd name="connsiteX36" fmla="*/ 639600 w 639600"/>
              <a:gd name="connsiteY36" fmla="*/ 252105 h 633302"/>
              <a:gd name="connsiteX37" fmla="*/ 563735 w 639600"/>
              <a:gd name="connsiteY37" fmla="*/ 302182 h 633302"/>
              <a:gd name="connsiteX38" fmla="*/ 480974 w 639600"/>
              <a:gd name="connsiteY38" fmla="*/ 248658 h 633302"/>
              <a:gd name="connsiteX39" fmla="*/ 510286 w 639600"/>
              <a:gd name="connsiteY39" fmla="*/ 248658 h 633302"/>
              <a:gd name="connsiteX40" fmla="*/ 510286 w 639600"/>
              <a:gd name="connsiteY40" fmla="*/ 137785 h 633302"/>
              <a:gd name="connsiteX41" fmla="*/ 21890 w 639600"/>
              <a:gd name="connsiteY41" fmla="*/ 137785 h 633302"/>
              <a:gd name="connsiteX42" fmla="*/ 132013 w 639600"/>
              <a:gd name="connsiteY42" fmla="*/ 137785 h 633302"/>
              <a:gd name="connsiteX43" fmla="*/ 132013 w 639600"/>
              <a:gd name="connsiteY43" fmla="*/ 307131 h 633302"/>
              <a:gd name="connsiteX44" fmla="*/ 23389 w 639600"/>
              <a:gd name="connsiteY44" fmla="*/ 307131 h 633302"/>
              <a:gd name="connsiteX45" fmla="*/ 21665 w 639600"/>
              <a:gd name="connsiteY45" fmla="*/ 138085 h 633302"/>
              <a:gd name="connsiteX46" fmla="*/ 21890 w 639600"/>
              <a:gd name="connsiteY46" fmla="*/ 137785 h 633302"/>
              <a:gd name="connsiteX47" fmla="*/ 501664 w 639600"/>
              <a:gd name="connsiteY47" fmla="*/ 19191 h 633302"/>
              <a:gd name="connsiteX48" fmla="*/ 608714 w 639600"/>
              <a:gd name="connsiteY48" fmla="*/ 129539 h 633302"/>
              <a:gd name="connsiteX49" fmla="*/ 506463 w 639600"/>
              <a:gd name="connsiteY49" fmla="*/ 129539 h 633302"/>
              <a:gd name="connsiteX50" fmla="*/ 506463 w 639600"/>
              <a:gd name="connsiteY50" fmla="*/ 129614 h 633302"/>
              <a:gd name="connsiteX51" fmla="*/ 332769 w 639600"/>
              <a:gd name="connsiteY51" fmla="*/ 129614 h 633302"/>
              <a:gd name="connsiteX52" fmla="*/ 332769 w 639600"/>
              <a:gd name="connsiteY52" fmla="*/ 20915 h 633302"/>
              <a:gd name="connsiteX53" fmla="*/ 501664 w 639600"/>
              <a:gd name="connsiteY53" fmla="*/ 19191 h 633302"/>
              <a:gd name="connsiteX54" fmla="*/ 254356 w 639600"/>
              <a:gd name="connsiteY54" fmla="*/ 0 h 633302"/>
              <a:gd name="connsiteX55" fmla="*/ 304357 w 639600"/>
              <a:gd name="connsiteY55" fmla="*/ 75939 h 633302"/>
              <a:gd name="connsiteX56" fmla="*/ 250908 w 639600"/>
              <a:gd name="connsiteY56" fmla="*/ 158775 h 633302"/>
              <a:gd name="connsiteX57" fmla="*/ 250908 w 639600"/>
              <a:gd name="connsiteY57" fmla="*/ 129464 h 633302"/>
              <a:gd name="connsiteX58" fmla="*/ 132013 w 639600"/>
              <a:gd name="connsiteY58" fmla="*/ 129464 h 633302"/>
              <a:gd name="connsiteX59" fmla="*/ 132013 w 639600"/>
              <a:gd name="connsiteY59" fmla="*/ 129539 h 633302"/>
              <a:gd name="connsiteX60" fmla="*/ 30436 w 639600"/>
              <a:gd name="connsiteY60" fmla="*/ 129539 h 633302"/>
              <a:gd name="connsiteX61" fmla="*/ 140559 w 639600"/>
              <a:gd name="connsiteY61" fmla="*/ 22489 h 633302"/>
              <a:gd name="connsiteX62" fmla="*/ 256080 w 639600"/>
              <a:gd name="connsiteY62" fmla="*/ 22489 h 633302"/>
              <a:gd name="connsiteX63" fmla="*/ 254356 w 639600"/>
              <a:gd name="connsiteY63" fmla="*/ 0 h 633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39600" h="633302">
                <a:moveTo>
                  <a:pt x="176017" y="503913"/>
                </a:moveTo>
                <a:lnTo>
                  <a:pt x="306906" y="503913"/>
                </a:lnTo>
                <a:lnTo>
                  <a:pt x="306906" y="612613"/>
                </a:lnTo>
                <a:lnTo>
                  <a:pt x="137935" y="614336"/>
                </a:lnTo>
                <a:lnTo>
                  <a:pt x="30885" y="503988"/>
                </a:lnTo>
                <a:lnTo>
                  <a:pt x="176017" y="503988"/>
                </a:lnTo>
                <a:lnTo>
                  <a:pt x="176017" y="503913"/>
                </a:lnTo>
                <a:moveTo>
                  <a:pt x="387942" y="474604"/>
                </a:moveTo>
                <a:lnTo>
                  <a:pt x="387942" y="503913"/>
                </a:lnTo>
                <a:lnTo>
                  <a:pt x="506463" y="503913"/>
                </a:lnTo>
                <a:lnTo>
                  <a:pt x="506463" y="503988"/>
                </a:lnTo>
                <a:lnTo>
                  <a:pt x="608265" y="503988"/>
                </a:lnTo>
                <a:lnTo>
                  <a:pt x="498216" y="610889"/>
                </a:lnTo>
                <a:lnTo>
                  <a:pt x="382768" y="610889"/>
                </a:lnTo>
                <a:lnTo>
                  <a:pt x="384495" y="633302"/>
                </a:lnTo>
                <a:lnTo>
                  <a:pt x="334493" y="557437"/>
                </a:lnTo>
                <a:lnTo>
                  <a:pt x="387942" y="474604"/>
                </a:lnTo>
                <a:moveTo>
                  <a:pt x="75864" y="331418"/>
                </a:moveTo>
                <a:lnTo>
                  <a:pt x="158626" y="384870"/>
                </a:lnTo>
                <a:lnTo>
                  <a:pt x="129314" y="384870"/>
                </a:lnTo>
                <a:lnTo>
                  <a:pt x="129314" y="495741"/>
                </a:lnTo>
                <a:lnTo>
                  <a:pt x="22864" y="495741"/>
                </a:lnTo>
                <a:lnTo>
                  <a:pt x="22415" y="495293"/>
                </a:lnTo>
                <a:lnTo>
                  <a:pt x="22415" y="379696"/>
                </a:lnTo>
                <a:lnTo>
                  <a:pt x="0" y="381420"/>
                </a:lnTo>
                <a:lnTo>
                  <a:pt x="75864" y="331418"/>
                </a:lnTo>
                <a:moveTo>
                  <a:pt x="506836" y="326247"/>
                </a:moveTo>
                <a:lnTo>
                  <a:pt x="615463" y="326247"/>
                </a:lnTo>
                <a:lnTo>
                  <a:pt x="617187" y="495293"/>
                </a:lnTo>
                <a:lnTo>
                  <a:pt x="616809" y="495741"/>
                </a:lnTo>
                <a:lnTo>
                  <a:pt x="506836" y="495741"/>
                </a:lnTo>
                <a:lnTo>
                  <a:pt x="506836" y="326247"/>
                </a:lnTo>
                <a:moveTo>
                  <a:pt x="510286" y="137785"/>
                </a:moveTo>
                <a:lnTo>
                  <a:pt x="616809" y="137785"/>
                </a:lnTo>
                <a:lnTo>
                  <a:pt x="617187" y="138235"/>
                </a:lnTo>
                <a:lnTo>
                  <a:pt x="617187" y="253829"/>
                </a:lnTo>
                <a:lnTo>
                  <a:pt x="639600" y="252105"/>
                </a:lnTo>
                <a:lnTo>
                  <a:pt x="563735" y="302182"/>
                </a:lnTo>
                <a:lnTo>
                  <a:pt x="480974" y="248658"/>
                </a:lnTo>
                <a:lnTo>
                  <a:pt x="510286" y="248658"/>
                </a:lnTo>
                <a:lnTo>
                  <a:pt x="510286" y="137785"/>
                </a:lnTo>
                <a:moveTo>
                  <a:pt x="21890" y="137785"/>
                </a:moveTo>
                <a:lnTo>
                  <a:pt x="132013" y="137785"/>
                </a:lnTo>
                <a:lnTo>
                  <a:pt x="132013" y="307131"/>
                </a:lnTo>
                <a:lnTo>
                  <a:pt x="23389" y="307131"/>
                </a:lnTo>
                <a:lnTo>
                  <a:pt x="21665" y="138085"/>
                </a:lnTo>
                <a:lnTo>
                  <a:pt x="21890" y="137785"/>
                </a:lnTo>
                <a:moveTo>
                  <a:pt x="501664" y="19191"/>
                </a:moveTo>
                <a:lnTo>
                  <a:pt x="608714" y="129539"/>
                </a:lnTo>
                <a:lnTo>
                  <a:pt x="506463" y="129539"/>
                </a:lnTo>
                <a:lnTo>
                  <a:pt x="506463" y="129614"/>
                </a:lnTo>
                <a:lnTo>
                  <a:pt x="332769" y="129614"/>
                </a:lnTo>
                <a:lnTo>
                  <a:pt x="332769" y="20915"/>
                </a:lnTo>
                <a:lnTo>
                  <a:pt x="501664" y="19191"/>
                </a:lnTo>
                <a:moveTo>
                  <a:pt x="254356" y="0"/>
                </a:moveTo>
                <a:lnTo>
                  <a:pt x="304357" y="75939"/>
                </a:lnTo>
                <a:lnTo>
                  <a:pt x="250908" y="158775"/>
                </a:lnTo>
                <a:lnTo>
                  <a:pt x="250908" y="129464"/>
                </a:lnTo>
                <a:lnTo>
                  <a:pt x="132013" y="129464"/>
                </a:lnTo>
                <a:lnTo>
                  <a:pt x="132013" y="129539"/>
                </a:lnTo>
                <a:lnTo>
                  <a:pt x="30436" y="129539"/>
                </a:lnTo>
                <a:lnTo>
                  <a:pt x="140559" y="22489"/>
                </a:lnTo>
                <a:lnTo>
                  <a:pt x="256080" y="22489"/>
                </a:lnTo>
                <a:lnTo>
                  <a:pt x="254356" y="0"/>
                </a:lnTo>
              </a:path>
            </a:pathLst>
          </a:custGeom>
          <a:solidFill>
            <a:schemeClr val="bg1">
              <a:lumMod val="95000"/>
            </a:schemeClr>
          </a:solidFill>
          <a:ln w="2493" cap="flat">
            <a:noFill/>
            <a:prstDash val="solid"/>
            <a:miter/>
          </a:ln>
        </p:spPr>
        <p:txBody>
          <a:bodyPr rtlCol="0" anchor="ctr"/>
          <a:lstStyle/>
          <a:p>
            <a:endParaRPr lang="zh-CN" altLang="en-US"/>
          </a:p>
        </p:txBody>
      </p:sp>
      <p:pic>
        <p:nvPicPr>
          <p:cNvPr id="2" name="图片 1" descr="76b499643fee34819cb883d90f0351cf"/>
          <p:cNvPicPr>
            <a:picLocks noChangeAspect="1"/>
          </p:cNvPicPr>
          <p:nvPr/>
        </p:nvPicPr>
        <p:blipFill>
          <a:blip r:embed="rId2"/>
          <a:stretch>
            <a:fillRect/>
          </a:stretch>
        </p:blipFill>
        <p:spPr>
          <a:xfrm>
            <a:off x="10966450" y="0"/>
            <a:ext cx="748030" cy="748030"/>
          </a:xfrm>
          <a:prstGeom prst="rect">
            <a:avLst/>
          </a:prstGeom>
        </p:spPr>
      </p:pic>
      <p:sp>
        <p:nvSpPr>
          <p:cNvPr id="3" name="矩形 2">
            <a:extLst>
              <a:ext uri="{FF2B5EF4-FFF2-40B4-BE49-F238E27FC236}">
                <a16:creationId xmlns:a16="http://schemas.microsoft.com/office/drawing/2014/main" id="{210DFCB5-549E-C4C4-BB70-4120B6AFD202}"/>
              </a:ext>
            </a:extLst>
          </p:cNvPr>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28CF9E79-93B6-5E64-C561-0C96771AAFE0}"/>
              </a:ext>
            </a:extLst>
          </p:cNvPr>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p>
        </p:txBody>
      </p:sp>
      <p:sp>
        <p:nvSpPr>
          <p:cNvPr id="13" name="文本框 12">
            <a:extLst>
              <a:ext uri="{FF2B5EF4-FFF2-40B4-BE49-F238E27FC236}">
                <a16:creationId xmlns:a16="http://schemas.microsoft.com/office/drawing/2014/main" id="{9B385659-A0C8-A074-4F3E-AA58A4742D5E}"/>
              </a:ext>
            </a:extLst>
          </p:cNvPr>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grpSp>
        <p:nvGrpSpPr>
          <p:cNvPr id="15" name="组合 14">
            <a:extLst>
              <a:ext uri="{FF2B5EF4-FFF2-40B4-BE49-F238E27FC236}">
                <a16:creationId xmlns:a16="http://schemas.microsoft.com/office/drawing/2014/main" id="{17A4BADF-6BF7-28AD-9B2A-6758BDB88FFD}"/>
              </a:ext>
            </a:extLst>
          </p:cNvPr>
          <p:cNvGrpSpPr/>
          <p:nvPr/>
        </p:nvGrpSpPr>
        <p:grpSpPr>
          <a:xfrm>
            <a:off x="-2" y="4284411"/>
            <a:ext cx="2867026" cy="921872"/>
            <a:chOff x="-2" y="1537960"/>
            <a:chExt cx="2867026" cy="921872"/>
          </a:xfrm>
        </p:grpSpPr>
        <p:sp>
          <p:nvSpPr>
            <p:cNvPr id="17" name="矩形 16">
              <a:extLst>
                <a:ext uri="{FF2B5EF4-FFF2-40B4-BE49-F238E27FC236}">
                  <a16:creationId xmlns:a16="http://schemas.microsoft.com/office/drawing/2014/main" id="{796FFF0D-F95C-FD3A-7D86-639E49F1B5E2}"/>
                </a:ext>
              </a:extLst>
            </p:cNvPr>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直角三角形 17">
              <a:extLst>
                <a:ext uri="{FF2B5EF4-FFF2-40B4-BE49-F238E27FC236}">
                  <a16:creationId xmlns:a16="http://schemas.microsoft.com/office/drawing/2014/main" id="{C431FEC1-4B3F-2B8F-F0DD-A5C1BC91B861}"/>
                </a:ext>
              </a:extLst>
            </p:cNvPr>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a:extLst>
              <a:ext uri="{FF2B5EF4-FFF2-40B4-BE49-F238E27FC236}">
                <a16:creationId xmlns:a16="http://schemas.microsoft.com/office/drawing/2014/main" id="{7143F4B7-030C-3742-A9A2-CF97AF99E17A}"/>
              </a:ext>
            </a:extLst>
          </p:cNvPr>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21" name="文本框 20">
            <a:extLst>
              <a:ext uri="{FF2B5EF4-FFF2-40B4-BE49-F238E27FC236}">
                <a16:creationId xmlns:a16="http://schemas.microsoft.com/office/drawing/2014/main" id="{7D16CA60-D2DB-B980-4982-ACCA83236996}"/>
              </a:ext>
            </a:extLst>
          </p:cNvPr>
          <p:cNvSpPr txBox="1"/>
          <p:nvPr/>
        </p:nvSpPr>
        <p:spPr>
          <a:xfrm>
            <a:off x="542925" y="297037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22" name="文本框 21">
            <a:extLst>
              <a:ext uri="{FF2B5EF4-FFF2-40B4-BE49-F238E27FC236}">
                <a16:creationId xmlns:a16="http://schemas.microsoft.com/office/drawing/2014/main" id="{C63D5EA9-0DB6-22F7-0720-2ECF7E3FDBC9}"/>
              </a:ext>
            </a:extLst>
          </p:cNvPr>
          <p:cNvSpPr txBox="1"/>
          <p:nvPr/>
        </p:nvSpPr>
        <p:spPr>
          <a:xfrm>
            <a:off x="542925" y="440404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992812" y="2702486"/>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p:cNvGrpSpPr/>
          <p:nvPr/>
        </p:nvGrpSpPr>
        <p:grpSpPr>
          <a:xfrm>
            <a:off x="-2" y="55226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15" name="文本框 14"/>
          <p:cNvSpPr txBox="1"/>
          <p:nvPr/>
        </p:nvSpPr>
        <p:spPr>
          <a:xfrm>
            <a:off x="4046412" y="2180590"/>
            <a:ext cx="2946400" cy="2214880"/>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04</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452369" y="2772434"/>
            <a:ext cx="4119335" cy="954107"/>
          </a:xfrm>
          <a:prstGeom prst="rect">
            <a:avLst/>
          </a:prstGeom>
          <a:noFill/>
        </p:spPr>
        <p:txBody>
          <a:bodyPr wrap="square" rtlCol="0">
            <a:spAutoFit/>
          </a:bodyPr>
          <a:lstStyle/>
          <a:p>
            <a:r>
              <a:rPr lang="zh-CN" altLang="en-US" sz="3600" b="1" dirty="0">
                <a:solidFill>
                  <a:schemeClr val="bg1"/>
                </a:solidFill>
              </a:rPr>
              <a:t>总结与讨论</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Summary and Discussion</a:t>
            </a: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542925" y="1657350"/>
            <a:ext cx="2019300" cy="4495165"/>
            <a:chOff x="855" y="2610"/>
            <a:chExt cx="3180" cy="7079"/>
          </a:xfrm>
        </p:grpSpPr>
        <p:sp>
          <p:nvSpPr>
            <p:cNvPr id="6" name="文本框 5"/>
            <p:cNvSpPr txBox="1"/>
            <p:nvPr/>
          </p:nvSpPr>
          <p:spPr>
            <a:xfrm>
              <a:off x="855" y="2610"/>
              <a:ext cx="2880" cy="824"/>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sp>
          <p:nvSpPr>
            <p:cNvPr id="7" name="文本框 6"/>
            <p:cNvSpPr txBox="1"/>
            <p:nvPr/>
          </p:nvSpPr>
          <p:spPr>
            <a:xfrm>
              <a:off x="855" y="4594"/>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8" name="文本框 7"/>
            <p:cNvSpPr txBox="1"/>
            <p:nvPr/>
          </p:nvSpPr>
          <p:spPr>
            <a:xfrm>
              <a:off x="855" y="6519"/>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10" name="文本框 9"/>
            <p:cNvSpPr txBox="1"/>
            <p:nvPr/>
          </p:nvSpPr>
          <p:spPr>
            <a:xfrm>
              <a:off x="855" y="8865"/>
              <a:ext cx="3180" cy="824"/>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椭圆 61"/>
          <p:cNvSpPr/>
          <p:nvPr/>
        </p:nvSpPr>
        <p:spPr>
          <a:xfrm>
            <a:off x="3351314" y="1486458"/>
            <a:ext cx="4181272" cy="418127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 y="55226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62846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结果讨论</a:t>
            </a:r>
          </a:p>
        </p:txBody>
      </p:sp>
      <p:sp>
        <p:nvSpPr>
          <p:cNvPr id="61" name="椭圆 60"/>
          <p:cNvSpPr/>
          <p:nvPr/>
        </p:nvSpPr>
        <p:spPr>
          <a:xfrm>
            <a:off x="3509794" y="2837792"/>
            <a:ext cx="1478604" cy="1478604"/>
          </a:xfrm>
          <a:prstGeom prst="ellipse">
            <a:avLst/>
          </a:prstGeom>
          <a:solidFill>
            <a:schemeClr val="accent1">
              <a:lumMod val="60000"/>
              <a:lumOff val="40000"/>
            </a:schemeClr>
          </a:solidFill>
          <a:ln>
            <a:noFill/>
          </a:ln>
          <a:effectLst>
            <a:outerShdw blurRad="254000" sx="102000" sy="102000" algn="ctr" rotWithShape="0">
              <a:schemeClr val="accent1">
                <a:lumMod val="60000"/>
                <a:lumOff val="4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微软雅黑" panose="020B0503020204020204" pitchFamily="34" charset="-122"/>
              <a:ea typeface="微软雅黑" panose="020B0503020204020204" pitchFamily="34" charset="-122"/>
            </a:endParaRPr>
          </a:p>
        </p:txBody>
      </p:sp>
      <p:sp>
        <p:nvSpPr>
          <p:cNvPr id="78" name="矩形 77"/>
          <p:cNvSpPr/>
          <p:nvPr/>
        </p:nvSpPr>
        <p:spPr>
          <a:xfrm>
            <a:off x="7975499" y="1322962"/>
            <a:ext cx="3715763" cy="100486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文本框 76"/>
          <p:cNvSpPr txBox="1"/>
          <p:nvPr/>
        </p:nvSpPr>
        <p:spPr>
          <a:xfrm>
            <a:off x="8160324" y="1612188"/>
            <a:ext cx="3347209" cy="460375"/>
          </a:xfrm>
          <a:prstGeom prst="rect">
            <a:avLst/>
          </a:prstGeom>
          <a:noFill/>
        </p:spPr>
        <p:txBody>
          <a:bodyPr wrap="square" rtlCol="0">
            <a:spAutoFit/>
          </a:bodyPr>
          <a:lstStyle/>
          <a:p>
            <a:pPr algn="ctr"/>
            <a:r>
              <a:rPr lang="zh-CN" altLang="en-US" sz="2400" b="1" dirty="0">
                <a:solidFill>
                  <a:schemeClr val="bg1"/>
                </a:solidFill>
              </a:rPr>
              <a:t>石油化工</a:t>
            </a:r>
          </a:p>
        </p:txBody>
      </p:sp>
      <p:cxnSp>
        <p:nvCxnSpPr>
          <p:cNvPr id="80" name="直接连接符 79"/>
          <p:cNvCxnSpPr>
            <a:endCxn id="78" idx="1"/>
          </p:cNvCxnSpPr>
          <p:nvPr/>
        </p:nvCxnSpPr>
        <p:spPr>
          <a:xfrm flipV="1">
            <a:off x="6077477" y="1825046"/>
            <a:ext cx="1898015" cy="1603375"/>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5" name="矩形 84"/>
          <p:cNvSpPr/>
          <p:nvPr/>
        </p:nvSpPr>
        <p:spPr>
          <a:xfrm>
            <a:off x="7975499" y="2676589"/>
            <a:ext cx="3715763" cy="100486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p:cNvSpPr txBox="1"/>
          <p:nvPr/>
        </p:nvSpPr>
        <p:spPr>
          <a:xfrm>
            <a:off x="8160324" y="2967085"/>
            <a:ext cx="3347209" cy="460375"/>
          </a:xfrm>
          <a:prstGeom prst="rect">
            <a:avLst/>
          </a:prstGeom>
          <a:noFill/>
        </p:spPr>
        <p:txBody>
          <a:bodyPr wrap="square" rtlCol="0">
            <a:spAutoFit/>
          </a:bodyPr>
          <a:lstStyle/>
          <a:p>
            <a:pPr algn="ctr"/>
            <a:r>
              <a:rPr lang="zh-CN" altLang="en-US" sz="2400" b="1" dirty="0">
                <a:solidFill>
                  <a:schemeClr val="bg1"/>
                </a:solidFill>
              </a:rPr>
              <a:t>电力能源</a:t>
            </a:r>
          </a:p>
        </p:txBody>
      </p:sp>
      <p:cxnSp>
        <p:nvCxnSpPr>
          <p:cNvPr id="88" name="直接连接符 87"/>
          <p:cNvCxnSpPr>
            <a:endCxn id="85" idx="1"/>
          </p:cNvCxnSpPr>
          <p:nvPr/>
        </p:nvCxnSpPr>
        <p:spPr>
          <a:xfrm flipV="1">
            <a:off x="6086529" y="3178709"/>
            <a:ext cx="1889125" cy="249555"/>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9" name="矩形 88"/>
          <p:cNvSpPr/>
          <p:nvPr/>
        </p:nvSpPr>
        <p:spPr>
          <a:xfrm>
            <a:off x="7975499" y="4030216"/>
            <a:ext cx="3715763" cy="100486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文本框 89"/>
          <p:cNvSpPr txBox="1"/>
          <p:nvPr/>
        </p:nvSpPr>
        <p:spPr>
          <a:xfrm>
            <a:off x="8160324" y="4302297"/>
            <a:ext cx="3347209" cy="460375"/>
          </a:xfrm>
          <a:prstGeom prst="rect">
            <a:avLst/>
          </a:prstGeom>
          <a:noFill/>
        </p:spPr>
        <p:txBody>
          <a:bodyPr wrap="square" rtlCol="0">
            <a:spAutoFit/>
          </a:bodyPr>
          <a:lstStyle/>
          <a:p>
            <a:pPr algn="ctr"/>
            <a:r>
              <a:rPr lang="zh-CN" altLang="en-US" sz="2400" b="1" dirty="0">
                <a:solidFill>
                  <a:schemeClr val="bg1"/>
                </a:solidFill>
              </a:rPr>
              <a:t>矿山开采</a:t>
            </a:r>
          </a:p>
        </p:txBody>
      </p:sp>
      <p:sp>
        <p:nvSpPr>
          <p:cNvPr id="95" name="矩形 94"/>
          <p:cNvSpPr/>
          <p:nvPr/>
        </p:nvSpPr>
        <p:spPr>
          <a:xfrm>
            <a:off x="7975499" y="5383844"/>
            <a:ext cx="3715763" cy="100486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8160324" y="5636875"/>
            <a:ext cx="3347209" cy="460375"/>
          </a:xfrm>
          <a:prstGeom prst="rect">
            <a:avLst/>
          </a:prstGeom>
          <a:noFill/>
        </p:spPr>
        <p:txBody>
          <a:bodyPr wrap="square" rtlCol="0">
            <a:spAutoFit/>
          </a:bodyPr>
          <a:lstStyle/>
          <a:p>
            <a:pPr algn="ctr"/>
            <a:r>
              <a:rPr lang="zh-CN" altLang="en-US" sz="2400" b="1" dirty="0">
                <a:solidFill>
                  <a:schemeClr val="bg1"/>
                </a:solidFill>
              </a:rPr>
              <a:t>智能制造</a:t>
            </a:r>
          </a:p>
        </p:txBody>
      </p:sp>
      <p:cxnSp>
        <p:nvCxnSpPr>
          <p:cNvPr id="98" name="直接连接符 97"/>
          <p:cNvCxnSpPr>
            <a:endCxn id="89" idx="1"/>
          </p:cNvCxnSpPr>
          <p:nvPr/>
        </p:nvCxnSpPr>
        <p:spPr>
          <a:xfrm>
            <a:off x="6068749" y="3428562"/>
            <a:ext cx="1906905" cy="1104265"/>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endCxn id="95" idx="1"/>
          </p:cNvCxnSpPr>
          <p:nvPr/>
        </p:nvCxnSpPr>
        <p:spPr>
          <a:xfrm>
            <a:off x="6077477" y="3436964"/>
            <a:ext cx="1898015" cy="2448560"/>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05" name="文本框 104"/>
          <p:cNvSpPr txBox="1"/>
          <p:nvPr/>
        </p:nvSpPr>
        <p:spPr>
          <a:xfrm>
            <a:off x="3691090" y="3678033"/>
            <a:ext cx="1116012" cy="368300"/>
          </a:xfrm>
          <a:prstGeom prst="rect">
            <a:avLst/>
          </a:prstGeom>
          <a:noFill/>
        </p:spPr>
        <p:txBody>
          <a:bodyPr wrap="square" rtlCol="0">
            <a:spAutoFit/>
          </a:bodyPr>
          <a:lstStyle/>
          <a:p>
            <a:pPr algn="ctr"/>
            <a:r>
              <a:rPr lang="zh-CN" altLang="en-US" b="1" dirty="0">
                <a:solidFill>
                  <a:schemeClr val="bg1"/>
                </a:solidFill>
              </a:rPr>
              <a:t>未来展望</a:t>
            </a:r>
          </a:p>
        </p:txBody>
      </p:sp>
      <p:sp>
        <p:nvSpPr>
          <p:cNvPr id="106" name="图形 103" descr="结论"/>
          <p:cNvSpPr/>
          <p:nvPr/>
        </p:nvSpPr>
        <p:spPr>
          <a:xfrm>
            <a:off x="3980989" y="3106854"/>
            <a:ext cx="536207" cy="571179"/>
          </a:xfrm>
          <a:custGeom>
            <a:avLst/>
            <a:gdLst>
              <a:gd name="connsiteX0" fmla="*/ 417287 w 536207"/>
              <a:gd name="connsiteY0" fmla="*/ 474857 h 571179"/>
              <a:gd name="connsiteX1" fmla="*/ 391401 w 536207"/>
              <a:gd name="connsiteY1" fmla="*/ 448969 h 571179"/>
              <a:gd name="connsiteX2" fmla="*/ 374216 w 536207"/>
              <a:gd name="connsiteY2" fmla="*/ 448969 h 571179"/>
              <a:gd name="connsiteX3" fmla="*/ 374216 w 536207"/>
              <a:gd name="connsiteY3" fmla="*/ 466156 h 571179"/>
              <a:gd name="connsiteX4" fmla="*/ 408730 w 536207"/>
              <a:gd name="connsiteY4" fmla="*/ 500674 h 571179"/>
              <a:gd name="connsiteX5" fmla="*/ 424623 w 536207"/>
              <a:gd name="connsiteY5" fmla="*/ 501799 h 571179"/>
              <a:gd name="connsiteX6" fmla="*/ 426013 w 536207"/>
              <a:gd name="connsiteY6" fmla="*/ 500600 h 571179"/>
              <a:gd name="connsiteX7" fmla="*/ 477526 w 536207"/>
              <a:gd name="connsiteY7" fmla="*/ 449090 h 571179"/>
              <a:gd name="connsiteX8" fmla="*/ 477526 w 536207"/>
              <a:gd name="connsiteY8" fmla="*/ 431856 h 571179"/>
              <a:gd name="connsiteX9" fmla="*/ 460292 w 536207"/>
              <a:gd name="connsiteY9" fmla="*/ 431856 h 571179"/>
              <a:gd name="connsiteX10" fmla="*/ 417287 w 536207"/>
              <a:gd name="connsiteY10" fmla="*/ 474857 h 571179"/>
              <a:gd name="connsiteX11" fmla="*/ 426530 w 536207"/>
              <a:gd name="connsiteY11" fmla="*/ 36458 h 571179"/>
              <a:gd name="connsiteX12" fmla="*/ 463090 w 536207"/>
              <a:gd name="connsiteY12" fmla="*/ 36458 h 571179"/>
              <a:gd name="connsiteX13" fmla="*/ 487464 w 536207"/>
              <a:gd name="connsiteY13" fmla="*/ 60831 h 571179"/>
              <a:gd name="connsiteX14" fmla="*/ 487464 w 536207"/>
              <a:gd name="connsiteY14" fmla="*/ 329195 h 571179"/>
              <a:gd name="connsiteX15" fmla="*/ 426530 w 536207"/>
              <a:gd name="connsiteY15" fmla="*/ 315974 h 571179"/>
              <a:gd name="connsiteX16" fmla="*/ 280291 w 536207"/>
              <a:gd name="connsiteY16" fmla="*/ 461805 h 571179"/>
              <a:gd name="connsiteX17" fmla="*/ 307736 w 536207"/>
              <a:gd name="connsiteY17" fmla="*/ 546875 h 571179"/>
              <a:gd name="connsiteX18" fmla="*/ 24373 w 536207"/>
              <a:gd name="connsiteY18" fmla="*/ 546875 h 571179"/>
              <a:gd name="connsiteX19" fmla="*/ 0 w 536207"/>
              <a:gd name="connsiteY19" fmla="*/ 522502 h 571179"/>
              <a:gd name="connsiteX20" fmla="*/ 0 w 536207"/>
              <a:gd name="connsiteY20" fmla="*/ 60831 h 571179"/>
              <a:gd name="connsiteX21" fmla="*/ 24373 w 536207"/>
              <a:gd name="connsiteY21" fmla="*/ 36458 h 571179"/>
              <a:gd name="connsiteX22" fmla="*/ 60933 w 536207"/>
              <a:gd name="connsiteY22" fmla="*/ 36458 h 571179"/>
              <a:gd name="connsiteX23" fmla="*/ 60933 w 536207"/>
              <a:gd name="connsiteY23" fmla="*/ 60628 h 571179"/>
              <a:gd name="connsiteX24" fmla="*/ 109679 w 536207"/>
              <a:gd name="connsiteY24" fmla="*/ 109375 h 571179"/>
              <a:gd name="connsiteX25" fmla="*/ 158425 w 536207"/>
              <a:gd name="connsiteY25" fmla="*/ 60628 h 571179"/>
              <a:gd name="connsiteX26" fmla="*/ 158425 w 536207"/>
              <a:gd name="connsiteY26" fmla="*/ 36458 h 571179"/>
              <a:gd name="connsiteX27" fmla="*/ 194985 w 536207"/>
              <a:gd name="connsiteY27" fmla="*/ 36458 h 571179"/>
              <a:gd name="connsiteX28" fmla="*/ 194985 w 536207"/>
              <a:gd name="connsiteY28" fmla="*/ 60628 h 571179"/>
              <a:gd name="connsiteX29" fmla="*/ 243731 w 536207"/>
              <a:gd name="connsiteY29" fmla="*/ 109375 h 571179"/>
              <a:gd name="connsiteX30" fmla="*/ 292479 w 536207"/>
              <a:gd name="connsiteY30" fmla="*/ 60628 h 571179"/>
              <a:gd name="connsiteX31" fmla="*/ 292479 w 536207"/>
              <a:gd name="connsiteY31" fmla="*/ 36458 h 571179"/>
              <a:gd name="connsiteX32" fmla="*/ 329037 w 536207"/>
              <a:gd name="connsiteY32" fmla="*/ 36458 h 571179"/>
              <a:gd name="connsiteX33" fmla="*/ 329037 w 536207"/>
              <a:gd name="connsiteY33" fmla="*/ 60628 h 571179"/>
              <a:gd name="connsiteX34" fmla="*/ 377782 w 536207"/>
              <a:gd name="connsiteY34" fmla="*/ 109375 h 571179"/>
              <a:gd name="connsiteX35" fmla="*/ 426530 w 536207"/>
              <a:gd name="connsiteY35" fmla="*/ 60628 h 571179"/>
              <a:gd name="connsiteX36" fmla="*/ 426530 w 536207"/>
              <a:gd name="connsiteY36" fmla="*/ 36458 h 571179"/>
              <a:gd name="connsiteX37" fmla="*/ 109679 w 536207"/>
              <a:gd name="connsiteY37" fmla="*/ 0 h 571179"/>
              <a:gd name="connsiteX38" fmla="*/ 134052 w 536207"/>
              <a:gd name="connsiteY38" fmla="*/ 24373 h 571179"/>
              <a:gd name="connsiteX39" fmla="*/ 134052 w 536207"/>
              <a:gd name="connsiteY39" fmla="*/ 60696 h 571179"/>
              <a:gd name="connsiteX40" fmla="*/ 109679 w 536207"/>
              <a:gd name="connsiteY40" fmla="*/ 85069 h 571179"/>
              <a:gd name="connsiteX41" fmla="*/ 85306 w 536207"/>
              <a:gd name="connsiteY41" fmla="*/ 60696 h 571179"/>
              <a:gd name="connsiteX42" fmla="*/ 85306 w 536207"/>
              <a:gd name="connsiteY42" fmla="*/ 24373 h 571179"/>
              <a:gd name="connsiteX43" fmla="*/ 109679 w 536207"/>
              <a:gd name="connsiteY43" fmla="*/ 0 h 571179"/>
              <a:gd name="connsiteX44" fmla="*/ 243731 w 536207"/>
              <a:gd name="connsiteY44" fmla="*/ 0 h 571179"/>
              <a:gd name="connsiteX45" fmla="*/ 268104 w 536207"/>
              <a:gd name="connsiteY45" fmla="*/ 24373 h 571179"/>
              <a:gd name="connsiteX46" fmla="*/ 268104 w 536207"/>
              <a:gd name="connsiteY46" fmla="*/ 60696 h 571179"/>
              <a:gd name="connsiteX47" fmla="*/ 243731 w 536207"/>
              <a:gd name="connsiteY47" fmla="*/ 85069 h 571179"/>
              <a:gd name="connsiteX48" fmla="*/ 219357 w 536207"/>
              <a:gd name="connsiteY48" fmla="*/ 60696 h 571179"/>
              <a:gd name="connsiteX49" fmla="*/ 219357 w 536207"/>
              <a:gd name="connsiteY49" fmla="*/ 24373 h 571179"/>
              <a:gd name="connsiteX50" fmla="*/ 243731 w 536207"/>
              <a:gd name="connsiteY50" fmla="*/ 0 h 571179"/>
              <a:gd name="connsiteX51" fmla="*/ 377782 w 536207"/>
              <a:gd name="connsiteY51" fmla="*/ 0 h 571179"/>
              <a:gd name="connsiteX52" fmla="*/ 402157 w 536207"/>
              <a:gd name="connsiteY52" fmla="*/ 24373 h 571179"/>
              <a:gd name="connsiteX53" fmla="*/ 402157 w 536207"/>
              <a:gd name="connsiteY53" fmla="*/ 60696 h 571179"/>
              <a:gd name="connsiteX54" fmla="*/ 377782 w 536207"/>
              <a:gd name="connsiteY54" fmla="*/ 85069 h 571179"/>
              <a:gd name="connsiteX55" fmla="*/ 353410 w 536207"/>
              <a:gd name="connsiteY55" fmla="*/ 60696 h 571179"/>
              <a:gd name="connsiteX56" fmla="*/ 353410 w 536207"/>
              <a:gd name="connsiteY56" fmla="*/ 24373 h 571179"/>
              <a:gd name="connsiteX57" fmla="*/ 377782 w 536207"/>
              <a:gd name="connsiteY57" fmla="*/ 0 h 571179"/>
              <a:gd name="connsiteX58" fmla="*/ 426530 w 536207"/>
              <a:gd name="connsiteY58" fmla="*/ 571179 h 571179"/>
              <a:gd name="connsiteX59" fmla="*/ 316851 w 536207"/>
              <a:gd name="connsiteY59" fmla="*/ 461805 h 571179"/>
              <a:gd name="connsiteX60" fmla="*/ 426530 w 536207"/>
              <a:gd name="connsiteY60" fmla="*/ 352429 h 571179"/>
              <a:gd name="connsiteX61" fmla="*/ 536208 w 536207"/>
              <a:gd name="connsiteY61" fmla="*/ 461805 h 571179"/>
              <a:gd name="connsiteX62" fmla="*/ 426530 w 536207"/>
              <a:gd name="connsiteY62" fmla="*/ 571179 h 571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36207" h="571179">
                <a:moveTo>
                  <a:pt x="417287" y="474857"/>
                </a:moveTo>
                <a:lnTo>
                  <a:pt x="391401" y="448969"/>
                </a:lnTo>
                <a:cubicBezTo>
                  <a:pt x="386657" y="444223"/>
                  <a:pt x="378960" y="444223"/>
                  <a:pt x="374216" y="448969"/>
                </a:cubicBezTo>
                <a:cubicBezTo>
                  <a:pt x="369468" y="453715"/>
                  <a:pt x="369468" y="461410"/>
                  <a:pt x="374216" y="466156"/>
                </a:cubicBezTo>
                <a:lnTo>
                  <a:pt x="408730" y="500674"/>
                </a:lnTo>
                <a:cubicBezTo>
                  <a:pt x="413065" y="505007"/>
                  <a:pt x="419861" y="505382"/>
                  <a:pt x="424623" y="501799"/>
                </a:cubicBezTo>
                <a:cubicBezTo>
                  <a:pt x="425109" y="501439"/>
                  <a:pt x="425573" y="501040"/>
                  <a:pt x="426013" y="500600"/>
                </a:cubicBezTo>
                <a:lnTo>
                  <a:pt x="477526" y="449090"/>
                </a:lnTo>
                <a:cubicBezTo>
                  <a:pt x="482285" y="444330"/>
                  <a:pt x="482285" y="436613"/>
                  <a:pt x="477526" y="431856"/>
                </a:cubicBezTo>
                <a:cubicBezTo>
                  <a:pt x="472767" y="427097"/>
                  <a:pt x="465051" y="427097"/>
                  <a:pt x="460292" y="431856"/>
                </a:cubicBezTo>
                <a:lnTo>
                  <a:pt x="417287" y="474857"/>
                </a:lnTo>
                <a:moveTo>
                  <a:pt x="426530" y="36458"/>
                </a:moveTo>
                <a:lnTo>
                  <a:pt x="463090" y="36458"/>
                </a:lnTo>
                <a:cubicBezTo>
                  <a:pt x="476551" y="36458"/>
                  <a:pt x="487464" y="47371"/>
                  <a:pt x="487464" y="60831"/>
                </a:cubicBezTo>
                <a:lnTo>
                  <a:pt x="487464" y="329195"/>
                </a:lnTo>
                <a:cubicBezTo>
                  <a:pt x="468914" y="320706"/>
                  <a:pt x="448277" y="315974"/>
                  <a:pt x="426530" y="315974"/>
                </a:cubicBezTo>
                <a:cubicBezTo>
                  <a:pt x="345764" y="315974"/>
                  <a:pt x="280291" y="381262"/>
                  <a:pt x="280291" y="461805"/>
                </a:cubicBezTo>
                <a:cubicBezTo>
                  <a:pt x="280291" y="493552"/>
                  <a:pt x="290465" y="522930"/>
                  <a:pt x="307736" y="546875"/>
                </a:cubicBezTo>
                <a:lnTo>
                  <a:pt x="24373" y="546875"/>
                </a:lnTo>
                <a:cubicBezTo>
                  <a:pt x="10912" y="546875"/>
                  <a:pt x="0" y="535962"/>
                  <a:pt x="0" y="522502"/>
                </a:cubicBezTo>
                <a:lnTo>
                  <a:pt x="0" y="60831"/>
                </a:lnTo>
                <a:cubicBezTo>
                  <a:pt x="0" y="47371"/>
                  <a:pt x="10912" y="36458"/>
                  <a:pt x="24373" y="36458"/>
                </a:cubicBezTo>
                <a:lnTo>
                  <a:pt x="60933" y="36458"/>
                </a:lnTo>
                <a:lnTo>
                  <a:pt x="60933" y="60628"/>
                </a:lnTo>
                <a:cubicBezTo>
                  <a:pt x="60933" y="87550"/>
                  <a:pt x="82757" y="109375"/>
                  <a:pt x="109679" y="109375"/>
                </a:cubicBezTo>
                <a:cubicBezTo>
                  <a:pt x="136601" y="109375"/>
                  <a:pt x="158425" y="87550"/>
                  <a:pt x="158425" y="60628"/>
                </a:cubicBezTo>
                <a:lnTo>
                  <a:pt x="158425" y="36458"/>
                </a:lnTo>
                <a:lnTo>
                  <a:pt x="194985" y="36458"/>
                </a:lnTo>
                <a:lnTo>
                  <a:pt x="194985" y="60628"/>
                </a:lnTo>
                <a:cubicBezTo>
                  <a:pt x="194985" y="87550"/>
                  <a:pt x="216809" y="109375"/>
                  <a:pt x="243731" y="109375"/>
                </a:cubicBezTo>
                <a:cubicBezTo>
                  <a:pt x="270654" y="109375"/>
                  <a:pt x="292479" y="87550"/>
                  <a:pt x="292479" y="60628"/>
                </a:cubicBezTo>
                <a:lnTo>
                  <a:pt x="292479" y="36458"/>
                </a:lnTo>
                <a:lnTo>
                  <a:pt x="329037" y="36458"/>
                </a:lnTo>
                <a:lnTo>
                  <a:pt x="329037" y="60628"/>
                </a:lnTo>
                <a:cubicBezTo>
                  <a:pt x="329037" y="87550"/>
                  <a:pt x="350860" y="109375"/>
                  <a:pt x="377782" y="109375"/>
                </a:cubicBezTo>
                <a:cubicBezTo>
                  <a:pt x="404707" y="109375"/>
                  <a:pt x="426530" y="87550"/>
                  <a:pt x="426530" y="60628"/>
                </a:cubicBezTo>
                <a:lnTo>
                  <a:pt x="426530" y="36458"/>
                </a:lnTo>
                <a:moveTo>
                  <a:pt x="109679" y="0"/>
                </a:moveTo>
                <a:cubicBezTo>
                  <a:pt x="123140" y="0"/>
                  <a:pt x="134052" y="10912"/>
                  <a:pt x="134052" y="24373"/>
                </a:cubicBezTo>
                <a:lnTo>
                  <a:pt x="134052" y="60696"/>
                </a:lnTo>
                <a:cubicBezTo>
                  <a:pt x="134052" y="74157"/>
                  <a:pt x="123140" y="85069"/>
                  <a:pt x="109679" y="85069"/>
                </a:cubicBezTo>
                <a:cubicBezTo>
                  <a:pt x="96218" y="85069"/>
                  <a:pt x="85306" y="74157"/>
                  <a:pt x="85306" y="60696"/>
                </a:cubicBezTo>
                <a:lnTo>
                  <a:pt x="85306" y="24373"/>
                </a:lnTo>
                <a:cubicBezTo>
                  <a:pt x="85306" y="10912"/>
                  <a:pt x="96218" y="0"/>
                  <a:pt x="109679" y="0"/>
                </a:cubicBezTo>
                <a:moveTo>
                  <a:pt x="243731" y="0"/>
                </a:moveTo>
                <a:cubicBezTo>
                  <a:pt x="257191" y="0"/>
                  <a:pt x="268104" y="10912"/>
                  <a:pt x="268104" y="24373"/>
                </a:cubicBezTo>
                <a:lnTo>
                  <a:pt x="268104" y="60696"/>
                </a:lnTo>
                <a:cubicBezTo>
                  <a:pt x="268104" y="74157"/>
                  <a:pt x="257191" y="85069"/>
                  <a:pt x="243731" y="85069"/>
                </a:cubicBezTo>
                <a:cubicBezTo>
                  <a:pt x="230270" y="85069"/>
                  <a:pt x="219357" y="74157"/>
                  <a:pt x="219357" y="60696"/>
                </a:cubicBezTo>
                <a:lnTo>
                  <a:pt x="219357" y="24373"/>
                </a:lnTo>
                <a:cubicBezTo>
                  <a:pt x="219357" y="10912"/>
                  <a:pt x="230270" y="0"/>
                  <a:pt x="243731" y="0"/>
                </a:cubicBezTo>
                <a:moveTo>
                  <a:pt x="377782" y="0"/>
                </a:moveTo>
                <a:cubicBezTo>
                  <a:pt x="391242" y="0"/>
                  <a:pt x="402157" y="10912"/>
                  <a:pt x="402157" y="24373"/>
                </a:cubicBezTo>
                <a:lnTo>
                  <a:pt x="402157" y="60696"/>
                </a:lnTo>
                <a:cubicBezTo>
                  <a:pt x="402157" y="74157"/>
                  <a:pt x="391242" y="85069"/>
                  <a:pt x="377782" y="85069"/>
                </a:cubicBezTo>
                <a:cubicBezTo>
                  <a:pt x="364321" y="85069"/>
                  <a:pt x="353410" y="74157"/>
                  <a:pt x="353410" y="60696"/>
                </a:cubicBezTo>
                <a:lnTo>
                  <a:pt x="353410" y="24373"/>
                </a:lnTo>
                <a:cubicBezTo>
                  <a:pt x="353410" y="10912"/>
                  <a:pt x="364321" y="0"/>
                  <a:pt x="377782" y="0"/>
                </a:cubicBezTo>
                <a:moveTo>
                  <a:pt x="426530" y="571179"/>
                </a:moveTo>
                <a:cubicBezTo>
                  <a:pt x="365956" y="571179"/>
                  <a:pt x="316851" y="522209"/>
                  <a:pt x="316851" y="461805"/>
                </a:cubicBezTo>
                <a:cubicBezTo>
                  <a:pt x="316851" y="401398"/>
                  <a:pt x="365956" y="352429"/>
                  <a:pt x="426530" y="352429"/>
                </a:cubicBezTo>
                <a:cubicBezTo>
                  <a:pt x="487104" y="352429"/>
                  <a:pt x="536208" y="401398"/>
                  <a:pt x="536208" y="461805"/>
                </a:cubicBezTo>
                <a:cubicBezTo>
                  <a:pt x="536208" y="522209"/>
                  <a:pt x="487104" y="571179"/>
                  <a:pt x="426530" y="571179"/>
                </a:cubicBezTo>
              </a:path>
            </a:pathLst>
          </a:custGeom>
          <a:solidFill>
            <a:schemeClr val="bg1"/>
          </a:solidFill>
          <a:ln w="2195" cap="flat">
            <a:noFill/>
            <a:prstDash val="solid"/>
            <a:miter/>
          </a:ln>
        </p:spPr>
        <p:txBody>
          <a:bodyPr rtlCol="0" anchor="ctr"/>
          <a:lstStyle/>
          <a:p>
            <a:endParaRPr lang="zh-CN" altLang="en-US"/>
          </a:p>
        </p:txBody>
      </p:sp>
      <p:sp>
        <p:nvSpPr>
          <p:cNvPr id="2" name="流程图: 可选过程 1"/>
          <p:cNvSpPr/>
          <p:nvPr/>
        </p:nvSpPr>
        <p:spPr>
          <a:xfrm>
            <a:off x="5269230" y="2072640"/>
            <a:ext cx="795020" cy="2708910"/>
          </a:xfrm>
          <a:prstGeom prst="flowChartAlternate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5360035" y="2180590"/>
            <a:ext cx="613410" cy="2420620"/>
          </a:xfrm>
          <a:prstGeom prst="rect">
            <a:avLst/>
          </a:prstGeom>
          <a:noFill/>
        </p:spPr>
        <p:txBody>
          <a:bodyPr vert="eaVert" wrap="square" rtlCol="0">
            <a:spAutoFit/>
          </a:bodyPr>
          <a:lstStyle/>
          <a:p>
            <a:pPr algn="ctr"/>
            <a:r>
              <a:rPr lang="zh-CN" altLang="en-US" sz="2800" b="1">
                <a:solidFill>
                  <a:schemeClr val="bg1"/>
                </a:solidFill>
              </a:rPr>
              <a:t>行业场景应用</a:t>
            </a:r>
          </a:p>
        </p:txBody>
      </p:sp>
      <p:pic>
        <p:nvPicPr>
          <p:cNvPr id="15" name="图片 14" descr="76b499643fee34819cb883d90f0351cf"/>
          <p:cNvPicPr>
            <a:picLocks noChangeAspect="1"/>
          </p:cNvPicPr>
          <p:nvPr/>
        </p:nvPicPr>
        <p:blipFill>
          <a:blip r:embed="rId2"/>
          <a:stretch>
            <a:fillRect/>
          </a:stretch>
        </p:blipFill>
        <p:spPr>
          <a:xfrm>
            <a:off x="10965180" y="10160"/>
            <a:ext cx="748030" cy="748030"/>
          </a:xfrm>
          <a:prstGeom prst="rect">
            <a:avLst/>
          </a:prstGeom>
        </p:spPr>
      </p:pic>
      <p:grpSp>
        <p:nvGrpSpPr>
          <p:cNvPr id="18" name="组合 17"/>
          <p:cNvGrpSpPr/>
          <p:nvPr/>
        </p:nvGrpSpPr>
        <p:grpSpPr>
          <a:xfrm>
            <a:off x="542925" y="1657350"/>
            <a:ext cx="2019300" cy="4495165"/>
            <a:chOff x="855" y="2610"/>
            <a:chExt cx="3180" cy="7079"/>
          </a:xfrm>
        </p:grpSpPr>
        <p:sp>
          <p:nvSpPr>
            <p:cNvPr id="19" name="文本框 18"/>
            <p:cNvSpPr txBox="1"/>
            <p:nvPr/>
          </p:nvSpPr>
          <p:spPr>
            <a:xfrm>
              <a:off x="855" y="2610"/>
              <a:ext cx="2880" cy="824"/>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sp>
          <p:nvSpPr>
            <p:cNvPr id="20" name="文本框 19"/>
            <p:cNvSpPr txBox="1"/>
            <p:nvPr/>
          </p:nvSpPr>
          <p:spPr>
            <a:xfrm>
              <a:off x="855" y="4594"/>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21" name="文本框 20"/>
            <p:cNvSpPr txBox="1"/>
            <p:nvPr/>
          </p:nvSpPr>
          <p:spPr>
            <a:xfrm>
              <a:off x="855" y="6519"/>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22" name="文本框 21"/>
            <p:cNvSpPr txBox="1"/>
            <p:nvPr/>
          </p:nvSpPr>
          <p:spPr>
            <a:xfrm>
              <a:off x="855" y="8865"/>
              <a:ext cx="3180" cy="824"/>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2" y="55226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参考文献</a:t>
            </a:r>
          </a:p>
        </p:txBody>
      </p:sp>
      <p:sp>
        <p:nvSpPr>
          <p:cNvPr id="13" name="矩形 12"/>
          <p:cNvSpPr/>
          <p:nvPr/>
        </p:nvSpPr>
        <p:spPr>
          <a:xfrm>
            <a:off x="3324224" y="1303019"/>
            <a:ext cx="8388772" cy="5050156"/>
          </a:xfrm>
          <a:prstGeom prst="rect">
            <a:avLst/>
          </a:prstGeom>
          <a:solidFill>
            <a:schemeClr val="bg1"/>
          </a:solidFill>
          <a:ln>
            <a:noFill/>
          </a:ln>
          <a:effectLst>
            <a:outerShdw blurRad="127000" sx="102000" sy="102000" algn="ctr" rotWithShape="0">
              <a:schemeClr val="bg1">
                <a:lumMod val="8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3403600" y="1388745"/>
            <a:ext cx="8096250" cy="4964430"/>
          </a:xfrm>
          <a:prstGeom prst="rect">
            <a:avLst/>
          </a:prstGeom>
          <a:noFill/>
        </p:spPr>
        <p:txBody>
          <a:bodyPr wrap="square" rtlCol="0">
            <a:spAutoFit/>
          </a:bodyPr>
          <a:lstStyle/>
          <a:p>
            <a:pPr indent="0" fontAlgn="auto">
              <a:lnSpc>
                <a:spcPts val="2000"/>
              </a:lnSpc>
            </a:pPr>
            <a:r>
              <a:rPr lang="en-US" altLang="zh-CN" sz="1000" dirty="0"/>
              <a:t>[1] Guo J, Liu Z, Han J, et al. AnomalyGPT: Detecting Industrial Anomalies using Large Vision-Language Models[C]. Advances in Neural Information Processing Systems (NeurIPS), 2024.</a:t>
            </a:r>
          </a:p>
          <a:p>
            <a:pPr indent="0" fontAlgn="auto">
              <a:lnSpc>
                <a:spcPts val="2000"/>
              </a:lnSpc>
            </a:pPr>
            <a:r>
              <a:rPr lang="en-US" altLang="zh-CN" sz="1000" dirty="0"/>
              <a:t>[2] Wang Y, Peng J, Liu Y, et al. Real-IAD: A Real-World Multi-View Industrial Anomaly Detection Dataset[C]. IEEE/CVF Conference on Computer Vision and Pattern Recognition (CVPR), 2024.</a:t>
            </a:r>
          </a:p>
          <a:p>
            <a:pPr indent="0" fontAlgn="auto">
              <a:lnSpc>
                <a:spcPts val="2000"/>
              </a:lnSpc>
            </a:pPr>
            <a:r>
              <a:rPr lang="en-US" altLang="zh-CN" sz="1000" dirty="0"/>
              <a:t>[3] Chen Z, Wu Y, Zhang X, et al. VAND 2.0: Versatile and Accurate Neural Defect Detection[C]. IEEE/CVF Conference on Computer Vision and Pattern Recognition (CVPR), 2024.</a:t>
            </a:r>
          </a:p>
          <a:p>
            <a:pPr indent="0" fontAlgn="auto">
              <a:lnSpc>
                <a:spcPts val="2000"/>
              </a:lnSpc>
            </a:pPr>
            <a:r>
              <a:rPr lang="en-US" altLang="zh-CN" sz="1000" dirty="0"/>
              <a:t>[4] Liu Z, Wang S, Cui E, et al. Adapting Segment Anything Model for Domain Adaptive Semantic Segmentation[C]. IEEE/CVF Conference on Computer Vision and Pattern Recognition (CVPR), 2024.</a:t>
            </a:r>
          </a:p>
          <a:p>
            <a:pPr indent="0" fontAlgn="auto">
              <a:lnSpc>
                <a:spcPts val="2000"/>
              </a:lnSpc>
            </a:pPr>
            <a:r>
              <a:rPr lang="en-US" altLang="zh-CN" sz="1000" dirty="0"/>
              <a:t>[5] Zhang Z, Liu Y, Wang S, et al. Goal-Guided Transformer-Enabled Reinforcement Learning for Efficient Autonomous Navigation[J]. IEEE Transactions on Intelligent Transportation Systems, 2024, 25(7): 7821-7834.</a:t>
            </a:r>
          </a:p>
          <a:p>
            <a:pPr indent="0" fontAlgn="auto">
              <a:lnSpc>
                <a:spcPts val="2000"/>
              </a:lnSpc>
            </a:pPr>
            <a:r>
              <a:rPr lang="en-US" altLang="zh-CN" sz="1000" dirty="0"/>
              <a:t>[6] Li J, Chen W, Wang H, et al. Multimodal Large Language Models for Industrial Applications: A Comprehensive Survey[J]. IEEE Transactions on Multimedia, 2024, 26: 4521-4540.</a:t>
            </a:r>
          </a:p>
          <a:p>
            <a:pPr indent="0" fontAlgn="auto">
              <a:lnSpc>
                <a:spcPts val="2000"/>
              </a:lnSpc>
            </a:pPr>
            <a:r>
              <a:rPr lang="en-US" altLang="zh-CN" sz="1000" dirty="0"/>
              <a:t>[7] Zhang L, Chen Y, Li M, et al. Deep Industrial Image Anomaly Detection: A Survey[J]. IEEE Transactions on Pattern Analysis and Machine Intelligence, 2024, 46(11): 7890-7910.</a:t>
            </a:r>
          </a:p>
          <a:p>
            <a:pPr indent="0" fontAlgn="auto">
              <a:lnSpc>
                <a:spcPts val="2000"/>
              </a:lnSpc>
            </a:pPr>
            <a:r>
              <a:rPr lang="en-US" altLang="zh-CN" sz="1000" dirty="0"/>
              <a:t>[8] Wang H, Zhang Q, Liu X, et al. Knowledge Graph-Enhanced Retrieval Augmented Generation for Industrial Intelligent Maintenance[J]. IEEE Transactions on Industrial Informatics, 2024, 20(8): 10521-10533.</a:t>
            </a:r>
          </a:p>
          <a:p>
            <a:pPr indent="0" fontAlgn="auto">
              <a:lnSpc>
                <a:spcPts val="2000"/>
              </a:lnSpc>
            </a:pPr>
            <a:r>
              <a:rPr lang="en-US" altLang="zh-CN" sz="1000" dirty="0"/>
              <a:t>[9] Chen X, Li Y, Wang Z, et al. A Survey on Retrieval-Augmented Generation for Large Language Models[J]. IEEE Transactions on Knowledge and Data Engineering, 2024, 36(12): 5678-5695.</a:t>
            </a:r>
          </a:p>
          <a:p>
            <a:pPr indent="0" fontAlgn="auto">
              <a:lnSpc>
                <a:spcPts val="2000"/>
              </a:lnSpc>
            </a:pPr>
            <a:endParaRPr lang="en-US" altLang="zh-CN" sz="1000" dirty="0"/>
          </a:p>
        </p:txBody>
      </p:sp>
      <p:pic>
        <p:nvPicPr>
          <p:cNvPr id="3" name="图片 2" descr="76b499643fee34819cb883d90f0351cf"/>
          <p:cNvPicPr>
            <a:picLocks noChangeAspect="1"/>
          </p:cNvPicPr>
          <p:nvPr/>
        </p:nvPicPr>
        <p:blipFill>
          <a:blip r:embed="rId2"/>
          <a:stretch>
            <a:fillRect/>
          </a:stretch>
        </p:blipFill>
        <p:spPr>
          <a:xfrm>
            <a:off x="10965180" y="0"/>
            <a:ext cx="748030" cy="748030"/>
          </a:xfrm>
          <a:prstGeom prst="rect">
            <a:avLst/>
          </a:prstGeom>
        </p:spPr>
      </p:pic>
      <p:grpSp>
        <p:nvGrpSpPr>
          <p:cNvPr id="17" name="组合 16"/>
          <p:cNvGrpSpPr/>
          <p:nvPr/>
        </p:nvGrpSpPr>
        <p:grpSpPr>
          <a:xfrm>
            <a:off x="542925" y="1657350"/>
            <a:ext cx="2019300" cy="4495165"/>
            <a:chOff x="855" y="2610"/>
            <a:chExt cx="3180" cy="7079"/>
          </a:xfrm>
        </p:grpSpPr>
        <p:sp>
          <p:nvSpPr>
            <p:cNvPr id="18" name="文本框 17"/>
            <p:cNvSpPr txBox="1"/>
            <p:nvPr/>
          </p:nvSpPr>
          <p:spPr>
            <a:xfrm>
              <a:off x="855" y="2610"/>
              <a:ext cx="2880" cy="824"/>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sp>
          <p:nvSpPr>
            <p:cNvPr id="19" name="文本框 18"/>
            <p:cNvSpPr txBox="1"/>
            <p:nvPr/>
          </p:nvSpPr>
          <p:spPr>
            <a:xfrm>
              <a:off x="855" y="4594"/>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20" name="文本框 19"/>
            <p:cNvSpPr txBox="1"/>
            <p:nvPr/>
          </p:nvSpPr>
          <p:spPr>
            <a:xfrm>
              <a:off x="855" y="6519"/>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21" name="文本框 20"/>
            <p:cNvSpPr txBox="1"/>
            <p:nvPr/>
          </p:nvSpPr>
          <p:spPr>
            <a:xfrm>
              <a:off x="855" y="8865"/>
              <a:ext cx="3180" cy="824"/>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2" y="55226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197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参考文献（续表）</a:t>
            </a:r>
          </a:p>
        </p:txBody>
      </p:sp>
      <p:sp>
        <p:nvSpPr>
          <p:cNvPr id="13" name="矩形 12"/>
          <p:cNvSpPr/>
          <p:nvPr/>
        </p:nvSpPr>
        <p:spPr>
          <a:xfrm>
            <a:off x="3324224" y="1303019"/>
            <a:ext cx="8388772" cy="5050156"/>
          </a:xfrm>
          <a:prstGeom prst="rect">
            <a:avLst/>
          </a:prstGeom>
          <a:solidFill>
            <a:schemeClr val="bg1"/>
          </a:solidFill>
          <a:ln>
            <a:noFill/>
          </a:ln>
          <a:effectLst>
            <a:outerShdw blurRad="127000" sx="102000" sy="102000" algn="ctr" rotWithShape="0">
              <a:schemeClr val="bg1">
                <a:lumMod val="8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3476625" y="1466850"/>
            <a:ext cx="8096250" cy="347345"/>
          </a:xfrm>
          <a:prstGeom prst="rect">
            <a:avLst/>
          </a:prstGeom>
          <a:noFill/>
        </p:spPr>
        <p:txBody>
          <a:bodyPr wrap="square" rtlCol="0">
            <a:spAutoFit/>
          </a:bodyPr>
          <a:lstStyle/>
          <a:p>
            <a:pPr indent="0" fontAlgn="auto">
              <a:lnSpc>
                <a:spcPts val="2000"/>
              </a:lnSpc>
            </a:pPr>
            <a:endParaRPr lang="en-US" altLang="zh-CN" sz="800" dirty="0"/>
          </a:p>
        </p:txBody>
      </p:sp>
      <p:sp>
        <p:nvSpPr>
          <p:cNvPr id="3" name="文本框 2"/>
          <p:cNvSpPr txBox="1"/>
          <p:nvPr/>
        </p:nvSpPr>
        <p:spPr>
          <a:xfrm>
            <a:off x="3397250" y="1327785"/>
            <a:ext cx="7795260" cy="3169285"/>
          </a:xfrm>
          <a:prstGeom prst="rect">
            <a:avLst/>
          </a:prstGeom>
          <a:noFill/>
        </p:spPr>
        <p:txBody>
          <a:bodyPr wrap="square" rtlCol="0">
            <a:spAutoFit/>
          </a:bodyPr>
          <a:lstStyle/>
          <a:p>
            <a:pPr indent="0" fontAlgn="auto">
              <a:lnSpc>
                <a:spcPts val="2000"/>
              </a:lnSpc>
            </a:pPr>
            <a:r>
              <a:rPr lang="en-US" altLang="zh-CN" sz="1000"/>
              <a:t>[10] </a:t>
            </a:r>
            <a:r>
              <a:rPr lang="en-US" altLang="zh-CN" sz="1000" dirty="0"/>
              <a:t>Liu </a:t>
            </a:r>
            <a:r>
              <a:rPr lang="en-US" altLang="zh-CN" sz="1000"/>
              <a:t>S, Wang J, Chen H, et al. Predictive Maintenance Using Transformer-Based Time Series Forecasting for Industrial Equipment[J]. IEEE Transactions on Industrial Electronics, 2024, 71(5): 5432-5443.</a:t>
            </a:r>
          </a:p>
          <a:p>
            <a:pPr indent="0" fontAlgn="auto">
              <a:lnSpc>
                <a:spcPts val="2000"/>
              </a:lnSpc>
            </a:pPr>
            <a:r>
              <a:rPr lang="en-US" altLang="zh-CN" sz="1000"/>
              <a:t>[11] Yang T, Zhang W, Li X, et al. Edge Intelligence for Autonomous Mobile Robots: A Survey[J]. IEEE Internet of Things Journal, 2024, 11(15): 20156-</a:t>
            </a:r>
            <a:r>
              <a:rPr lang="en-US" altLang="zh-CN" sz="1000" dirty="0"/>
              <a:t>20173</a:t>
            </a:r>
            <a:r>
              <a:rPr lang="en-US" altLang="zh-CN" sz="1000"/>
              <a:t>.</a:t>
            </a:r>
          </a:p>
          <a:p>
            <a:pPr indent="0" fontAlgn="auto">
              <a:lnSpc>
                <a:spcPts val="2000"/>
              </a:lnSpc>
            </a:pPr>
            <a:r>
              <a:rPr lang="en-US" altLang="zh-CN" sz="1000"/>
              <a:t>[12] Wu J, Liu Y, Fan J, et al. Informer-Based Semi-Supervised Learning for Fault Diagnosis of Industrial Robot[J]. IEEE Transactions on Industrial Informatics, 2024, 20(3): 4121-4133.</a:t>
            </a:r>
          </a:p>
          <a:p>
            <a:pPr indent="0" fontAlgn="auto">
              <a:lnSpc>
                <a:spcPts val="2000"/>
              </a:lnSpc>
            </a:pPr>
            <a:r>
              <a:rPr lang="en-US" altLang="zh-CN" sz="1000"/>
              <a:t>[13] Kim S, Park J, Lee H, et al. Efficient On-Device Fine-Tuning of Vision-Language Models for Industrial Inspection[J]. IEEE Transactions on Mobile Computing, 2025, 24(1): 312-328.</a:t>
            </a:r>
          </a:p>
          <a:p>
            <a:pPr indent="0" fontAlgn="auto">
              <a:lnSpc>
                <a:spcPts val="2000"/>
              </a:lnSpc>
            </a:pPr>
            <a:r>
              <a:rPr lang="en-US" altLang="zh-CN" sz="1000"/>
              <a:t>[14] Zhao Y, Chen L, Wang K, et al. Robust SLAM with Multi-Sensor Fusion for Autonomous Navigation in Complex Industrial Environments[J]. IEEE Robotics and Automation Letters, 2024, 9(6): 5234-5241.</a:t>
            </a:r>
          </a:p>
          <a:p>
            <a:pPr indent="0" fontAlgn="auto">
              <a:lnSpc>
                <a:spcPts val="2000"/>
              </a:lnSpc>
            </a:pPr>
            <a:r>
              <a:rPr lang="en-US" altLang="zh-CN" sz="1000"/>
              <a:t>[15] Xu R, Zhang H, Liu F, et al. MMAD: The First-Ever Comprehensive Benchmark for Multimodal Large Language Models in Industrial Anomaly Detection[J]. IEEE Transactions on Instrumentation and Measurement, 2025, 74(1): 1-15.</a:t>
            </a:r>
          </a:p>
        </p:txBody>
      </p:sp>
      <p:pic>
        <p:nvPicPr>
          <p:cNvPr id="17" name="图片 16" descr="76b499643fee34819cb883d90f0351cf"/>
          <p:cNvPicPr>
            <a:picLocks noChangeAspect="1"/>
          </p:cNvPicPr>
          <p:nvPr/>
        </p:nvPicPr>
        <p:blipFill>
          <a:blip r:embed="rId2"/>
          <a:stretch>
            <a:fillRect/>
          </a:stretch>
        </p:blipFill>
        <p:spPr>
          <a:xfrm>
            <a:off x="10965180" y="0"/>
            <a:ext cx="748030" cy="748030"/>
          </a:xfrm>
          <a:prstGeom prst="rect">
            <a:avLst/>
          </a:prstGeom>
        </p:spPr>
      </p:pic>
      <p:grpSp>
        <p:nvGrpSpPr>
          <p:cNvPr id="18" name="组合 17"/>
          <p:cNvGrpSpPr/>
          <p:nvPr/>
        </p:nvGrpSpPr>
        <p:grpSpPr>
          <a:xfrm>
            <a:off x="542925" y="1657350"/>
            <a:ext cx="2019300" cy="4495165"/>
            <a:chOff x="855" y="2610"/>
            <a:chExt cx="3180" cy="7079"/>
          </a:xfrm>
        </p:grpSpPr>
        <p:sp>
          <p:nvSpPr>
            <p:cNvPr id="19" name="文本框 18"/>
            <p:cNvSpPr txBox="1"/>
            <p:nvPr/>
          </p:nvSpPr>
          <p:spPr>
            <a:xfrm>
              <a:off x="855" y="2610"/>
              <a:ext cx="2880" cy="824"/>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sp>
          <p:nvSpPr>
            <p:cNvPr id="20" name="文本框 19"/>
            <p:cNvSpPr txBox="1"/>
            <p:nvPr/>
          </p:nvSpPr>
          <p:spPr>
            <a:xfrm>
              <a:off x="855" y="4594"/>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21" name="文本框 20"/>
            <p:cNvSpPr txBox="1"/>
            <p:nvPr/>
          </p:nvSpPr>
          <p:spPr>
            <a:xfrm>
              <a:off x="855" y="6519"/>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22" name="文本框 21"/>
            <p:cNvSpPr txBox="1"/>
            <p:nvPr/>
          </p:nvSpPr>
          <p:spPr>
            <a:xfrm>
              <a:off x="855" y="8865"/>
              <a:ext cx="3180" cy="824"/>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273300"/>
            <a:ext cx="12192000" cy="2362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01600" y="2603500"/>
            <a:ext cx="11988800" cy="1231106"/>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rPr>
              <a:t>恳请各位老师批评指正</a:t>
            </a:r>
            <a:endParaRPr lang="en-US" altLang="zh-CN" sz="5400" b="1" dirty="0">
              <a:solidFill>
                <a:schemeClr val="bg1"/>
              </a:solidFill>
              <a:latin typeface="微软雅黑" panose="020B0503020204020204" pitchFamily="34" charset="-122"/>
              <a:ea typeface="微软雅黑" panose="020B0503020204020204" pitchFamily="34" charset="-122"/>
            </a:endParaRPr>
          </a:p>
          <a:p>
            <a:pPr algn="ctr"/>
            <a:r>
              <a:rPr lang="en-US" altLang="zh-CN" sz="2000" dirty="0">
                <a:solidFill>
                  <a:schemeClr val="bg1"/>
                </a:solidFill>
                <a:latin typeface="微软雅黑" panose="020B0503020204020204" pitchFamily="34" charset="-122"/>
                <a:ea typeface="微软雅黑" panose="020B0503020204020204" pitchFamily="34" charset="-122"/>
              </a:rPr>
              <a:t>Please criticize and correct me, teachers</a:t>
            </a:r>
            <a:endParaRPr lang="en-US" altLang="zh-CN" sz="3200" dirty="0">
              <a:solidFill>
                <a:schemeClr val="bg1"/>
              </a:solidFill>
              <a:latin typeface="微软雅黑" panose="020B0503020204020204" pitchFamily="34" charset="-122"/>
              <a:ea typeface="微软雅黑" panose="020B0503020204020204" pitchFamily="34" charset="-122"/>
            </a:endParaRPr>
          </a:p>
        </p:txBody>
      </p:sp>
      <p:sp>
        <p:nvSpPr>
          <p:cNvPr id="17" name="矩形: 圆角 16"/>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flipH="1">
            <a:off x="10866600" y="61214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flipH="1">
            <a:off x="10375900" y="63017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flipH="1">
            <a:off x="11118600" y="64820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1127878" y="4238625"/>
            <a:ext cx="993624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016038" y="5345462"/>
            <a:ext cx="309863" cy="3098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338416" y="5300338"/>
            <a:ext cx="2433411"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答辩人：</a:t>
            </a:r>
          </a:p>
        </p:txBody>
      </p:sp>
      <p:sp>
        <p:nvSpPr>
          <p:cNvPr id="36" name="椭圆 35"/>
          <p:cNvSpPr/>
          <p:nvPr/>
        </p:nvSpPr>
        <p:spPr>
          <a:xfrm>
            <a:off x="4568738"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4858821" y="5300338"/>
            <a:ext cx="2777219"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导师：</a:t>
            </a:r>
          </a:p>
        </p:txBody>
      </p:sp>
      <p:sp>
        <p:nvSpPr>
          <p:cNvPr id="37" name="椭圆 36"/>
          <p:cNvSpPr/>
          <p:nvPr/>
        </p:nvSpPr>
        <p:spPr>
          <a:xfrm>
            <a:off x="8089143"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8398743" y="5300338"/>
            <a:ext cx="2777219"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时间</a:t>
            </a:r>
          </a:p>
        </p:txBody>
      </p:sp>
      <p:sp>
        <p:nvSpPr>
          <p:cNvPr id="2" name="图形 26" descr="博士帽"/>
          <p:cNvSpPr/>
          <p:nvPr/>
        </p:nvSpPr>
        <p:spPr>
          <a:xfrm>
            <a:off x="1046600" y="5418577"/>
            <a:ext cx="248739" cy="163630"/>
          </a:xfrm>
          <a:custGeom>
            <a:avLst/>
            <a:gdLst>
              <a:gd name="connsiteX0" fmla="*/ 45340 w 248739"/>
              <a:gd name="connsiteY0" fmla="*/ 146026 h 163630"/>
              <a:gd name="connsiteX1" fmla="*/ 133235 w 248739"/>
              <a:gd name="connsiteY1" fmla="*/ 163631 h 163630"/>
              <a:gd name="connsiteX2" fmla="*/ 218597 w 248739"/>
              <a:gd name="connsiteY2" fmla="*/ 143493 h 163630"/>
              <a:gd name="connsiteX3" fmla="*/ 218597 w 248739"/>
              <a:gd name="connsiteY3" fmla="*/ 58005 h 163630"/>
              <a:gd name="connsiteX4" fmla="*/ 133235 w 248739"/>
              <a:gd name="connsiteY4" fmla="*/ 70544 h 163630"/>
              <a:gd name="connsiteX5" fmla="*/ 45340 w 248739"/>
              <a:gd name="connsiteY5" fmla="*/ 58005 h 163630"/>
              <a:gd name="connsiteX6" fmla="*/ 45340 w 248739"/>
              <a:gd name="connsiteY6" fmla="*/ 146026 h 163630"/>
              <a:gd name="connsiteX7" fmla="*/ 248739 w 248739"/>
              <a:gd name="connsiteY7" fmla="*/ 20137 h 163630"/>
              <a:gd name="connsiteX8" fmla="*/ 248739 w 248739"/>
              <a:gd name="connsiteY8" fmla="*/ 42807 h 163630"/>
              <a:gd name="connsiteX9" fmla="*/ 133235 w 248739"/>
              <a:gd name="connsiteY9" fmla="*/ 60539 h 163630"/>
              <a:gd name="connsiteX10" fmla="*/ 17604 w 248739"/>
              <a:gd name="connsiteY10" fmla="*/ 42807 h 163630"/>
              <a:gd name="connsiteX11" fmla="*/ 17604 w 248739"/>
              <a:gd name="connsiteY11" fmla="*/ 85615 h 163630"/>
              <a:gd name="connsiteX12" fmla="*/ 22670 w 248739"/>
              <a:gd name="connsiteY12" fmla="*/ 93214 h 163630"/>
              <a:gd name="connsiteX13" fmla="*/ 12665 w 248739"/>
              <a:gd name="connsiteY13" fmla="*/ 103219 h 163630"/>
              <a:gd name="connsiteX14" fmla="*/ 5066 w 248739"/>
              <a:gd name="connsiteY14" fmla="*/ 93214 h 163630"/>
              <a:gd name="connsiteX15" fmla="*/ 10132 w 248739"/>
              <a:gd name="connsiteY15" fmla="*/ 85615 h 163630"/>
              <a:gd name="connsiteX16" fmla="*/ 10132 w 248739"/>
              <a:gd name="connsiteY16" fmla="*/ 20137 h 163630"/>
              <a:gd name="connsiteX17" fmla="*/ 133235 w 248739"/>
              <a:gd name="connsiteY17" fmla="*/ 0 h 163630"/>
              <a:gd name="connsiteX18" fmla="*/ 248739 w 248739"/>
              <a:gd name="connsiteY18" fmla="*/ 20137 h 163630"/>
              <a:gd name="connsiteX19" fmla="*/ 20137 w 248739"/>
              <a:gd name="connsiteY19" fmla="*/ 105752 h 163630"/>
              <a:gd name="connsiteX20" fmla="*/ 7599 w 248739"/>
              <a:gd name="connsiteY20" fmla="*/ 105752 h 163630"/>
              <a:gd name="connsiteX21" fmla="*/ 0 w 248739"/>
              <a:gd name="connsiteY21" fmla="*/ 146026 h 163630"/>
              <a:gd name="connsiteX22" fmla="*/ 5066 w 248739"/>
              <a:gd name="connsiteY22" fmla="*/ 146026 h 163630"/>
              <a:gd name="connsiteX23" fmla="*/ 7599 w 248739"/>
              <a:gd name="connsiteY23" fmla="*/ 141088 h 163630"/>
              <a:gd name="connsiteX24" fmla="*/ 7599 w 248739"/>
              <a:gd name="connsiteY24" fmla="*/ 146026 h 163630"/>
              <a:gd name="connsiteX25" fmla="*/ 15071 w 248739"/>
              <a:gd name="connsiteY25" fmla="*/ 148559 h 163630"/>
              <a:gd name="connsiteX26" fmla="*/ 17604 w 248739"/>
              <a:gd name="connsiteY26" fmla="*/ 143493 h 163630"/>
              <a:gd name="connsiteX27" fmla="*/ 17604 w 248739"/>
              <a:gd name="connsiteY27" fmla="*/ 148559 h 163630"/>
              <a:gd name="connsiteX28" fmla="*/ 20137 w 248739"/>
              <a:gd name="connsiteY28" fmla="*/ 148559 h 163630"/>
              <a:gd name="connsiteX29" fmla="*/ 20137 w 248739"/>
              <a:gd name="connsiteY29" fmla="*/ 128422 h 163630"/>
              <a:gd name="connsiteX30" fmla="*/ 22670 w 248739"/>
              <a:gd name="connsiteY30" fmla="*/ 146026 h 163630"/>
              <a:gd name="connsiteX31" fmla="*/ 27736 w 248739"/>
              <a:gd name="connsiteY31" fmla="*/ 146026 h 163630"/>
              <a:gd name="connsiteX32" fmla="*/ 20137 w 248739"/>
              <a:gd name="connsiteY32" fmla="*/ 105752 h 16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8739" h="163630">
                <a:moveTo>
                  <a:pt x="45340" y="146026"/>
                </a:moveTo>
                <a:cubicBezTo>
                  <a:pt x="75483" y="146026"/>
                  <a:pt x="105626" y="151093"/>
                  <a:pt x="133235" y="163631"/>
                </a:cubicBezTo>
                <a:cubicBezTo>
                  <a:pt x="160845" y="151093"/>
                  <a:pt x="188454" y="143493"/>
                  <a:pt x="218597" y="143493"/>
                </a:cubicBezTo>
                <a:cubicBezTo>
                  <a:pt x="218597" y="58005"/>
                  <a:pt x="218597" y="58005"/>
                  <a:pt x="218597" y="58005"/>
                </a:cubicBezTo>
                <a:cubicBezTo>
                  <a:pt x="133235" y="70544"/>
                  <a:pt x="133235" y="70544"/>
                  <a:pt x="133235" y="70544"/>
                </a:cubicBezTo>
                <a:cubicBezTo>
                  <a:pt x="45340" y="58005"/>
                  <a:pt x="45340" y="58005"/>
                  <a:pt x="45340" y="58005"/>
                </a:cubicBezTo>
                <a:cubicBezTo>
                  <a:pt x="45340" y="146026"/>
                  <a:pt x="45340" y="146026"/>
                  <a:pt x="45340" y="146026"/>
                </a:cubicBezTo>
                <a:moveTo>
                  <a:pt x="248739" y="20137"/>
                </a:moveTo>
                <a:cubicBezTo>
                  <a:pt x="248739" y="42807"/>
                  <a:pt x="248739" y="42807"/>
                  <a:pt x="248739" y="42807"/>
                </a:cubicBezTo>
                <a:cubicBezTo>
                  <a:pt x="133235" y="60539"/>
                  <a:pt x="133235" y="60539"/>
                  <a:pt x="133235" y="60539"/>
                </a:cubicBezTo>
                <a:cubicBezTo>
                  <a:pt x="17604" y="42807"/>
                  <a:pt x="17604" y="42807"/>
                  <a:pt x="17604" y="42807"/>
                </a:cubicBezTo>
                <a:cubicBezTo>
                  <a:pt x="17604" y="85615"/>
                  <a:pt x="17604" y="85615"/>
                  <a:pt x="17604" y="85615"/>
                </a:cubicBezTo>
                <a:cubicBezTo>
                  <a:pt x="20137" y="88148"/>
                  <a:pt x="22670" y="90681"/>
                  <a:pt x="22670" y="93214"/>
                </a:cubicBezTo>
                <a:cubicBezTo>
                  <a:pt x="22670" y="98280"/>
                  <a:pt x="17604" y="103219"/>
                  <a:pt x="12665" y="103219"/>
                </a:cubicBezTo>
                <a:cubicBezTo>
                  <a:pt x="10132" y="103219"/>
                  <a:pt x="5066" y="98280"/>
                  <a:pt x="5066" y="93214"/>
                </a:cubicBezTo>
                <a:cubicBezTo>
                  <a:pt x="5066" y="90681"/>
                  <a:pt x="7599" y="88148"/>
                  <a:pt x="10132" y="85615"/>
                </a:cubicBezTo>
                <a:cubicBezTo>
                  <a:pt x="10132" y="62945"/>
                  <a:pt x="10132" y="42807"/>
                  <a:pt x="10132" y="20137"/>
                </a:cubicBezTo>
                <a:cubicBezTo>
                  <a:pt x="133235" y="0"/>
                  <a:pt x="133235" y="0"/>
                  <a:pt x="133235" y="0"/>
                </a:cubicBezTo>
                <a:cubicBezTo>
                  <a:pt x="248739" y="20137"/>
                  <a:pt x="248739" y="20137"/>
                  <a:pt x="248739" y="20137"/>
                </a:cubicBezTo>
                <a:moveTo>
                  <a:pt x="20137" y="105752"/>
                </a:moveTo>
                <a:cubicBezTo>
                  <a:pt x="15071" y="108285"/>
                  <a:pt x="12665" y="108285"/>
                  <a:pt x="7599" y="105752"/>
                </a:cubicBezTo>
                <a:cubicBezTo>
                  <a:pt x="5066" y="118417"/>
                  <a:pt x="2533" y="130955"/>
                  <a:pt x="0" y="146026"/>
                </a:cubicBezTo>
                <a:cubicBezTo>
                  <a:pt x="2533" y="146026"/>
                  <a:pt x="5066" y="146026"/>
                  <a:pt x="5066" y="146026"/>
                </a:cubicBezTo>
                <a:cubicBezTo>
                  <a:pt x="7599" y="141088"/>
                  <a:pt x="7599" y="141088"/>
                  <a:pt x="7599" y="141088"/>
                </a:cubicBezTo>
                <a:cubicBezTo>
                  <a:pt x="7599" y="146026"/>
                  <a:pt x="7599" y="146026"/>
                  <a:pt x="7599" y="146026"/>
                </a:cubicBezTo>
                <a:cubicBezTo>
                  <a:pt x="10132" y="148559"/>
                  <a:pt x="12665" y="148559"/>
                  <a:pt x="15071" y="148559"/>
                </a:cubicBezTo>
                <a:cubicBezTo>
                  <a:pt x="17604" y="143493"/>
                  <a:pt x="17604" y="143493"/>
                  <a:pt x="17604" y="143493"/>
                </a:cubicBezTo>
                <a:cubicBezTo>
                  <a:pt x="17604" y="148559"/>
                  <a:pt x="17604" y="148559"/>
                  <a:pt x="17604" y="148559"/>
                </a:cubicBezTo>
                <a:lnTo>
                  <a:pt x="20137" y="148559"/>
                </a:lnTo>
                <a:cubicBezTo>
                  <a:pt x="20137" y="128422"/>
                  <a:pt x="20137" y="128422"/>
                  <a:pt x="20137" y="128422"/>
                </a:cubicBezTo>
                <a:cubicBezTo>
                  <a:pt x="22670" y="146026"/>
                  <a:pt x="22670" y="146026"/>
                  <a:pt x="22670" y="146026"/>
                </a:cubicBezTo>
                <a:cubicBezTo>
                  <a:pt x="25203" y="146026"/>
                  <a:pt x="25203" y="146026"/>
                  <a:pt x="27736" y="146026"/>
                </a:cubicBezTo>
                <a:cubicBezTo>
                  <a:pt x="25203" y="130955"/>
                  <a:pt x="22670" y="118417"/>
                  <a:pt x="20137" y="105752"/>
                </a:cubicBezTo>
              </a:path>
            </a:pathLst>
          </a:custGeom>
          <a:solidFill>
            <a:schemeClr val="bg1"/>
          </a:solidFill>
          <a:ln w="967" cap="flat">
            <a:noFill/>
            <a:prstDash val="solid"/>
            <a:miter/>
          </a:ln>
        </p:spPr>
        <p:txBody>
          <a:bodyPr rtlCol="0" anchor="ctr"/>
          <a:lstStyle/>
          <a:p>
            <a:endParaRPr lang="zh-CN" altLang="en-US"/>
          </a:p>
        </p:txBody>
      </p:sp>
      <p:sp>
        <p:nvSpPr>
          <p:cNvPr id="3" name="图形 28" descr="授课技能"/>
          <p:cNvSpPr/>
          <p:nvPr/>
        </p:nvSpPr>
        <p:spPr>
          <a:xfrm>
            <a:off x="4632198" y="5409053"/>
            <a:ext cx="182680" cy="182680"/>
          </a:xfrm>
          <a:custGeom>
            <a:avLst/>
            <a:gdLst>
              <a:gd name="connsiteX0" fmla="*/ 155815 w 182680"/>
              <a:gd name="connsiteY0" fmla="*/ 0 h 182680"/>
              <a:gd name="connsiteX1" fmla="*/ 26864 w 182680"/>
              <a:gd name="connsiteY1" fmla="*/ 0 h 182680"/>
              <a:gd name="connsiteX2" fmla="*/ 0 w 182680"/>
              <a:gd name="connsiteY2" fmla="*/ 26864 h 182680"/>
              <a:gd name="connsiteX3" fmla="*/ 0 w 182680"/>
              <a:gd name="connsiteY3" fmla="*/ 155815 h 182680"/>
              <a:gd name="connsiteX4" fmla="*/ 26864 w 182680"/>
              <a:gd name="connsiteY4" fmla="*/ 182680 h 182680"/>
              <a:gd name="connsiteX5" fmla="*/ 155815 w 182680"/>
              <a:gd name="connsiteY5" fmla="*/ 182680 h 182680"/>
              <a:gd name="connsiteX6" fmla="*/ 182680 w 182680"/>
              <a:gd name="connsiteY6" fmla="*/ 155815 h 182680"/>
              <a:gd name="connsiteX7" fmla="*/ 182680 w 182680"/>
              <a:gd name="connsiteY7" fmla="*/ 26864 h 182680"/>
              <a:gd name="connsiteX8" fmla="*/ 155815 w 182680"/>
              <a:gd name="connsiteY8" fmla="*/ 0 h 182680"/>
              <a:gd name="connsiteX9" fmla="*/ 91877 w 182680"/>
              <a:gd name="connsiteY9" fmla="*/ 25253 h 182680"/>
              <a:gd name="connsiteX10" fmla="*/ 107459 w 182680"/>
              <a:gd name="connsiteY10" fmla="*/ 40834 h 182680"/>
              <a:gd name="connsiteX11" fmla="*/ 91877 w 182680"/>
              <a:gd name="connsiteY11" fmla="*/ 56416 h 182680"/>
              <a:gd name="connsiteX12" fmla="*/ 76295 w 182680"/>
              <a:gd name="connsiteY12" fmla="*/ 40834 h 182680"/>
              <a:gd name="connsiteX13" fmla="*/ 91877 w 182680"/>
              <a:gd name="connsiteY13" fmla="*/ 25253 h 182680"/>
              <a:gd name="connsiteX14" fmla="*/ 95639 w 182680"/>
              <a:gd name="connsiteY14" fmla="*/ 61789 h 182680"/>
              <a:gd name="connsiteX15" fmla="*/ 93489 w 182680"/>
              <a:gd name="connsiteY15" fmla="*/ 66087 h 182680"/>
              <a:gd name="connsiteX16" fmla="*/ 91340 w 182680"/>
              <a:gd name="connsiteY16" fmla="*/ 66087 h 182680"/>
              <a:gd name="connsiteX17" fmla="*/ 89191 w 182680"/>
              <a:gd name="connsiteY17" fmla="*/ 66087 h 182680"/>
              <a:gd name="connsiteX18" fmla="*/ 87041 w 182680"/>
              <a:gd name="connsiteY18" fmla="*/ 61789 h 182680"/>
              <a:gd name="connsiteX19" fmla="*/ 91340 w 182680"/>
              <a:gd name="connsiteY19" fmla="*/ 59640 h 182680"/>
              <a:gd name="connsiteX20" fmla="*/ 95639 w 182680"/>
              <a:gd name="connsiteY20" fmla="*/ 61789 h 182680"/>
              <a:gd name="connsiteX21" fmla="*/ 60177 w 182680"/>
              <a:gd name="connsiteY21" fmla="*/ 70923 h 182680"/>
              <a:gd name="connsiteX22" fmla="*/ 68237 w 182680"/>
              <a:gd name="connsiteY22" fmla="*/ 63401 h 182680"/>
              <a:gd name="connsiteX23" fmla="*/ 82743 w 182680"/>
              <a:gd name="connsiteY23" fmla="*/ 61789 h 182680"/>
              <a:gd name="connsiteX24" fmla="*/ 87041 w 182680"/>
              <a:gd name="connsiteY24" fmla="*/ 77908 h 182680"/>
              <a:gd name="connsiteX25" fmla="*/ 89191 w 182680"/>
              <a:gd name="connsiteY25" fmla="*/ 68774 h 182680"/>
              <a:gd name="connsiteX26" fmla="*/ 93489 w 182680"/>
              <a:gd name="connsiteY26" fmla="*/ 68774 h 182680"/>
              <a:gd name="connsiteX27" fmla="*/ 95639 w 182680"/>
              <a:gd name="connsiteY27" fmla="*/ 77908 h 182680"/>
              <a:gd name="connsiteX28" fmla="*/ 99937 w 182680"/>
              <a:gd name="connsiteY28" fmla="*/ 61789 h 182680"/>
              <a:gd name="connsiteX29" fmla="*/ 114981 w 182680"/>
              <a:gd name="connsiteY29" fmla="*/ 63401 h 182680"/>
              <a:gd name="connsiteX30" fmla="*/ 123041 w 182680"/>
              <a:gd name="connsiteY30" fmla="*/ 70923 h 182680"/>
              <a:gd name="connsiteX31" fmla="*/ 125189 w 182680"/>
              <a:gd name="connsiteY31" fmla="*/ 84892 h 182680"/>
              <a:gd name="connsiteX32" fmla="*/ 56954 w 182680"/>
              <a:gd name="connsiteY32" fmla="*/ 84892 h 182680"/>
              <a:gd name="connsiteX33" fmla="*/ 60177 w 182680"/>
              <a:gd name="connsiteY33" fmla="*/ 70923 h 182680"/>
              <a:gd name="connsiteX34" fmla="*/ 106576 w 182680"/>
              <a:gd name="connsiteY34" fmla="*/ 157428 h 182680"/>
              <a:gd name="connsiteX35" fmla="*/ 75669 w 182680"/>
              <a:gd name="connsiteY35" fmla="*/ 157428 h 182680"/>
              <a:gd name="connsiteX36" fmla="*/ 67416 w 182680"/>
              <a:gd name="connsiteY36" fmla="*/ 150041 h 182680"/>
              <a:gd name="connsiteX37" fmla="*/ 63938 w 182680"/>
              <a:gd name="connsiteY37" fmla="*/ 118742 h 182680"/>
              <a:gd name="connsiteX38" fmla="*/ 118742 w 182680"/>
              <a:gd name="connsiteY38" fmla="*/ 118742 h 182680"/>
              <a:gd name="connsiteX39" fmla="*/ 114815 w 182680"/>
              <a:gd name="connsiteY39" fmla="*/ 150154 h 182680"/>
              <a:gd name="connsiteX40" fmla="*/ 106576 w 182680"/>
              <a:gd name="connsiteY40" fmla="*/ 157428 h 182680"/>
              <a:gd name="connsiteX41" fmla="*/ 131099 w 182680"/>
              <a:gd name="connsiteY41" fmla="*/ 106385 h 182680"/>
              <a:gd name="connsiteX42" fmla="*/ 123041 w 182680"/>
              <a:gd name="connsiteY42" fmla="*/ 113906 h 182680"/>
              <a:gd name="connsiteX43" fmla="*/ 59640 w 182680"/>
              <a:gd name="connsiteY43" fmla="*/ 113906 h 182680"/>
              <a:gd name="connsiteX44" fmla="*/ 51580 w 182680"/>
              <a:gd name="connsiteY44" fmla="*/ 106385 h 182680"/>
              <a:gd name="connsiteX45" fmla="*/ 50506 w 182680"/>
              <a:gd name="connsiteY45" fmla="*/ 95639 h 182680"/>
              <a:gd name="connsiteX46" fmla="*/ 54804 w 182680"/>
              <a:gd name="connsiteY46" fmla="*/ 91340 h 182680"/>
              <a:gd name="connsiteX47" fmla="*/ 127339 w 182680"/>
              <a:gd name="connsiteY47" fmla="*/ 91340 h 182680"/>
              <a:gd name="connsiteX48" fmla="*/ 131637 w 182680"/>
              <a:gd name="connsiteY48" fmla="*/ 95639 h 182680"/>
              <a:gd name="connsiteX49" fmla="*/ 131099 w 182680"/>
              <a:gd name="connsiteY49" fmla="*/ 106385 h 1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2680" h="182680">
                <a:moveTo>
                  <a:pt x="155815" y="0"/>
                </a:moveTo>
                <a:lnTo>
                  <a:pt x="26864" y="0"/>
                </a:lnTo>
                <a:cubicBezTo>
                  <a:pt x="11820" y="0"/>
                  <a:pt x="0" y="11820"/>
                  <a:pt x="0" y="26864"/>
                </a:cubicBezTo>
                <a:lnTo>
                  <a:pt x="0" y="155815"/>
                </a:lnTo>
                <a:cubicBezTo>
                  <a:pt x="0" y="170859"/>
                  <a:pt x="11820" y="182680"/>
                  <a:pt x="26864" y="182680"/>
                </a:cubicBezTo>
                <a:lnTo>
                  <a:pt x="155815" y="182680"/>
                </a:lnTo>
                <a:cubicBezTo>
                  <a:pt x="170859" y="182680"/>
                  <a:pt x="182680" y="170859"/>
                  <a:pt x="182680" y="155815"/>
                </a:cubicBezTo>
                <a:lnTo>
                  <a:pt x="182680" y="26864"/>
                </a:lnTo>
                <a:cubicBezTo>
                  <a:pt x="182680" y="11820"/>
                  <a:pt x="170859" y="0"/>
                  <a:pt x="155815" y="0"/>
                </a:cubicBezTo>
                <a:moveTo>
                  <a:pt x="91877" y="25253"/>
                </a:moveTo>
                <a:cubicBezTo>
                  <a:pt x="100475" y="25253"/>
                  <a:pt x="107459" y="32237"/>
                  <a:pt x="107459" y="40834"/>
                </a:cubicBezTo>
                <a:cubicBezTo>
                  <a:pt x="107459" y="49431"/>
                  <a:pt x="100475" y="56416"/>
                  <a:pt x="91877" y="56416"/>
                </a:cubicBezTo>
                <a:cubicBezTo>
                  <a:pt x="83281" y="56416"/>
                  <a:pt x="76295" y="49431"/>
                  <a:pt x="76295" y="40834"/>
                </a:cubicBezTo>
                <a:cubicBezTo>
                  <a:pt x="76295" y="32237"/>
                  <a:pt x="83281" y="25253"/>
                  <a:pt x="91877" y="25253"/>
                </a:cubicBezTo>
                <a:moveTo>
                  <a:pt x="95639" y="61789"/>
                </a:moveTo>
                <a:cubicBezTo>
                  <a:pt x="95639" y="63401"/>
                  <a:pt x="94027" y="65550"/>
                  <a:pt x="93489" y="66087"/>
                </a:cubicBezTo>
                <a:cubicBezTo>
                  <a:pt x="92952" y="66624"/>
                  <a:pt x="92415" y="66087"/>
                  <a:pt x="91340" y="66087"/>
                </a:cubicBezTo>
                <a:cubicBezTo>
                  <a:pt x="90265" y="66087"/>
                  <a:pt x="89728" y="66624"/>
                  <a:pt x="89191" y="66087"/>
                </a:cubicBezTo>
                <a:cubicBezTo>
                  <a:pt x="88654" y="65550"/>
                  <a:pt x="87041" y="62863"/>
                  <a:pt x="87041" y="61789"/>
                </a:cubicBezTo>
                <a:cubicBezTo>
                  <a:pt x="87041" y="60177"/>
                  <a:pt x="89728" y="59640"/>
                  <a:pt x="91340" y="59640"/>
                </a:cubicBezTo>
                <a:cubicBezTo>
                  <a:pt x="92952" y="59640"/>
                  <a:pt x="95639" y="60177"/>
                  <a:pt x="95639" y="61789"/>
                </a:cubicBezTo>
                <a:moveTo>
                  <a:pt x="60177" y="70923"/>
                </a:moveTo>
                <a:cubicBezTo>
                  <a:pt x="61251" y="67162"/>
                  <a:pt x="63938" y="64475"/>
                  <a:pt x="68237" y="63401"/>
                </a:cubicBezTo>
                <a:lnTo>
                  <a:pt x="82743" y="61789"/>
                </a:lnTo>
                <a:lnTo>
                  <a:pt x="87041" y="77908"/>
                </a:lnTo>
                <a:lnTo>
                  <a:pt x="89191" y="68774"/>
                </a:lnTo>
                <a:lnTo>
                  <a:pt x="93489" y="68774"/>
                </a:lnTo>
                <a:lnTo>
                  <a:pt x="95639" y="77908"/>
                </a:lnTo>
                <a:lnTo>
                  <a:pt x="99937" y="61789"/>
                </a:lnTo>
                <a:lnTo>
                  <a:pt x="114981" y="63401"/>
                </a:lnTo>
                <a:cubicBezTo>
                  <a:pt x="118742" y="63938"/>
                  <a:pt x="121966" y="66624"/>
                  <a:pt x="123041" y="70923"/>
                </a:cubicBezTo>
                <a:lnTo>
                  <a:pt x="125189" y="84892"/>
                </a:lnTo>
                <a:lnTo>
                  <a:pt x="56954" y="84892"/>
                </a:lnTo>
                <a:lnTo>
                  <a:pt x="60177" y="70923"/>
                </a:lnTo>
                <a:moveTo>
                  <a:pt x="106576" y="157428"/>
                </a:moveTo>
                <a:lnTo>
                  <a:pt x="75669" y="157428"/>
                </a:lnTo>
                <a:cubicBezTo>
                  <a:pt x="71438" y="157428"/>
                  <a:pt x="67883" y="154247"/>
                  <a:pt x="67416" y="150041"/>
                </a:cubicBezTo>
                <a:lnTo>
                  <a:pt x="63938" y="118742"/>
                </a:lnTo>
                <a:lnTo>
                  <a:pt x="118742" y="118742"/>
                </a:lnTo>
                <a:lnTo>
                  <a:pt x="114815" y="150154"/>
                </a:lnTo>
                <a:cubicBezTo>
                  <a:pt x="114296" y="154310"/>
                  <a:pt x="110763" y="157428"/>
                  <a:pt x="106576" y="157428"/>
                </a:cubicBezTo>
                <a:moveTo>
                  <a:pt x="131099" y="106385"/>
                </a:moveTo>
                <a:cubicBezTo>
                  <a:pt x="130563" y="110145"/>
                  <a:pt x="126802" y="113906"/>
                  <a:pt x="123041" y="113906"/>
                </a:cubicBezTo>
                <a:lnTo>
                  <a:pt x="59640" y="113906"/>
                </a:lnTo>
                <a:cubicBezTo>
                  <a:pt x="55878" y="113906"/>
                  <a:pt x="52118" y="110145"/>
                  <a:pt x="51580" y="106385"/>
                </a:cubicBezTo>
                <a:lnTo>
                  <a:pt x="50506" y="95639"/>
                </a:lnTo>
                <a:cubicBezTo>
                  <a:pt x="50506" y="93489"/>
                  <a:pt x="52655" y="91340"/>
                  <a:pt x="54804" y="91340"/>
                </a:cubicBezTo>
                <a:lnTo>
                  <a:pt x="127339" y="91340"/>
                </a:lnTo>
                <a:cubicBezTo>
                  <a:pt x="129488" y="91340"/>
                  <a:pt x="132175" y="93489"/>
                  <a:pt x="131637" y="95639"/>
                </a:cubicBezTo>
                <a:lnTo>
                  <a:pt x="131099" y="106385"/>
                </a:lnTo>
              </a:path>
            </a:pathLst>
          </a:custGeom>
          <a:solidFill>
            <a:schemeClr val="bg1"/>
          </a:solidFill>
          <a:ln w="707" cap="flat">
            <a:noFill/>
            <a:prstDash val="solid"/>
            <a:miter/>
          </a:ln>
        </p:spPr>
        <p:txBody>
          <a:bodyPr rtlCol="0" anchor="ctr"/>
          <a:lstStyle/>
          <a:p>
            <a:endParaRPr lang="zh-CN" altLang="en-US"/>
          </a:p>
        </p:txBody>
      </p:sp>
      <p:sp>
        <p:nvSpPr>
          <p:cNvPr id="4" name="图形 30" descr="时间"/>
          <p:cNvSpPr/>
          <p:nvPr/>
        </p:nvSpPr>
        <p:spPr>
          <a:xfrm>
            <a:off x="8142584" y="5399034"/>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pic>
        <p:nvPicPr>
          <p:cNvPr id="5" name="图片 4" descr="76b499643fee34819cb883d90f0351cf"/>
          <p:cNvPicPr>
            <a:picLocks noChangeAspect="1"/>
          </p:cNvPicPr>
          <p:nvPr/>
        </p:nvPicPr>
        <p:blipFill>
          <a:blip r:embed="rId2"/>
          <a:stretch>
            <a:fillRect/>
          </a:stretch>
        </p:blipFill>
        <p:spPr>
          <a:xfrm>
            <a:off x="5529580" y="520065"/>
            <a:ext cx="1132205" cy="113220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257.70614173228347,&quot;top&quot;:146.58811023622047,&quot;width&quot;:711.8763779527559}"/>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44.8037795275591,&quot;left&quot;:280.24496062992125,&quot;top&quot;:117.78614173228345,&quot;width&quot;:648.3270078740157}"/>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44.8037795275591,&quot;left&quot;:280.24496062992125,&quot;top&quot;:117.78614173228345,&quot;width&quot;:648.3270078740157}"/>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44.8037795275591,&quot;left&quot;:280.24496062992125,&quot;top&quot;:117.78614173228345,&quot;width&quot;:648.3270078740157}"/>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44.8037795275591,&quot;left&quot;:280.24496062992125,&quot;top&quot;:117.78614173228345,&quot;width&quot;:648.3270078740157}"/>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44.8037795275591,&quot;left&quot;:280.24496062992125,&quot;top&quot;:117.78614173228345,&quot;width&quot;:648.3270078740157}"/>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44.8037795275591,&quot;left&quot;:280.24496062992125,&quot;top&quot;:117.78614173228345,&quot;width&quot;:648.3270078740157}"/>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74.9925196850393,&quot;left&quot;:251.31803149606299,&quot;top&quot;:99.25165354330709,&quot;width&quot;:688.5084251968505}"/>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414.7782677165354,&quot;left&quot;:257.4270078740157,&quot;top&quot;:95.18866141732283,&quot;width&quot;:681.3670078740158}"/>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431.6272440944883,&quot;left&quot;:278.11779527559054,&quot;top&quot;:86.62842519685039,&quot;width&quot;:583.6510236220473}"/>
</p:tagLst>
</file>

<file path=ppt/theme/theme1.xml><?xml version="1.0" encoding="utf-8"?>
<a:theme xmlns:a="http://schemas.openxmlformats.org/drawingml/2006/main" name="Office 主题​​">
  <a:themeElements>
    <a:clrScheme name="店铺-蓝金绿">
      <a:dk1>
        <a:srgbClr val="000000"/>
      </a:dk1>
      <a:lt1>
        <a:srgbClr val="FFFFFF"/>
      </a:lt1>
      <a:dk2>
        <a:srgbClr val="44546A"/>
      </a:dk2>
      <a:lt2>
        <a:srgbClr val="E7E6E6"/>
      </a:lt2>
      <a:accent1>
        <a:srgbClr val="2C4A70"/>
      </a:accent1>
      <a:accent2>
        <a:srgbClr val="EFC475"/>
      </a:accent2>
      <a:accent3>
        <a:srgbClr val="1CC78F"/>
      </a:accent3>
      <a:accent4>
        <a:srgbClr val="75BD42"/>
      </a:accent4>
      <a:accent5>
        <a:srgbClr val="30C0B4"/>
      </a:accent5>
      <a:accent6>
        <a:srgbClr val="E54C5E"/>
      </a:accent6>
      <a:hlink>
        <a:srgbClr val="0026E5"/>
      </a:hlink>
      <a:folHlink>
        <a:srgbClr val="7E1FAD"/>
      </a:folHlink>
    </a:clrScheme>
    <a:fontScheme name="店铺-字体">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1933</Words>
  <Application>Microsoft Office PowerPoint</Application>
  <PresentationFormat>宽屏</PresentationFormat>
  <Paragraphs>297</Paragraphs>
  <Slides>20</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20</vt:i4>
      </vt:variant>
    </vt:vector>
  </HeadingPairs>
  <TitlesOfParts>
    <vt:vector size="26" baseType="lpstr">
      <vt:lpstr>Gill Sans</vt:lpstr>
      <vt:lpstr>等线</vt:lpstr>
      <vt:lpstr>微软雅黑</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zhebble@163.com</dc:creator>
  <cp:lastModifiedBy>思雄 傅</cp:lastModifiedBy>
  <cp:revision>57</cp:revision>
  <dcterms:created xsi:type="dcterms:W3CDTF">2025-04-13T12:56:00Z</dcterms:created>
  <dcterms:modified xsi:type="dcterms:W3CDTF">2026-05-11T13:41:42Z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E691088ABAEB41D894C489A19E14FB11_12</vt:lpwstr>
  </property>
  <property fmtid="{D5CDD505-2E9C-101B-9397-08002B2CF9AE}" pid="3" name="KSOProductBuildVer">
    <vt:lpwstr>2052-12.1.0.23542</vt:lpwstr>
  </property>
</Properties>
</file>