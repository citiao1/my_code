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Noto Sans SC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otoSansSC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社会现状与需求：工业运维的瓶颈与突破</a:t>
            </a:r>
            <a:endParaRPr b="1" sz="3200">
              <a:solidFill>
                <a:srgbClr val="0F172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571500" y="1190625"/>
            <a:ext cx="11049075" cy="381000"/>
            <a:chOff x="571500" y="1190625"/>
            <a:chExt cx="11049075" cy="381000"/>
          </a:xfrm>
        </p:grpSpPr>
        <p:sp>
          <p:nvSpPr>
            <p:cNvPr id="86" name="Google Shape;86;p13"/>
            <p:cNvSpPr/>
            <p:nvPr/>
          </p:nvSpPr>
          <p:spPr>
            <a:xfrm>
              <a:off x="571500" y="1190625"/>
              <a:ext cx="5381700" cy="381000"/>
            </a:xfrm>
            <a:prstGeom prst="roundRect">
              <a:avLst>
                <a:gd fmla="val 1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714375" y="1190625"/>
              <a:ext cx="509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B91C1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行业痛点 · 现实危机</a:t>
              </a:r>
              <a:endParaRPr b="1" sz="16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6238875" y="1190625"/>
              <a:ext cx="5381700" cy="381000"/>
            </a:xfrm>
            <a:prstGeom prst="roundRect">
              <a:avLst>
                <a:gd fmla="val 10000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6381750" y="1190625"/>
              <a:ext cx="509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40A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智能化需求 · 技术图景</a:t>
              </a:r>
              <a:endParaRPr b="1" sz="16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571500" y="1714500"/>
            <a:ext cx="11049075" cy="1714500"/>
            <a:chOff x="571500" y="1714500"/>
            <a:chExt cx="11049075" cy="1714500"/>
          </a:xfrm>
        </p:grpSpPr>
        <p:sp>
          <p:nvSpPr>
            <p:cNvPr id="91" name="Google Shape;91;p13"/>
            <p:cNvSpPr/>
            <p:nvPr/>
          </p:nvSpPr>
          <p:spPr>
            <a:xfrm>
              <a:off x="571500" y="1714500"/>
              <a:ext cx="5381700" cy="1714500"/>
            </a:xfrm>
            <a:prstGeom prst="roundRect">
              <a:avLst>
                <a:gd fmla="val 666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571500" y="1714500"/>
              <a:ext cx="538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4748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[ 此处插入行业痛点相关图片 ]</a:t>
              </a:r>
              <a:endParaRPr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238875" y="1714500"/>
              <a:ext cx="5381700" cy="1714500"/>
            </a:xfrm>
            <a:prstGeom prst="roundRect">
              <a:avLst>
                <a:gd fmla="val 6666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6238875" y="1714500"/>
              <a:ext cx="53817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4748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[ 此处插入智能化解决方案图片 ]</a:t>
              </a:r>
              <a:endParaRPr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sp>
        <p:nvSpPr>
          <p:cNvPr id="95" name="Google Shape;95;p13"/>
          <p:cNvSpPr txBox="1"/>
          <p:nvPr/>
        </p:nvSpPr>
        <p:spPr>
          <a:xfrm>
            <a:off x="571500" y="3619500"/>
            <a:ext cx="5381700" cy="5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全天候覆盖缺位</a:t>
            </a:r>
            <a:endParaRPr b="1" sz="1400">
              <a:solidFill>
                <a:srgbClr val="B91C1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人工巡检受限于生理周期，无法维持 24h 高频次监控。疲劳导致隐患漏检率在夜间显著提升。</a:t>
            </a:r>
            <a:endParaRPr b="0" sz="110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71500" y="4667250"/>
            <a:ext cx="5381700" cy="42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恶劣环境安全风险</a:t>
            </a:r>
            <a:endParaRPr b="1" sz="1400">
              <a:solidFill>
                <a:srgbClr val="B91C1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化工现场高温、高压威胁人身安全。人工进入高危区域风险大，事故响应受装备限制。</a:t>
            </a:r>
            <a:endParaRPr b="0" sz="110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5715000"/>
            <a:ext cx="5381700" cy="42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主观判断的经验偏差</a:t>
            </a:r>
            <a:endParaRPr b="1" sz="1400">
              <a:solidFill>
                <a:srgbClr val="B91C1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结果高度依赖人员素质，非标准化严重。海量记录零散滞后，难以支持精准故障预判。</a:t>
            </a:r>
            <a:endParaRPr b="0" sz="110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238875" y="3619500"/>
            <a:ext cx="5381700" cy="5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无人化自主作业体系</a:t>
            </a:r>
            <a:endParaRPr b="1" sz="1400">
              <a:solidFill>
                <a:srgbClr val="1E40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替代人工进入“三高一有”环境。支持全自主导航与 7×24h 连续作业，实现人机隔离。</a:t>
            </a:r>
            <a:endParaRPr b="0" sz="110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238875" y="4667250"/>
            <a:ext cx="5381700" cy="5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多模态感知与深度预警</a:t>
            </a:r>
            <a:endParaRPr b="1" sz="1400">
              <a:solidFill>
                <a:srgbClr val="1E40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融合视觉、声音与大模型，实现超越人眼的感知。毫秒级响应，化被动维护为主动预警。</a:t>
            </a:r>
            <a:endParaRPr b="0" sz="110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238875" y="5715000"/>
            <a:ext cx="5381700" cy="42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一体化决策与透明诊断</a:t>
            </a:r>
            <a:endParaRPr b="1" sz="1400">
              <a:solidFill>
                <a:srgbClr val="1E40A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构建可解释决策中枢，实现标准化透明化。所有处置建议可回溯，提升系统鲁棒性。</a:t>
            </a:r>
            <a:endParaRPr b="0" sz="110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5038" y="3895725"/>
            <a:ext cx="171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0225" y="4885600"/>
            <a:ext cx="171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0225" y="5774250"/>
            <a:ext cx="1716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476250" y="570607"/>
            <a:ext cx="11715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Image Sources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76250" y="1093589"/>
            <a:ext cx="112395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76250" y="1855589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76250" y="1855589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2364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571625" y="1245989"/>
            <a:ext cx="10144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https://www.safetysupplywarehouse.com/v/vspfiles/photos/10468-2T.jpg?v-cache=1666615759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571625" y="1474589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www.safetysupplywarehouse.com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0079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571625" y="2017514"/>
            <a:ext cx="10144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https://measur.ca/cdn/shop/files/Taurob_Inspector_600x600.png?v=1705340358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571625" y="2246114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SC"/>
                <a:ea typeface="Noto Sans SC"/>
                <a:cs typeface="Noto Sans SC"/>
                <a:sym typeface="Noto Sans SC"/>
              </a:rPr>
              <a:t>measur.ca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