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256" r:id="rId2"/>
    <p:sldId id="257" r:id="rId3"/>
    <p:sldId id="258" r:id="rId4"/>
    <p:sldId id="259" r:id="rId5"/>
    <p:sldId id="291" r:id="rId6"/>
    <p:sldId id="264" r:id="rId7"/>
    <p:sldId id="265" r:id="rId8"/>
    <p:sldId id="268" r:id="rId9"/>
    <p:sldId id="288" r:id="rId10"/>
    <p:sldId id="270" r:id="rId11"/>
    <p:sldId id="290" r:id="rId12"/>
    <p:sldId id="269" r:id="rId13"/>
    <p:sldId id="278" r:id="rId14"/>
    <p:sldId id="281" r:id="rId15"/>
    <p:sldId id="282" r:id="rId16"/>
    <p:sldId id="286" r:id="rId17"/>
    <p:sldId id="283"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8F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94694"/>
  </p:normalViewPr>
  <p:slideViewPr>
    <p:cSldViewPr snapToGrid="0">
      <p:cViewPr varScale="1">
        <p:scale>
          <a:sx n="121" d="100"/>
          <a:sy n="121" d="100"/>
        </p:scale>
        <p:origin x="451" y="77"/>
      </p:cViewPr>
      <p:guideLst/>
    </p:cSldViewPr>
  </p:slideViewPr>
  <p:notesTextViewPr>
    <p:cViewPr>
      <p:scale>
        <a:sx n="1" d="1"/>
        <a:sy n="1" d="1"/>
      </p:scale>
      <p:origin x="0" y="0"/>
    </p:cViewPr>
  </p:notesTextViewPr>
  <p:notesViewPr>
    <p:cSldViewPr snapToGrid="0">
      <p:cViewPr varScale="1">
        <p:scale>
          <a:sx n="90" d="100"/>
          <a:sy n="90" d="100"/>
        </p:scale>
        <p:origin x="3132" y="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8798BFD6-E28D-4CCD-B468-9F73AB9E9100}" type="datetimeFigureOut">
              <a:rPr lang="zh-CN" altLang="en-US" smtClean="0"/>
              <a:t>2026/5/12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7351EF-D2C7-46FC-AD1A-261B0DF44BB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9B33977-A035-4250-8C30-B5A3039D74C2}"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826909-0D63-4CAC-8DCB-E4442708A5B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85566-B6AF-F17A-9915-A3AAFB599B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94E565-1189-9800-9A83-013F321FA7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B032D9-E62B-C877-1266-D95CF4514B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A9F9EFB-A613-1DC3-C507-F226F8D8B7A2}"/>
              </a:ext>
            </a:extLst>
          </p:cNvPr>
          <p:cNvSpPr>
            <a:spLocks noGrp="1"/>
          </p:cNvSpPr>
          <p:nvPr>
            <p:ph type="sldNum" sz="quarter" idx="5"/>
          </p:nvPr>
        </p:nvSpPr>
        <p:spPr/>
        <p:txBody>
          <a:bodyPr/>
          <a:lstStyle/>
          <a:p>
            <a:fld id="{4D826909-0D63-4CAC-8DCB-E4442708A5BC}" type="slidenum">
              <a:rPr lang="zh-CN" altLang="en-US" smtClean="0"/>
              <a:t>9</a:t>
            </a:fld>
            <a:endParaRPr lang="zh-CN" altLang="en-US"/>
          </a:p>
        </p:txBody>
      </p:sp>
    </p:spTree>
    <p:extLst>
      <p:ext uri="{BB962C8B-B14F-4D97-AF65-F5344CB8AC3E}">
        <p14:creationId xmlns:p14="http://schemas.microsoft.com/office/powerpoint/2010/main" val="1350847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t>10</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826909-0D63-4CAC-8DCB-E4442708A5BC}" type="slidenum">
              <a:rPr lang="zh-CN" altLang="en-US" smtClean="0"/>
              <a:t>11</a:t>
            </a:fld>
            <a:endParaRPr lang="zh-CN" altLang="en-US"/>
          </a:p>
        </p:txBody>
      </p:sp>
    </p:spTree>
    <p:extLst>
      <p:ext uri="{BB962C8B-B14F-4D97-AF65-F5344CB8AC3E}">
        <p14:creationId xmlns:p14="http://schemas.microsoft.com/office/powerpoint/2010/main" val="1939380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225130-C1CC-4E07-B6F2-C392DCE471D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748484-E304-4861-BB34-9AF23213D1CC}" type="datetimeFigureOut">
              <a:rPr lang="zh-CN" altLang="en-US" smtClean="0"/>
              <a:t>2026/5/12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25130-C1CC-4E07-B6F2-C392DCE471D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image" Target="../media/image6.png"/><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image" Target="../media/image5.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slideLayout" Target="../slideLayouts/slideLayout2.xml"/><Relationship Id="rId5" Type="http://schemas.openxmlformats.org/officeDocument/2006/relationships/tags" Target="../tags/tag25.xml"/><Relationship Id="rId15" Type="http://schemas.openxmlformats.org/officeDocument/2006/relationships/image" Target="../media/image1.jpeg"/><Relationship Id="rId10" Type="http://schemas.openxmlformats.org/officeDocument/2006/relationships/tags" Target="../tags/tag30.xml"/><Relationship Id="rId4" Type="http://schemas.openxmlformats.org/officeDocument/2006/relationships/tags" Target="../tags/tag24.xml"/><Relationship Id="rId9" Type="http://schemas.openxmlformats.org/officeDocument/2006/relationships/tags" Target="../tags/tag29.xml"/><Relationship Id="rId1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jpeg"/></Relationships>
</file>

<file path=ppt/slides/_rels/slide12.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2" Type="http://schemas.openxmlformats.org/officeDocument/2006/relationships/tags" Target="../tags/tag32.xml"/><Relationship Id="rId16" Type="http://schemas.openxmlformats.org/officeDocument/2006/relationships/image" Target="../media/image1.jpe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slideLayout" Target="../slideLayouts/slideLayout2.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jpe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image" Target="../media/image15.png"/><Relationship Id="rId16"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3252629"/>
            <a:ext cx="11988800" cy="2215991"/>
          </a:xfrm>
          <a:prstGeom prst="rect">
            <a:avLst/>
          </a:prstGeom>
          <a:noFill/>
        </p:spPr>
        <p:txBody>
          <a:bodyPr wrap="squar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机器人巡检与多模态大模型决策方法</a:t>
            </a:r>
            <a:endParaRPr lang="en-US" altLang="zh-CN" sz="4800" b="1" dirty="0">
              <a:solidFill>
                <a:schemeClr val="bg1"/>
              </a:solidFill>
              <a:latin typeface="微软雅黑" panose="020B0503020204020204" pitchFamily="34" charset="-122"/>
              <a:ea typeface="微软雅黑" panose="020B0503020204020204" pitchFamily="34" charset="-122"/>
            </a:endParaRPr>
          </a:p>
          <a:p>
            <a:pPr algn="ctr"/>
            <a:endParaRPr lang="en-US" altLang="zh-CN" sz="1600" dirty="0">
              <a:solidFill>
                <a:schemeClr val="bg1"/>
              </a:solidFill>
              <a:latin typeface="微软雅黑" panose="020B0503020204020204" pitchFamily="34" charset="-122"/>
              <a:ea typeface="微软雅黑" panose="020B0503020204020204" pitchFamily="34" charset="-122"/>
            </a:endParaRPr>
          </a:p>
          <a:p>
            <a:pPr algn="ctr"/>
            <a:r>
              <a:rPr lang="en-US" altLang="zh-CN" dirty="0">
                <a:solidFill>
                  <a:schemeClr val="bg1"/>
                </a:solidFill>
                <a:latin typeface="微软雅黑" panose="020B0503020204020204" pitchFamily="34" charset="-122"/>
                <a:ea typeface="微软雅黑" panose="020B0503020204020204" pitchFamily="34" charset="-122"/>
              </a:rPr>
              <a:t>Robot inspection and multi-modal large model decision-making method</a:t>
            </a:r>
            <a:endParaRPr lang="en-US" altLang="zh-CN" sz="5400" dirty="0">
              <a:solidFill>
                <a:schemeClr val="bg1"/>
              </a:solidFill>
              <a:latin typeface="微软雅黑" panose="020B0503020204020204" pitchFamily="34" charset="-122"/>
              <a:ea typeface="微软雅黑" panose="020B0503020204020204" pitchFamily="34" charset="-122"/>
            </a:endParaRPr>
          </a:p>
          <a:p>
            <a:pPr algn="ctr"/>
            <a:endParaRPr lang="en-US" altLang="zh-CN" sz="5400" dirty="0">
              <a:solidFill>
                <a:schemeClr val="bg1"/>
              </a:solidFill>
              <a:latin typeface="微软雅黑" panose="020B0503020204020204" pitchFamily="34" charset="-122"/>
              <a:ea typeface="微软雅黑" panose="020B0503020204020204" pitchFamily="34" charset="-122"/>
            </a:endParaRPr>
          </a:p>
        </p:txBody>
      </p:sp>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a:t>
            </a: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687288"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a:t>
            </a: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r>
              <a:rPr lang="en-US" altLang="zh-CN" sz="2000" b="1" dirty="0">
                <a:solidFill>
                  <a:schemeClr val="accent1"/>
                </a:solidFill>
                <a:latin typeface="微软雅黑" panose="020B0503020204020204" pitchFamily="34" charset="-122"/>
                <a:ea typeface="微软雅黑" panose="020B0503020204020204" pitchFamily="34" charset="-122"/>
              </a:rPr>
              <a:t>20</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sp>
        <p:nvSpPr>
          <p:cNvPr id="3"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4"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5" name="文本框 4"/>
          <p:cNvSpPr txBox="1"/>
          <p:nvPr/>
        </p:nvSpPr>
        <p:spPr>
          <a:xfrm>
            <a:off x="2733077" y="2409779"/>
            <a:ext cx="6938776" cy="830997"/>
          </a:xfrm>
          <a:prstGeom prst="rect">
            <a:avLst/>
          </a:prstGeom>
          <a:noFill/>
        </p:spPr>
        <p:txBody>
          <a:bodyPr wrap="square" rtlCol="0" anchor="t" anchorCtr="0">
            <a:spAutoFit/>
          </a:bodyPr>
          <a:lstStyle/>
          <a:p>
            <a:r>
              <a:rPr lang="zh-CN" altLang="en-US" sz="4800" b="1" dirty="0">
                <a:solidFill>
                  <a:schemeClr val="bg1"/>
                </a:solidFill>
              </a:rPr>
              <a:t>面向工业设备智能运维的</a:t>
            </a:r>
          </a:p>
        </p:txBody>
      </p:sp>
      <p:pic>
        <p:nvPicPr>
          <p:cNvPr id="6" name="图片 5" descr="76b499643fee34819cb883d90f0351cf"/>
          <p:cNvPicPr>
            <a:picLocks noChangeAspect="1"/>
          </p:cNvPicPr>
          <p:nvPr/>
        </p:nvPicPr>
        <p:blipFill>
          <a:blip r:embed="rId2"/>
          <a:stretch>
            <a:fillRect/>
          </a:stretch>
        </p:blipFill>
        <p:spPr>
          <a:xfrm>
            <a:off x="5192395" y="307340"/>
            <a:ext cx="1807845" cy="18078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梯形 8"/>
          <p:cNvSpPr/>
          <p:nvPr/>
        </p:nvSpPr>
        <p:spPr>
          <a:xfrm rot="10800000">
            <a:off x="3328035" y="-5080"/>
            <a:ext cx="5535930" cy="2115185"/>
          </a:xfrm>
          <a:prstGeom prst="trapezoid">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4594860" y="0"/>
            <a:ext cx="3001645" cy="1198880"/>
          </a:xfrm>
          <a:prstGeom prst="rect">
            <a:avLst/>
          </a:prstGeom>
          <a:noFill/>
        </p:spPr>
        <p:txBody>
          <a:bodyPr wrap="square" rtlCol="0">
            <a:spAutoFit/>
          </a:bodyPr>
          <a:lstStyle/>
          <a:p>
            <a:pPr algn="ctr"/>
            <a:r>
              <a:rPr lang="zh-CN" altLang="en-US" sz="7200" dirty="0">
                <a:solidFill>
                  <a:schemeClr val="bg1"/>
                </a:solidFill>
                <a:latin typeface="微软雅黑" panose="020B0503020204020204" pitchFamily="34" charset="-122"/>
                <a:ea typeface="微软雅黑" panose="020B0503020204020204" pitchFamily="34" charset="-122"/>
              </a:rPr>
              <a:t>目录</a:t>
            </a:r>
          </a:p>
        </p:txBody>
      </p:sp>
      <p:sp>
        <p:nvSpPr>
          <p:cNvPr id="11" name="文本框 10"/>
          <p:cNvSpPr txBox="1"/>
          <p:nvPr/>
        </p:nvSpPr>
        <p:spPr>
          <a:xfrm>
            <a:off x="528637" y="4295775"/>
            <a:ext cx="1476374" cy="369332"/>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3" name="组合 22"/>
          <p:cNvGrpSpPr/>
          <p:nvPr>
            <p:custDataLst>
              <p:tags r:id="rId1"/>
            </p:custDataLst>
          </p:nvPr>
        </p:nvGrpSpPr>
        <p:grpSpPr>
          <a:xfrm>
            <a:off x="2062118" y="3090882"/>
            <a:ext cx="4925534" cy="891540"/>
            <a:chOff x="4321453" y="1022955"/>
            <a:chExt cx="4925534" cy="891540"/>
          </a:xfrm>
        </p:grpSpPr>
        <p:grpSp>
          <p:nvGrpSpPr>
            <p:cNvPr id="17" name="组合 16"/>
            <p:cNvGrpSpPr/>
            <p:nvPr/>
          </p:nvGrpSpPr>
          <p:grpSpPr>
            <a:xfrm>
              <a:off x="4383366" y="1123950"/>
              <a:ext cx="690562" cy="690562"/>
              <a:chOff x="4701383" y="1123951"/>
              <a:chExt cx="690562" cy="690562"/>
            </a:xfrm>
          </p:grpSpPr>
          <p:sp>
            <p:nvSpPr>
              <p:cNvPr id="20" name="椭圆 19"/>
              <p:cNvSpPr/>
              <p:nvPr>
                <p:custDataLst>
                  <p:tags r:id="rId19"/>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1" name="文本框 20"/>
              <p:cNvSpPr txBox="1"/>
              <p:nvPr>
                <p:custDataLst>
                  <p:tags r:id="rId20"/>
                </p:custDataLst>
              </p:nvPr>
            </p:nvSpPr>
            <p:spPr>
              <a:xfrm>
                <a:off x="4718647" y="1238399"/>
                <a:ext cx="656034" cy="46037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文本框 17"/>
            <p:cNvSpPr txBox="1"/>
            <p:nvPr>
              <p:custDataLst>
                <p:tags r:id="rId17"/>
              </p:custDataLst>
            </p:nvPr>
          </p:nvSpPr>
          <p:spPr>
            <a:xfrm>
              <a:off x="5361264" y="1022955"/>
              <a:ext cx="3885723" cy="891540"/>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研究背景</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Research background</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弧形 21"/>
            <p:cNvSpPr/>
            <p:nvPr>
              <p:custDataLst>
                <p:tags r:id="rId18"/>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4" name="组合 23"/>
          <p:cNvGrpSpPr/>
          <p:nvPr>
            <p:custDataLst>
              <p:tags r:id="rId2"/>
            </p:custDataLst>
          </p:nvPr>
        </p:nvGrpSpPr>
        <p:grpSpPr>
          <a:xfrm>
            <a:off x="6177414" y="3090882"/>
            <a:ext cx="4925534" cy="891540"/>
            <a:chOff x="4321453" y="1022955"/>
            <a:chExt cx="4925534" cy="891540"/>
          </a:xfrm>
        </p:grpSpPr>
        <p:grpSp>
          <p:nvGrpSpPr>
            <p:cNvPr id="25" name="组合 24"/>
            <p:cNvGrpSpPr/>
            <p:nvPr/>
          </p:nvGrpSpPr>
          <p:grpSpPr>
            <a:xfrm>
              <a:off x="4383366" y="1123950"/>
              <a:ext cx="690562" cy="690562"/>
              <a:chOff x="4701383" y="1123951"/>
              <a:chExt cx="690562" cy="690562"/>
            </a:xfrm>
          </p:grpSpPr>
          <p:sp>
            <p:nvSpPr>
              <p:cNvPr id="28" name="椭圆 27"/>
              <p:cNvSpPr/>
              <p:nvPr>
                <p:custDataLst>
                  <p:tags r:id="rId15"/>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29" name="文本框 28"/>
              <p:cNvSpPr txBox="1"/>
              <p:nvPr>
                <p:custDataLst>
                  <p:tags r:id="rId16"/>
                </p:custDataLst>
              </p:nvPr>
            </p:nvSpPr>
            <p:spPr>
              <a:xfrm>
                <a:off x="4718647" y="1238399"/>
                <a:ext cx="656034" cy="46037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26" name="文本框 25"/>
            <p:cNvSpPr txBox="1"/>
            <p:nvPr>
              <p:custDataLst>
                <p:tags r:id="rId13"/>
              </p:custDataLst>
            </p:nvPr>
          </p:nvSpPr>
          <p:spPr>
            <a:xfrm>
              <a:off x="5361264" y="1022955"/>
              <a:ext cx="3885723" cy="891540"/>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目的及意义</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Purpose and significance</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弧形 26"/>
            <p:cNvSpPr/>
            <p:nvPr>
              <p:custDataLst>
                <p:tags r:id="rId14"/>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30" name="组合 29"/>
          <p:cNvGrpSpPr/>
          <p:nvPr>
            <p:custDataLst>
              <p:tags r:id="rId3"/>
            </p:custDataLst>
          </p:nvPr>
        </p:nvGrpSpPr>
        <p:grpSpPr>
          <a:xfrm>
            <a:off x="2062118" y="4324246"/>
            <a:ext cx="4925534" cy="891540"/>
            <a:chOff x="4321453" y="1022955"/>
            <a:chExt cx="4925534" cy="891540"/>
          </a:xfrm>
        </p:grpSpPr>
        <p:grpSp>
          <p:nvGrpSpPr>
            <p:cNvPr id="31" name="组合 30"/>
            <p:cNvGrpSpPr/>
            <p:nvPr/>
          </p:nvGrpSpPr>
          <p:grpSpPr>
            <a:xfrm>
              <a:off x="4383366" y="1123950"/>
              <a:ext cx="690562" cy="690562"/>
              <a:chOff x="4701383" y="1123951"/>
              <a:chExt cx="690562" cy="690562"/>
            </a:xfrm>
          </p:grpSpPr>
          <p:sp>
            <p:nvSpPr>
              <p:cNvPr id="34" name="椭圆 33"/>
              <p:cNvSpPr/>
              <p:nvPr>
                <p:custDataLst>
                  <p:tags r:id="rId11"/>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35" name="文本框 34"/>
              <p:cNvSpPr txBox="1"/>
              <p:nvPr>
                <p:custDataLst>
                  <p:tags r:id="rId12"/>
                </p:custDataLst>
              </p:nvPr>
            </p:nvSpPr>
            <p:spPr>
              <a:xfrm>
                <a:off x="4718647" y="1238399"/>
                <a:ext cx="656034" cy="46037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2" name="文本框 31"/>
            <p:cNvSpPr txBox="1"/>
            <p:nvPr>
              <p:custDataLst>
                <p:tags r:id="rId9"/>
              </p:custDataLst>
            </p:nvPr>
          </p:nvSpPr>
          <p:spPr>
            <a:xfrm>
              <a:off x="5361264" y="1022955"/>
              <a:ext cx="3885723" cy="891540"/>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方法与过程</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Methods and process</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3" name="弧形 32"/>
            <p:cNvSpPr/>
            <p:nvPr>
              <p:custDataLst>
                <p:tags r:id="rId10"/>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 name="组合 1"/>
          <p:cNvGrpSpPr/>
          <p:nvPr>
            <p:custDataLst>
              <p:tags r:id="rId4"/>
            </p:custDataLst>
          </p:nvPr>
        </p:nvGrpSpPr>
        <p:grpSpPr>
          <a:xfrm>
            <a:off x="6178188" y="4364612"/>
            <a:ext cx="4925534" cy="891540"/>
            <a:chOff x="4321453" y="1022955"/>
            <a:chExt cx="4925534" cy="891540"/>
          </a:xfrm>
        </p:grpSpPr>
        <p:grpSp>
          <p:nvGrpSpPr>
            <p:cNvPr id="3" name="组合 2"/>
            <p:cNvGrpSpPr/>
            <p:nvPr/>
          </p:nvGrpSpPr>
          <p:grpSpPr>
            <a:xfrm>
              <a:off x="4383366" y="1123950"/>
              <a:ext cx="690562" cy="690562"/>
              <a:chOff x="4701383" y="1123951"/>
              <a:chExt cx="690562" cy="690562"/>
            </a:xfrm>
          </p:grpSpPr>
          <p:sp>
            <p:nvSpPr>
              <p:cNvPr id="4" name="椭圆 3"/>
              <p:cNvSpPr/>
              <p:nvPr>
                <p:custDataLst>
                  <p:tags r:id="rId7"/>
                </p:custDataLst>
              </p:nvPr>
            </p:nvSpPr>
            <p:spPr>
              <a:xfrm>
                <a:off x="4701383" y="1123951"/>
                <a:ext cx="690562" cy="6905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5" name="文本框 4"/>
              <p:cNvSpPr txBox="1"/>
              <p:nvPr>
                <p:custDataLst>
                  <p:tags r:id="rId8"/>
                </p:custDataLst>
              </p:nvPr>
            </p:nvSpPr>
            <p:spPr>
              <a:xfrm>
                <a:off x="4718647" y="1238399"/>
                <a:ext cx="656034" cy="460375"/>
              </a:xfrm>
              <a:prstGeom prst="rect">
                <a:avLst/>
              </a:prstGeom>
              <a:noFill/>
            </p:spPr>
            <p:txBody>
              <a:bodyPr wrap="square" rtlCol="0">
                <a:spAutoFit/>
              </a:body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6" name="文本框 5"/>
            <p:cNvSpPr txBox="1"/>
            <p:nvPr>
              <p:custDataLst>
                <p:tags r:id="rId5"/>
              </p:custDataLst>
            </p:nvPr>
          </p:nvSpPr>
          <p:spPr>
            <a:xfrm>
              <a:off x="5361264" y="1022955"/>
              <a:ext cx="3885723" cy="891540"/>
            </a:xfrm>
            <a:prstGeom prst="rect">
              <a:avLst/>
            </a:prstGeom>
            <a:noFill/>
          </p:spPr>
          <p:txBody>
            <a:bodyPr wrap="square" rtlCol="0">
              <a:spAutoFit/>
            </a:bodyPr>
            <a:lstStyle/>
            <a:p>
              <a:r>
                <a:rPr lang="zh-CN" altLang="en-US" sz="3600" b="1" dirty="0">
                  <a:solidFill>
                    <a:schemeClr val="accent1"/>
                  </a:solidFill>
                  <a:latin typeface="微软雅黑" panose="020B0503020204020204" pitchFamily="34" charset="-122"/>
                  <a:ea typeface="微软雅黑" panose="020B0503020204020204" pitchFamily="34" charset="-122"/>
                </a:rPr>
                <a:t>总结与讨论</a:t>
              </a:r>
              <a:endParaRPr lang="en-US" altLang="zh-CN" sz="3600" b="1"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bg1">
                      <a:lumMod val="50000"/>
                    </a:schemeClr>
                  </a:solidFill>
                  <a:latin typeface="微软雅黑" panose="020B0503020204020204" pitchFamily="34" charset="-122"/>
                  <a:ea typeface="微软雅黑" panose="020B0503020204020204" pitchFamily="34" charset="-122"/>
                </a:rPr>
                <a:t>Summary and Discussion</a:t>
              </a:r>
              <a:endParaRPr lang="zh-CN" altLang="en-US" sz="16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 name="弧形 6"/>
            <p:cNvSpPr/>
            <p:nvPr>
              <p:custDataLst>
                <p:tags r:id="rId6"/>
              </p:custDataLst>
            </p:nvPr>
          </p:nvSpPr>
          <p:spPr>
            <a:xfrm>
              <a:off x="4321453" y="1062037"/>
              <a:ext cx="814388" cy="814388"/>
            </a:xfrm>
            <a:prstGeom prst="arc">
              <a:avLst>
                <a:gd name="adj1" fmla="val 16200000"/>
                <a:gd name="adj2" fmla="val 4863777"/>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8" name="文本框 7"/>
          <p:cNvSpPr txBox="1"/>
          <p:nvPr/>
        </p:nvSpPr>
        <p:spPr>
          <a:xfrm>
            <a:off x="4669155" y="1176020"/>
            <a:ext cx="2927350" cy="521970"/>
          </a:xfrm>
          <a:prstGeom prst="rect">
            <a:avLst/>
          </a:prstGeom>
          <a:noFill/>
        </p:spPr>
        <p:txBody>
          <a:bodyPr wrap="square" rtlCol="0">
            <a:spAutoFit/>
          </a:bodyPr>
          <a:lstStyle/>
          <a:p>
            <a:pPr algn="ctr"/>
            <a:r>
              <a:rPr lang="en-US" altLang="zh-CN" sz="2800" b="1">
                <a:solidFill>
                  <a:schemeClr val="bg1"/>
                </a:solidFill>
              </a:rPr>
              <a:t>CATALOGUE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813621" y="3054084"/>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969657" y="2522461"/>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01</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273178" y="3124032"/>
            <a:ext cx="4119335" cy="954107"/>
          </a:xfrm>
          <a:prstGeom prst="rect">
            <a:avLst/>
          </a:prstGeom>
          <a:noFill/>
        </p:spPr>
        <p:txBody>
          <a:bodyPr wrap="square" rtlCol="0">
            <a:spAutoFit/>
          </a:bodyPr>
          <a:lstStyle/>
          <a:p>
            <a:r>
              <a:rPr lang="zh-CN" altLang="en-US" sz="3600" b="1" dirty="0">
                <a:solidFill>
                  <a:schemeClr val="bg1"/>
                </a:solidFill>
              </a:rPr>
              <a:t>研究背景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background</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2" y="0"/>
            <a:ext cx="2867027" cy="6858000"/>
            <a:chOff x="-2" y="0"/>
            <a:chExt cx="2867027" cy="6858000"/>
          </a:xfrm>
        </p:grpSpPr>
        <p:sp>
          <p:nvSpPr>
            <p:cNvPr id="37" name="矩形 36"/>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542925" y="3054191"/>
              <a:ext cx="201930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39" name="文本框 38"/>
            <p:cNvSpPr txBox="1"/>
            <p:nvPr/>
          </p:nvSpPr>
          <p:spPr>
            <a:xfrm>
              <a:off x="542925" y="4204017"/>
              <a:ext cx="2019301"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项目简介</a:t>
              </a:r>
            </a:p>
          </p:txBody>
        </p:sp>
        <p:sp>
          <p:nvSpPr>
            <p:cNvPr id="41" name="文本框 40"/>
            <p:cNvSpPr txBox="1"/>
            <p:nvPr/>
          </p:nvSpPr>
          <p:spPr>
            <a:xfrm>
              <a:off x="542925" y="5629275"/>
              <a:ext cx="20193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应用前景</a:t>
              </a:r>
            </a:p>
          </p:txBody>
        </p:sp>
        <p:sp>
          <p:nvSpPr>
            <p:cNvPr id="42" name="文本框 41"/>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43" name="组合 42"/>
            <p:cNvGrpSpPr/>
            <p:nvPr/>
          </p:nvGrpSpPr>
          <p:grpSpPr>
            <a:xfrm>
              <a:off x="-2" y="1537960"/>
              <a:ext cx="2867026" cy="921872"/>
              <a:chOff x="-2" y="1537960"/>
              <a:chExt cx="2867026" cy="921872"/>
            </a:xfrm>
          </p:grpSpPr>
          <p:sp>
            <p:nvSpPr>
              <p:cNvPr id="45" name="矩形 44"/>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直角三角形 45"/>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文本框 43"/>
            <p:cNvSpPr txBox="1"/>
            <p:nvPr/>
          </p:nvSpPr>
          <p:spPr>
            <a:xfrm>
              <a:off x="542925" y="1657350"/>
              <a:ext cx="1828799"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研究背景</a:t>
              </a:r>
            </a:p>
          </p:txBody>
        </p:sp>
      </p:grpSp>
      <p:sp>
        <p:nvSpPr>
          <p:cNvPr id="13" name="斜纹 12"/>
          <p:cNvSpPr/>
          <p:nvPr/>
        </p:nvSpPr>
        <p:spPr>
          <a:xfrm flipH="1">
            <a:off x="10867390" y="0"/>
            <a:ext cx="1325245" cy="1223010"/>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319405" y="5393690"/>
            <a:ext cx="11393805" cy="1155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1877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背景介绍</a:t>
            </a:r>
          </a:p>
        </p:txBody>
      </p:sp>
      <p:sp>
        <p:nvSpPr>
          <p:cNvPr id="15" name="矩形 14"/>
          <p:cNvSpPr/>
          <p:nvPr/>
        </p:nvSpPr>
        <p:spPr>
          <a:xfrm flipV="1">
            <a:off x="319405" y="791210"/>
            <a:ext cx="1139380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24255" y="1303020"/>
            <a:ext cx="9948545" cy="4756785"/>
          </a:xfrm>
          <a:prstGeom prst="rect">
            <a:avLst/>
          </a:prstGeom>
          <a:solidFill>
            <a:schemeClr val="bg1"/>
          </a:solidFill>
          <a:ln>
            <a:noFill/>
          </a:ln>
          <a:effectLst>
            <a:outerShdw blurRad="127000" sx="102000" sy="102000" algn="ctr" rotWithShape="0">
              <a:schemeClr val="bg1">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p:cNvSpPr/>
          <p:nvPr/>
        </p:nvSpPr>
        <p:spPr>
          <a:xfrm>
            <a:off x="3898166" y="1543055"/>
            <a:ext cx="3771900" cy="642610"/>
          </a:xfrm>
          <a:prstGeom prst="roundRect">
            <a:avLst>
              <a:gd name="adj" fmla="val 2569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研究背景</a:t>
            </a:r>
          </a:p>
        </p:txBody>
      </p:sp>
      <p:sp>
        <p:nvSpPr>
          <p:cNvPr id="19" name="文本框 18"/>
          <p:cNvSpPr txBox="1"/>
          <p:nvPr/>
        </p:nvSpPr>
        <p:spPr>
          <a:xfrm>
            <a:off x="1516774" y="2689860"/>
            <a:ext cx="4267342" cy="2349500"/>
          </a:xfrm>
          <a:prstGeom prst="rect">
            <a:avLst/>
          </a:prstGeom>
          <a:noFill/>
        </p:spPr>
        <p:txBody>
          <a:bodyPr wrap="square" rtlCol="0">
            <a:noAutofit/>
          </a:bodyPr>
          <a:lstStyle/>
          <a:p>
            <a:r>
              <a:rPr lang="zh-CN" altLang="en-US" b="1" dirty="0"/>
              <a:t>高频频发：</a:t>
            </a:r>
            <a:r>
              <a:rPr lang="zh-CN" altLang="en-US" dirty="0"/>
              <a:t> 化工、矿山等领域安全事故造成大量伤亡。</a:t>
            </a:r>
          </a:p>
          <a:p>
            <a:r>
              <a:rPr lang="zh-CN" altLang="en-US" b="1" dirty="0"/>
              <a:t>关键成因：</a:t>
            </a:r>
            <a:r>
              <a:rPr lang="zh-CN" altLang="en-US" dirty="0"/>
              <a:t> 超 </a:t>
            </a:r>
            <a:r>
              <a:rPr lang="en-US" altLang="zh-CN" dirty="0"/>
              <a:t>60% </a:t>
            </a:r>
            <a:r>
              <a:rPr lang="zh-CN" altLang="en-US" dirty="0"/>
              <a:t>的事故归结于巡检不到位和故障处理滞后。</a:t>
            </a:r>
          </a:p>
          <a:p>
            <a:r>
              <a:rPr lang="zh-CN" altLang="en-US" b="1" dirty="0"/>
              <a:t>社会影响：</a:t>
            </a:r>
            <a:r>
              <a:rPr lang="zh-CN" altLang="en-US" dirty="0"/>
              <a:t> 较大及以上爆炸、中毒事故频发，严重威胁生产安全与社会稳定。</a:t>
            </a:r>
          </a:p>
          <a:p>
            <a:r>
              <a:rPr lang="zh-CN" altLang="en-US" b="1" dirty="0"/>
              <a:t>技术需求：</a:t>
            </a:r>
            <a:r>
              <a:rPr lang="zh-CN" altLang="en-US" dirty="0"/>
              <a:t> 亟需一种能够穿透复杂环境、提供及时预警的智能化巡检手段。</a:t>
            </a:r>
          </a:p>
        </p:txBody>
      </p:sp>
      <p:pic>
        <p:nvPicPr>
          <p:cNvPr id="2" name="图片 1" descr="76b499643fee34819cb883d90f0351cf"/>
          <p:cNvPicPr>
            <a:picLocks noChangeAspect="1"/>
          </p:cNvPicPr>
          <p:nvPr/>
        </p:nvPicPr>
        <p:blipFill>
          <a:blip r:embed="rId2"/>
          <a:stretch>
            <a:fillRect/>
          </a:stretch>
        </p:blipFill>
        <p:spPr>
          <a:xfrm>
            <a:off x="10972800" y="0"/>
            <a:ext cx="748030" cy="748030"/>
          </a:xfrm>
          <a:prstGeom prst="rect">
            <a:avLst/>
          </a:prstGeom>
        </p:spPr>
      </p:pic>
      <p:graphicFrame>
        <p:nvGraphicFramePr>
          <p:cNvPr id="3" name="表格 2">
            <a:extLst>
              <a:ext uri="{FF2B5EF4-FFF2-40B4-BE49-F238E27FC236}">
                <a16:creationId xmlns:a16="http://schemas.microsoft.com/office/drawing/2014/main" id="{A31449F1-7069-6C76-E6C7-393B9D3D0523}"/>
              </a:ext>
            </a:extLst>
          </p:cNvPr>
          <p:cNvGraphicFramePr>
            <a:graphicFrameLocks noGrp="1"/>
          </p:cNvGraphicFramePr>
          <p:nvPr>
            <p:extLst>
              <p:ext uri="{D42A27DB-BD31-4B8C-83A1-F6EECF244321}">
                <p14:modId xmlns:p14="http://schemas.microsoft.com/office/powerpoint/2010/main" val="1043467128"/>
              </p:ext>
            </p:extLst>
          </p:nvPr>
        </p:nvGraphicFramePr>
        <p:xfrm>
          <a:off x="6096000" y="2370409"/>
          <a:ext cx="4636807" cy="3067424"/>
        </p:xfrm>
        <a:graphic>
          <a:graphicData uri="http://schemas.openxmlformats.org/drawingml/2006/table">
            <a:tbl>
              <a:tblPr/>
              <a:tblGrid>
                <a:gridCol w="556903">
                  <a:extLst>
                    <a:ext uri="{9D8B030D-6E8A-4147-A177-3AD203B41FA5}">
                      <a16:colId xmlns:a16="http://schemas.microsoft.com/office/drawing/2014/main" val="20000"/>
                    </a:ext>
                  </a:extLst>
                </a:gridCol>
                <a:gridCol w="2569352">
                  <a:extLst>
                    <a:ext uri="{9D8B030D-6E8A-4147-A177-3AD203B41FA5}">
                      <a16:colId xmlns:a16="http://schemas.microsoft.com/office/drawing/2014/main" val="20001"/>
                    </a:ext>
                  </a:extLst>
                </a:gridCol>
                <a:gridCol w="899979">
                  <a:extLst>
                    <a:ext uri="{9D8B030D-6E8A-4147-A177-3AD203B41FA5}">
                      <a16:colId xmlns:a16="http://schemas.microsoft.com/office/drawing/2014/main" val="20002"/>
                    </a:ext>
                  </a:extLst>
                </a:gridCol>
                <a:gridCol w="610573">
                  <a:extLst>
                    <a:ext uri="{9D8B030D-6E8A-4147-A177-3AD203B41FA5}">
                      <a16:colId xmlns:a16="http://schemas.microsoft.com/office/drawing/2014/main" val="20003"/>
                    </a:ext>
                  </a:extLst>
                </a:gridCol>
              </a:tblGrid>
              <a:tr h="403442">
                <a:tc>
                  <a:txBody>
                    <a:bodyPr/>
                    <a:lstStyle/>
                    <a:p>
                      <a:pPr algn="ctr">
                        <a:buNone/>
                      </a:pPr>
                      <a:r>
                        <a:rPr lang="zh-CN" sz="1400" kern="100" dirty="0">
                          <a:solidFill>
                            <a:srgbClr val="FFFFFF"/>
                          </a:solidFill>
                          <a:effectLst/>
                          <a:latin typeface="Times New Roman" panose="02020603050405020304" pitchFamily="18" charset="0"/>
                          <a:ea typeface="微软雅黑" panose="020B0503020204020204" pitchFamily="34" charset="-122"/>
                        </a:rPr>
                        <a:t>序号</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dirty="0">
                          <a:solidFill>
                            <a:srgbClr val="FFFFFF"/>
                          </a:solidFill>
                          <a:effectLst/>
                          <a:latin typeface="Times New Roman" panose="02020603050405020304" pitchFamily="18" charset="0"/>
                          <a:ea typeface="微软雅黑" panose="020B0503020204020204" pitchFamily="34" charset="-122"/>
                        </a:rPr>
                        <a:t>事故</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a:solidFill>
                            <a:srgbClr val="FFFFFF"/>
                          </a:solidFill>
                          <a:effectLst/>
                          <a:latin typeface="Times New Roman" panose="02020603050405020304" pitchFamily="18" charset="0"/>
                          <a:ea typeface="微软雅黑" panose="020B0503020204020204" pitchFamily="34" charset="-122"/>
                          <a:cs typeface="微软雅黑" panose="020B0503020204020204" pitchFamily="34" charset="-122"/>
                        </a:rPr>
                        <a:t>伤亡人数</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tc>
                  <a:txBody>
                    <a:bodyPr/>
                    <a:lstStyle/>
                    <a:p>
                      <a:pPr algn="ctr">
                        <a:buNone/>
                      </a:pPr>
                      <a:r>
                        <a:rPr lang="zh-CN" sz="1400" kern="100" dirty="0">
                          <a:solidFill>
                            <a:srgbClr val="FFFFFF"/>
                          </a:solidFill>
                          <a:effectLst/>
                          <a:latin typeface="Times New Roman" panose="02020603050405020304" pitchFamily="18" charset="0"/>
                          <a:ea typeface="微软雅黑" panose="020B0503020204020204" pitchFamily="34" charset="-122"/>
                        </a:rPr>
                        <a:t>事故级别</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504D"/>
                    </a:solidFill>
                  </a:tcPr>
                </a:tc>
                <a:extLst>
                  <a:ext uri="{0D108BD9-81ED-4DB2-BD59-A6C34878D82A}">
                    <a16:rowId xmlns:a16="http://schemas.microsoft.com/office/drawing/2014/main" val="10000"/>
                  </a:ext>
                </a:extLst>
              </a:tr>
              <a:tr h="330088">
                <a:tc>
                  <a:txBody>
                    <a:bodyPr/>
                    <a:lstStyle/>
                    <a:p>
                      <a:pPr algn="ctr">
                        <a:buNone/>
                      </a:pPr>
                      <a:r>
                        <a:rPr lang="en-US" sz="1050" kern="100" dirty="0">
                          <a:effectLst/>
                          <a:latin typeface="Times New Roman" panose="02020603050405020304" pitchFamily="18" charset="0"/>
                          <a:ea typeface="宋体" panose="02010600030101010101" pitchFamily="2" charset="-122"/>
                        </a:rPr>
                        <a:t>1</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内蒙古赤市得丰焦化有限公司</a:t>
                      </a:r>
                      <a:r>
                        <a:rPr lang="en-US" sz="1050" kern="100" dirty="0">
                          <a:effectLst/>
                          <a:latin typeface="Times New Roman" panose="02020603050405020304" pitchFamily="18" charset="0"/>
                          <a:ea typeface="宋体" panose="02010600030101010101" pitchFamily="2" charset="-122"/>
                        </a:rPr>
                        <a:t>“1·19”</a:t>
                      </a:r>
                      <a:r>
                        <a:rPr lang="zh-CN" sz="1050" kern="100" dirty="0">
                          <a:effectLst/>
                          <a:latin typeface="Times New Roman" panose="02020603050405020304" pitchFamily="18" charset="0"/>
                          <a:ea typeface="宋体" panose="02010600030101010101" pitchFamily="2" charset="-122"/>
                        </a:rPr>
                        <a:t>较大爆炸事故</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dirty="0">
                          <a:effectLst/>
                          <a:latin typeface="Times New Roman" panose="02020603050405020304" pitchFamily="18" charset="0"/>
                          <a:ea typeface="宋体" panose="02010600030101010101" pitchFamily="2" charset="-122"/>
                        </a:rPr>
                        <a:t>3</a:t>
                      </a:r>
                      <a:r>
                        <a:rPr lang="zh-CN" sz="1050" kern="100" dirty="0">
                          <a:effectLst/>
                          <a:latin typeface="Times New Roman" panose="02020603050405020304" pitchFamily="18" charset="0"/>
                          <a:ea typeface="宋体" panose="02010600030101010101" pitchFamily="2" charset="-122"/>
                        </a:rPr>
                        <a:t>人死亡</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2</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四川西艾氟科技有限公司</a:t>
                      </a:r>
                      <a:r>
                        <a:rPr lang="en-US" sz="1050" kern="100">
                          <a:effectLst/>
                          <a:latin typeface="Times New Roman" panose="02020603050405020304" pitchFamily="18" charset="0"/>
                          <a:ea typeface="宋体" panose="02010600030101010101" pitchFamily="2" charset="-122"/>
                        </a:rPr>
                        <a:t>“5·3”</a:t>
                      </a:r>
                      <a:r>
                        <a:rPr lang="zh-CN" sz="1050" kern="100">
                          <a:effectLst/>
                          <a:latin typeface="Times New Roman" panose="02020603050405020304" pitchFamily="18" charset="0"/>
                          <a:ea typeface="宋体" panose="02010600030101010101" pitchFamily="2" charset="-122"/>
                        </a:rPr>
                        <a:t>较大爆炸事故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3</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湖北雪飞化工有限公司</a:t>
                      </a:r>
                      <a:r>
                        <a:rPr lang="en-US" sz="1050" kern="100" dirty="0">
                          <a:effectLst/>
                          <a:latin typeface="Times New Roman" panose="02020603050405020304" pitchFamily="18" charset="0"/>
                          <a:ea typeface="宋体" panose="02010600030101010101" pitchFamily="2" charset="-122"/>
                        </a:rPr>
                        <a:t>“5·9”</a:t>
                      </a:r>
                      <a:r>
                        <a:rPr lang="zh-CN" sz="1050" kern="100" dirty="0">
                          <a:effectLst/>
                          <a:latin typeface="Times New Roman" panose="02020603050405020304" pitchFamily="18" charset="0"/>
                          <a:ea typeface="宋体" panose="02010600030101010101" pitchFamily="2" charset="-122"/>
                        </a:rPr>
                        <a:t>较大爆炸事故</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330088">
                <a:tc>
                  <a:txBody>
                    <a:bodyPr/>
                    <a:lstStyle/>
                    <a:p>
                      <a:pPr algn="ctr">
                        <a:buNone/>
                      </a:pPr>
                      <a:r>
                        <a:rPr lang="en-US" sz="1050" kern="100" dirty="0">
                          <a:effectLst/>
                          <a:latin typeface="Times New Roman" panose="02020603050405020304" pitchFamily="18" charset="0"/>
                          <a:ea typeface="宋体" panose="02010600030101010101" pitchFamily="2" charset="-122"/>
                        </a:rPr>
                        <a:t>4</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甘肃宏汇能源化工有限公司</a:t>
                      </a:r>
                      <a:r>
                        <a:rPr lang="en-US" sz="1050" kern="100">
                          <a:effectLst/>
                          <a:latin typeface="Times New Roman" panose="02020603050405020304" pitchFamily="18" charset="0"/>
                          <a:ea typeface="宋体" panose="02010600030101010101" pitchFamily="2" charset="-122"/>
                        </a:rPr>
                        <a:t>“6·11”</a:t>
                      </a:r>
                      <a:r>
                        <a:rPr lang="zh-CN" sz="1050" kern="100">
                          <a:effectLst/>
                          <a:latin typeface="Times New Roman" panose="02020603050405020304" pitchFamily="18" charset="0"/>
                          <a:ea typeface="宋体" panose="02010600030101010101" pitchFamily="2" charset="-122"/>
                        </a:rPr>
                        <a:t>较大中毒窒息事故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3</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5</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安徽滁州市来安县非法生产窝点</a:t>
                      </a:r>
                      <a:r>
                        <a:rPr lang="en-US" sz="1050" kern="100">
                          <a:effectLst/>
                          <a:latin typeface="Times New Roman" panose="02020603050405020304" pitchFamily="18" charset="0"/>
                          <a:ea typeface="宋体" panose="02010600030101010101" pitchFamily="2" charset="-122"/>
                        </a:rPr>
                        <a:t>“6·29”</a:t>
                      </a:r>
                      <a:r>
                        <a:rPr lang="zh-CN" sz="1050" kern="100">
                          <a:effectLst/>
                          <a:latin typeface="Times New Roman" panose="02020603050405020304" pitchFamily="18" charset="0"/>
                          <a:ea typeface="宋体" panose="02010600030101010101" pitchFamily="2" charset="-122"/>
                        </a:rPr>
                        <a:t>较大爆燃事故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6</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内蒙古乌兰泰安能源化工有限责任公司</a:t>
                      </a:r>
                      <a:r>
                        <a:rPr lang="en-US" sz="1050" kern="100">
                          <a:effectLst/>
                          <a:latin typeface="Times New Roman" panose="02020603050405020304" pitchFamily="18" charset="0"/>
                          <a:ea typeface="宋体" panose="02010600030101010101" pitchFamily="2" charset="-122"/>
                        </a:rPr>
                        <a:t>“4·19”</a:t>
                      </a:r>
                      <a:r>
                        <a:rPr lang="zh-CN" sz="1050" kern="100">
                          <a:effectLst/>
                          <a:latin typeface="Times New Roman" panose="02020603050405020304" pitchFamily="18" charset="0"/>
                          <a:ea typeface="宋体" panose="02010600030101010101" pitchFamily="2" charset="-122"/>
                        </a:rPr>
                        <a:t>较大中毒事故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r>
                        <a:rPr lang="en-US" sz="1050" kern="100">
                          <a:effectLst/>
                          <a:latin typeface="Times New Roman" panose="02020603050405020304" pitchFamily="18" charset="0"/>
                          <a:ea typeface="宋体" panose="02010600030101010101" pitchFamily="2" charset="-122"/>
                        </a:rPr>
                        <a:t>1</a:t>
                      </a:r>
                      <a:r>
                        <a:rPr lang="zh-CN" sz="1050" kern="100">
                          <a:effectLst/>
                          <a:latin typeface="Times New Roman" panose="02020603050405020304" pitchFamily="18" charset="0"/>
                          <a:ea typeface="宋体" panose="02010600030101010101" pitchFamily="2" charset="-122"/>
                        </a:rPr>
                        <a:t>人受伤</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较大</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7</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厦门金达威维生素有限公司</a:t>
                      </a:r>
                      <a:r>
                        <a:rPr lang="en-US" sz="1050" kern="100">
                          <a:effectLst/>
                          <a:latin typeface="Times New Roman" panose="02020603050405020304" pitchFamily="18" charset="0"/>
                          <a:ea typeface="宋体" panose="02010600030101010101" pitchFamily="2" charset="-122"/>
                        </a:rPr>
                        <a:t>“1·11”</a:t>
                      </a:r>
                      <a:r>
                        <a:rPr lang="zh-CN" sz="1050" kern="100">
                          <a:effectLst/>
                          <a:latin typeface="Times New Roman" panose="02020603050405020304" pitchFamily="18" charset="0"/>
                          <a:ea typeface="宋体" panose="02010600030101010101" pitchFamily="2" charset="-122"/>
                        </a:rPr>
                        <a:t>较大闪爆事故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4</a:t>
                      </a:r>
                      <a:r>
                        <a:rPr lang="zh-CN" sz="1050" kern="100">
                          <a:effectLst/>
                          <a:latin typeface="Times New Roman" panose="02020603050405020304" pitchFamily="18" charset="0"/>
                          <a:ea typeface="宋体" panose="02010600030101010101" pitchFamily="2" charset="-122"/>
                        </a:rPr>
                        <a:t>人死亡，</a:t>
                      </a:r>
                      <a:r>
                        <a:rPr lang="en-US" sz="1050" kern="100">
                          <a:effectLst/>
                          <a:latin typeface="Times New Roman" panose="02020603050405020304" pitchFamily="18" charset="0"/>
                          <a:ea typeface="宋体" panose="02010600030101010101" pitchFamily="2" charset="-122"/>
                        </a:rPr>
                        <a:t>6</a:t>
                      </a:r>
                      <a:r>
                        <a:rPr lang="zh-CN" sz="1050" kern="100">
                          <a:effectLst/>
                          <a:latin typeface="Times New Roman" panose="02020603050405020304" pitchFamily="18" charset="0"/>
                          <a:ea typeface="宋体" panose="02010600030101010101" pitchFamily="2" charset="-122"/>
                        </a:rPr>
                        <a:t>人受伤</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较大</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330088">
                <a:tc>
                  <a:txBody>
                    <a:bodyPr/>
                    <a:lstStyle/>
                    <a:p>
                      <a:pPr algn="ctr">
                        <a:buNone/>
                      </a:pPr>
                      <a:r>
                        <a:rPr lang="en-US" sz="1050" kern="100">
                          <a:effectLst/>
                          <a:latin typeface="Times New Roman" panose="02020603050405020304" pitchFamily="18" charset="0"/>
                          <a:ea typeface="宋体" panose="02010600030101010101" pitchFamily="2" charset="-122"/>
                        </a:rPr>
                        <a:t>8</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a:effectLst/>
                          <a:latin typeface="Times New Roman" panose="02020603050405020304" pitchFamily="18" charset="0"/>
                          <a:ea typeface="宋体" panose="02010600030101010101" pitchFamily="2" charset="-122"/>
                        </a:rPr>
                        <a:t>陕西神木市德润碳质还原剂有限公司</a:t>
                      </a:r>
                      <a:r>
                        <a:rPr lang="en-US" sz="1050" kern="100">
                          <a:effectLst/>
                          <a:latin typeface="Times New Roman" panose="02020603050405020304" pitchFamily="18" charset="0"/>
                          <a:ea typeface="宋体" panose="02010600030101010101" pitchFamily="2" charset="-122"/>
                        </a:rPr>
                        <a:t>“11·20”</a:t>
                      </a:r>
                      <a:r>
                        <a:rPr lang="zh-CN" sz="1050" kern="100">
                          <a:effectLst/>
                          <a:latin typeface="Times New Roman" panose="02020603050405020304" pitchFamily="18" charset="0"/>
                          <a:ea typeface="宋体" panose="02010600030101010101" pitchFamily="2" charset="-122"/>
                        </a:rPr>
                        <a:t>较大爆炸事故</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1050" kern="100">
                          <a:effectLst/>
                          <a:latin typeface="Times New Roman" panose="02020603050405020304" pitchFamily="18" charset="0"/>
                          <a:ea typeface="宋体" panose="02010600030101010101" pitchFamily="2" charset="-122"/>
                        </a:rPr>
                        <a:t>5</a:t>
                      </a:r>
                      <a:r>
                        <a:rPr lang="zh-CN" sz="1050" kern="100">
                          <a:effectLst/>
                          <a:latin typeface="Times New Roman" panose="02020603050405020304" pitchFamily="18" charset="0"/>
                          <a:ea typeface="宋体" panose="02010600030101010101" pitchFamily="2" charset="-122"/>
                        </a:rPr>
                        <a:t>人死亡</a:t>
                      </a:r>
                      <a:endParaRPr lang="zh-CN" sz="12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zh-CN" sz="1050" kern="100" dirty="0">
                          <a:effectLst/>
                          <a:latin typeface="Times New Roman" panose="02020603050405020304" pitchFamily="18" charset="0"/>
                          <a:ea typeface="宋体" panose="02010600030101010101" pitchFamily="2" charset="-122"/>
                        </a:rPr>
                        <a:t>较大</a:t>
                      </a:r>
                      <a:endParaRPr lang="zh-CN" sz="12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89F03-8AC4-3923-3509-813763005673}"/>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49F79858-B8F1-ADEF-9983-3135B637B896}"/>
              </a:ext>
            </a:extLst>
          </p:cNvPr>
          <p:cNvSpPr/>
          <p:nvPr/>
        </p:nvSpPr>
        <p:spPr>
          <a:xfrm>
            <a:off x="318770" y="798195"/>
            <a:ext cx="11394440"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519F06C-AF70-837F-7AEE-2EAD430A3466}"/>
              </a:ext>
            </a:extLst>
          </p:cNvPr>
          <p:cNvSpPr txBox="1"/>
          <p:nvPr/>
        </p:nvSpPr>
        <p:spPr>
          <a:xfrm>
            <a:off x="31877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社会现状与需求</a:t>
            </a:r>
          </a:p>
        </p:txBody>
      </p:sp>
      <p:pic>
        <p:nvPicPr>
          <p:cNvPr id="9" name="图片 8" descr="76b499643fee34819cb883d90f0351cf">
            <a:extLst>
              <a:ext uri="{FF2B5EF4-FFF2-40B4-BE49-F238E27FC236}">
                <a16:creationId xmlns:a16="http://schemas.microsoft.com/office/drawing/2014/main" id="{E7F2E063-A640-24D6-F9CF-77433D9E5758}"/>
              </a:ext>
            </a:extLst>
          </p:cNvPr>
          <p:cNvPicPr>
            <a:picLocks noChangeAspect="1"/>
          </p:cNvPicPr>
          <p:nvPr/>
        </p:nvPicPr>
        <p:blipFill>
          <a:blip r:embed="rId2"/>
          <a:stretch>
            <a:fillRect/>
          </a:stretch>
        </p:blipFill>
        <p:spPr>
          <a:xfrm>
            <a:off x="10965180" y="0"/>
            <a:ext cx="748030" cy="748030"/>
          </a:xfrm>
          <a:prstGeom prst="rect">
            <a:avLst/>
          </a:prstGeom>
        </p:spPr>
      </p:pic>
      <p:grpSp>
        <p:nvGrpSpPr>
          <p:cNvPr id="5" name="Google Shape;85;p13">
            <a:extLst>
              <a:ext uri="{FF2B5EF4-FFF2-40B4-BE49-F238E27FC236}">
                <a16:creationId xmlns:a16="http://schemas.microsoft.com/office/drawing/2014/main" id="{F72892AD-4A96-E735-F7AE-C5860C40C203}"/>
              </a:ext>
            </a:extLst>
          </p:cNvPr>
          <p:cNvGrpSpPr/>
          <p:nvPr/>
        </p:nvGrpSpPr>
        <p:grpSpPr>
          <a:xfrm>
            <a:off x="571500" y="1190625"/>
            <a:ext cx="11049075" cy="392364"/>
            <a:chOff x="571500" y="1190625"/>
            <a:chExt cx="11049075" cy="392364"/>
          </a:xfrm>
        </p:grpSpPr>
        <p:sp>
          <p:nvSpPr>
            <p:cNvPr id="27" name="Google Shape;86;p13">
              <a:extLst>
                <a:ext uri="{FF2B5EF4-FFF2-40B4-BE49-F238E27FC236}">
                  <a16:creationId xmlns:a16="http://schemas.microsoft.com/office/drawing/2014/main" id="{C741EB23-1AC6-14A6-08D2-3B49C418BFD3}"/>
                </a:ext>
              </a:extLst>
            </p:cNvPr>
            <p:cNvSpPr/>
            <p:nvPr/>
          </p:nvSpPr>
          <p:spPr>
            <a:xfrm>
              <a:off x="571500" y="1190625"/>
              <a:ext cx="5381700" cy="381000"/>
            </a:xfrm>
            <a:prstGeom prst="roundRect">
              <a:avLst>
                <a:gd name="adj" fmla="val 10000"/>
              </a:avLst>
            </a:prstGeom>
            <a:solidFill>
              <a:srgbClr val="FEE2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 name="Google Shape;87;p13">
              <a:extLst>
                <a:ext uri="{FF2B5EF4-FFF2-40B4-BE49-F238E27FC236}">
                  <a16:creationId xmlns:a16="http://schemas.microsoft.com/office/drawing/2014/main" id="{39DDE15D-33A6-5C46-F24D-66178273A7FE}"/>
                </a:ext>
              </a:extLst>
            </p:cNvPr>
            <p:cNvSpPr txBox="1"/>
            <p:nvPr/>
          </p:nvSpPr>
          <p:spPr>
            <a:xfrm>
              <a:off x="2050723" y="1201989"/>
              <a:ext cx="2413504"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dirty="0" err="1">
                  <a:solidFill>
                    <a:srgbClr val="B91C1C"/>
                  </a:solidFill>
                  <a:latin typeface="Noto Sans SC"/>
                  <a:ea typeface="Noto Sans SC"/>
                  <a:cs typeface="Noto Sans SC"/>
                  <a:sym typeface="Noto Sans SC"/>
                </a:rPr>
                <a:t>行业痛点</a:t>
              </a:r>
              <a:r>
                <a:rPr lang="en-US" sz="2000" b="1" dirty="0">
                  <a:solidFill>
                    <a:srgbClr val="B91C1C"/>
                  </a:solidFill>
                  <a:latin typeface="Noto Sans SC"/>
                  <a:ea typeface="Noto Sans SC"/>
                  <a:cs typeface="Noto Sans SC"/>
                  <a:sym typeface="Noto Sans SC"/>
                </a:rPr>
                <a:t> · </a:t>
              </a:r>
              <a:r>
                <a:rPr lang="en-US" sz="2000" b="1" dirty="0" err="1">
                  <a:solidFill>
                    <a:srgbClr val="B91C1C"/>
                  </a:solidFill>
                  <a:latin typeface="Noto Sans SC"/>
                  <a:ea typeface="Noto Sans SC"/>
                  <a:cs typeface="Noto Sans SC"/>
                  <a:sym typeface="Noto Sans SC"/>
                </a:rPr>
                <a:t>现实危机</a:t>
              </a:r>
              <a:endParaRPr sz="2000" b="1" dirty="0">
                <a:solidFill>
                  <a:srgbClr val="B91C1C"/>
                </a:solidFill>
                <a:latin typeface="Noto Sans SC"/>
                <a:ea typeface="Noto Sans SC"/>
                <a:cs typeface="Noto Sans SC"/>
                <a:sym typeface="Noto Sans SC"/>
              </a:endParaRPr>
            </a:p>
          </p:txBody>
        </p:sp>
        <p:sp>
          <p:nvSpPr>
            <p:cNvPr id="29" name="Google Shape;88;p13">
              <a:extLst>
                <a:ext uri="{FF2B5EF4-FFF2-40B4-BE49-F238E27FC236}">
                  <a16:creationId xmlns:a16="http://schemas.microsoft.com/office/drawing/2014/main" id="{2C4A1736-EEC3-9858-3B02-B54C33D6F722}"/>
                </a:ext>
              </a:extLst>
            </p:cNvPr>
            <p:cNvSpPr/>
            <p:nvPr/>
          </p:nvSpPr>
          <p:spPr>
            <a:xfrm>
              <a:off x="6238875" y="1190625"/>
              <a:ext cx="5381700" cy="381000"/>
            </a:xfrm>
            <a:prstGeom prst="roundRect">
              <a:avLst>
                <a:gd name="adj" fmla="val 10000"/>
              </a:avLst>
            </a:prstGeom>
            <a:solidFill>
              <a:srgbClr val="DBEA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 name="Google Shape;89;p13">
              <a:extLst>
                <a:ext uri="{FF2B5EF4-FFF2-40B4-BE49-F238E27FC236}">
                  <a16:creationId xmlns:a16="http://schemas.microsoft.com/office/drawing/2014/main" id="{FA4A1078-C9A7-D85D-C80D-046892727632}"/>
                </a:ext>
              </a:extLst>
            </p:cNvPr>
            <p:cNvSpPr txBox="1"/>
            <p:nvPr/>
          </p:nvSpPr>
          <p:spPr>
            <a:xfrm>
              <a:off x="7569344" y="1201989"/>
              <a:ext cx="2749638"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dirty="0" err="1">
                  <a:solidFill>
                    <a:srgbClr val="1E40AF"/>
                  </a:solidFill>
                  <a:latin typeface="Noto Sans SC"/>
                  <a:ea typeface="Noto Sans SC"/>
                  <a:cs typeface="Noto Sans SC"/>
                  <a:sym typeface="Noto Sans SC"/>
                </a:rPr>
                <a:t>智能化需求</a:t>
              </a:r>
              <a:r>
                <a:rPr lang="en-US" sz="2000" b="1" dirty="0">
                  <a:solidFill>
                    <a:srgbClr val="1E40AF"/>
                  </a:solidFill>
                  <a:latin typeface="Noto Sans SC"/>
                  <a:ea typeface="Noto Sans SC"/>
                  <a:cs typeface="Noto Sans SC"/>
                  <a:sym typeface="Noto Sans SC"/>
                </a:rPr>
                <a:t> · </a:t>
              </a:r>
              <a:r>
                <a:rPr lang="en-US" sz="2000" b="1" dirty="0" err="1">
                  <a:solidFill>
                    <a:srgbClr val="1E40AF"/>
                  </a:solidFill>
                  <a:latin typeface="Noto Sans SC"/>
                  <a:ea typeface="Noto Sans SC"/>
                  <a:cs typeface="Noto Sans SC"/>
                  <a:sym typeface="Noto Sans SC"/>
                </a:rPr>
                <a:t>技术图景</a:t>
              </a:r>
              <a:endParaRPr sz="2000" b="1" dirty="0">
                <a:solidFill>
                  <a:srgbClr val="1E40AF"/>
                </a:solidFill>
                <a:latin typeface="Noto Sans SC"/>
                <a:ea typeface="Noto Sans SC"/>
                <a:cs typeface="Noto Sans SC"/>
                <a:sym typeface="Noto Sans SC"/>
              </a:endParaRPr>
            </a:p>
          </p:txBody>
        </p:sp>
      </p:grpSp>
      <p:grpSp>
        <p:nvGrpSpPr>
          <p:cNvPr id="6" name="Google Shape;90;p13">
            <a:extLst>
              <a:ext uri="{FF2B5EF4-FFF2-40B4-BE49-F238E27FC236}">
                <a16:creationId xmlns:a16="http://schemas.microsoft.com/office/drawing/2014/main" id="{9F940D15-7663-46DF-2264-4356C4982E35}"/>
              </a:ext>
            </a:extLst>
          </p:cNvPr>
          <p:cNvGrpSpPr/>
          <p:nvPr/>
        </p:nvGrpSpPr>
        <p:grpSpPr>
          <a:xfrm>
            <a:off x="571500" y="1714500"/>
            <a:ext cx="11049075" cy="1714500"/>
            <a:chOff x="571500" y="1714500"/>
            <a:chExt cx="11049075" cy="1714500"/>
          </a:xfrm>
        </p:grpSpPr>
        <p:sp>
          <p:nvSpPr>
            <p:cNvPr id="23" name="Google Shape;91;p13">
              <a:extLst>
                <a:ext uri="{FF2B5EF4-FFF2-40B4-BE49-F238E27FC236}">
                  <a16:creationId xmlns:a16="http://schemas.microsoft.com/office/drawing/2014/main" id="{091632C5-5441-DFCF-D47F-D07F40BE2A97}"/>
                </a:ext>
              </a:extLst>
            </p:cNvPr>
            <p:cNvSpPr/>
            <p:nvPr/>
          </p:nvSpPr>
          <p:spPr>
            <a:xfrm>
              <a:off x="571500" y="1714500"/>
              <a:ext cx="5381700" cy="1714500"/>
            </a:xfrm>
            <a:prstGeom prst="roundRect">
              <a:avLst>
                <a:gd name="adj" fmla="val 6666"/>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 name="Google Shape;92;p13">
              <a:extLst>
                <a:ext uri="{FF2B5EF4-FFF2-40B4-BE49-F238E27FC236}">
                  <a16:creationId xmlns:a16="http://schemas.microsoft.com/office/drawing/2014/main" id="{2EED1313-E2BD-F31D-8191-923DA65B8351}"/>
                </a:ext>
              </a:extLst>
            </p:cNvPr>
            <p:cNvSpPr txBox="1"/>
            <p:nvPr/>
          </p:nvSpPr>
          <p:spPr>
            <a:xfrm>
              <a:off x="571500" y="1714500"/>
              <a:ext cx="5381700" cy="1714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dirty="0">
                  <a:solidFill>
                    <a:srgbClr val="64748B"/>
                  </a:solidFill>
                  <a:latin typeface="Noto Sans SC"/>
                  <a:ea typeface="Noto Sans SC"/>
                  <a:cs typeface="Noto Sans SC"/>
                  <a:sym typeface="Noto Sans SC"/>
                </a:rPr>
                <a:t>[ </a:t>
              </a:r>
              <a:r>
                <a:rPr lang="en-US" sz="1400" dirty="0" err="1">
                  <a:solidFill>
                    <a:srgbClr val="64748B"/>
                  </a:solidFill>
                  <a:latin typeface="Noto Sans SC"/>
                  <a:ea typeface="Noto Sans SC"/>
                  <a:cs typeface="Noto Sans SC"/>
                  <a:sym typeface="Noto Sans SC"/>
                </a:rPr>
                <a:t>此处插入行业痛点相关图片</a:t>
              </a:r>
              <a:r>
                <a:rPr lang="en-US" sz="1400" dirty="0">
                  <a:solidFill>
                    <a:srgbClr val="64748B"/>
                  </a:solidFill>
                  <a:latin typeface="Noto Sans SC"/>
                  <a:ea typeface="Noto Sans SC"/>
                  <a:cs typeface="Noto Sans SC"/>
                  <a:sym typeface="Noto Sans SC"/>
                </a:rPr>
                <a:t> ]</a:t>
              </a:r>
              <a:endParaRPr sz="1400" dirty="0">
                <a:solidFill>
                  <a:srgbClr val="64748B"/>
                </a:solidFill>
                <a:latin typeface="Noto Sans SC"/>
                <a:ea typeface="Noto Sans SC"/>
                <a:cs typeface="Noto Sans SC"/>
                <a:sym typeface="Noto Sans SC"/>
              </a:endParaRPr>
            </a:p>
          </p:txBody>
        </p:sp>
        <p:sp>
          <p:nvSpPr>
            <p:cNvPr id="25" name="Google Shape;93;p13">
              <a:extLst>
                <a:ext uri="{FF2B5EF4-FFF2-40B4-BE49-F238E27FC236}">
                  <a16:creationId xmlns:a16="http://schemas.microsoft.com/office/drawing/2014/main" id="{7FDE616C-6846-D10C-6223-1F5B22D42AFC}"/>
                </a:ext>
              </a:extLst>
            </p:cNvPr>
            <p:cNvSpPr/>
            <p:nvPr/>
          </p:nvSpPr>
          <p:spPr>
            <a:xfrm>
              <a:off x="6238875" y="1714500"/>
              <a:ext cx="5381700" cy="1714500"/>
            </a:xfrm>
            <a:prstGeom prst="roundRect">
              <a:avLst>
                <a:gd name="adj" fmla="val 6666"/>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 name="Google Shape;94;p13">
              <a:extLst>
                <a:ext uri="{FF2B5EF4-FFF2-40B4-BE49-F238E27FC236}">
                  <a16:creationId xmlns:a16="http://schemas.microsoft.com/office/drawing/2014/main" id="{709BB289-54D0-A3AB-7E96-4ACEEBFEDF42}"/>
                </a:ext>
              </a:extLst>
            </p:cNvPr>
            <p:cNvSpPr txBox="1"/>
            <p:nvPr/>
          </p:nvSpPr>
          <p:spPr>
            <a:xfrm>
              <a:off x="6238875" y="1714500"/>
              <a:ext cx="5381700" cy="1714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dirty="0">
                  <a:solidFill>
                    <a:srgbClr val="64748B"/>
                  </a:solidFill>
                  <a:latin typeface="Noto Sans SC"/>
                  <a:ea typeface="Noto Sans SC"/>
                  <a:cs typeface="Noto Sans SC"/>
                  <a:sym typeface="Noto Sans SC"/>
                </a:rPr>
                <a:t>[ </a:t>
              </a:r>
              <a:r>
                <a:rPr lang="en-US" sz="1400" dirty="0" err="1">
                  <a:solidFill>
                    <a:srgbClr val="64748B"/>
                  </a:solidFill>
                  <a:latin typeface="Noto Sans SC"/>
                  <a:ea typeface="Noto Sans SC"/>
                  <a:cs typeface="Noto Sans SC"/>
                  <a:sym typeface="Noto Sans SC"/>
                </a:rPr>
                <a:t>此处插入智能化解决方案图片</a:t>
              </a:r>
              <a:r>
                <a:rPr lang="en-US" sz="1400" dirty="0">
                  <a:solidFill>
                    <a:srgbClr val="64748B"/>
                  </a:solidFill>
                  <a:latin typeface="Noto Sans SC"/>
                  <a:ea typeface="Noto Sans SC"/>
                  <a:cs typeface="Noto Sans SC"/>
                  <a:sym typeface="Noto Sans SC"/>
                </a:rPr>
                <a:t> ]</a:t>
              </a:r>
              <a:endParaRPr sz="1400" dirty="0">
                <a:solidFill>
                  <a:srgbClr val="64748B"/>
                </a:solidFill>
                <a:latin typeface="Noto Sans SC"/>
                <a:ea typeface="Noto Sans SC"/>
                <a:cs typeface="Noto Sans SC"/>
                <a:sym typeface="Noto Sans SC"/>
              </a:endParaRPr>
            </a:p>
          </p:txBody>
        </p:sp>
      </p:grpSp>
      <p:sp>
        <p:nvSpPr>
          <p:cNvPr id="7" name="Google Shape;95;p13">
            <a:extLst>
              <a:ext uri="{FF2B5EF4-FFF2-40B4-BE49-F238E27FC236}">
                <a16:creationId xmlns:a16="http://schemas.microsoft.com/office/drawing/2014/main" id="{827A18CF-B6F4-4104-9761-67BBDF0B7F76}"/>
              </a:ext>
            </a:extLst>
          </p:cNvPr>
          <p:cNvSpPr txBox="1"/>
          <p:nvPr/>
        </p:nvSpPr>
        <p:spPr>
          <a:xfrm>
            <a:off x="571500" y="3619500"/>
            <a:ext cx="5381700" cy="5925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a:solidFill>
                  <a:srgbClr val="B91C1C"/>
                </a:solidFill>
                <a:latin typeface="Noto Sans SC"/>
                <a:ea typeface="Noto Sans SC"/>
                <a:cs typeface="Noto Sans SC"/>
                <a:sym typeface="Noto Sans SC"/>
              </a:rPr>
              <a:t>全天候覆盖缺位</a:t>
            </a:r>
            <a:endParaRPr sz="1400" b="1">
              <a:solidFill>
                <a:srgbClr val="B91C1C"/>
              </a:solidFill>
              <a:latin typeface="Noto Sans SC"/>
              <a:ea typeface="Noto Sans SC"/>
              <a:cs typeface="Noto Sans SC"/>
              <a:sym typeface="Noto Sans SC"/>
            </a:endParaRPr>
          </a:p>
          <a:p>
            <a:pPr marL="0" lvl="0" indent="0" algn="l" rtl="0">
              <a:spcBef>
                <a:spcPts val="300"/>
              </a:spcBef>
              <a:spcAft>
                <a:spcPts val="0"/>
              </a:spcAft>
              <a:buNone/>
            </a:pPr>
            <a:r>
              <a:rPr lang="en-US" sz="1100" b="0">
                <a:solidFill>
                  <a:srgbClr val="475569"/>
                </a:solidFill>
                <a:latin typeface="Noto Sans SC"/>
                <a:ea typeface="Noto Sans SC"/>
                <a:cs typeface="Noto Sans SC"/>
                <a:sym typeface="Noto Sans SC"/>
              </a:rPr>
              <a:t>人工巡检受限于生理周期，无法维持 24h 高频次监控。疲劳导致隐患漏检率在夜间显著提升。</a:t>
            </a:r>
            <a:endParaRPr sz="1100" b="0">
              <a:solidFill>
                <a:srgbClr val="475569"/>
              </a:solidFill>
              <a:latin typeface="Noto Sans SC"/>
              <a:ea typeface="Noto Sans SC"/>
              <a:cs typeface="Noto Sans SC"/>
              <a:sym typeface="Noto Sans SC"/>
            </a:endParaRPr>
          </a:p>
        </p:txBody>
      </p:sp>
      <p:sp>
        <p:nvSpPr>
          <p:cNvPr id="8" name="Google Shape;96;p13">
            <a:extLst>
              <a:ext uri="{FF2B5EF4-FFF2-40B4-BE49-F238E27FC236}">
                <a16:creationId xmlns:a16="http://schemas.microsoft.com/office/drawing/2014/main" id="{C3DF3E3A-F5A0-C65B-7BFF-38D8EBFF8272}"/>
              </a:ext>
            </a:extLst>
          </p:cNvPr>
          <p:cNvSpPr txBox="1"/>
          <p:nvPr/>
        </p:nvSpPr>
        <p:spPr>
          <a:xfrm>
            <a:off x="571500" y="4667250"/>
            <a:ext cx="5381700" cy="4233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a:solidFill>
                  <a:srgbClr val="B91C1C"/>
                </a:solidFill>
                <a:latin typeface="Noto Sans SC"/>
                <a:ea typeface="Noto Sans SC"/>
                <a:cs typeface="Noto Sans SC"/>
                <a:sym typeface="Noto Sans SC"/>
              </a:rPr>
              <a:t>恶劣环境安全风险</a:t>
            </a:r>
            <a:endParaRPr sz="1400" b="1">
              <a:solidFill>
                <a:srgbClr val="B91C1C"/>
              </a:solidFill>
              <a:latin typeface="Noto Sans SC"/>
              <a:ea typeface="Noto Sans SC"/>
              <a:cs typeface="Noto Sans SC"/>
              <a:sym typeface="Noto Sans SC"/>
            </a:endParaRPr>
          </a:p>
          <a:p>
            <a:pPr marL="0" lvl="0" indent="0" algn="l" rtl="0">
              <a:spcBef>
                <a:spcPts val="300"/>
              </a:spcBef>
              <a:spcAft>
                <a:spcPts val="0"/>
              </a:spcAft>
              <a:buNone/>
            </a:pPr>
            <a:r>
              <a:rPr lang="en-US" sz="1100" b="0">
                <a:solidFill>
                  <a:srgbClr val="475569"/>
                </a:solidFill>
                <a:latin typeface="Noto Sans SC"/>
                <a:ea typeface="Noto Sans SC"/>
                <a:cs typeface="Noto Sans SC"/>
                <a:sym typeface="Noto Sans SC"/>
              </a:rPr>
              <a:t>化工现场高温、高压威胁人身安全。人工进入高危区域风险大，事故响应受装备限制。</a:t>
            </a:r>
            <a:endParaRPr sz="1100" b="0">
              <a:solidFill>
                <a:srgbClr val="475569"/>
              </a:solidFill>
              <a:latin typeface="Noto Sans SC"/>
              <a:ea typeface="Noto Sans SC"/>
              <a:cs typeface="Noto Sans SC"/>
              <a:sym typeface="Noto Sans SC"/>
            </a:endParaRPr>
          </a:p>
        </p:txBody>
      </p:sp>
      <p:sp>
        <p:nvSpPr>
          <p:cNvPr id="10" name="Google Shape;97;p13">
            <a:extLst>
              <a:ext uri="{FF2B5EF4-FFF2-40B4-BE49-F238E27FC236}">
                <a16:creationId xmlns:a16="http://schemas.microsoft.com/office/drawing/2014/main" id="{7D6E18D1-3E24-F1B5-E46E-93FBDAA5D8CF}"/>
              </a:ext>
            </a:extLst>
          </p:cNvPr>
          <p:cNvSpPr txBox="1"/>
          <p:nvPr/>
        </p:nvSpPr>
        <p:spPr>
          <a:xfrm>
            <a:off x="571500" y="5715000"/>
            <a:ext cx="5381700" cy="4233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a:solidFill>
                  <a:srgbClr val="B91C1C"/>
                </a:solidFill>
                <a:latin typeface="Noto Sans SC"/>
                <a:ea typeface="Noto Sans SC"/>
                <a:cs typeface="Noto Sans SC"/>
                <a:sym typeface="Noto Sans SC"/>
              </a:rPr>
              <a:t>主观判断的经验偏差</a:t>
            </a:r>
            <a:endParaRPr sz="1400" b="1">
              <a:solidFill>
                <a:srgbClr val="B91C1C"/>
              </a:solidFill>
              <a:latin typeface="Noto Sans SC"/>
              <a:ea typeface="Noto Sans SC"/>
              <a:cs typeface="Noto Sans SC"/>
              <a:sym typeface="Noto Sans SC"/>
            </a:endParaRPr>
          </a:p>
          <a:p>
            <a:pPr marL="0" lvl="0" indent="0" algn="l" rtl="0">
              <a:spcBef>
                <a:spcPts val="300"/>
              </a:spcBef>
              <a:spcAft>
                <a:spcPts val="0"/>
              </a:spcAft>
              <a:buNone/>
            </a:pPr>
            <a:r>
              <a:rPr lang="en-US" sz="1100" b="0">
                <a:solidFill>
                  <a:srgbClr val="475569"/>
                </a:solidFill>
                <a:latin typeface="Noto Sans SC"/>
                <a:ea typeface="Noto Sans SC"/>
                <a:cs typeface="Noto Sans SC"/>
                <a:sym typeface="Noto Sans SC"/>
              </a:rPr>
              <a:t>结果高度依赖人员素质，非标准化严重。海量记录零散滞后，难以支持精准故障预判。</a:t>
            </a:r>
            <a:endParaRPr sz="1100" b="0">
              <a:solidFill>
                <a:srgbClr val="475569"/>
              </a:solidFill>
              <a:latin typeface="Noto Sans SC"/>
              <a:ea typeface="Noto Sans SC"/>
              <a:cs typeface="Noto Sans SC"/>
              <a:sym typeface="Noto Sans SC"/>
            </a:endParaRPr>
          </a:p>
        </p:txBody>
      </p:sp>
      <p:sp>
        <p:nvSpPr>
          <p:cNvPr id="11" name="Google Shape;98;p13">
            <a:extLst>
              <a:ext uri="{FF2B5EF4-FFF2-40B4-BE49-F238E27FC236}">
                <a16:creationId xmlns:a16="http://schemas.microsoft.com/office/drawing/2014/main" id="{5311DE14-DEBA-ECC7-B1DF-B20AA8200C04}"/>
              </a:ext>
            </a:extLst>
          </p:cNvPr>
          <p:cNvSpPr txBox="1"/>
          <p:nvPr/>
        </p:nvSpPr>
        <p:spPr>
          <a:xfrm>
            <a:off x="6238875" y="3619500"/>
            <a:ext cx="5381700" cy="5925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dirty="0" err="1">
                <a:solidFill>
                  <a:srgbClr val="1E40AF"/>
                </a:solidFill>
                <a:latin typeface="Noto Sans SC"/>
                <a:ea typeface="Noto Sans SC"/>
                <a:cs typeface="Noto Sans SC"/>
                <a:sym typeface="Noto Sans SC"/>
              </a:rPr>
              <a:t>无人化自主作业体系</a:t>
            </a:r>
            <a:endParaRPr sz="1400" b="1" dirty="0">
              <a:solidFill>
                <a:srgbClr val="1E40AF"/>
              </a:solidFill>
              <a:latin typeface="Noto Sans SC"/>
              <a:ea typeface="Noto Sans SC"/>
              <a:cs typeface="Noto Sans SC"/>
              <a:sym typeface="Noto Sans SC"/>
            </a:endParaRPr>
          </a:p>
          <a:p>
            <a:pPr marL="0" lvl="0" indent="0" algn="l" rtl="0">
              <a:spcBef>
                <a:spcPts val="300"/>
              </a:spcBef>
              <a:spcAft>
                <a:spcPts val="0"/>
              </a:spcAft>
              <a:buNone/>
            </a:pPr>
            <a:r>
              <a:rPr lang="en-US" sz="1100" b="0" dirty="0" err="1">
                <a:solidFill>
                  <a:srgbClr val="475569"/>
                </a:solidFill>
                <a:latin typeface="Noto Sans SC"/>
                <a:ea typeface="Noto Sans SC"/>
                <a:cs typeface="Noto Sans SC"/>
                <a:sym typeface="Noto Sans SC"/>
              </a:rPr>
              <a:t>替代人工进入“三高一有”环境。支持全自主导航与</a:t>
            </a:r>
            <a:r>
              <a:rPr lang="en-US" sz="1100" b="0" dirty="0">
                <a:solidFill>
                  <a:srgbClr val="475569"/>
                </a:solidFill>
                <a:latin typeface="Noto Sans SC"/>
                <a:ea typeface="Noto Sans SC"/>
                <a:cs typeface="Noto Sans SC"/>
                <a:sym typeface="Noto Sans SC"/>
              </a:rPr>
              <a:t> 7×24h </a:t>
            </a:r>
            <a:r>
              <a:rPr lang="en-US" sz="1100" b="0" dirty="0" err="1">
                <a:solidFill>
                  <a:srgbClr val="475569"/>
                </a:solidFill>
                <a:latin typeface="Noto Sans SC"/>
                <a:ea typeface="Noto Sans SC"/>
                <a:cs typeface="Noto Sans SC"/>
                <a:sym typeface="Noto Sans SC"/>
              </a:rPr>
              <a:t>连续作业，实现人机隔离</a:t>
            </a:r>
            <a:r>
              <a:rPr lang="en-US" sz="1100" b="0" dirty="0">
                <a:solidFill>
                  <a:srgbClr val="475569"/>
                </a:solidFill>
                <a:latin typeface="Noto Sans SC"/>
                <a:ea typeface="Noto Sans SC"/>
                <a:cs typeface="Noto Sans SC"/>
                <a:sym typeface="Noto Sans SC"/>
              </a:rPr>
              <a:t>。</a:t>
            </a:r>
            <a:endParaRPr sz="1100" b="0" dirty="0">
              <a:solidFill>
                <a:srgbClr val="475569"/>
              </a:solidFill>
              <a:latin typeface="Noto Sans SC"/>
              <a:ea typeface="Noto Sans SC"/>
              <a:cs typeface="Noto Sans SC"/>
              <a:sym typeface="Noto Sans SC"/>
            </a:endParaRPr>
          </a:p>
        </p:txBody>
      </p:sp>
      <p:sp>
        <p:nvSpPr>
          <p:cNvPr id="12" name="Google Shape;99;p13">
            <a:extLst>
              <a:ext uri="{FF2B5EF4-FFF2-40B4-BE49-F238E27FC236}">
                <a16:creationId xmlns:a16="http://schemas.microsoft.com/office/drawing/2014/main" id="{9375D581-AC00-6825-AC07-7DD25A57C3EE}"/>
              </a:ext>
            </a:extLst>
          </p:cNvPr>
          <p:cNvSpPr txBox="1"/>
          <p:nvPr/>
        </p:nvSpPr>
        <p:spPr>
          <a:xfrm>
            <a:off x="6238875" y="4667250"/>
            <a:ext cx="5381700" cy="5925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a:solidFill>
                  <a:srgbClr val="1E40AF"/>
                </a:solidFill>
                <a:latin typeface="Noto Sans SC"/>
                <a:ea typeface="Noto Sans SC"/>
                <a:cs typeface="Noto Sans SC"/>
                <a:sym typeface="Noto Sans SC"/>
              </a:rPr>
              <a:t>多模态感知与深度预警</a:t>
            </a:r>
            <a:endParaRPr sz="1400" b="1">
              <a:solidFill>
                <a:srgbClr val="1E40AF"/>
              </a:solidFill>
              <a:latin typeface="Noto Sans SC"/>
              <a:ea typeface="Noto Sans SC"/>
              <a:cs typeface="Noto Sans SC"/>
              <a:sym typeface="Noto Sans SC"/>
            </a:endParaRPr>
          </a:p>
          <a:p>
            <a:pPr marL="0" lvl="0" indent="0" algn="l" rtl="0">
              <a:spcBef>
                <a:spcPts val="300"/>
              </a:spcBef>
              <a:spcAft>
                <a:spcPts val="0"/>
              </a:spcAft>
              <a:buNone/>
            </a:pPr>
            <a:r>
              <a:rPr lang="en-US" sz="1100" b="0">
                <a:solidFill>
                  <a:srgbClr val="475569"/>
                </a:solidFill>
                <a:latin typeface="Noto Sans SC"/>
                <a:ea typeface="Noto Sans SC"/>
                <a:cs typeface="Noto Sans SC"/>
                <a:sym typeface="Noto Sans SC"/>
              </a:rPr>
              <a:t>融合视觉、声音与大模型，实现超越人眼的感知。毫秒级响应，化被动维护为主动预警。</a:t>
            </a:r>
            <a:endParaRPr sz="1100" b="0">
              <a:solidFill>
                <a:srgbClr val="475569"/>
              </a:solidFill>
              <a:latin typeface="Noto Sans SC"/>
              <a:ea typeface="Noto Sans SC"/>
              <a:cs typeface="Noto Sans SC"/>
              <a:sym typeface="Noto Sans SC"/>
            </a:endParaRPr>
          </a:p>
        </p:txBody>
      </p:sp>
      <p:sp>
        <p:nvSpPr>
          <p:cNvPr id="13" name="Google Shape;100;p13">
            <a:extLst>
              <a:ext uri="{FF2B5EF4-FFF2-40B4-BE49-F238E27FC236}">
                <a16:creationId xmlns:a16="http://schemas.microsoft.com/office/drawing/2014/main" id="{635E93CA-336B-C0D4-CD79-89E4E45EEF77}"/>
              </a:ext>
            </a:extLst>
          </p:cNvPr>
          <p:cNvSpPr txBox="1"/>
          <p:nvPr/>
        </p:nvSpPr>
        <p:spPr>
          <a:xfrm>
            <a:off x="6238875" y="5715000"/>
            <a:ext cx="5381700" cy="4233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400" b="1" dirty="0" err="1">
                <a:solidFill>
                  <a:srgbClr val="1E40AF"/>
                </a:solidFill>
                <a:latin typeface="Noto Sans SC"/>
                <a:ea typeface="Noto Sans SC"/>
                <a:cs typeface="Noto Sans SC"/>
                <a:sym typeface="Noto Sans SC"/>
              </a:rPr>
              <a:t>一体化决策与透明诊断</a:t>
            </a:r>
            <a:endParaRPr sz="1400" b="1" dirty="0">
              <a:solidFill>
                <a:srgbClr val="1E40AF"/>
              </a:solidFill>
              <a:latin typeface="Noto Sans SC"/>
              <a:ea typeface="Noto Sans SC"/>
              <a:cs typeface="Noto Sans SC"/>
              <a:sym typeface="Noto Sans SC"/>
            </a:endParaRPr>
          </a:p>
          <a:p>
            <a:pPr marL="0" lvl="0" indent="0" algn="l" rtl="0">
              <a:spcBef>
                <a:spcPts val="300"/>
              </a:spcBef>
              <a:spcAft>
                <a:spcPts val="0"/>
              </a:spcAft>
              <a:buNone/>
            </a:pPr>
            <a:r>
              <a:rPr lang="en-US" sz="1100" b="0" dirty="0" err="1">
                <a:solidFill>
                  <a:srgbClr val="475569"/>
                </a:solidFill>
                <a:latin typeface="Noto Sans SC"/>
                <a:ea typeface="Noto Sans SC"/>
                <a:cs typeface="Noto Sans SC"/>
                <a:sym typeface="Noto Sans SC"/>
              </a:rPr>
              <a:t>构建可解释决策中枢，实现标准化透明化。所有处置建议可回溯，提升系统鲁棒性</a:t>
            </a:r>
            <a:r>
              <a:rPr lang="en-US" sz="1100" b="0" dirty="0">
                <a:solidFill>
                  <a:srgbClr val="475569"/>
                </a:solidFill>
                <a:latin typeface="Noto Sans SC"/>
                <a:ea typeface="Noto Sans SC"/>
                <a:cs typeface="Noto Sans SC"/>
                <a:sym typeface="Noto Sans SC"/>
              </a:rPr>
              <a:t>。</a:t>
            </a:r>
            <a:endParaRPr sz="1100" b="0" dirty="0">
              <a:solidFill>
                <a:srgbClr val="475569"/>
              </a:solidFill>
              <a:latin typeface="Noto Sans SC"/>
              <a:ea typeface="Noto Sans SC"/>
              <a:cs typeface="Noto Sans SC"/>
              <a:sym typeface="Noto Sans SC"/>
            </a:endParaRPr>
          </a:p>
        </p:txBody>
      </p:sp>
      <p:pic>
        <p:nvPicPr>
          <p:cNvPr id="14" name="Google Shape;101;p13">
            <a:extLst>
              <a:ext uri="{FF2B5EF4-FFF2-40B4-BE49-F238E27FC236}">
                <a16:creationId xmlns:a16="http://schemas.microsoft.com/office/drawing/2014/main" id="{A48615DE-670E-80E2-11C2-80A6925790D0}"/>
              </a:ext>
            </a:extLst>
          </p:cNvPr>
          <p:cNvPicPr preferRelativeResize="0"/>
          <p:nvPr/>
        </p:nvPicPr>
        <p:blipFill rotWithShape="1">
          <a:blip r:embed="rId3">
            <a:alphaModFix/>
          </a:blip>
          <a:srcRect/>
          <a:stretch/>
        </p:blipFill>
        <p:spPr>
          <a:xfrm>
            <a:off x="5953126" y="3763350"/>
            <a:ext cx="171600" cy="304800"/>
          </a:xfrm>
          <a:prstGeom prst="rect">
            <a:avLst/>
          </a:prstGeom>
          <a:noFill/>
          <a:ln>
            <a:noFill/>
          </a:ln>
        </p:spPr>
      </p:pic>
      <p:pic>
        <p:nvPicPr>
          <p:cNvPr id="19" name="Google Shape;102;p13">
            <a:extLst>
              <a:ext uri="{FF2B5EF4-FFF2-40B4-BE49-F238E27FC236}">
                <a16:creationId xmlns:a16="http://schemas.microsoft.com/office/drawing/2014/main" id="{9A6096F6-3ED1-66A4-E588-0AAAF486419D}"/>
              </a:ext>
            </a:extLst>
          </p:cNvPr>
          <p:cNvPicPr preferRelativeResize="0"/>
          <p:nvPr/>
        </p:nvPicPr>
        <p:blipFill rotWithShape="1">
          <a:blip r:embed="rId3">
            <a:alphaModFix/>
          </a:blip>
          <a:srcRect/>
          <a:stretch/>
        </p:blipFill>
        <p:spPr>
          <a:xfrm>
            <a:off x="5924425" y="4785750"/>
            <a:ext cx="171600" cy="304800"/>
          </a:xfrm>
          <a:prstGeom prst="rect">
            <a:avLst/>
          </a:prstGeom>
          <a:noFill/>
          <a:ln>
            <a:noFill/>
          </a:ln>
        </p:spPr>
      </p:pic>
      <p:pic>
        <p:nvPicPr>
          <p:cNvPr id="21" name="Google Shape;103;p13">
            <a:extLst>
              <a:ext uri="{FF2B5EF4-FFF2-40B4-BE49-F238E27FC236}">
                <a16:creationId xmlns:a16="http://schemas.microsoft.com/office/drawing/2014/main" id="{64AE65B0-0588-DE68-B3FB-64478F368778}"/>
              </a:ext>
            </a:extLst>
          </p:cNvPr>
          <p:cNvPicPr preferRelativeResize="0"/>
          <p:nvPr/>
        </p:nvPicPr>
        <p:blipFill rotWithShape="1">
          <a:blip r:embed="rId3">
            <a:alphaModFix/>
          </a:blip>
          <a:srcRect/>
          <a:stretch/>
        </p:blipFill>
        <p:spPr>
          <a:xfrm>
            <a:off x="5953126" y="5833500"/>
            <a:ext cx="171600" cy="304800"/>
          </a:xfrm>
          <a:prstGeom prst="rect">
            <a:avLst/>
          </a:prstGeom>
          <a:noFill/>
          <a:ln>
            <a:noFill/>
          </a:ln>
        </p:spPr>
      </p:pic>
      <p:pic>
        <p:nvPicPr>
          <p:cNvPr id="1026" name="Picture 2">
            <a:extLst>
              <a:ext uri="{FF2B5EF4-FFF2-40B4-BE49-F238E27FC236}">
                <a16:creationId xmlns:a16="http://schemas.microsoft.com/office/drawing/2014/main" id="{07E5FE94-7B93-C9BA-B504-7A7D156C9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425" y="1696238"/>
            <a:ext cx="5372100" cy="17327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B93292D-E25E-75AC-C62A-DA80029082F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8476" y="1696239"/>
            <a:ext cx="5391375" cy="173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25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866811" y="3241747"/>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p:cNvSpPr txBox="1"/>
          <p:nvPr/>
        </p:nvSpPr>
        <p:spPr>
          <a:xfrm>
            <a:off x="3920411" y="2686616"/>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02</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326368" y="3311695"/>
            <a:ext cx="4119335" cy="954107"/>
          </a:xfrm>
          <a:prstGeom prst="rect">
            <a:avLst/>
          </a:prstGeom>
          <a:noFill/>
        </p:spPr>
        <p:txBody>
          <a:bodyPr wrap="square" rtlCol="0">
            <a:spAutoFit/>
          </a:bodyPr>
          <a:lstStyle/>
          <a:p>
            <a:r>
              <a:rPr lang="zh-CN" altLang="en-US" sz="3600" b="1" dirty="0">
                <a:solidFill>
                  <a:schemeClr val="bg1"/>
                </a:solidFill>
              </a:rPr>
              <a:t>研究目的</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Research Objective</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grpSp>
        <p:nvGrpSpPr>
          <p:cNvPr id="6" name="组合 5"/>
          <p:cNvGrpSpPr/>
          <p:nvPr/>
        </p:nvGrpSpPr>
        <p:grpSpPr>
          <a:xfrm>
            <a:off x="0" y="1657350"/>
            <a:ext cx="2867025" cy="4493895"/>
            <a:chOff x="0" y="2610"/>
            <a:chExt cx="4515" cy="7077"/>
          </a:xfrm>
        </p:grpSpPr>
        <p:sp>
          <p:nvSpPr>
            <p:cNvPr id="7" name="文本框 6"/>
            <p:cNvSpPr txBox="1"/>
            <p:nvPr/>
          </p:nvSpPr>
          <p:spPr>
            <a:xfrm>
              <a:off x="855" y="6962"/>
              <a:ext cx="3180" cy="822"/>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项目简介</a:t>
              </a:r>
            </a:p>
          </p:txBody>
        </p:sp>
        <p:sp>
          <p:nvSpPr>
            <p:cNvPr id="8" name="文本框 7"/>
            <p:cNvSpPr txBox="1"/>
            <p:nvPr/>
          </p:nvSpPr>
          <p:spPr>
            <a:xfrm>
              <a:off x="855" y="8865"/>
              <a:ext cx="3180" cy="822"/>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应用前景</a:t>
              </a:r>
            </a:p>
          </p:txBody>
        </p:sp>
        <p:sp>
          <p:nvSpPr>
            <p:cNvPr id="9" name="文本框 8"/>
            <p:cNvSpPr txBox="1"/>
            <p:nvPr/>
          </p:nvSpPr>
          <p:spPr>
            <a:xfrm>
              <a:off x="100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10" name="组合 9"/>
            <p:cNvGrpSpPr/>
            <p:nvPr/>
          </p:nvGrpSpPr>
          <p:grpSpPr>
            <a:xfrm>
              <a:off x="0" y="4684"/>
              <a:ext cx="4515" cy="1452"/>
              <a:chOff x="-2" y="1537960"/>
              <a:chExt cx="2867026" cy="921872"/>
            </a:xfrm>
          </p:grpSpPr>
          <p:sp>
            <p:nvSpPr>
              <p:cNvPr id="12" name="矩形 11"/>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直角三角形 19"/>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855" y="4890"/>
              <a:ext cx="3180" cy="824"/>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目的与意义</a:t>
              </a:r>
            </a:p>
          </p:txBody>
        </p:sp>
      </p:grpSp>
      <p:sp>
        <p:nvSpPr>
          <p:cNvPr id="13" name="斜纹 12"/>
          <p:cNvSpPr/>
          <p:nvPr/>
        </p:nvSpPr>
        <p:spPr>
          <a:xfrm flipH="1">
            <a:off x="10867390" y="0"/>
            <a:ext cx="1325245" cy="1223010"/>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95910" y="798195"/>
            <a:ext cx="11417300"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95275"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研究目的</a:t>
            </a:r>
          </a:p>
        </p:txBody>
      </p:sp>
      <p:sp>
        <p:nvSpPr>
          <p:cNvPr id="26" name="矩形 25"/>
          <p:cNvSpPr/>
          <p:nvPr>
            <p:custDataLst>
              <p:tags r:id="rId1"/>
            </p:custDataLst>
          </p:nvPr>
        </p:nvSpPr>
        <p:spPr>
          <a:xfrm>
            <a:off x="1464867" y="3682221"/>
            <a:ext cx="2752115" cy="1671386"/>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custDataLst>
              <p:tags r:id="rId2"/>
            </p:custDataLst>
          </p:nvPr>
        </p:nvSpPr>
        <p:spPr>
          <a:xfrm>
            <a:off x="1473122" y="3553951"/>
            <a:ext cx="2752115" cy="1194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custDataLst>
              <p:tags r:id="rId3"/>
            </p:custDataLst>
          </p:nvPr>
        </p:nvGrpSpPr>
        <p:grpSpPr>
          <a:xfrm>
            <a:off x="1408430" y="1393190"/>
            <a:ext cx="8992235" cy="4827270"/>
            <a:chOff x="4843" y="2193"/>
            <a:chExt cx="14161" cy="7602"/>
          </a:xfrm>
        </p:grpSpPr>
        <p:pic>
          <p:nvPicPr>
            <p:cNvPr id="10" name="图片 9"/>
            <p:cNvPicPr>
              <a:picLocks noChangeAspect="1"/>
            </p:cNvPicPr>
            <p:nvPr/>
          </p:nvPicPr>
          <p:blipFill>
            <a:blip r:embed="rId12"/>
            <a:stretch>
              <a:fillRect/>
            </a:stretch>
          </p:blipFill>
          <p:spPr>
            <a:xfrm>
              <a:off x="10000" y="4329"/>
              <a:ext cx="3771" cy="2501"/>
            </a:xfrm>
            <a:prstGeom prst="rect">
              <a:avLst/>
            </a:prstGeom>
          </p:spPr>
        </p:pic>
        <p:pic>
          <p:nvPicPr>
            <p:cNvPr id="8" name="图片 7"/>
            <p:cNvPicPr>
              <a:picLocks noChangeAspect="1"/>
            </p:cNvPicPr>
            <p:nvPr/>
          </p:nvPicPr>
          <p:blipFill>
            <a:blip r:embed="rId13"/>
            <a:stretch>
              <a:fillRect/>
            </a:stretch>
          </p:blipFill>
          <p:spPr>
            <a:xfrm>
              <a:off x="5306" y="2361"/>
              <a:ext cx="3745" cy="2993"/>
            </a:xfrm>
            <a:prstGeom prst="rect">
              <a:avLst/>
            </a:prstGeom>
          </p:spPr>
        </p:pic>
        <p:pic>
          <p:nvPicPr>
            <p:cNvPr id="3" name="图片 2" descr="图神经网络（11）— 在知识图谱上推理_知识图谱推理-CSDN博客"/>
            <p:cNvPicPr>
              <a:picLocks noChangeAspect="1"/>
            </p:cNvPicPr>
            <p:nvPr/>
          </p:nvPicPr>
          <p:blipFill>
            <a:blip r:embed="rId14"/>
            <a:stretch>
              <a:fillRect/>
            </a:stretch>
          </p:blipFill>
          <p:spPr>
            <a:xfrm>
              <a:off x="14785" y="2193"/>
              <a:ext cx="3745" cy="2809"/>
            </a:xfrm>
            <a:prstGeom prst="rect">
              <a:avLst/>
            </a:prstGeom>
          </p:spPr>
        </p:pic>
        <p:sp>
          <p:nvSpPr>
            <p:cNvPr id="27" name="矩形 26"/>
            <p:cNvSpPr/>
            <p:nvPr>
              <p:custDataLst>
                <p:tags r:id="rId4"/>
              </p:custDataLst>
            </p:nvPr>
          </p:nvSpPr>
          <p:spPr>
            <a:xfrm>
              <a:off x="9772" y="7124"/>
              <a:ext cx="4334" cy="267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11491" y="2490"/>
              <a:ext cx="1939" cy="1501"/>
            </a:xfrm>
            <a:prstGeom prst="rect">
              <a:avLst/>
            </a:prstGeom>
            <a:noFill/>
          </p:spPr>
          <p:txBody>
            <a:bodyPr wrap="square" rtlCol="0">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rPr>
                <a:t>三大</a:t>
              </a:r>
              <a:endParaRPr lang="en-US" altLang="zh-CN" sz="2800" b="1" dirty="0">
                <a:solidFill>
                  <a:schemeClr val="accent1"/>
                </a:solidFill>
                <a:latin typeface="微软雅黑" panose="020B0503020204020204" pitchFamily="34" charset="-122"/>
                <a:ea typeface="微软雅黑" panose="020B0503020204020204" pitchFamily="34" charset="-122"/>
              </a:endParaRPr>
            </a:p>
            <a:p>
              <a:pPr algn="ctr"/>
              <a:r>
                <a:rPr lang="zh-CN" altLang="en-US" sz="2800" b="1" dirty="0">
                  <a:solidFill>
                    <a:schemeClr val="accent1"/>
                  </a:solidFill>
                  <a:latin typeface="微软雅黑" panose="020B0503020204020204" pitchFamily="34" charset="-122"/>
                  <a:ea typeface="微软雅黑" panose="020B0503020204020204" pitchFamily="34" charset="-122"/>
                </a:rPr>
                <a:t>挑战</a:t>
              </a:r>
            </a:p>
          </p:txBody>
        </p:sp>
        <p:sp>
          <p:nvSpPr>
            <p:cNvPr id="34" name="矩形 33"/>
            <p:cNvSpPr/>
            <p:nvPr>
              <p:custDataLst>
                <p:tags r:id="rId5"/>
              </p:custDataLst>
            </p:nvPr>
          </p:nvSpPr>
          <p:spPr>
            <a:xfrm>
              <a:off x="14491" y="5631"/>
              <a:ext cx="4334" cy="2632"/>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custDataLst>
                <p:tags r:id="rId6"/>
              </p:custDataLst>
            </p:nvPr>
          </p:nvSpPr>
          <p:spPr>
            <a:xfrm>
              <a:off x="9772" y="7121"/>
              <a:ext cx="4334" cy="1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custDataLst>
                <p:tags r:id="rId7"/>
              </p:custDataLst>
            </p:nvPr>
          </p:nvSpPr>
          <p:spPr>
            <a:xfrm>
              <a:off x="14491" y="5638"/>
              <a:ext cx="4334" cy="16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custDataLst>
                <p:tags r:id="rId8"/>
              </p:custDataLst>
            </p:nvPr>
          </p:nvSpPr>
          <p:spPr>
            <a:xfrm>
              <a:off x="4843" y="5959"/>
              <a:ext cx="4544" cy="2276"/>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多模态感知数据的时空对齐与融合机制</a:t>
              </a:r>
              <a:endParaRPr lang="zh-CN" altLang="en-US" sz="1200" dirty="0">
                <a:latin typeface="微软雅黑" panose="020B0503020204020204" pitchFamily="34" charset="-122"/>
                <a:ea typeface="微软雅黑" panose="020B0503020204020204" pitchFamily="34" charset="-122"/>
              </a:endParaRP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如何有效融合视觉、听觉、时序等多源异构数据，实现跨模态的语义对齐与互补增强，是构建可靠感知系统的核心挑战。</a:t>
              </a:r>
            </a:p>
          </p:txBody>
        </p:sp>
        <p:sp>
          <p:nvSpPr>
            <p:cNvPr id="39" name="文本框 38"/>
            <p:cNvSpPr txBox="1"/>
            <p:nvPr>
              <p:custDataLst>
                <p:tags r:id="rId9"/>
              </p:custDataLst>
            </p:nvPr>
          </p:nvSpPr>
          <p:spPr>
            <a:xfrm>
              <a:off x="9804" y="7355"/>
              <a:ext cx="4304" cy="198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边缘端大模型的实时推理与精度平衡</a:t>
              </a: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如何在资源受限的边缘计算平台上实现大模型的高效推理，在保证检测精度的同时满足实时性要求。</a:t>
              </a:r>
            </a:p>
          </p:txBody>
        </p:sp>
        <p:sp>
          <p:nvSpPr>
            <p:cNvPr id="40" name="文本框 39"/>
            <p:cNvSpPr txBox="1"/>
            <p:nvPr>
              <p:custDataLst>
                <p:tags r:id="rId10"/>
              </p:custDataLst>
            </p:nvPr>
          </p:nvSpPr>
          <p:spPr>
            <a:xfrm>
              <a:off x="14491" y="6094"/>
              <a:ext cx="4513" cy="198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知识驱动与数据驱动的协同决策机制</a:t>
              </a:r>
            </a:p>
            <a:p>
              <a:endParaRPr lang="zh-CN" altLang="en-US"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如何将知识图谱中的结构化领域知识与大模型的数据驱动推理能力有效融合，实现既准确又可解释的智能决策。</a:t>
              </a:r>
            </a:p>
          </p:txBody>
        </p:sp>
        <p:grpSp>
          <p:nvGrpSpPr>
            <p:cNvPr id="41" name="图形 31" descr="研究"/>
            <p:cNvGrpSpPr/>
            <p:nvPr/>
          </p:nvGrpSpPr>
          <p:grpSpPr>
            <a:xfrm>
              <a:off x="10631" y="2631"/>
              <a:ext cx="948" cy="1173"/>
              <a:chOff x="6750777" y="1670854"/>
              <a:chExt cx="602093" cy="744969"/>
            </a:xfrm>
            <a:solidFill>
              <a:schemeClr val="accent1"/>
            </a:solidFill>
          </p:grpSpPr>
          <p:sp>
            <p:nvSpPr>
              <p:cNvPr id="42" name="任意多边形: 形状 41"/>
              <p:cNvSpPr/>
              <p:nvPr/>
            </p:nvSpPr>
            <p:spPr>
              <a:xfrm>
                <a:off x="6750777" y="1672874"/>
                <a:ext cx="600075" cy="742950"/>
              </a:xfrm>
              <a:custGeom>
                <a:avLst/>
                <a:gdLst>
                  <a:gd name="connsiteX0" fmla="*/ 600075 w 600075"/>
                  <a:gd name="connsiteY0" fmla="*/ 228600 h 742950"/>
                  <a:gd name="connsiteX1" fmla="*/ 414338 w 600075"/>
                  <a:gd name="connsiteY1" fmla="*/ 228600 h 742950"/>
                  <a:gd name="connsiteX2" fmla="*/ 371475 w 600075"/>
                  <a:gd name="connsiteY2" fmla="*/ 185738 h 742950"/>
                  <a:gd name="connsiteX3" fmla="*/ 371475 w 600075"/>
                  <a:gd name="connsiteY3" fmla="*/ 0 h 742950"/>
                  <a:gd name="connsiteX4" fmla="*/ 42863 w 600075"/>
                  <a:gd name="connsiteY4" fmla="*/ 0 h 742950"/>
                  <a:gd name="connsiteX5" fmla="*/ 0 w 600075"/>
                  <a:gd name="connsiteY5" fmla="*/ 42863 h 742950"/>
                  <a:gd name="connsiteX6" fmla="*/ 0 w 600075"/>
                  <a:gd name="connsiteY6" fmla="*/ 700088 h 742950"/>
                  <a:gd name="connsiteX7" fmla="*/ 42863 w 600075"/>
                  <a:gd name="connsiteY7" fmla="*/ 742950 h 742950"/>
                  <a:gd name="connsiteX8" fmla="*/ 557213 w 600075"/>
                  <a:gd name="connsiteY8" fmla="*/ 742950 h 742950"/>
                  <a:gd name="connsiteX9" fmla="*/ 600075 w 600075"/>
                  <a:gd name="connsiteY9" fmla="*/ 700088 h 742950"/>
                  <a:gd name="connsiteX10" fmla="*/ 600075 w 600075"/>
                  <a:gd name="connsiteY10" fmla="*/ 228600 h 742950"/>
                  <a:gd name="connsiteX11" fmla="*/ 285750 w 600075"/>
                  <a:gd name="connsiteY11" fmla="*/ 228600 h 742950"/>
                  <a:gd name="connsiteX12" fmla="*/ 457200 w 600075"/>
                  <a:gd name="connsiteY12" fmla="*/ 400050 h 742950"/>
                  <a:gd name="connsiteX13" fmla="*/ 285750 w 600075"/>
                  <a:gd name="connsiteY13" fmla="*/ 571500 h 742950"/>
                  <a:gd name="connsiteX14" fmla="*/ 114300 w 600075"/>
                  <a:gd name="connsiteY14" fmla="*/ 400050 h 742950"/>
                  <a:gd name="connsiteX15" fmla="*/ 285750 w 600075"/>
                  <a:gd name="connsiteY15" fmla="*/ 228600 h 742950"/>
                  <a:gd name="connsiteX16" fmla="*/ 285750 w 600075"/>
                  <a:gd name="connsiteY16" fmla="*/ 285750 h 742950"/>
                  <a:gd name="connsiteX17" fmla="*/ 171450 w 600075"/>
                  <a:gd name="connsiteY17" fmla="*/ 400050 h 742950"/>
                  <a:gd name="connsiteX18" fmla="*/ 285750 w 600075"/>
                  <a:gd name="connsiteY18" fmla="*/ 514350 h 742950"/>
                  <a:gd name="connsiteX19" fmla="*/ 400050 w 600075"/>
                  <a:gd name="connsiteY19" fmla="*/ 400050 h 742950"/>
                  <a:gd name="connsiteX20" fmla="*/ 285750 w 600075"/>
                  <a:gd name="connsiteY20" fmla="*/ 285750 h 742950"/>
                  <a:gd name="connsiteX21" fmla="*/ 536288 w 600075"/>
                  <a:gd name="connsiteY21" fmla="*/ 636301 h 742950"/>
                  <a:gd name="connsiteX22" fmla="*/ 495876 w 600075"/>
                  <a:gd name="connsiteY22" fmla="*/ 636301 h 742950"/>
                  <a:gd name="connsiteX23" fmla="*/ 435262 w 600075"/>
                  <a:gd name="connsiteY23" fmla="*/ 575686 h 742950"/>
                  <a:gd name="connsiteX24" fmla="*/ 435262 w 600075"/>
                  <a:gd name="connsiteY24" fmla="*/ 535274 h 742950"/>
                  <a:gd name="connsiteX25" fmla="*/ 475674 w 600075"/>
                  <a:gd name="connsiteY25" fmla="*/ 535274 h 742950"/>
                  <a:gd name="connsiteX26" fmla="*/ 536288 w 600075"/>
                  <a:gd name="connsiteY26" fmla="*/ 595889 h 742950"/>
                  <a:gd name="connsiteX27" fmla="*/ 536288 w 600075"/>
                  <a:gd name="connsiteY27" fmla="*/ 636301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0075" h="742950">
                    <a:moveTo>
                      <a:pt x="600075" y="228600"/>
                    </a:moveTo>
                    <a:lnTo>
                      <a:pt x="414338" y="228600"/>
                    </a:lnTo>
                    <a:cubicBezTo>
                      <a:pt x="390667" y="228600"/>
                      <a:pt x="371475" y="209410"/>
                      <a:pt x="371475" y="185738"/>
                    </a:cubicBezTo>
                    <a:lnTo>
                      <a:pt x="371475" y="0"/>
                    </a:lnTo>
                    <a:lnTo>
                      <a:pt x="42863" y="0"/>
                    </a:lnTo>
                    <a:cubicBezTo>
                      <a:pt x="19190" y="0"/>
                      <a:pt x="0" y="19190"/>
                      <a:pt x="0" y="42863"/>
                    </a:cubicBezTo>
                    <a:lnTo>
                      <a:pt x="0" y="700088"/>
                    </a:lnTo>
                    <a:cubicBezTo>
                      <a:pt x="0" y="723758"/>
                      <a:pt x="19190" y="742950"/>
                      <a:pt x="42863" y="742950"/>
                    </a:cubicBezTo>
                    <a:lnTo>
                      <a:pt x="557213" y="742950"/>
                    </a:lnTo>
                    <a:cubicBezTo>
                      <a:pt x="580883" y="742950"/>
                      <a:pt x="600075" y="723758"/>
                      <a:pt x="600075" y="700088"/>
                    </a:cubicBezTo>
                    <a:lnTo>
                      <a:pt x="600075" y="228600"/>
                    </a:lnTo>
                    <a:moveTo>
                      <a:pt x="285750" y="228600"/>
                    </a:moveTo>
                    <a:cubicBezTo>
                      <a:pt x="380440" y="228600"/>
                      <a:pt x="457200" y="305360"/>
                      <a:pt x="457200" y="400050"/>
                    </a:cubicBezTo>
                    <a:cubicBezTo>
                      <a:pt x="457200" y="494740"/>
                      <a:pt x="380440" y="571500"/>
                      <a:pt x="285750" y="571500"/>
                    </a:cubicBezTo>
                    <a:cubicBezTo>
                      <a:pt x="191060" y="571500"/>
                      <a:pt x="114300" y="494740"/>
                      <a:pt x="114300" y="400050"/>
                    </a:cubicBezTo>
                    <a:cubicBezTo>
                      <a:pt x="114300" y="305360"/>
                      <a:pt x="191060" y="228600"/>
                      <a:pt x="285750" y="228600"/>
                    </a:cubicBezTo>
                    <a:moveTo>
                      <a:pt x="285750" y="285750"/>
                    </a:moveTo>
                    <a:cubicBezTo>
                      <a:pt x="222624" y="285750"/>
                      <a:pt x="171450" y="336924"/>
                      <a:pt x="171450" y="400050"/>
                    </a:cubicBezTo>
                    <a:cubicBezTo>
                      <a:pt x="171450" y="463176"/>
                      <a:pt x="222624" y="514350"/>
                      <a:pt x="285750" y="514350"/>
                    </a:cubicBezTo>
                    <a:cubicBezTo>
                      <a:pt x="348876" y="514350"/>
                      <a:pt x="400050" y="463176"/>
                      <a:pt x="400050" y="400050"/>
                    </a:cubicBezTo>
                    <a:cubicBezTo>
                      <a:pt x="400050" y="336924"/>
                      <a:pt x="348876" y="285750"/>
                      <a:pt x="285750" y="285750"/>
                    </a:cubicBezTo>
                    <a:moveTo>
                      <a:pt x="536288" y="636301"/>
                    </a:moveTo>
                    <a:cubicBezTo>
                      <a:pt x="525130" y="647460"/>
                      <a:pt x="507038" y="647460"/>
                      <a:pt x="495876" y="636301"/>
                    </a:cubicBezTo>
                    <a:lnTo>
                      <a:pt x="435262" y="575686"/>
                    </a:lnTo>
                    <a:cubicBezTo>
                      <a:pt x="424103" y="564524"/>
                      <a:pt x="424103" y="546433"/>
                      <a:pt x="435262" y="535274"/>
                    </a:cubicBezTo>
                    <a:cubicBezTo>
                      <a:pt x="446420" y="524115"/>
                      <a:pt x="464512" y="524115"/>
                      <a:pt x="475674" y="535274"/>
                    </a:cubicBezTo>
                    <a:lnTo>
                      <a:pt x="536288" y="595889"/>
                    </a:lnTo>
                    <a:cubicBezTo>
                      <a:pt x="547447" y="607051"/>
                      <a:pt x="547447" y="625142"/>
                      <a:pt x="536288" y="636301"/>
                    </a:cubicBezTo>
                  </a:path>
                </a:pathLst>
              </a:custGeom>
              <a:solidFill>
                <a:schemeClr val="accent1"/>
              </a:solidFill>
              <a:ln w="3572" cap="flat">
                <a:noFill/>
                <a:prstDash val="solid"/>
                <a:miter/>
              </a:ln>
            </p:spPr>
            <p:txBody>
              <a:bodyPr rtlCol="0" anchor="ctr"/>
              <a:lstStyle/>
              <a:p>
                <a:endParaRPr lang="zh-CN" altLang="en-US"/>
              </a:p>
            </p:txBody>
          </p:sp>
          <p:sp>
            <p:nvSpPr>
              <p:cNvPr id="43" name="任意多边形: 形状 42"/>
              <p:cNvSpPr/>
              <p:nvPr/>
            </p:nvSpPr>
            <p:spPr>
              <a:xfrm>
                <a:off x="7150827" y="1670854"/>
                <a:ext cx="202043" cy="202044"/>
              </a:xfrm>
              <a:custGeom>
                <a:avLst/>
                <a:gdLst>
                  <a:gd name="connsiteX0" fmla="*/ 28575 w 202043"/>
                  <a:gd name="connsiteY0" fmla="*/ 202044 h 202044"/>
                  <a:gd name="connsiteX1" fmla="*/ 187756 w 202043"/>
                  <a:gd name="connsiteY1" fmla="*/ 202044 h 202044"/>
                  <a:gd name="connsiteX2" fmla="*/ 202043 w 202043"/>
                  <a:gd name="connsiteY2" fmla="*/ 187757 h 202044"/>
                  <a:gd name="connsiteX3" fmla="*/ 197860 w 202043"/>
                  <a:gd name="connsiteY3" fmla="*/ 177654 h 202044"/>
                  <a:gd name="connsiteX4" fmla="*/ 24389 w 202043"/>
                  <a:gd name="connsiteY4" fmla="*/ 4185 h 202044"/>
                  <a:gd name="connsiteX5" fmla="*/ 4186 w 202043"/>
                  <a:gd name="connsiteY5" fmla="*/ 4185 h 202044"/>
                  <a:gd name="connsiteX6" fmla="*/ 0 w 202043"/>
                  <a:gd name="connsiteY6" fmla="*/ 14287 h 202044"/>
                  <a:gd name="connsiteX7" fmla="*/ 0 w 202043"/>
                  <a:gd name="connsiteY7" fmla="*/ 173469 h 202044"/>
                  <a:gd name="connsiteX8" fmla="*/ 28575 w 202043"/>
                  <a:gd name="connsiteY8" fmla="*/ 202044 h 202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043" h="202044">
                    <a:moveTo>
                      <a:pt x="28575" y="202044"/>
                    </a:moveTo>
                    <a:lnTo>
                      <a:pt x="187756" y="202044"/>
                    </a:lnTo>
                    <a:cubicBezTo>
                      <a:pt x="195649" y="202044"/>
                      <a:pt x="202043" y="195648"/>
                      <a:pt x="202043" y="187757"/>
                    </a:cubicBezTo>
                    <a:cubicBezTo>
                      <a:pt x="202043" y="183968"/>
                      <a:pt x="200539" y="180334"/>
                      <a:pt x="197860" y="177654"/>
                    </a:cubicBezTo>
                    <a:lnTo>
                      <a:pt x="24389" y="4185"/>
                    </a:lnTo>
                    <a:cubicBezTo>
                      <a:pt x="18810" y="-1395"/>
                      <a:pt x="9765" y="-1395"/>
                      <a:pt x="4186" y="4185"/>
                    </a:cubicBezTo>
                    <a:cubicBezTo>
                      <a:pt x="1504" y="6864"/>
                      <a:pt x="0" y="10498"/>
                      <a:pt x="0" y="14287"/>
                    </a:cubicBezTo>
                    <a:lnTo>
                      <a:pt x="0" y="173469"/>
                    </a:lnTo>
                    <a:cubicBezTo>
                      <a:pt x="0" y="189251"/>
                      <a:pt x="12794" y="202044"/>
                      <a:pt x="28575" y="202044"/>
                    </a:cubicBezTo>
                    <a:close/>
                  </a:path>
                </a:pathLst>
              </a:custGeom>
              <a:solidFill>
                <a:schemeClr val="accent1"/>
              </a:solidFill>
              <a:ln w="3572" cap="flat">
                <a:noFill/>
                <a:prstDash val="solid"/>
                <a:miter/>
              </a:ln>
            </p:spPr>
            <p:txBody>
              <a:bodyPr rtlCol="0" anchor="ctr"/>
              <a:lstStyle/>
              <a:p>
                <a:endParaRPr lang="zh-CN" altLang="en-US"/>
              </a:p>
            </p:txBody>
          </p:sp>
        </p:grpSp>
      </p:grpSp>
      <p:pic>
        <p:nvPicPr>
          <p:cNvPr id="2" name="图片 1" descr="76b499643fee34819cb883d90f0351cf"/>
          <p:cNvPicPr>
            <a:picLocks noChangeAspect="1"/>
          </p:cNvPicPr>
          <p:nvPr/>
        </p:nvPicPr>
        <p:blipFill>
          <a:blip r:embed="rId15"/>
          <a:stretch>
            <a:fillRect/>
          </a:stretch>
        </p:blipFill>
        <p:spPr>
          <a:xfrm>
            <a:off x="10965180" y="0"/>
            <a:ext cx="748030" cy="7480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917616" y="2970371"/>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42925" y="5629275"/>
            <a:ext cx="20193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应用前景</a:t>
            </a:r>
          </a:p>
        </p:txBody>
      </p:sp>
      <p:sp>
        <p:nvSpPr>
          <p:cNvPr id="6" name="文本框 5"/>
          <p:cNvSpPr txBox="1"/>
          <p:nvPr/>
        </p:nvSpPr>
        <p:spPr>
          <a:xfrm>
            <a:off x="542925" y="1657350"/>
            <a:ext cx="1828800" cy="523220"/>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grpSp>
        <p:nvGrpSpPr>
          <p:cNvPr id="2" name="组合 1"/>
          <p:cNvGrpSpPr/>
          <p:nvPr/>
        </p:nvGrpSpPr>
        <p:grpSpPr>
          <a:xfrm>
            <a:off x="-2" y="428441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5" name="文本框 14"/>
          <p:cNvSpPr txBox="1"/>
          <p:nvPr/>
        </p:nvSpPr>
        <p:spPr>
          <a:xfrm>
            <a:off x="3961691" y="2385595"/>
            <a:ext cx="2946400" cy="2215991"/>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03</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377173" y="3040319"/>
            <a:ext cx="4119335" cy="953135"/>
          </a:xfrm>
          <a:prstGeom prst="rect">
            <a:avLst/>
          </a:prstGeom>
          <a:noFill/>
        </p:spPr>
        <p:txBody>
          <a:bodyPr wrap="square" rtlCol="0">
            <a:spAutoFit/>
          </a:bodyPr>
          <a:lstStyle/>
          <a:p>
            <a:r>
              <a:rPr lang="zh-CN" altLang="en-US" sz="3600" b="1" dirty="0">
                <a:solidFill>
                  <a:schemeClr val="bg1"/>
                </a:solidFill>
              </a:rPr>
              <a:t>项目简介</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Project Introduction</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文本框 6"/>
          <p:cNvSpPr txBox="1"/>
          <p:nvPr/>
        </p:nvSpPr>
        <p:spPr>
          <a:xfrm>
            <a:off x="542925" y="2970371"/>
            <a:ext cx="20193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8" name="文本框 7"/>
          <p:cNvSpPr txBox="1"/>
          <p:nvPr/>
        </p:nvSpPr>
        <p:spPr>
          <a:xfrm>
            <a:off x="542925" y="4404042"/>
            <a:ext cx="201930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项目简介</a:t>
            </a:r>
          </a:p>
        </p:txBody>
      </p:sp>
      <p:sp>
        <p:nvSpPr>
          <p:cNvPr id="13" name="斜纹 12"/>
          <p:cNvSpPr/>
          <p:nvPr/>
        </p:nvSpPr>
        <p:spPr>
          <a:xfrm flipH="1">
            <a:off x="10867390" y="0"/>
            <a:ext cx="1325245" cy="1223010"/>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AE4C9-2529-0B60-7F3A-804779820B16}"/>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5D65B4B8-22DB-5218-9CDD-FAC36DECBFCD}"/>
              </a:ext>
            </a:extLst>
          </p:cNvPr>
          <p:cNvSpPr/>
          <p:nvPr/>
        </p:nvSpPr>
        <p:spPr>
          <a:xfrm>
            <a:off x="1559819" y="3897399"/>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id="{CF62D9EA-6D21-A12F-599E-ADFB059D4FAF}"/>
              </a:ext>
            </a:extLst>
          </p:cNvPr>
          <p:cNvSpPr/>
          <p:nvPr/>
        </p:nvSpPr>
        <p:spPr>
          <a:xfrm>
            <a:off x="1559819" y="133431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B38E9E0C-A6FB-40A5-741B-3A4E2BB2D126}"/>
              </a:ext>
            </a:extLst>
          </p:cNvPr>
          <p:cNvSpPr/>
          <p:nvPr/>
        </p:nvSpPr>
        <p:spPr>
          <a:xfrm>
            <a:off x="295275" y="798195"/>
            <a:ext cx="1141793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8D377995-750B-8EDB-60DE-41969847675E}"/>
              </a:ext>
            </a:extLst>
          </p:cNvPr>
          <p:cNvSpPr/>
          <p:nvPr/>
        </p:nvSpPr>
        <p:spPr>
          <a:xfrm>
            <a:off x="4909917" y="261747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a:extLst>
              <a:ext uri="{FF2B5EF4-FFF2-40B4-BE49-F238E27FC236}">
                <a16:creationId xmlns:a16="http://schemas.microsoft.com/office/drawing/2014/main" id="{CD138D4A-19C3-AFD8-9B47-5DCB682529E4}"/>
              </a:ext>
            </a:extLst>
          </p:cNvPr>
          <p:cNvSpPr/>
          <p:nvPr/>
        </p:nvSpPr>
        <p:spPr>
          <a:xfrm>
            <a:off x="4247435" y="373459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a:extLst>
              <a:ext uri="{FF2B5EF4-FFF2-40B4-BE49-F238E27FC236}">
                <a16:creationId xmlns:a16="http://schemas.microsoft.com/office/drawing/2014/main" id="{2EB29A27-A5D6-6AB3-AC0D-CB29FC750E06}"/>
              </a:ext>
            </a:extLst>
          </p:cNvPr>
          <p:cNvSpPr/>
          <p:nvPr/>
        </p:nvSpPr>
        <p:spPr>
          <a:xfrm>
            <a:off x="5572398" y="377303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a:extLst>
              <a:ext uri="{FF2B5EF4-FFF2-40B4-BE49-F238E27FC236}">
                <a16:creationId xmlns:a16="http://schemas.microsoft.com/office/drawing/2014/main" id="{273A5578-54DC-33B1-D318-F8357F8B5E4C}"/>
              </a:ext>
            </a:extLst>
          </p:cNvPr>
          <p:cNvSpPr/>
          <p:nvPr/>
        </p:nvSpPr>
        <p:spPr>
          <a:xfrm>
            <a:off x="5599182" y="400775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a:extLst>
              <a:ext uri="{FF2B5EF4-FFF2-40B4-BE49-F238E27FC236}">
                <a16:creationId xmlns:a16="http://schemas.microsoft.com/office/drawing/2014/main" id="{0120EFB3-71F7-B35C-F5A2-E8F4DF32630F}"/>
              </a:ext>
            </a:extLst>
          </p:cNvPr>
          <p:cNvSpPr txBox="1"/>
          <p:nvPr/>
        </p:nvSpPr>
        <p:spPr>
          <a:xfrm>
            <a:off x="4931347" y="3154223"/>
            <a:ext cx="1974105"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车体移动</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5F741ADE-A1C6-A432-A840-E41A916CFBF1}"/>
              </a:ext>
            </a:extLst>
          </p:cNvPr>
          <p:cNvSpPr txBox="1"/>
          <p:nvPr/>
        </p:nvSpPr>
        <p:spPr>
          <a:xfrm>
            <a:off x="4404280" y="4510329"/>
            <a:ext cx="1114791" cy="369332"/>
          </a:xfrm>
          <a:prstGeom prst="rect">
            <a:avLst/>
          </a:prstGeom>
          <a:noFill/>
        </p:spPr>
        <p:txBody>
          <a:bodyPr wrap="square" rtlCol="0">
            <a:no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数据采集</a:t>
            </a:r>
            <a:endParaRPr lang="zh-CN" altLang="en-US" sz="1200" dirty="0">
              <a:solidFill>
                <a:srgbClr val="00B0F0"/>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136BB496-69C6-4E05-D2EC-9B87C89F368B}"/>
              </a:ext>
            </a:extLst>
          </p:cNvPr>
          <p:cNvSpPr txBox="1"/>
          <p:nvPr/>
        </p:nvSpPr>
        <p:spPr>
          <a:xfrm>
            <a:off x="6035594" y="4571083"/>
            <a:ext cx="1187951" cy="369332"/>
          </a:xfrm>
          <a:prstGeom prst="rect">
            <a:avLst/>
          </a:prstGeom>
          <a:noFill/>
        </p:spPr>
        <p:txBody>
          <a:bodyPr wrap="square" rtlCol="0">
            <a:spAutoFit/>
          </a:bodyPr>
          <a:lstStyle/>
          <a:p>
            <a:pPr algn="ctr"/>
            <a:r>
              <a:rPr lang="zh-CN" altLang="en-US" dirty="0">
                <a:solidFill>
                  <a:srgbClr val="0070C0"/>
                </a:solidFill>
                <a:latin typeface="微软雅黑" panose="020B0503020204020204" pitchFamily="34" charset="-122"/>
                <a:ea typeface="微软雅黑" panose="020B0503020204020204" pitchFamily="34" charset="-122"/>
              </a:rPr>
              <a:t>数据交换</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4564949B-7D6C-179A-78F9-52C8D1F38896}"/>
              </a:ext>
            </a:extLst>
          </p:cNvPr>
          <p:cNvSpPr txBox="1"/>
          <p:nvPr/>
        </p:nvSpPr>
        <p:spPr>
          <a:xfrm>
            <a:off x="2367264" y="1650287"/>
            <a:ext cx="7176582" cy="738664"/>
          </a:xfrm>
          <a:prstGeom prst="rect">
            <a:avLst/>
          </a:prstGeom>
          <a:noFill/>
        </p:spPr>
        <p:txBody>
          <a:bodyPr wrap="square" rtlCol="0">
            <a:spAutoFit/>
          </a:bodyPr>
          <a:lstStyle/>
          <a:p>
            <a:pPr algn="ctr"/>
            <a:r>
              <a:rPr lang="zh-CN" altLang="en-US" sz="1400" dirty="0">
                <a:latin typeface="+mn-ea"/>
              </a:rPr>
              <a:t>采用 </a:t>
            </a:r>
            <a:r>
              <a:rPr lang="en-US" altLang="zh-CN" sz="1400" dirty="0">
                <a:latin typeface="+mn-ea"/>
              </a:rPr>
              <a:t>STM32F407</a:t>
            </a:r>
            <a:r>
              <a:rPr lang="zh-CN" altLang="en-US" sz="1400" dirty="0">
                <a:latin typeface="+mn-ea"/>
              </a:rPr>
              <a:t> 高性能微控制器，集成 </a:t>
            </a:r>
            <a:r>
              <a:rPr lang="en-US" altLang="zh-CN" sz="1400" dirty="0" err="1">
                <a:latin typeface="+mn-ea"/>
              </a:rPr>
              <a:t>FreeRTOS</a:t>
            </a:r>
            <a:r>
              <a:rPr lang="en-US" altLang="zh-CN" sz="1400" dirty="0">
                <a:latin typeface="+mn-ea"/>
              </a:rPr>
              <a:t> </a:t>
            </a:r>
            <a:r>
              <a:rPr lang="zh-CN" altLang="en-US" sz="1400" dirty="0">
                <a:latin typeface="+mn-ea"/>
              </a:rPr>
              <a:t>实时操作系统，确保任务调度的确定性与系统响应的实时性。根据回传数据实现 </a:t>
            </a:r>
            <a:r>
              <a:rPr lang="en-US" altLang="zh-CN" sz="1400" dirty="0">
                <a:latin typeface="+mn-ea"/>
              </a:rPr>
              <a:t>PWM </a:t>
            </a:r>
            <a:r>
              <a:rPr lang="zh-CN" altLang="en-US" sz="1400" dirty="0">
                <a:latin typeface="+mn-ea"/>
              </a:rPr>
              <a:t>调速 与 </a:t>
            </a:r>
            <a:r>
              <a:rPr lang="en-US" altLang="zh-CN" sz="1400" dirty="0">
                <a:latin typeface="+mn-ea"/>
              </a:rPr>
              <a:t>PID </a:t>
            </a:r>
            <a:r>
              <a:rPr lang="zh-CN" altLang="en-US" sz="1400" dirty="0">
                <a:latin typeface="+mn-ea"/>
              </a:rPr>
              <a:t>闭环控制算法，支持多种运动学模型</a:t>
            </a:r>
          </a:p>
        </p:txBody>
      </p:sp>
      <p:sp>
        <p:nvSpPr>
          <p:cNvPr id="39" name="文本框 38">
            <a:extLst>
              <a:ext uri="{FF2B5EF4-FFF2-40B4-BE49-F238E27FC236}">
                <a16:creationId xmlns:a16="http://schemas.microsoft.com/office/drawing/2014/main" id="{522AEB3A-5061-CD08-F62F-BAB267AC57EA}"/>
              </a:ext>
            </a:extLst>
          </p:cNvPr>
          <p:cNvSpPr txBox="1"/>
          <p:nvPr/>
        </p:nvSpPr>
        <p:spPr>
          <a:xfrm>
            <a:off x="1720703" y="4499799"/>
            <a:ext cx="2420078" cy="95410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集成</a:t>
            </a:r>
            <a:r>
              <a:rPr lang="en-US" altLang="zh-CN" sz="1400" dirty="0">
                <a:latin typeface="微软雅黑" panose="020B0503020204020204" pitchFamily="34" charset="-122"/>
                <a:ea typeface="微软雅黑" panose="020B0503020204020204" pitchFamily="34" charset="-122"/>
              </a:rPr>
              <a:t>IMU</a:t>
            </a:r>
            <a:r>
              <a:rPr lang="zh-CN" altLang="en-US" sz="1400" dirty="0">
                <a:latin typeface="微软雅黑" panose="020B0503020204020204" pitchFamily="34" charset="-122"/>
                <a:ea typeface="微软雅黑" panose="020B0503020204020204" pitchFamily="34" charset="-122"/>
              </a:rPr>
              <a:t>和编码器实现姿态结算、里程计算，配置超声波、激光测距仪等传感器采集现场数据</a:t>
            </a:r>
          </a:p>
        </p:txBody>
      </p:sp>
      <p:sp>
        <p:nvSpPr>
          <p:cNvPr id="40" name="文本框 39">
            <a:extLst>
              <a:ext uri="{FF2B5EF4-FFF2-40B4-BE49-F238E27FC236}">
                <a16:creationId xmlns:a16="http://schemas.microsoft.com/office/drawing/2014/main" id="{F27805CF-3F68-9A0A-9B9F-CD567533F807}"/>
              </a:ext>
            </a:extLst>
          </p:cNvPr>
          <p:cNvSpPr txBox="1"/>
          <p:nvPr/>
        </p:nvSpPr>
        <p:spPr>
          <a:xfrm>
            <a:off x="7616518" y="4499798"/>
            <a:ext cx="2420078" cy="954107"/>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使用串口</a:t>
            </a:r>
            <a:r>
              <a:rPr lang="en-US" altLang="zh-CN" sz="1400" dirty="0">
                <a:latin typeface="微软雅黑" panose="020B0503020204020204" pitchFamily="34" charset="-122"/>
                <a:ea typeface="微软雅黑" panose="020B0503020204020204" pitchFamily="34" charset="-122"/>
              </a:rPr>
              <a:t>/CAN</a:t>
            </a:r>
            <a:r>
              <a:rPr lang="zh-CN" altLang="en-US" sz="1400" dirty="0">
                <a:latin typeface="微软雅黑" panose="020B0503020204020204" pitchFamily="34" charset="-122"/>
                <a:ea typeface="微软雅黑" panose="020B0503020204020204" pitchFamily="34" charset="-122"/>
              </a:rPr>
              <a:t>总线与</a:t>
            </a:r>
            <a:r>
              <a:rPr lang="en-US" altLang="zh-CN" sz="1400" dirty="0">
                <a:latin typeface="微软雅黑" panose="020B0503020204020204" pitchFamily="34" charset="-122"/>
                <a:ea typeface="微软雅黑" panose="020B0503020204020204" pitchFamily="34" charset="-122"/>
              </a:rPr>
              <a:t>ROS2/Jetson</a:t>
            </a:r>
            <a:r>
              <a:rPr lang="zh-CN" altLang="en-US" sz="1400" dirty="0">
                <a:latin typeface="微软雅黑" panose="020B0503020204020204" pitchFamily="34" charset="-122"/>
                <a:ea typeface="微软雅黑" panose="020B0503020204020204" pitchFamily="34" charset="-122"/>
              </a:rPr>
              <a:t>上位机进行姿态、历程、距离等数据交换，接收车体移动指令</a:t>
            </a:r>
          </a:p>
        </p:txBody>
      </p:sp>
      <p:sp>
        <p:nvSpPr>
          <p:cNvPr id="42" name="矩形 41">
            <a:extLst>
              <a:ext uri="{FF2B5EF4-FFF2-40B4-BE49-F238E27FC236}">
                <a16:creationId xmlns:a16="http://schemas.microsoft.com/office/drawing/2014/main" id="{4FCB61F7-5853-2D3D-61BB-C64986E0A105}"/>
              </a:ext>
            </a:extLst>
          </p:cNvPr>
          <p:cNvSpPr/>
          <p:nvPr/>
        </p:nvSpPr>
        <p:spPr>
          <a:xfrm>
            <a:off x="1786657" y="5529576"/>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CC62F650-B453-4303-87DC-720574E251A2}"/>
              </a:ext>
            </a:extLst>
          </p:cNvPr>
          <p:cNvSpPr/>
          <p:nvPr/>
        </p:nvSpPr>
        <p:spPr>
          <a:xfrm>
            <a:off x="7701074" y="551361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D26C4374-B6FC-CB70-02C6-A594C399B30E}"/>
              </a:ext>
            </a:extLst>
          </p:cNvPr>
          <p:cNvSpPr/>
          <p:nvPr/>
        </p:nvSpPr>
        <p:spPr>
          <a:xfrm>
            <a:off x="2111231" y="165028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a:extLst>
              <a:ext uri="{FF2B5EF4-FFF2-40B4-BE49-F238E27FC236}">
                <a16:creationId xmlns:a16="http://schemas.microsoft.com/office/drawing/2014/main" id="{DCB729FA-233F-0F80-B993-0E4B558F56A4}"/>
              </a:ext>
            </a:extLst>
          </p:cNvPr>
          <p:cNvSpPr/>
          <p:nvPr/>
        </p:nvSpPr>
        <p:spPr bwMode="auto">
          <a:xfrm rot="1573306" flipH="1">
            <a:off x="3941988" y="288735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a:extLst>
              <a:ext uri="{FF2B5EF4-FFF2-40B4-BE49-F238E27FC236}">
                <a16:creationId xmlns:a16="http://schemas.microsoft.com/office/drawing/2014/main" id="{50A46910-FCB7-D8A9-F7E4-8F2BF037F579}"/>
              </a:ext>
            </a:extLst>
          </p:cNvPr>
          <p:cNvSpPr/>
          <p:nvPr/>
        </p:nvSpPr>
        <p:spPr bwMode="auto">
          <a:xfrm rot="19761877" flipV="1">
            <a:off x="7314091" y="290236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a:extLst>
              <a:ext uri="{FF2B5EF4-FFF2-40B4-BE49-F238E27FC236}">
                <a16:creationId xmlns:a16="http://schemas.microsoft.com/office/drawing/2014/main" id="{04B633F2-BA20-BF2E-8C83-9226F88368E3}"/>
              </a:ext>
            </a:extLst>
          </p:cNvPr>
          <p:cNvSpPr/>
          <p:nvPr/>
        </p:nvSpPr>
        <p:spPr bwMode="auto">
          <a:xfrm rot="5400000" flipV="1">
            <a:off x="5778837" y="535740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pic>
        <p:nvPicPr>
          <p:cNvPr id="3" name="图片 2" descr="76b499643fee34819cb883d90f0351cf">
            <a:extLst>
              <a:ext uri="{FF2B5EF4-FFF2-40B4-BE49-F238E27FC236}">
                <a16:creationId xmlns:a16="http://schemas.microsoft.com/office/drawing/2014/main" id="{80FA5F68-CC8D-CBDB-CB56-A0E1B568F7F8}"/>
              </a:ext>
            </a:extLst>
          </p:cNvPr>
          <p:cNvPicPr>
            <a:picLocks noChangeAspect="1"/>
          </p:cNvPicPr>
          <p:nvPr/>
        </p:nvPicPr>
        <p:blipFill>
          <a:blip r:embed="rId3"/>
          <a:stretch>
            <a:fillRect/>
          </a:stretch>
        </p:blipFill>
        <p:spPr>
          <a:xfrm>
            <a:off x="10965180" y="0"/>
            <a:ext cx="748030" cy="748030"/>
          </a:xfrm>
          <a:prstGeom prst="rect">
            <a:avLst/>
          </a:prstGeom>
        </p:spPr>
      </p:pic>
      <p:sp>
        <p:nvSpPr>
          <p:cNvPr id="16" name="文本框 15">
            <a:extLst>
              <a:ext uri="{FF2B5EF4-FFF2-40B4-BE49-F238E27FC236}">
                <a16:creationId xmlns:a16="http://schemas.microsoft.com/office/drawing/2014/main" id="{BBB10020-1637-C76E-4E98-9FEDAD83FBB0}"/>
              </a:ext>
            </a:extLst>
          </p:cNvPr>
          <p:cNvSpPr txBox="1"/>
          <p:nvPr/>
        </p:nvSpPr>
        <p:spPr>
          <a:xfrm>
            <a:off x="295275" y="17146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电控部分</a:t>
            </a:r>
          </a:p>
        </p:txBody>
      </p:sp>
    </p:spTree>
    <p:extLst>
      <p:ext uri="{BB962C8B-B14F-4D97-AF65-F5344CB8AC3E}">
        <p14:creationId xmlns:p14="http://schemas.microsoft.com/office/powerpoint/2010/main" val="41921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3234508" y="3877448"/>
            <a:ext cx="8478488" cy="2620628"/>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1559819" y="1334311"/>
            <a:ext cx="8476777" cy="2270314"/>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95275" y="798195"/>
            <a:ext cx="1141793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p:cNvSpPr/>
          <p:nvPr/>
        </p:nvSpPr>
        <p:spPr>
          <a:xfrm>
            <a:off x="4909917" y="2617479"/>
            <a:ext cx="1882359" cy="1839521"/>
          </a:xfrm>
          <a:custGeom>
            <a:avLst/>
            <a:gdLst>
              <a:gd name="connsiteX0" fmla="*/ 509588 w 1019176"/>
              <a:gd name="connsiteY0" fmla="*/ 0 h 995982"/>
              <a:gd name="connsiteX1" fmla="*/ 1019176 w 1019176"/>
              <a:gd name="connsiteY1" fmla="*/ 509588 h 995982"/>
              <a:gd name="connsiteX2" fmla="*/ 1008823 w 1019176"/>
              <a:gd name="connsiteY2" fmla="*/ 612288 h 995982"/>
              <a:gd name="connsiteX3" fmla="*/ 1004675 w 1019176"/>
              <a:gd name="connsiteY3" fmla="*/ 625651 h 995982"/>
              <a:gd name="connsiteX4" fmla="*/ 1004002 w 1019176"/>
              <a:gd name="connsiteY4" fmla="*/ 625442 h 995982"/>
              <a:gd name="connsiteX5" fmla="*/ 979131 w 1019176"/>
              <a:gd name="connsiteY5" fmla="*/ 705562 h 995982"/>
              <a:gd name="connsiteX6" fmla="*/ 707944 w 1019176"/>
              <a:gd name="connsiteY6" fmla="*/ 976749 h 995982"/>
              <a:gd name="connsiteX7" fmla="*/ 645985 w 1019176"/>
              <a:gd name="connsiteY7" fmla="*/ 995982 h 995982"/>
              <a:gd name="connsiteX8" fmla="*/ 620440 w 1019176"/>
              <a:gd name="connsiteY8" fmla="*/ 913689 h 995982"/>
              <a:gd name="connsiteX9" fmla="*/ 511231 w 1019176"/>
              <a:gd name="connsiteY9" fmla="*/ 751711 h 995982"/>
              <a:gd name="connsiteX10" fmla="*/ 511032 w 1019176"/>
              <a:gd name="connsiteY10" fmla="*/ 751547 h 995982"/>
              <a:gd name="connsiteX11" fmla="*/ 509589 w 1019176"/>
              <a:gd name="connsiteY11" fmla="*/ 752738 h 995982"/>
              <a:gd name="connsiteX12" fmla="*/ 435813 w 1019176"/>
              <a:gd name="connsiteY12" fmla="*/ 691867 h 995982"/>
              <a:gd name="connsiteX13" fmla="*/ 150897 w 1019176"/>
              <a:gd name="connsiteY13" fmla="*/ 604837 h 995982"/>
              <a:gd name="connsiteX14" fmla="*/ 48197 w 1019176"/>
              <a:gd name="connsiteY14" fmla="*/ 615190 h 995982"/>
              <a:gd name="connsiteX15" fmla="*/ 14501 w 1019176"/>
              <a:gd name="connsiteY15" fmla="*/ 625650 h 995982"/>
              <a:gd name="connsiteX16" fmla="*/ 10353 w 1019176"/>
              <a:gd name="connsiteY16" fmla="*/ 612288 h 995982"/>
              <a:gd name="connsiteX17" fmla="*/ 0 w 1019176"/>
              <a:gd name="connsiteY17" fmla="*/ 509588 h 995982"/>
              <a:gd name="connsiteX18" fmla="*/ 509588 w 1019176"/>
              <a:gd name="connsiteY18" fmla="*/ 0 h 99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9176" h="995982">
                <a:moveTo>
                  <a:pt x="509588" y="0"/>
                </a:moveTo>
                <a:cubicBezTo>
                  <a:pt x="791026" y="0"/>
                  <a:pt x="1019176" y="228150"/>
                  <a:pt x="1019176" y="509588"/>
                </a:cubicBezTo>
                <a:cubicBezTo>
                  <a:pt x="1019176" y="544768"/>
                  <a:pt x="1015611" y="579115"/>
                  <a:pt x="1008823" y="612288"/>
                </a:cubicBezTo>
                <a:lnTo>
                  <a:pt x="1004675" y="625651"/>
                </a:lnTo>
                <a:lnTo>
                  <a:pt x="1004002" y="625442"/>
                </a:lnTo>
                <a:lnTo>
                  <a:pt x="979131" y="705562"/>
                </a:lnTo>
                <a:cubicBezTo>
                  <a:pt x="927558" y="827494"/>
                  <a:pt x="829876" y="925176"/>
                  <a:pt x="707944" y="976749"/>
                </a:cubicBezTo>
                <a:lnTo>
                  <a:pt x="645985" y="995982"/>
                </a:lnTo>
                <a:lnTo>
                  <a:pt x="620440" y="913689"/>
                </a:lnTo>
                <a:cubicBezTo>
                  <a:pt x="594654" y="852723"/>
                  <a:pt x="557340" y="797820"/>
                  <a:pt x="511231" y="751711"/>
                </a:cubicBezTo>
                <a:lnTo>
                  <a:pt x="511032" y="751547"/>
                </a:lnTo>
                <a:lnTo>
                  <a:pt x="509589" y="752738"/>
                </a:lnTo>
                <a:lnTo>
                  <a:pt x="435813" y="691867"/>
                </a:lnTo>
                <a:cubicBezTo>
                  <a:pt x="354482" y="636921"/>
                  <a:pt x="256436" y="604837"/>
                  <a:pt x="150897" y="604837"/>
                </a:cubicBezTo>
                <a:cubicBezTo>
                  <a:pt x="115717" y="604837"/>
                  <a:pt x="81370" y="608402"/>
                  <a:pt x="48197" y="615190"/>
                </a:cubicBezTo>
                <a:lnTo>
                  <a:pt x="14501" y="625650"/>
                </a:lnTo>
                <a:lnTo>
                  <a:pt x="10353" y="612288"/>
                </a:lnTo>
                <a:cubicBezTo>
                  <a:pt x="3565" y="579115"/>
                  <a:pt x="0" y="544768"/>
                  <a:pt x="0" y="509588"/>
                </a:cubicBezTo>
                <a:cubicBezTo>
                  <a:pt x="0" y="228150"/>
                  <a:pt x="228150" y="0"/>
                  <a:pt x="509588" y="0"/>
                </a:cubicBezTo>
                <a:close/>
              </a:path>
            </a:pathLst>
          </a:cu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19" name="任意多边形: 形状 18"/>
          <p:cNvSpPr/>
          <p:nvPr/>
        </p:nvSpPr>
        <p:spPr>
          <a:xfrm>
            <a:off x="4247435" y="3734591"/>
            <a:ext cx="1603663" cy="1882359"/>
          </a:xfrm>
          <a:custGeom>
            <a:avLst/>
            <a:gdLst>
              <a:gd name="connsiteX0" fmla="*/ 509588 w 868280"/>
              <a:gd name="connsiteY0" fmla="*/ 0 h 1019176"/>
              <a:gd name="connsiteX1" fmla="*/ 794504 w 868280"/>
              <a:gd name="connsiteY1" fmla="*/ 87030 h 1019176"/>
              <a:gd name="connsiteX2" fmla="*/ 868280 w 868280"/>
              <a:gd name="connsiteY2" fmla="*/ 147901 h 1019176"/>
              <a:gd name="connsiteX3" fmla="*/ 866637 w 868280"/>
              <a:gd name="connsiteY3" fmla="*/ 149256 h 1019176"/>
              <a:gd name="connsiteX4" fmla="*/ 757428 w 868280"/>
              <a:gd name="connsiteY4" fmla="*/ 311234 h 1019176"/>
              <a:gd name="connsiteX5" fmla="*/ 731883 w 868280"/>
              <a:gd name="connsiteY5" fmla="*/ 393526 h 1019176"/>
              <a:gd name="connsiteX6" fmla="*/ 727735 w 868280"/>
              <a:gd name="connsiteY6" fmla="*/ 406889 h 1019176"/>
              <a:gd name="connsiteX7" fmla="*/ 717382 w 868280"/>
              <a:gd name="connsiteY7" fmla="*/ 509589 h 1019176"/>
              <a:gd name="connsiteX8" fmla="*/ 866637 w 868280"/>
              <a:gd name="connsiteY8" fmla="*/ 869922 h 1019176"/>
              <a:gd name="connsiteX9" fmla="*/ 868279 w 868280"/>
              <a:gd name="connsiteY9" fmla="*/ 871277 h 1019176"/>
              <a:gd name="connsiteX10" fmla="*/ 794504 w 868280"/>
              <a:gd name="connsiteY10" fmla="*/ 932146 h 1019176"/>
              <a:gd name="connsiteX11" fmla="*/ 509588 w 868280"/>
              <a:gd name="connsiteY11" fmla="*/ 1019176 h 1019176"/>
              <a:gd name="connsiteX12" fmla="*/ 0 w 868280"/>
              <a:gd name="connsiteY12" fmla="*/ 509588 h 1019176"/>
              <a:gd name="connsiteX13" fmla="*/ 311233 w 868280"/>
              <a:gd name="connsiteY13" fmla="*/ 40046 h 1019176"/>
              <a:gd name="connsiteX14" fmla="*/ 373192 w 868280"/>
              <a:gd name="connsiteY14" fmla="*/ 20813 h 1019176"/>
              <a:gd name="connsiteX15" fmla="*/ 406888 w 868280"/>
              <a:gd name="connsiteY15" fmla="*/ 10353 h 1019176"/>
              <a:gd name="connsiteX16" fmla="*/ 509588 w 868280"/>
              <a:gd name="connsiteY16" fmla="*/ 0 h 101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8280" h="1019176">
                <a:moveTo>
                  <a:pt x="509588" y="0"/>
                </a:moveTo>
                <a:cubicBezTo>
                  <a:pt x="615127" y="0"/>
                  <a:pt x="713173" y="32084"/>
                  <a:pt x="794504" y="87030"/>
                </a:cubicBezTo>
                <a:lnTo>
                  <a:pt x="868280" y="147901"/>
                </a:lnTo>
                <a:lnTo>
                  <a:pt x="866637" y="149256"/>
                </a:lnTo>
                <a:cubicBezTo>
                  <a:pt x="820528" y="195365"/>
                  <a:pt x="783215" y="250268"/>
                  <a:pt x="757428" y="311234"/>
                </a:cubicBezTo>
                <a:lnTo>
                  <a:pt x="731883" y="393526"/>
                </a:lnTo>
                <a:lnTo>
                  <a:pt x="727735" y="406889"/>
                </a:lnTo>
                <a:cubicBezTo>
                  <a:pt x="720947" y="440062"/>
                  <a:pt x="717382" y="474409"/>
                  <a:pt x="717382" y="509589"/>
                </a:cubicBezTo>
                <a:cubicBezTo>
                  <a:pt x="717382" y="650308"/>
                  <a:pt x="774420" y="777705"/>
                  <a:pt x="866637" y="869922"/>
                </a:cubicBezTo>
                <a:lnTo>
                  <a:pt x="868279" y="871277"/>
                </a:lnTo>
                <a:lnTo>
                  <a:pt x="794504" y="932146"/>
                </a:lnTo>
                <a:cubicBezTo>
                  <a:pt x="713173" y="987093"/>
                  <a:pt x="615127" y="1019176"/>
                  <a:pt x="509588" y="1019176"/>
                </a:cubicBezTo>
                <a:cubicBezTo>
                  <a:pt x="228150" y="1019176"/>
                  <a:pt x="0" y="791026"/>
                  <a:pt x="0" y="509588"/>
                </a:cubicBezTo>
                <a:cubicBezTo>
                  <a:pt x="0" y="298510"/>
                  <a:pt x="128334" y="117406"/>
                  <a:pt x="311233" y="40046"/>
                </a:cubicBezTo>
                <a:lnTo>
                  <a:pt x="373192" y="20813"/>
                </a:lnTo>
                <a:lnTo>
                  <a:pt x="406888" y="10353"/>
                </a:lnTo>
                <a:cubicBezTo>
                  <a:pt x="440061" y="3565"/>
                  <a:pt x="474408" y="0"/>
                  <a:pt x="509588" y="0"/>
                </a:cubicBezTo>
                <a:close/>
              </a:path>
            </a:pathLst>
          </a:custGeom>
          <a:solidFill>
            <a:schemeClr val="accent1">
              <a:lumMod val="60000"/>
              <a:lumOff val="4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0" name="任意多边形: 形状 19"/>
          <p:cNvSpPr/>
          <p:nvPr/>
        </p:nvSpPr>
        <p:spPr>
          <a:xfrm>
            <a:off x="5572398" y="3773036"/>
            <a:ext cx="1882359" cy="1843918"/>
          </a:xfrm>
          <a:custGeom>
            <a:avLst/>
            <a:gdLst>
              <a:gd name="connsiteX0" fmla="*/ 645984 w 1019176"/>
              <a:gd name="connsiteY0" fmla="*/ 0 h 998363"/>
              <a:gd name="connsiteX1" fmla="*/ 707943 w 1019176"/>
              <a:gd name="connsiteY1" fmla="*/ 19233 h 998363"/>
              <a:gd name="connsiteX2" fmla="*/ 1019176 w 1019176"/>
              <a:gd name="connsiteY2" fmla="*/ 488775 h 998363"/>
              <a:gd name="connsiteX3" fmla="*/ 509588 w 1019176"/>
              <a:gd name="connsiteY3" fmla="*/ 998363 h 998363"/>
              <a:gd name="connsiteX4" fmla="*/ 224672 w 1019176"/>
              <a:gd name="connsiteY4" fmla="*/ 911333 h 998363"/>
              <a:gd name="connsiteX5" fmla="*/ 150897 w 1019176"/>
              <a:gd name="connsiteY5" fmla="*/ 850463 h 998363"/>
              <a:gd name="connsiteX6" fmla="*/ 149255 w 1019176"/>
              <a:gd name="connsiteY6" fmla="*/ 849108 h 998363"/>
              <a:gd name="connsiteX7" fmla="*/ 0 w 1019176"/>
              <a:gd name="connsiteY7" fmla="*/ 488775 h 998363"/>
              <a:gd name="connsiteX8" fmla="*/ 10353 w 1019176"/>
              <a:gd name="connsiteY8" fmla="*/ 386075 h 998363"/>
              <a:gd name="connsiteX9" fmla="*/ 14501 w 1019176"/>
              <a:gd name="connsiteY9" fmla="*/ 372712 h 998363"/>
              <a:gd name="connsiteX10" fmla="*/ 48197 w 1019176"/>
              <a:gd name="connsiteY10" fmla="*/ 383172 h 998363"/>
              <a:gd name="connsiteX11" fmla="*/ 150897 w 1019176"/>
              <a:gd name="connsiteY11" fmla="*/ 393525 h 998363"/>
              <a:gd name="connsiteX12" fmla="*/ 253597 w 1019176"/>
              <a:gd name="connsiteY12" fmla="*/ 383172 h 998363"/>
              <a:gd name="connsiteX13" fmla="*/ 287293 w 1019176"/>
              <a:gd name="connsiteY13" fmla="*/ 372712 h 998363"/>
              <a:gd name="connsiteX14" fmla="*/ 349252 w 1019176"/>
              <a:gd name="connsiteY14" fmla="*/ 353479 h 998363"/>
              <a:gd name="connsiteX15" fmla="*/ 620439 w 1019176"/>
              <a:gd name="connsiteY15" fmla="*/ 82292 h 99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19176" h="998363">
                <a:moveTo>
                  <a:pt x="645984" y="0"/>
                </a:moveTo>
                <a:lnTo>
                  <a:pt x="707943" y="19233"/>
                </a:lnTo>
                <a:cubicBezTo>
                  <a:pt x="890842" y="96593"/>
                  <a:pt x="1019176" y="277697"/>
                  <a:pt x="1019176" y="488775"/>
                </a:cubicBezTo>
                <a:cubicBezTo>
                  <a:pt x="1019176" y="770213"/>
                  <a:pt x="791026" y="998363"/>
                  <a:pt x="509588" y="998363"/>
                </a:cubicBezTo>
                <a:cubicBezTo>
                  <a:pt x="404049" y="998363"/>
                  <a:pt x="306003" y="966280"/>
                  <a:pt x="224672" y="911333"/>
                </a:cubicBezTo>
                <a:lnTo>
                  <a:pt x="150897" y="850463"/>
                </a:lnTo>
                <a:lnTo>
                  <a:pt x="149255" y="849108"/>
                </a:lnTo>
                <a:cubicBezTo>
                  <a:pt x="57038" y="756891"/>
                  <a:pt x="0" y="629494"/>
                  <a:pt x="0" y="488775"/>
                </a:cubicBezTo>
                <a:cubicBezTo>
                  <a:pt x="0" y="453595"/>
                  <a:pt x="3565" y="419248"/>
                  <a:pt x="10353" y="386075"/>
                </a:cubicBezTo>
                <a:lnTo>
                  <a:pt x="14501" y="372712"/>
                </a:lnTo>
                <a:lnTo>
                  <a:pt x="48197" y="383172"/>
                </a:lnTo>
                <a:cubicBezTo>
                  <a:pt x="81370" y="389960"/>
                  <a:pt x="115717" y="393525"/>
                  <a:pt x="150897" y="393525"/>
                </a:cubicBezTo>
                <a:cubicBezTo>
                  <a:pt x="186077" y="393525"/>
                  <a:pt x="220424" y="389960"/>
                  <a:pt x="253597" y="383172"/>
                </a:cubicBezTo>
                <a:lnTo>
                  <a:pt x="287293" y="372712"/>
                </a:lnTo>
                <a:lnTo>
                  <a:pt x="349252" y="353479"/>
                </a:lnTo>
                <a:cubicBezTo>
                  <a:pt x="471184" y="301906"/>
                  <a:pt x="568866" y="204224"/>
                  <a:pt x="620439" y="82292"/>
                </a:cubicBezTo>
                <a:close/>
              </a:path>
            </a:pathLst>
          </a:custGeom>
          <a:solidFill>
            <a:schemeClr val="accent1">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1" name="任意多边形: 形状 20"/>
          <p:cNvSpPr/>
          <p:nvPr/>
        </p:nvSpPr>
        <p:spPr>
          <a:xfrm>
            <a:off x="5599182" y="4007758"/>
            <a:ext cx="503831" cy="492096"/>
          </a:xfrm>
          <a:custGeom>
            <a:avLst/>
            <a:gdLst>
              <a:gd name="connsiteX0" fmla="*/ 136397 w 272792"/>
              <a:gd name="connsiteY0" fmla="*/ 0 h 266438"/>
              <a:gd name="connsiteX1" fmla="*/ 138038 w 272792"/>
              <a:gd name="connsiteY1" fmla="*/ 1354 h 266438"/>
              <a:gd name="connsiteX2" fmla="*/ 247247 w 272792"/>
              <a:gd name="connsiteY2" fmla="*/ 163332 h 266438"/>
              <a:gd name="connsiteX3" fmla="*/ 272792 w 272792"/>
              <a:gd name="connsiteY3" fmla="*/ 245625 h 266438"/>
              <a:gd name="connsiteX4" fmla="*/ 239096 w 272792"/>
              <a:gd name="connsiteY4" fmla="*/ 256085 h 266438"/>
              <a:gd name="connsiteX5" fmla="*/ 136396 w 272792"/>
              <a:gd name="connsiteY5" fmla="*/ 266438 h 266438"/>
              <a:gd name="connsiteX6" fmla="*/ 33696 w 272792"/>
              <a:gd name="connsiteY6" fmla="*/ 256085 h 266438"/>
              <a:gd name="connsiteX7" fmla="*/ 0 w 272792"/>
              <a:gd name="connsiteY7" fmla="*/ 245625 h 266438"/>
              <a:gd name="connsiteX8" fmla="*/ 25545 w 272792"/>
              <a:gd name="connsiteY8" fmla="*/ 163333 h 266438"/>
              <a:gd name="connsiteX9" fmla="*/ 134754 w 272792"/>
              <a:gd name="connsiteY9" fmla="*/ 1355 h 266438"/>
              <a:gd name="connsiteX10" fmla="*/ 136397 w 272792"/>
              <a:gd name="connsiteY10" fmla="*/ 0 h 26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92" h="266438">
                <a:moveTo>
                  <a:pt x="136397" y="0"/>
                </a:moveTo>
                <a:lnTo>
                  <a:pt x="138038" y="1354"/>
                </a:lnTo>
                <a:cubicBezTo>
                  <a:pt x="184147" y="47463"/>
                  <a:pt x="221461" y="102366"/>
                  <a:pt x="247247" y="163332"/>
                </a:cubicBezTo>
                <a:lnTo>
                  <a:pt x="272792" y="245625"/>
                </a:lnTo>
                <a:lnTo>
                  <a:pt x="239096" y="256085"/>
                </a:lnTo>
                <a:cubicBezTo>
                  <a:pt x="205923" y="262873"/>
                  <a:pt x="171576" y="266438"/>
                  <a:pt x="136396" y="266438"/>
                </a:cubicBezTo>
                <a:cubicBezTo>
                  <a:pt x="101216" y="266438"/>
                  <a:pt x="66869" y="262873"/>
                  <a:pt x="33696" y="256085"/>
                </a:cubicBezTo>
                <a:lnTo>
                  <a:pt x="0" y="245625"/>
                </a:lnTo>
                <a:lnTo>
                  <a:pt x="25545" y="163333"/>
                </a:lnTo>
                <a:cubicBezTo>
                  <a:pt x="51332" y="102367"/>
                  <a:pt x="88645" y="47464"/>
                  <a:pt x="134754" y="1355"/>
                </a:cubicBezTo>
                <a:lnTo>
                  <a:pt x="136397" y="0"/>
                </a:lnTo>
                <a:close/>
              </a:path>
            </a:pathLst>
          </a:custGeom>
          <a:solidFill>
            <a:schemeClr val="bg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b="1"/>
          </a:p>
        </p:txBody>
      </p:sp>
      <p:sp>
        <p:nvSpPr>
          <p:cNvPr id="22" name="文本框 21"/>
          <p:cNvSpPr txBox="1"/>
          <p:nvPr/>
        </p:nvSpPr>
        <p:spPr>
          <a:xfrm>
            <a:off x="4864043" y="3087240"/>
            <a:ext cx="1974105" cy="55308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硬件平台准备</a:t>
            </a: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4339590" y="4414520"/>
            <a:ext cx="1336675" cy="918845"/>
          </a:xfrm>
          <a:prstGeom prst="rect">
            <a:avLst/>
          </a:prstGeom>
          <a:noFill/>
        </p:spPr>
        <p:txBody>
          <a:bodyPr wrap="square" rtlCol="0">
            <a:noAutofit/>
          </a:bodyPr>
          <a:lstStyle/>
          <a:p>
            <a:pPr algn="ctr"/>
            <a:r>
              <a:rPr lang="zh-CN" altLang="en-US" dirty="0">
                <a:solidFill>
                  <a:schemeClr val="tx1"/>
                </a:solidFill>
                <a:latin typeface="微软雅黑" panose="020B0503020204020204" pitchFamily="34" charset="-122"/>
                <a:ea typeface="微软雅黑" panose="020B0503020204020204" pitchFamily="34" charset="-122"/>
              </a:rPr>
              <a:t>技术环境</a:t>
            </a:r>
          </a:p>
          <a:p>
            <a:pPr algn="ctr"/>
            <a:r>
              <a:rPr lang="zh-CN" altLang="en-US" dirty="0">
                <a:solidFill>
                  <a:schemeClr val="tx1"/>
                </a:solidFill>
                <a:latin typeface="微软雅黑" panose="020B0503020204020204" pitchFamily="34" charset="-122"/>
                <a:ea typeface="微软雅黑" panose="020B0503020204020204" pitchFamily="34" charset="-122"/>
              </a:rPr>
              <a:t>准备</a:t>
            </a:r>
            <a:endParaRPr lang="zh-CN" altLang="en-US" dirty="0">
              <a:solidFill>
                <a:srgbClr val="00B0F0"/>
              </a:solidFill>
              <a:latin typeface="微软雅黑" panose="020B0503020204020204" pitchFamily="34" charset="-122"/>
              <a:ea typeface="微软雅黑" panose="020B0503020204020204" pitchFamily="34" charset="-122"/>
            </a:endParaRPr>
          </a:p>
          <a:p>
            <a:pPr algn="ctr"/>
            <a:endParaRPr lang="zh-CN" altLang="en-US" sz="1200" dirty="0">
              <a:solidFill>
                <a:srgbClr val="00B0F0"/>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5676074" y="4457059"/>
            <a:ext cx="1974105" cy="829945"/>
          </a:xfrm>
          <a:prstGeom prst="rect">
            <a:avLst/>
          </a:prstGeom>
          <a:noFill/>
        </p:spPr>
        <p:txBody>
          <a:bodyPr wrap="square" rtlCol="0">
            <a:spAutoFit/>
          </a:bodyPr>
          <a:lstStyle/>
          <a:p>
            <a:pPr algn="ctr"/>
            <a:r>
              <a:rPr lang="zh-CN" altLang="en-US" dirty="0">
                <a:solidFill>
                  <a:srgbClr val="0070C0"/>
                </a:solidFill>
                <a:latin typeface="微软雅黑" panose="020B0503020204020204" pitchFamily="34" charset="-122"/>
                <a:ea typeface="微软雅黑" panose="020B0503020204020204" pitchFamily="34" charset="-122"/>
              </a:rPr>
              <a:t>数据与知识</a:t>
            </a:r>
          </a:p>
          <a:p>
            <a:pPr algn="ctr"/>
            <a:r>
              <a:rPr lang="zh-CN" altLang="en-US" dirty="0">
                <a:solidFill>
                  <a:srgbClr val="0070C0"/>
                </a:solidFill>
                <a:latin typeface="微软雅黑" panose="020B0503020204020204" pitchFamily="34" charset="-122"/>
                <a:ea typeface="微软雅黑" panose="020B0503020204020204" pitchFamily="34" charset="-122"/>
              </a:rPr>
              <a:t>准备</a:t>
            </a:r>
            <a:endParaRPr lang="zh-CN" altLang="en-US" dirty="0">
              <a:solidFill>
                <a:schemeClr val="bg1"/>
              </a:solidFill>
              <a:latin typeface="微软雅黑" panose="020B0503020204020204" pitchFamily="34" charset="-122"/>
              <a:ea typeface="微软雅黑" panose="020B0503020204020204" pitchFamily="34" charset="-122"/>
            </a:endParaRPr>
          </a:p>
          <a:p>
            <a:pPr algn="ct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2367264" y="1650287"/>
            <a:ext cx="7176582" cy="523220"/>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完成四轮全向移动机器人底盘结构设计与加工，完成</a:t>
            </a:r>
            <a:r>
              <a:rPr lang="en-US" altLang="zh-CN" sz="1400" dirty="0">
                <a:latin typeface="微软雅黑" panose="020B0503020204020204" pitchFamily="34" charset="-122"/>
                <a:ea typeface="微软雅黑" panose="020B0503020204020204" pitchFamily="34" charset="-122"/>
              </a:rPr>
              <a:t> STM32 </a:t>
            </a:r>
            <a:r>
              <a:rPr lang="zh-CN" altLang="en-US" sz="1400" dirty="0">
                <a:latin typeface="微软雅黑" panose="020B0503020204020204" pitchFamily="34" charset="-122"/>
                <a:ea typeface="微软雅黑" panose="020B0503020204020204" pitchFamily="34" charset="-122"/>
              </a:rPr>
              <a:t>控制板、</a:t>
            </a:r>
            <a:r>
              <a:rPr lang="en-US" altLang="zh-CN" sz="1400" dirty="0">
                <a:latin typeface="微软雅黑" panose="020B0503020204020204" pitchFamily="34" charset="-122"/>
                <a:ea typeface="微软雅黑" panose="020B0503020204020204" pitchFamily="34" charset="-122"/>
              </a:rPr>
              <a:t>Jetson </a:t>
            </a:r>
            <a:r>
              <a:rPr lang="zh-CN" altLang="en-US" sz="1400" dirty="0">
                <a:latin typeface="微软雅黑" panose="020B0503020204020204" pitchFamily="34" charset="-122"/>
                <a:ea typeface="微软雅黑" panose="020B0503020204020204" pitchFamily="34" charset="-122"/>
              </a:rPr>
              <a:t>边缘计算平台、激光雷达、多模态传感器的选型与集成，搭建稳定硬件实验环境。</a:t>
            </a:r>
          </a:p>
        </p:txBody>
      </p:sp>
      <p:sp>
        <p:nvSpPr>
          <p:cNvPr id="39" name="文本框 38"/>
          <p:cNvSpPr txBox="1"/>
          <p:nvPr/>
        </p:nvSpPr>
        <p:spPr>
          <a:xfrm>
            <a:off x="1720703" y="4499799"/>
            <a:ext cx="2420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搭建</a:t>
            </a:r>
            <a:r>
              <a:rPr lang="en-US" altLang="zh-CN" sz="1200" dirty="0">
                <a:latin typeface="微软雅黑" panose="020B0503020204020204" pitchFamily="34" charset="-122"/>
                <a:ea typeface="微软雅黑" panose="020B0503020204020204" pitchFamily="34" charset="-122"/>
              </a:rPr>
              <a:t> ROS2+Humble </a:t>
            </a:r>
            <a:r>
              <a:rPr lang="zh-CN" altLang="en-US" sz="1200" dirty="0">
                <a:latin typeface="微软雅黑" panose="020B0503020204020204" pitchFamily="34" charset="-122"/>
                <a:ea typeface="微软雅黑" panose="020B0503020204020204" pitchFamily="34" charset="-122"/>
              </a:rPr>
              <a:t>开发环境，配置</a:t>
            </a:r>
            <a:r>
              <a:rPr lang="en-US" altLang="zh-CN" sz="1200" dirty="0">
                <a:latin typeface="微软雅黑" panose="020B0503020204020204" pitchFamily="34" charset="-122"/>
                <a:ea typeface="微软雅黑" panose="020B0503020204020204" pitchFamily="34" charset="-122"/>
              </a:rPr>
              <a:t> Ubuntu </a:t>
            </a:r>
            <a:r>
              <a:rPr lang="zh-CN" altLang="en-US" sz="1200" dirty="0">
                <a:latin typeface="微软雅黑" panose="020B0503020204020204" pitchFamily="34" charset="-122"/>
                <a:ea typeface="微软雅黑" panose="020B0503020204020204" pitchFamily="34" charset="-122"/>
              </a:rPr>
              <a:t>系统、</a:t>
            </a:r>
            <a:r>
              <a:rPr lang="en-US" altLang="zh-CN" sz="1200" dirty="0">
                <a:latin typeface="微软雅黑" panose="020B0503020204020204" pitchFamily="34" charset="-122"/>
                <a:ea typeface="微软雅黑" panose="020B0503020204020204" pitchFamily="34" charset="-122"/>
              </a:rPr>
              <a:t>PyTorch </a:t>
            </a:r>
            <a:r>
              <a:rPr lang="zh-CN" altLang="en-US" sz="1200" dirty="0">
                <a:latin typeface="微软雅黑" panose="020B0503020204020204" pitchFamily="34" charset="-122"/>
                <a:ea typeface="微软雅黑" panose="020B0503020204020204" pitchFamily="34" charset="-122"/>
              </a:rPr>
              <a:t>深度学习框架、</a:t>
            </a:r>
            <a:r>
              <a:rPr lang="en-US" altLang="zh-CN" sz="1200" dirty="0">
                <a:latin typeface="微软雅黑" panose="020B0503020204020204" pitchFamily="34" charset="-122"/>
                <a:ea typeface="微软雅黑" panose="020B0503020204020204" pitchFamily="34" charset="-122"/>
              </a:rPr>
              <a:t>TensorRT </a:t>
            </a:r>
            <a:r>
              <a:rPr lang="zh-CN" altLang="en-US" sz="1200" dirty="0">
                <a:latin typeface="微软雅黑" panose="020B0503020204020204" pitchFamily="34" charset="-122"/>
                <a:ea typeface="微软雅黑" panose="020B0503020204020204" pitchFamily="34" charset="-122"/>
              </a:rPr>
              <a:t>加速工具，完成</a:t>
            </a:r>
            <a:r>
              <a:rPr lang="en-US" altLang="zh-CN" sz="1200" dirty="0">
                <a:latin typeface="微软雅黑" panose="020B0503020204020204" pitchFamily="34" charset="-122"/>
                <a:ea typeface="微软雅黑" panose="020B0503020204020204" pitchFamily="34" charset="-122"/>
              </a:rPr>
              <a:t> SLAM</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YOLOv8</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VLM</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RAG </a:t>
            </a:r>
            <a:r>
              <a:rPr lang="zh-CN" altLang="en-US" sz="1200" dirty="0">
                <a:latin typeface="微软雅黑" panose="020B0503020204020204" pitchFamily="34" charset="-122"/>
                <a:ea typeface="微软雅黑" panose="020B0503020204020204" pitchFamily="34" charset="-122"/>
              </a:rPr>
              <a:t>等核心算法环境部署。</a:t>
            </a:r>
          </a:p>
        </p:txBody>
      </p:sp>
      <p:sp>
        <p:nvSpPr>
          <p:cNvPr id="40" name="文本框 39"/>
          <p:cNvSpPr txBox="1"/>
          <p:nvPr/>
        </p:nvSpPr>
        <p:spPr>
          <a:xfrm>
            <a:off x="7626992" y="4319489"/>
            <a:ext cx="2420078" cy="1014730"/>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收集工业设备手册、故障案例、维修文档等资料，构建工业设备知识图谱与向量数据库，准备用于模型训练与验证的工业场景数据集。</a:t>
            </a:r>
          </a:p>
        </p:txBody>
      </p:sp>
      <p:sp>
        <p:nvSpPr>
          <p:cNvPr id="42" name="矩形 41"/>
          <p:cNvSpPr/>
          <p:nvPr/>
        </p:nvSpPr>
        <p:spPr>
          <a:xfrm>
            <a:off x="1786657" y="5529576"/>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7701074" y="5513613"/>
            <a:ext cx="2124958" cy="876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2111231" y="1650286"/>
            <a:ext cx="84507" cy="64633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18"/>
          <p:cNvSpPr/>
          <p:nvPr/>
        </p:nvSpPr>
        <p:spPr bwMode="auto">
          <a:xfrm rot="1573306" flipH="1">
            <a:off x="3941988" y="2887353"/>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6" name="Freeform 18"/>
          <p:cNvSpPr/>
          <p:nvPr/>
        </p:nvSpPr>
        <p:spPr bwMode="auto">
          <a:xfrm rot="19761877" flipV="1">
            <a:off x="7314091" y="2902368"/>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sp>
        <p:nvSpPr>
          <p:cNvPr id="47" name="Freeform 18"/>
          <p:cNvSpPr/>
          <p:nvPr/>
        </p:nvSpPr>
        <p:spPr bwMode="auto">
          <a:xfrm rot="5400000" flipV="1">
            <a:off x="5778837" y="5357401"/>
            <a:ext cx="360032" cy="1258258"/>
          </a:xfrm>
          <a:custGeom>
            <a:avLst/>
            <a:gdLst>
              <a:gd name="T0" fmla="*/ 49 w 163"/>
              <a:gd name="T1" fmla="*/ 401 h 572"/>
              <a:gd name="T2" fmla="*/ 0 w 163"/>
              <a:gd name="T3" fmla="*/ 572 h 572"/>
              <a:gd name="T4" fmla="*/ 0 w 163"/>
              <a:gd name="T5" fmla="*/ 572 h 572"/>
              <a:gd name="T6" fmla="*/ 0 w 163"/>
              <a:gd name="T7" fmla="*/ 572 h 572"/>
              <a:gd name="T8" fmla="*/ 0 w 163"/>
              <a:gd name="T9" fmla="*/ 572 h 572"/>
              <a:gd name="T10" fmla="*/ 0 w 163"/>
              <a:gd name="T11" fmla="*/ 572 h 572"/>
              <a:gd name="T12" fmla="*/ 152 w 163"/>
              <a:gd name="T13" fmla="*/ 445 h 572"/>
              <a:gd name="T14" fmla="*/ 133 w 163"/>
              <a:gd name="T15" fmla="*/ 450 h 572"/>
              <a:gd name="T16" fmla="*/ 114 w 163"/>
              <a:gd name="T17" fmla="*/ 454 h 572"/>
              <a:gd name="T18" fmla="*/ 118 w 163"/>
              <a:gd name="T19" fmla="*/ 446 h 572"/>
              <a:gd name="T20" fmla="*/ 128 w 163"/>
              <a:gd name="T21" fmla="*/ 423 h 572"/>
              <a:gd name="T22" fmla="*/ 129 w 163"/>
              <a:gd name="T23" fmla="*/ 420 h 572"/>
              <a:gd name="T24" fmla="*/ 131 w 163"/>
              <a:gd name="T25" fmla="*/ 416 h 572"/>
              <a:gd name="T26" fmla="*/ 137 w 163"/>
              <a:gd name="T27" fmla="*/ 396 h 572"/>
              <a:gd name="T28" fmla="*/ 144 w 163"/>
              <a:gd name="T29" fmla="*/ 375 h 572"/>
              <a:gd name="T30" fmla="*/ 147 w 163"/>
              <a:gd name="T31" fmla="*/ 364 h 572"/>
              <a:gd name="T32" fmla="*/ 150 w 163"/>
              <a:gd name="T33" fmla="*/ 353 h 572"/>
              <a:gd name="T34" fmla="*/ 158 w 163"/>
              <a:gd name="T35" fmla="*/ 305 h 572"/>
              <a:gd name="T36" fmla="*/ 162 w 163"/>
              <a:gd name="T37" fmla="*/ 256 h 572"/>
              <a:gd name="T38" fmla="*/ 155 w 163"/>
              <a:gd name="T39" fmla="*/ 158 h 572"/>
              <a:gd name="T40" fmla="*/ 134 w 163"/>
              <a:gd name="T41" fmla="*/ 76 h 572"/>
              <a:gd name="T42" fmla="*/ 110 w 163"/>
              <a:gd name="T43" fmla="*/ 20 h 572"/>
              <a:gd name="T44" fmla="*/ 102 w 163"/>
              <a:gd name="T45" fmla="*/ 5 h 572"/>
              <a:gd name="T46" fmla="*/ 100 w 163"/>
              <a:gd name="T47" fmla="*/ 0 h 572"/>
              <a:gd name="T48" fmla="*/ 55 w 163"/>
              <a:gd name="T49" fmla="*/ 25 h 572"/>
              <a:gd name="T50" fmla="*/ 58 w 163"/>
              <a:gd name="T51" fmla="*/ 30 h 572"/>
              <a:gd name="T52" fmla="*/ 65 w 163"/>
              <a:gd name="T53" fmla="*/ 43 h 572"/>
              <a:gd name="T54" fmla="*/ 86 w 163"/>
              <a:gd name="T55" fmla="*/ 93 h 572"/>
              <a:gd name="T56" fmla="*/ 111 w 163"/>
              <a:gd name="T57" fmla="*/ 254 h 572"/>
              <a:gd name="T58" fmla="*/ 108 w 163"/>
              <a:gd name="T59" fmla="*/ 299 h 572"/>
              <a:gd name="T60" fmla="*/ 100 w 163"/>
              <a:gd name="T61" fmla="*/ 341 h 572"/>
              <a:gd name="T62" fmla="*/ 98 w 163"/>
              <a:gd name="T63" fmla="*/ 351 h 572"/>
              <a:gd name="T64" fmla="*/ 95 w 163"/>
              <a:gd name="T65" fmla="*/ 361 h 572"/>
              <a:gd name="T66" fmla="*/ 89 w 163"/>
              <a:gd name="T67" fmla="*/ 380 h 572"/>
              <a:gd name="T68" fmla="*/ 83 w 163"/>
              <a:gd name="T69" fmla="*/ 397 h 572"/>
              <a:gd name="T70" fmla="*/ 81 w 163"/>
              <a:gd name="T71" fmla="*/ 401 h 572"/>
              <a:gd name="T72" fmla="*/ 80 w 163"/>
              <a:gd name="T73" fmla="*/ 405 h 572"/>
              <a:gd name="T74" fmla="*/ 72 w 163"/>
              <a:gd name="T75" fmla="*/ 424 h 572"/>
              <a:gd name="T76" fmla="*/ 68 w 163"/>
              <a:gd name="T77" fmla="*/ 432 h 572"/>
              <a:gd name="T78" fmla="*/ 59 w 163"/>
              <a:gd name="T79" fmla="*/ 416 h 572"/>
              <a:gd name="T80" fmla="*/ 52 w 163"/>
              <a:gd name="T81" fmla="*/ 406 h 572"/>
              <a:gd name="T82" fmla="*/ 49 w 163"/>
              <a:gd name="T83" fmla="*/ 40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endParaRPr>
          </a:p>
        </p:txBody>
      </p:sp>
      <p:pic>
        <p:nvPicPr>
          <p:cNvPr id="3" name="图片 2" descr="76b499643fee34819cb883d90f0351cf"/>
          <p:cNvPicPr>
            <a:picLocks noChangeAspect="1"/>
          </p:cNvPicPr>
          <p:nvPr/>
        </p:nvPicPr>
        <p:blipFill>
          <a:blip r:embed="rId3"/>
          <a:stretch>
            <a:fillRect/>
          </a:stretch>
        </p:blipFill>
        <p:spPr>
          <a:xfrm>
            <a:off x="10965180" y="0"/>
            <a:ext cx="748030" cy="748030"/>
          </a:xfrm>
          <a:prstGeom prst="rect">
            <a:avLst/>
          </a:prstGeom>
        </p:spPr>
      </p:pic>
      <p:sp>
        <p:nvSpPr>
          <p:cNvPr id="16" name="文本框 15"/>
          <p:cNvSpPr txBox="1"/>
          <p:nvPr/>
        </p:nvSpPr>
        <p:spPr>
          <a:xfrm>
            <a:off x="295275" y="17146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前提准备</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机械部分？</a:t>
            </a:r>
          </a:p>
        </p:txBody>
      </p:sp>
      <p:sp>
        <p:nvSpPr>
          <p:cNvPr id="2" name="文本框 1">
            <a:extLst>
              <a:ext uri="{FF2B5EF4-FFF2-40B4-BE49-F238E27FC236}">
                <a16:creationId xmlns:a16="http://schemas.microsoft.com/office/drawing/2014/main" id="{9D428CC6-DC91-CA28-5664-0205696F351E}"/>
              </a:ext>
            </a:extLst>
          </p:cNvPr>
          <p:cNvSpPr txBox="1"/>
          <p:nvPr/>
        </p:nvSpPr>
        <p:spPr>
          <a:xfrm>
            <a:off x="6663126" y="2466017"/>
            <a:ext cx="5724644" cy="369332"/>
          </a:xfrm>
          <a:prstGeom prst="rect">
            <a:avLst/>
          </a:prstGeom>
          <a:noFill/>
        </p:spPr>
        <p:txBody>
          <a:bodyPr wrap="none" rtlCol="0">
            <a:spAutoFit/>
          </a:bodyPr>
          <a:lstStyle/>
          <a:p>
            <a:r>
              <a:rPr lang="zh-CN" altLang="en-US" dirty="0">
                <a:solidFill>
                  <a:srgbClr val="FF0000"/>
                </a:solidFill>
              </a:rPr>
              <a:t>我不太了解机械部分怎么写，感觉还是要你们负责一下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396996" y="797947"/>
            <a:ext cx="8316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76b499643fee34819cb883d90f0351cf"/>
          <p:cNvPicPr>
            <a:picLocks noChangeAspect="1"/>
          </p:cNvPicPr>
          <p:nvPr/>
        </p:nvPicPr>
        <p:blipFill>
          <a:blip r:embed="rId3"/>
          <a:stretch>
            <a:fillRect/>
          </a:stretch>
        </p:blipFill>
        <p:spPr>
          <a:xfrm>
            <a:off x="10965180" y="0"/>
            <a:ext cx="748030" cy="748030"/>
          </a:xfrm>
          <a:prstGeom prst="rect">
            <a:avLst/>
          </a:prstGeom>
        </p:spPr>
      </p:pic>
      <p:sp>
        <p:nvSpPr>
          <p:cNvPr id="2" name="矩形 1">
            <a:extLst>
              <a:ext uri="{FF2B5EF4-FFF2-40B4-BE49-F238E27FC236}">
                <a16:creationId xmlns:a16="http://schemas.microsoft.com/office/drawing/2014/main" id="{0B3CFFC2-771D-99F6-219E-8E5C29C25135}"/>
              </a:ext>
            </a:extLst>
          </p:cNvPr>
          <p:cNvSpPr/>
          <p:nvPr/>
        </p:nvSpPr>
        <p:spPr>
          <a:xfrm>
            <a:off x="295275" y="798195"/>
            <a:ext cx="1141793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D940D84-CB7B-A956-2068-836154312B28}"/>
              </a:ext>
            </a:extLst>
          </p:cNvPr>
          <p:cNvSpPr txBox="1"/>
          <p:nvPr/>
        </p:nvSpPr>
        <p:spPr>
          <a:xfrm>
            <a:off x="295275" y="162578"/>
            <a:ext cx="45085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概念创新</a:t>
            </a:r>
          </a:p>
        </p:txBody>
      </p:sp>
      <p:pic>
        <p:nvPicPr>
          <p:cNvPr id="13" name="Google Shape;86;p13" descr="image.png">
            <a:extLst>
              <a:ext uri="{FF2B5EF4-FFF2-40B4-BE49-F238E27FC236}">
                <a16:creationId xmlns:a16="http://schemas.microsoft.com/office/drawing/2014/main" id="{161F35C1-4FC9-EB21-9018-3FD9D6B584D8}"/>
              </a:ext>
            </a:extLst>
          </p:cNvPr>
          <p:cNvPicPr preferRelativeResize="0"/>
          <p:nvPr/>
        </p:nvPicPr>
        <p:blipFill rotWithShape="1">
          <a:blip r:embed="rId4">
            <a:alphaModFix/>
          </a:blip>
          <a:srcRect/>
          <a:stretch/>
        </p:blipFill>
        <p:spPr>
          <a:xfrm>
            <a:off x="480695" y="1094258"/>
            <a:ext cx="3429000" cy="5464373"/>
          </a:xfrm>
          <a:prstGeom prst="rect">
            <a:avLst/>
          </a:prstGeom>
          <a:noFill/>
          <a:ln>
            <a:noFill/>
          </a:ln>
        </p:spPr>
      </p:pic>
      <p:pic>
        <p:nvPicPr>
          <p:cNvPr id="26" name="Google Shape;87;p13" descr="image.png">
            <a:extLst>
              <a:ext uri="{FF2B5EF4-FFF2-40B4-BE49-F238E27FC236}">
                <a16:creationId xmlns:a16="http://schemas.microsoft.com/office/drawing/2014/main" id="{177D72CF-5C41-5D80-7554-10BCB6EA9453}"/>
              </a:ext>
            </a:extLst>
          </p:cNvPr>
          <p:cNvPicPr preferRelativeResize="0"/>
          <p:nvPr/>
        </p:nvPicPr>
        <p:blipFill rotWithShape="1">
          <a:blip r:embed="rId4">
            <a:alphaModFix/>
          </a:blip>
          <a:srcRect/>
          <a:stretch/>
        </p:blipFill>
        <p:spPr>
          <a:xfrm>
            <a:off x="4195445" y="1094258"/>
            <a:ext cx="3429000" cy="5464373"/>
          </a:xfrm>
          <a:prstGeom prst="rect">
            <a:avLst/>
          </a:prstGeom>
          <a:noFill/>
          <a:ln>
            <a:noFill/>
          </a:ln>
        </p:spPr>
      </p:pic>
      <p:pic>
        <p:nvPicPr>
          <p:cNvPr id="27" name="Google Shape;88;p13" descr="image.png">
            <a:extLst>
              <a:ext uri="{FF2B5EF4-FFF2-40B4-BE49-F238E27FC236}">
                <a16:creationId xmlns:a16="http://schemas.microsoft.com/office/drawing/2014/main" id="{69940DF4-FC6B-71B6-4DC7-41CC9BBAEFD1}"/>
              </a:ext>
            </a:extLst>
          </p:cNvPr>
          <p:cNvPicPr preferRelativeResize="0"/>
          <p:nvPr/>
        </p:nvPicPr>
        <p:blipFill rotWithShape="1">
          <a:blip r:embed="rId4">
            <a:alphaModFix/>
          </a:blip>
          <a:srcRect/>
          <a:stretch/>
        </p:blipFill>
        <p:spPr>
          <a:xfrm>
            <a:off x="7910195" y="1094258"/>
            <a:ext cx="3429000" cy="5464373"/>
          </a:xfrm>
          <a:prstGeom prst="rect">
            <a:avLst/>
          </a:prstGeom>
          <a:noFill/>
          <a:ln>
            <a:noFill/>
          </a:ln>
        </p:spPr>
      </p:pic>
      <p:pic>
        <p:nvPicPr>
          <p:cNvPr id="28" name="Google Shape;90;p13" descr="image.png">
            <a:extLst>
              <a:ext uri="{FF2B5EF4-FFF2-40B4-BE49-F238E27FC236}">
                <a16:creationId xmlns:a16="http://schemas.microsoft.com/office/drawing/2014/main" id="{DB9132A2-33AB-B3EA-6025-0A38B2D02135}"/>
              </a:ext>
            </a:extLst>
          </p:cNvPr>
          <p:cNvPicPr preferRelativeResize="0"/>
          <p:nvPr/>
        </p:nvPicPr>
        <p:blipFill rotWithShape="1">
          <a:blip r:embed="rId5">
            <a:alphaModFix/>
          </a:blip>
          <a:srcRect/>
          <a:stretch/>
        </p:blipFill>
        <p:spPr>
          <a:xfrm>
            <a:off x="490220" y="1732433"/>
            <a:ext cx="3409950" cy="1524000"/>
          </a:xfrm>
          <a:prstGeom prst="rect">
            <a:avLst/>
          </a:prstGeom>
          <a:noFill/>
          <a:ln>
            <a:noFill/>
          </a:ln>
        </p:spPr>
      </p:pic>
      <p:pic>
        <p:nvPicPr>
          <p:cNvPr id="33" name="Google Shape;92;p13" descr="image.png">
            <a:extLst>
              <a:ext uri="{FF2B5EF4-FFF2-40B4-BE49-F238E27FC236}">
                <a16:creationId xmlns:a16="http://schemas.microsoft.com/office/drawing/2014/main" id="{C72D93FA-7AE7-FDB3-3B26-E76CC4C846DA}"/>
              </a:ext>
            </a:extLst>
          </p:cNvPr>
          <p:cNvPicPr preferRelativeResize="0"/>
          <p:nvPr/>
        </p:nvPicPr>
        <p:blipFill rotWithShape="1">
          <a:blip r:embed="rId5">
            <a:alphaModFix/>
          </a:blip>
          <a:srcRect/>
          <a:stretch/>
        </p:blipFill>
        <p:spPr>
          <a:xfrm>
            <a:off x="7919720" y="1732433"/>
            <a:ext cx="3409950" cy="1524000"/>
          </a:xfrm>
          <a:prstGeom prst="rect">
            <a:avLst/>
          </a:prstGeom>
          <a:noFill/>
          <a:ln>
            <a:noFill/>
          </a:ln>
        </p:spPr>
      </p:pic>
      <p:pic>
        <p:nvPicPr>
          <p:cNvPr id="34" name="Google Shape;95;p13" descr="image.png">
            <a:extLst>
              <a:ext uri="{FF2B5EF4-FFF2-40B4-BE49-F238E27FC236}">
                <a16:creationId xmlns:a16="http://schemas.microsoft.com/office/drawing/2014/main" id="{EB2A2DC5-81D4-53CD-5B9D-78D8AB284157}"/>
              </a:ext>
            </a:extLst>
          </p:cNvPr>
          <p:cNvPicPr preferRelativeResize="0"/>
          <p:nvPr/>
        </p:nvPicPr>
        <p:blipFill rotWithShape="1">
          <a:blip r:embed="rId6">
            <a:alphaModFix/>
          </a:blip>
          <a:srcRect/>
          <a:stretch/>
        </p:blipFill>
        <p:spPr>
          <a:xfrm>
            <a:off x="80962" y="-1972003"/>
            <a:ext cx="45719" cy="45719"/>
          </a:xfrm>
          <a:prstGeom prst="rect">
            <a:avLst/>
          </a:prstGeom>
          <a:noFill/>
          <a:ln>
            <a:noFill/>
          </a:ln>
        </p:spPr>
      </p:pic>
      <p:sp>
        <p:nvSpPr>
          <p:cNvPr id="35" name="Google Shape;96;p13">
            <a:extLst>
              <a:ext uri="{FF2B5EF4-FFF2-40B4-BE49-F238E27FC236}">
                <a16:creationId xmlns:a16="http://schemas.microsoft.com/office/drawing/2014/main" id="{A48FFE29-27C7-B8B9-6EC4-95CD192E1585}"/>
              </a:ext>
            </a:extLst>
          </p:cNvPr>
          <p:cNvSpPr txBox="1"/>
          <p:nvPr/>
        </p:nvSpPr>
        <p:spPr>
          <a:xfrm>
            <a:off x="1134635" y="1312289"/>
            <a:ext cx="212112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err="1">
                <a:solidFill>
                  <a:srgbClr val="FFFFFF"/>
                </a:solidFill>
                <a:latin typeface="Noto Sans SC"/>
                <a:ea typeface="Noto Sans SC"/>
                <a:cs typeface="Noto Sans SC"/>
                <a:sym typeface="Noto Sans SC"/>
              </a:rPr>
              <a:t>多传感器融合与导航</a:t>
            </a:r>
            <a:endParaRPr sz="2000" dirty="0"/>
          </a:p>
        </p:txBody>
      </p:sp>
      <p:pic>
        <p:nvPicPr>
          <p:cNvPr id="39" name="Google Shape;97;p13" descr="image.png">
            <a:extLst>
              <a:ext uri="{FF2B5EF4-FFF2-40B4-BE49-F238E27FC236}">
                <a16:creationId xmlns:a16="http://schemas.microsoft.com/office/drawing/2014/main" id="{3D791A85-6C99-1778-263F-4573CCD37B50}"/>
              </a:ext>
            </a:extLst>
          </p:cNvPr>
          <p:cNvPicPr preferRelativeResize="0"/>
          <p:nvPr/>
        </p:nvPicPr>
        <p:blipFill rotWithShape="1">
          <a:blip r:embed="rId7">
            <a:alphaModFix/>
          </a:blip>
          <a:srcRect/>
          <a:stretch/>
        </p:blipFill>
        <p:spPr>
          <a:xfrm>
            <a:off x="480695" y="1851496"/>
            <a:ext cx="3409950" cy="1524000"/>
          </a:xfrm>
          <a:prstGeom prst="rect">
            <a:avLst/>
          </a:prstGeom>
          <a:noFill/>
          <a:ln>
            <a:noFill/>
          </a:ln>
        </p:spPr>
      </p:pic>
      <p:sp>
        <p:nvSpPr>
          <p:cNvPr id="41" name="Google Shape;99;p13">
            <a:extLst>
              <a:ext uri="{FF2B5EF4-FFF2-40B4-BE49-F238E27FC236}">
                <a16:creationId xmlns:a16="http://schemas.microsoft.com/office/drawing/2014/main" id="{21563BC0-A3B2-4DE3-B306-02C1BCDAB9B0}"/>
              </a:ext>
            </a:extLst>
          </p:cNvPr>
          <p:cNvSpPr txBox="1"/>
          <p:nvPr/>
        </p:nvSpPr>
        <p:spPr>
          <a:xfrm>
            <a:off x="4974594" y="1306396"/>
            <a:ext cx="1906993"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err="1">
                <a:solidFill>
                  <a:srgbClr val="FFFFFF"/>
                </a:solidFill>
                <a:latin typeface="Noto Sans SC"/>
                <a:ea typeface="Noto Sans SC"/>
                <a:cs typeface="Noto Sans SC"/>
                <a:sym typeface="Noto Sans SC"/>
              </a:rPr>
              <a:t>双轨协同视觉检测</a:t>
            </a:r>
            <a:endParaRPr dirty="0"/>
          </a:p>
        </p:txBody>
      </p:sp>
      <p:sp>
        <p:nvSpPr>
          <p:cNvPr id="50" name="Google Shape;102;p13">
            <a:extLst>
              <a:ext uri="{FF2B5EF4-FFF2-40B4-BE49-F238E27FC236}">
                <a16:creationId xmlns:a16="http://schemas.microsoft.com/office/drawing/2014/main" id="{18430F1E-3EA3-F54B-1842-0428A573E859}"/>
              </a:ext>
            </a:extLst>
          </p:cNvPr>
          <p:cNvSpPr txBox="1"/>
          <p:nvPr/>
        </p:nvSpPr>
        <p:spPr>
          <a:xfrm>
            <a:off x="8600817" y="1302020"/>
            <a:ext cx="204775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FFFFFF"/>
                </a:solidFill>
                <a:latin typeface="Noto Sans SC"/>
                <a:ea typeface="Noto Sans SC"/>
                <a:cs typeface="Noto Sans SC"/>
                <a:sym typeface="Noto Sans SC"/>
              </a:rPr>
              <a:t>RAG + </a:t>
            </a:r>
            <a:r>
              <a:rPr lang="en-US" b="0" i="0" u="none" strike="noStrike" cap="none" dirty="0" err="1">
                <a:solidFill>
                  <a:srgbClr val="FFFFFF"/>
                </a:solidFill>
                <a:latin typeface="Noto Sans SC"/>
                <a:ea typeface="Noto Sans SC"/>
                <a:cs typeface="Noto Sans SC"/>
                <a:sym typeface="Noto Sans SC"/>
              </a:rPr>
              <a:t>知识图谱融合</a:t>
            </a:r>
            <a:endParaRPr dirty="0"/>
          </a:p>
        </p:txBody>
      </p:sp>
      <p:sp>
        <p:nvSpPr>
          <p:cNvPr id="55" name="Google Shape;110;p13">
            <a:extLst>
              <a:ext uri="{FF2B5EF4-FFF2-40B4-BE49-F238E27FC236}">
                <a16:creationId xmlns:a16="http://schemas.microsoft.com/office/drawing/2014/main" id="{71DCE67D-8492-889D-560F-5F3F8C761C97}"/>
              </a:ext>
            </a:extLst>
          </p:cNvPr>
          <p:cNvSpPr txBox="1"/>
          <p:nvPr/>
        </p:nvSpPr>
        <p:spPr>
          <a:xfrm>
            <a:off x="966470" y="3494558"/>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a:solidFill>
                  <a:srgbClr val="0F172A"/>
                </a:solidFill>
                <a:latin typeface="Noto Sans SC"/>
                <a:ea typeface="Noto Sans SC"/>
                <a:cs typeface="Noto Sans SC"/>
                <a:sym typeface="Noto Sans SC"/>
              </a:rPr>
              <a:t>架构环境：</a:t>
            </a:r>
            <a:r>
              <a:rPr lang="en-US" sz="1200" b="0" i="0" u="none" strike="noStrike" cap="none">
                <a:solidFill>
                  <a:srgbClr val="475569"/>
                </a:solidFill>
                <a:latin typeface="Noto Sans SC"/>
                <a:ea typeface="Noto Sans SC"/>
                <a:cs typeface="Noto Sans SC"/>
                <a:sym typeface="Noto Sans SC"/>
              </a:rPr>
              <a:t>基于 ROS2 系统，深度融合 Cartographer 激光 SLAM 与 AMCL。</a:t>
            </a:r>
            <a:endParaRPr/>
          </a:p>
        </p:txBody>
      </p:sp>
      <p:sp>
        <p:nvSpPr>
          <p:cNvPr id="56" name="Google Shape;111;p13">
            <a:extLst>
              <a:ext uri="{FF2B5EF4-FFF2-40B4-BE49-F238E27FC236}">
                <a16:creationId xmlns:a16="http://schemas.microsoft.com/office/drawing/2014/main" id="{17DC9914-0848-6947-3D00-29DAD89B185B}"/>
              </a:ext>
            </a:extLst>
          </p:cNvPr>
          <p:cNvSpPr txBox="1"/>
          <p:nvPr/>
        </p:nvSpPr>
        <p:spPr>
          <a:xfrm>
            <a:off x="966470" y="4433365"/>
            <a:ext cx="2695575" cy="627864"/>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dirty="0" err="1">
                <a:solidFill>
                  <a:srgbClr val="0F172A"/>
                </a:solidFill>
                <a:latin typeface="Noto Sans SC"/>
                <a:ea typeface="Noto Sans SC"/>
                <a:cs typeface="Noto Sans SC"/>
                <a:sym typeface="Noto Sans SC"/>
              </a:rPr>
              <a:t>感知算法：</a:t>
            </a:r>
            <a:r>
              <a:rPr lang="en-US" sz="1200" b="0" i="0" u="none" strike="noStrike" cap="none" dirty="0" err="1">
                <a:solidFill>
                  <a:srgbClr val="475569"/>
                </a:solidFill>
                <a:latin typeface="Noto Sans SC"/>
                <a:ea typeface="Noto Sans SC"/>
                <a:cs typeface="Noto Sans SC"/>
                <a:sym typeface="Noto Sans SC"/>
              </a:rPr>
              <a:t>引入</a:t>
            </a:r>
            <a:r>
              <a:rPr lang="en-US" sz="1200" b="0" i="0" u="none" strike="noStrike" cap="none" dirty="0">
                <a:solidFill>
                  <a:srgbClr val="475569"/>
                </a:solidFill>
                <a:latin typeface="Noto Sans SC"/>
                <a:ea typeface="Noto Sans SC"/>
                <a:cs typeface="Noto Sans SC"/>
                <a:sym typeface="Noto Sans SC"/>
              </a:rPr>
              <a:t> EKF </a:t>
            </a:r>
            <a:r>
              <a:rPr lang="en-US" sz="1200" b="0" i="0" u="none" strike="noStrike" cap="none" dirty="0" err="1">
                <a:solidFill>
                  <a:srgbClr val="475569"/>
                </a:solidFill>
                <a:latin typeface="Noto Sans SC"/>
                <a:ea typeface="Noto Sans SC"/>
                <a:cs typeface="Noto Sans SC"/>
                <a:sym typeface="Noto Sans SC"/>
              </a:rPr>
              <a:t>扩展卡尔曼滤波，综合激光雷达、IMU</a:t>
            </a:r>
            <a:r>
              <a:rPr lang="en-US" sz="1200" b="0" i="0" u="none" strike="noStrike" cap="none" dirty="0">
                <a:solidFill>
                  <a:srgbClr val="475569"/>
                </a:solidFill>
                <a:latin typeface="Noto Sans SC"/>
                <a:ea typeface="Noto Sans SC"/>
                <a:cs typeface="Noto Sans SC"/>
                <a:sym typeface="Noto Sans SC"/>
              </a:rPr>
              <a:t> </a:t>
            </a:r>
            <a:r>
              <a:rPr lang="en-US" sz="1200" b="0" i="0" u="none" strike="noStrike" cap="none" dirty="0" err="1">
                <a:solidFill>
                  <a:srgbClr val="475569"/>
                </a:solidFill>
                <a:latin typeface="Noto Sans SC"/>
                <a:ea typeface="Noto Sans SC"/>
                <a:cs typeface="Noto Sans SC"/>
                <a:sym typeface="Noto Sans SC"/>
              </a:rPr>
              <a:t>及里程计多源数据</a:t>
            </a:r>
            <a:endParaRPr dirty="0"/>
          </a:p>
        </p:txBody>
      </p:sp>
      <p:sp>
        <p:nvSpPr>
          <p:cNvPr id="57" name="Google Shape;112;p13">
            <a:extLst>
              <a:ext uri="{FF2B5EF4-FFF2-40B4-BE49-F238E27FC236}">
                <a16:creationId xmlns:a16="http://schemas.microsoft.com/office/drawing/2014/main" id="{8E4BD0FF-6209-B4D3-F1F6-EFE7D6F35F82}"/>
              </a:ext>
            </a:extLst>
          </p:cNvPr>
          <p:cNvSpPr txBox="1"/>
          <p:nvPr/>
        </p:nvSpPr>
        <p:spPr>
          <a:xfrm>
            <a:off x="966470" y="5372173"/>
            <a:ext cx="2695575" cy="627864"/>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dirty="0" err="1">
                <a:solidFill>
                  <a:srgbClr val="0F172A"/>
                </a:solidFill>
                <a:latin typeface="Noto Sans SC"/>
                <a:ea typeface="Noto Sans SC"/>
                <a:cs typeface="Noto Sans SC"/>
                <a:sym typeface="Noto Sans SC"/>
              </a:rPr>
              <a:t>自主避障：</a:t>
            </a:r>
            <a:r>
              <a:rPr lang="en-US" sz="1200" b="0" i="0" u="none" strike="noStrike" cap="none" dirty="0" err="1">
                <a:solidFill>
                  <a:srgbClr val="475569"/>
                </a:solidFill>
                <a:latin typeface="Noto Sans SC"/>
                <a:ea typeface="Noto Sans SC"/>
                <a:cs typeface="Noto Sans SC"/>
                <a:sym typeface="Noto Sans SC"/>
              </a:rPr>
              <a:t>多维数据互补修正漂移，实现工业场景厘米级路径规划与平稳导航</a:t>
            </a:r>
            <a:endParaRPr dirty="0"/>
          </a:p>
        </p:txBody>
      </p:sp>
      <p:sp>
        <p:nvSpPr>
          <p:cNvPr id="58" name="Google Shape;113;p13">
            <a:extLst>
              <a:ext uri="{FF2B5EF4-FFF2-40B4-BE49-F238E27FC236}">
                <a16:creationId xmlns:a16="http://schemas.microsoft.com/office/drawing/2014/main" id="{D6728C7B-A124-1FAC-73EE-2835F1CAE246}"/>
              </a:ext>
            </a:extLst>
          </p:cNvPr>
          <p:cNvSpPr txBox="1"/>
          <p:nvPr/>
        </p:nvSpPr>
        <p:spPr>
          <a:xfrm>
            <a:off x="4681220" y="3494558"/>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a:solidFill>
                  <a:srgbClr val="0F172A"/>
                </a:solidFill>
                <a:latin typeface="Noto Sans SC"/>
                <a:ea typeface="Noto Sans SC"/>
                <a:cs typeface="Noto Sans SC"/>
                <a:sym typeface="Noto Sans SC"/>
              </a:rPr>
              <a:t>双轨检测机制：</a:t>
            </a:r>
            <a:r>
              <a:rPr lang="en-US" sz="1200" b="0" i="0" u="none" strike="noStrike" cap="none">
                <a:solidFill>
                  <a:srgbClr val="475569"/>
                </a:solidFill>
                <a:latin typeface="Noto Sans SC"/>
                <a:ea typeface="Noto Sans SC"/>
                <a:cs typeface="Noto Sans SC"/>
                <a:sym typeface="Noto Sans SC"/>
              </a:rPr>
              <a:t>构建“YOLOv8 实时快轨 + VLM 深度慢轨”，应对复杂环境异常需求。</a:t>
            </a:r>
            <a:endParaRPr/>
          </a:p>
        </p:txBody>
      </p:sp>
      <p:sp>
        <p:nvSpPr>
          <p:cNvPr id="59" name="Google Shape;114;p13">
            <a:extLst>
              <a:ext uri="{FF2B5EF4-FFF2-40B4-BE49-F238E27FC236}">
                <a16:creationId xmlns:a16="http://schemas.microsoft.com/office/drawing/2014/main" id="{0104BFAE-DC55-395E-573C-77CC2FB0D524}"/>
              </a:ext>
            </a:extLst>
          </p:cNvPr>
          <p:cNvSpPr txBox="1"/>
          <p:nvPr/>
        </p:nvSpPr>
        <p:spPr>
          <a:xfrm>
            <a:off x="4681220" y="4433365"/>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dirty="0" err="1">
                <a:solidFill>
                  <a:srgbClr val="0F172A"/>
                </a:solidFill>
                <a:latin typeface="Noto Sans SC"/>
                <a:ea typeface="Noto Sans SC"/>
                <a:cs typeface="Noto Sans SC"/>
                <a:sym typeface="Noto Sans SC"/>
              </a:rPr>
              <a:t>视觉语言融合：</a:t>
            </a:r>
            <a:r>
              <a:rPr lang="en-US" sz="1200" b="0" i="0" u="none" strike="noStrike" cap="none" dirty="0" err="1">
                <a:solidFill>
                  <a:srgbClr val="475569"/>
                </a:solidFill>
                <a:latin typeface="Noto Sans SC"/>
                <a:ea typeface="Noto Sans SC"/>
                <a:cs typeface="Noto Sans SC"/>
                <a:sym typeface="Noto Sans SC"/>
              </a:rPr>
              <a:t>利用</a:t>
            </a:r>
            <a:r>
              <a:rPr lang="en-US" sz="1200" b="0" i="0" u="none" strike="noStrike" cap="none" dirty="0">
                <a:solidFill>
                  <a:srgbClr val="475569"/>
                </a:solidFill>
                <a:latin typeface="Noto Sans SC"/>
                <a:ea typeface="Noto Sans SC"/>
                <a:cs typeface="Noto Sans SC"/>
                <a:sym typeface="Noto Sans SC"/>
              </a:rPr>
              <a:t> VLM + SAM </a:t>
            </a:r>
            <a:r>
              <a:rPr lang="en-US" sz="1200" b="0" i="0" u="none" strike="noStrike" cap="none" dirty="0" err="1">
                <a:solidFill>
                  <a:srgbClr val="475569"/>
                </a:solidFill>
                <a:latin typeface="Noto Sans SC"/>
                <a:ea typeface="Noto Sans SC"/>
                <a:cs typeface="Noto Sans SC"/>
                <a:sym typeface="Noto Sans SC"/>
              </a:rPr>
              <a:t>模型进行语义深度解析，实现开集目标的精准分割识别</a:t>
            </a:r>
            <a:r>
              <a:rPr lang="en-US" sz="1200" b="0" i="0" u="none" strike="noStrike" cap="none" dirty="0">
                <a:solidFill>
                  <a:srgbClr val="475569"/>
                </a:solidFill>
                <a:latin typeface="Noto Sans SC"/>
                <a:ea typeface="Noto Sans SC"/>
                <a:cs typeface="Noto Sans SC"/>
                <a:sym typeface="Noto Sans SC"/>
              </a:rPr>
              <a:t>。</a:t>
            </a:r>
            <a:endParaRPr dirty="0"/>
          </a:p>
        </p:txBody>
      </p:sp>
      <p:sp>
        <p:nvSpPr>
          <p:cNvPr id="60" name="Google Shape;115;p13">
            <a:extLst>
              <a:ext uri="{FF2B5EF4-FFF2-40B4-BE49-F238E27FC236}">
                <a16:creationId xmlns:a16="http://schemas.microsoft.com/office/drawing/2014/main" id="{F4177108-363A-0277-3459-B9CFC4CC4F41}"/>
              </a:ext>
            </a:extLst>
          </p:cNvPr>
          <p:cNvSpPr txBox="1"/>
          <p:nvPr/>
        </p:nvSpPr>
        <p:spPr>
          <a:xfrm>
            <a:off x="4681220" y="5372173"/>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a:solidFill>
                  <a:srgbClr val="0F172A"/>
                </a:solidFill>
                <a:latin typeface="Noto Sans SC"/>
                <a:ea typeface="Noto Sans SC"/>
                <a:cs typeface="Noto Sans SC"/>
                <a:sym typeface="Noto Sans SC"/>
              </a:rPr>
              <a:t>决策自适应：</a:t>
            </a:r>
            <a:r>
              <a:rPr lang="en-US" sz="1200" b="0" i="0" u="none" strike="noStrike" cap="none">
                <a:solidFill>
                  <a:srgbClr val="475569"/>
                </a:solidFill>
                <a:latin typeface="Noto Sans SC"/>
                <a:ea typeface="Noto Sans SC"/>
                <a:cs typeface="Noto Sans SC"/>
                <a:sym typeface="Noto Sans SC"/>
              </a:rPr>
              <a:t>根据置信度动态调整检测频率，优化算力分配，平衡实时性与精度。</a:t>
            </a:r>
            <a:endParaRPr/>
          </a:p>
        </p:txBody>
      </p:sp>
      <p:sp>
        <p:nvSpPr>
          <p:cNvPr id="83" name="Google Shape;116;p13">
            <a:extLst>
              <a:ext uri="{FF2B5EF4-FFF2-40B4-BE49-F238E27FC236}">
                <a16:creationId xmlns:a16="http://schemas.microsoft.com/office/drawing/2014/main" id="{11789C30-2952-5DD8-A014-56FECD2637A4}"/>
              </a:ext>
            </a:extLst>
          </p:cNvPr>
          <p:cNvSpPr txBox="1"/>
          <p:nvPr/>
        </p:nvSpPr>
        <p:spPr>
          <a:xfrm>
            <a:off x="8395970" y="3494558"/>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a:solidFill>
                  <a:srgbClr val="0F172A"/>
                </a:solidFill>
                <a:latin typeface="Noto Sans SC"/>
                <a:ea typeface="Noto Sans SC"/>
                <a:cs typeface="Noto Sans SC"/>
                <a:sym typeface="Noto Sans SC"/>
              </a:rPr>
              <a:t>知识检索增强：</a:t>
            </a:r>
            <a:r>
              <a:rPr lang="en-US" sz="1200" b="0" i="0" u="none" strike="noStrike" cap="none">
                <a:solidFill>
                  <a:srgbClr val="475569"/>
                </a:solidFill>
                <a:latin typeface="Noto Sans SC"/>
                <a:ea typeface="Noto Sans SC"/>
                <a:cs typeface="Noto Sans SC"/>
                <a:sym typeface="Noto Sans SC"/>
              </a:rPr>
              <a:t>以 Neo4j 构建知识图谱，通过 FAISS 向量检索实现双通道增强。</a:t>
            </a:r>
            <a:endParaRPr/>
          </a:p>
        </p:txBody>
      </p:sp>
      <p:sp>
        <p:nvSpPr>
          <p:cNvPr id="84" name="Google Shape;117;p13">
            <a:extLst>
              <a:ext uri="{FF2B5EF4-FFF2-40B4-BE49-F238E27FC236}">
                <a16:creationId xmlns:a16="http://schemas.microsoft.com/office/drawing/2014/main" id="{7D9F6514-F0B0-85AA-D9B7-10219B7F14CB}"/>
              </a:ext>
            </a:extLst>
          </p:cNvPr>
          <p:cNvSpPr txBox="1"/>
          <p:nvPr/>
        </p:nvSpPr>
        <p:spPr>
          <a:xfrm>
            <a:off x="8395970" y="4433365"/>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a:solidFill>
                  <a:srgbClr val="0F172A"/>
                </a:solidFill>
                <a:latin typeface="Noto Sans SC"/>
                <a:ea typeface="Noto Sans SC"/>
                <a:cs typeface="Noto Sans SC"/>
                <a:sym typeface="Noto Sans SC"/>
              </a:rPr>
              <a:t>决策闭环推理：</a:t>
            </a:r>
            <a:r>
              <a:rPr lang="en-US" sz="1200" b="0" i="0" u="none" strike="noStrike" cap="none">
                <a:solidFill>
                  <a:srgbClr val="475569"/>
                </a:solidFill>
                <a:latin typeface="Noto Sans SC"/>
                <a:ea typeface="Noto Sans SC"/>
                <a:cs typeface="Noto Sans SC"/>
                <a:sym typeface="Noto Sans SC"/>
              </a:rPr>
              <a:t>利用 LangChain 编排逻辑，提供可理解、可追溯的故障诊断与运维建议。</a:t>
            </a:r>
            <a:endParaRPr/>
          </a:p>
        </p:txBody>
      </p:sp>
      <p:sp>
        <p:nvSpPr>
          <p:cNvPr id="85" name="Google Shape;118;p13">
            <a:extLst>
              <a:ext uri="{FF2B5EF4-FFF2-40B4-BE49-F238E27FC236}">
                <a16:creationId xmlns:a16="http://schemas.microsoft.com/office/drawing/2014/main" id="{0F27C798-6891-846F-548F-4E250978EC8E}"/>
              </a:ext>
            </a:extLst>
          </p:cNvPr>
          <p:cNvSpPr txBox="1"/>
          <p:nvPr/>
        </p:nvSpPr>
        <p:spPr>
          <a:xfrm>
            <a:off x="8395970" y="5372173"/>
            <a:ext cx="2695575" cy="795932"/>
          </a:xfrm>
          <a:prstGeom prst="rect">
            <a:avLst/>
          </a:prstGeom>
          <a:noFill/>
          <a:ln>
            <a:noFill/>
          </a:ln>
        </p:spPr>
        <p:txBody>
          <a:bodyPr spcFirstLastPara="1" wrap="square" lIns="0" tIns="0" rIns="0" bIns="0" anchor="t" anchorCtr="0">
            <a:spAutoFit/>
          </a:bodyPr>
          <a:lstStyle/>
          <a:p>
            <a:pPr marL="0" marR="0" lvl="0" indent="0" algn="l" rtl="0">
              <a:lnSpc>
                <a:spcPct val="169916"/>
              </a:lnSpc>
              <a:spcBef>
                <a:spcPts val="0"/>
              </a:spcBef>
              <a:spcAft>
                <a:spcPts val="0"/>
              </a:spcAft>
              <a:buNone/>
            </a:pPr>
            <a:r>
              <a:rPr lang="en-US" sz="1200" b="1" i="0" u="none" strike="noStrike" cap="none" dirty="0" err="1">
                <a:solidFill>
                  <a:srgbClr val="0F172A"/>
                </a:solidFill>
                <a:latin typeface="Noto Sans SC"/>
                <a:ea typeface="Noto Sans SC"/>
                <a:cs typeface="Noto Sans SC"/>
                <a:sym typeface="Noto Sans SC"/>
              </a:rPr>
              <a:t>运维标准化：</a:t>
            </a:r>
            <a:r>
              <a:rPr lang="en-US" sz="1200" b="0" i="0" u="none" strike="noStrike" cap="none" dirty="0" err="1">
                <a:solidFill>
                  <a:srgbClr val="475569"/>
                </a:solidFill>
                <a:latin typeface="Noto Sans SC"/>
                <a:ea typeface="Noto Sans SC"/>
                <a:cs typeface="Noto Sans SC"/>
                <a:sym typeface="Noto Sans SC"/>
              </a:rPr>
              <a:t>将非结构化手册转化为动态知识库，大幅提升现场故障处理效率</a:t>
            </a:r>
            <a:r>
              <a:rPr lang="en-US" sz="1200" b="0" i="0" u="none" strike="noStrike" cap="none" dirty="0">
                <a:solidFill>
                  <a:srgbClr val="475569"/>
                </a:solidFill>
                <a:latin typeface="Noto Sans SC"/>
                <a:ea typeface="Noto Sans SC"/>
                <a:cs typeface="Noto Sans SC"/>
                <a:sym typeface="Noto Sans SC"/>
              </a:rPr>
              <a:t>。</a:t>
            </a:r>
            <a:endParaRPr dirty="0"/>
          </a:p>
        </p:txBody>
      </p:sp>
      <p:pic>
        <p:nvPicPr>
          <p:cNvPr id="86" name="Google Shape;119;p13" descr="image.png">
            <a:extLst>
              <a:ext uri="{FF2B5EF4-FFF2-40B4-BE49-F238E27FC236}">
                <a16:creationId xmlns:a16="http://schemas.microsoft.com/office/drawing/2014/main" id="{93E99ECC-E6E7-D4BF-C131-00535683EA5F}"/>
              </a:ext>
            </a:extLst>
          </p:cNvPr>
          <p:cNvPicPr preferRelativeResize="0"/>
          <p:nvPr/>
        </p:nvPicPr>
        <p:blipFill rotWithShape="1">
          <a:blip r:embed="rId8">
            <a:alphaModFix/>
          </a:blip>
          <a:srcRect/>
          <a:stretch/>
        </p:blipFill>
        <p:spPr>
          <a:xfrm>
            <a:off x="719862" y="3595359"/>
            <a:ext cx="103733" cy="152400"/>
          </a:xfrm>
          <a:prstGeom prst="rect">
            <a:avLst/>
          </a:prstGeom>
          <a:noFill/>
          <a:ln>
            <a:noFill/>
          </a:ln>
        </p:spPr>
      </p:pic>
      <p:pic>
        <p:nvPicPr>
          <p:cNvPr id="88" name="Google Shape;120;p13" descr="image.png">
            <a:extLst>
              <a:ext uri="{FF2B5EF4-FFF2-40B4-BE49-F238E27FC236}">
                <a16:creationId xmlns:a16="http://schemas.microsoft.com/office/drawing/2014/main" id="{262FD2A4-F40F-7B53-4147-AF3277E10C0A}"/>
              </a:ext>
            </a:extLst>
          </p:cNvPr>
          <p:cNvPicPr preferRelativeResize="0"/>
          <p:nvPr/>
        </p:nvPicPr>
        <p:blipFill rotWithShape="1">
          <a:blip r:embed="rId8">
            <a:alphaModFix/>
          </a:blip>
          <a:srcRect/>
          <a:stretch/>
        </p:blipFill>
        <p:spPr>
          <a:xfrm>
            <a:off x="719862" y="4534166"/>
            <a:ext cx="103733" cy="152400"/>
          </a:xfrm>
          <a:prstGeom prst="rect">
            <a:avLst/>
          </a:prstGeom>
          <a:noFill/>
          <a:ln>
            <a:noFill/>
          </a:ln>
        </p:spPr>
      </p:pic>
      <p:pic>
        <p:nvPicPr>
          <p:cNvPr id="90" name="Google Shape;121;p13" descr="image.png">
            <a:extLst>
              <a:ext uri="{FF2B5EF4-FFF2-40B4-BE49-F238E27FC236}">
                <a16:creationId xmlns:a16="http://schemas.microsoft.com/office/drawing/2014/main" id="{70428265-E4DA-6E68-F7F1-613916F78D3D}"/>
              </a:ext>
            </a:extLst>
          </p:cNvPr>
          <p:cNvPicPr preferRelativeResize="0"/>
          <p:nvPr/>
        </p:nvPicPr>
        <p:blipFill rotWithShape="1">
          <a:blip r:embed="rId8">
            <a:alphaModFix/>
          </a:blip>
          <a:srcRect/>
          <a:stretch/>
        </p:blipFill>
        <p:spPr>
          <a:xfrm>
            <a:off x="719862" y="5472974"/>
            <a:ext cx="103733" cy="152400"/>
          </a:xfrm>
          <a:prstGeom prst="rect">
            <a:avLst/>
          </a:prstGeom>
          <a:noFill/>
          <a:ln>
            <a:noFill/>
          </a:ln>
        </p:spPr>
      </p:pic>
      <p:pic>
        <p:nvPicPr>
          <p:cNvPr id="92" name="Google Shape;122;p13" descr="image.png">
            <a:extLst>
              <a:ext uri="{FF2B5EF4-FFF2-40B4-BE49-F238E27FC236}">
                <a16:creationId xmlns:a16="http://schemas.microsoft.com/office/drawing/2014/main" id="{83783738-D84D-77C5-4E9D-F5F518835BD6}"/>
              </a:ext>
            </a:extLst>
          </p:cNvPr>
          <p:cNvPicPr preferRelativeResize="0"/>
          <p:nvPr/>
        </p:nvPicPr>
        <p:blipFill rotWithShape="1">
          <a:blip r:embed="rId8">
            <a:alphaModFix/>
          </a:blip>
          <a:srcRect/>
          <a:stretch/>
        </p:blipFill>
        <p:spPr>
          <a:xfrm>
            <a:off x="4434612" y="3613198"/>
            <a:ext cx="103733" cy="152400"/>
          </a:xfrm>
          <a:prstGeom prst="rect">
            <a:avLst/>
          </a:prstGeom>
          <a:noFill/>
          <a:ln>
            <a:noFill/>
          </a:ln>
        </p:spPr>
      </p:pic>
      <p:pic>
        <p:nvPicPr>
          <p:cNvPr id="93" name="Google Shape;123;p13" descr="image.png">
            <a:extLst>
              <a:ext uri="{FF2B5EF4-FFF2-40B4-BE49-F238E27FC236}">
                <a16:creationId xmlns:a16="http://schemas.microsoft.com/office/drawing/2014/main" id="{F7F1531C-1F53-99DC-E4D4-378D6AE0EE27}"/>
              </a:ext>
            </a:extLst>
          </p:cNvPr>
          <p:cNvPicPr preferRelativeResize="0"/>
          <p:nvPr/>
        </p:nvPicPr>
        <p:blipFill rotWithShape="1">
          <a:blip r:embed="rId8">
            <a:alphaModFix/>
          </a:blip>
          <a:srcRect/>
          <a:stretch/>
        </p:blipFill>
        <p:spPr>
          <a:xfrm>
            <a:off x="4443095" y="4516498"/>
            <a:ext cx="103733" cy="152400"/>
          </a:xfrm>
          <a:prstGeom prst="rect">
            <a:avLst/>
          </a:prstGeom>
          <a:noFill/>
          <a:ln>
            <a:noFill/>
          </a:ln>
        </p:spPr>
      </p:pic>
      <p:pic>
        <p:nvPicPr>
          <p:cNvPr id="95" name="Google Shape;124;p13" descr="image.png">
            <a:extLst>
              <a:ext uri="{FF2B5EF4-FFF2-40B4-BE49-F238E27FC236}">
                <a16:creationId xmlns:a16="http://schemas.microsoft.com/office/drawing/2014/main" id="{34E1A3FD-5B47-AB55-458D-49224902401F}"/>
              </a:ext>
            </a:extLst>
          </p:cNvPr>
          <p:cNvPicPr preferRelativeResize="0"/>
          <p:nvPr/>
        </p:nvPicPr>
        <p:blipFill rotWithShape="1">
          <a:blip r:embed="rId8">
            <a:alphaModFix/>
          </a:blip>
          <a:srcRect/>
          <a:stretch/>
        </p:blipFill>
        <p:spPr>
          <a:xfrm>
            <a:off x="4420767" y="5495998"/>
            <a:ext cx="103733" cy="152400"/>
          </a:xfrm>
          <a:prstGeom prst="rect">
            <a:avLst/>
          </a:prstGeom>
          <a:noFill/>
          <a:ln>
            <a:noFill/>
          </a:ln>
        </p:spPr>
      </p:pic>
      <p:pic>
        <p:nvPicPr>
          <p:cNvPr id="97" name="Google Shape;125;p13" descr="image.png">
            <a:extLst>
              <a:ext uri="{FF2B5EF4-FFF2-40B4-BE49-F238E27FC236}">
                <a16:creationId xmlns:a16="http://schemas.microsoft.com/office/drawing/2014/main" id="{5AA4EEE2-3765-1D54-094A-DAB208864679}"/>
              </a:ext>
            </a:extLst>
          </p:cNvPr>
          <p:cNvPicPr preferRelativeResize="0"/>
          <p:nvPr/>
        </p:nvPicPr>
        <p:blipFill rotWithShape="1">
          <a:blip r:embed="rId8">
            <a:alphaModFix/>
          </a:blip>
          <a:srcRect/>
          <a:stretch/>
        </p:blipFill>
        <p:spPr>
          <a:xfrm>
            <a:off x="8156347" y="3603857"/>
            <a:ext cx="103733" cy="152400"/>
          </a:xfrm>
          <a:prstGeom prst="rect">
            <a:avLst/>
          </a:prstGeom>
          <a:noFill/>
          <a:ln>
            <a:noFill/>
          </a:ln>
        </p:spPr>
      </p:pic>
      <p:pic>
        <p:nvPicPr>
          <p:cNvPr id="98" name="Google Shape;126;p13" descr="image.png">
            <a:extLst>
              <a:ext uri="{FF2B5EF4-FFF2-40B4-BE49-F238E27FC236}">
                <a16:creationId xmlns:a16="http://schemas.microsoft.com/office/drawing/2014/main" id="{D6E24197-DA4E-CD1B-D276-06CA302677BD}"/>
              </a:ext>
            </a:extLst>
          </p:cNvPr>
          <p:cNvPicPr preferRelativeResize="0"/>
          <p:nvPr/>
        </p:nvPicPr>
        <p:blipFill rotWithShape="1">
          <a:blip r:embed="rId8">
            <a:alphaModFix/>
          </a:blip>
          <a:srcRect/>
          <a:stretch/>
        </p:blipFill>
        <p:spPr>
          <a:xfrm>
            <a:off x="8156347" y="4542664"/>
            <a:ext cx="103733" cy="152400"/>
          </a:xfrm>
          <a:prstGeom prst="rect">
            <a:avLst/>
          </a:prstGeom>
          <a:noFill/>
          <a:ln>
            <a:noFill/>
          </a:ln>
        </p:spPr>
      </p:pic>
      <p:pic>
        <p:nvPicPr>
          <p:cNvPr id="99" name="Google Shape;127;p13" descr="image.png">
            <a:extLst>
              <a:ext uri="{FF2B5EF4-FFF2-40B4-BE49-F238E27FC236}">
                <a16:creationId xmlns:a16="http://schemas.microsoft.com/office/drawing/2014/main" id="{D934CADC-C929-C584-2750-FC5230E18F26}"/>
              </a:ext>
            </a:extLst>
          </p:cNvPr>
          <p:cNvPicPr preferRelativeResize="0"/>
          <p:nvPr/>
        </p:nvPicPr>
        <p:blipFill rotWithShape="1">
          <a:blip r:embed="rId8">
            <a:alphaModFix/>
          </a:blip>
          <a:srcRect/>
          <a:stretch/>
        </p:blipFill>
        <p:spPr>
          <a:xfrm>
            <a:off x="8156347" y="5481472"/>
            <a:ext cx="103733" cy="152400"/>
          </a:xfrm>
          <a:prstGeom prst="rect">
            <a:avLst/>
          </a:prstGeom>
          <a:noFill/>
          <a:ln>
            <a:noFill/>
          </a:ln>
        </p:spPr>
      </p:pic>
      <p:pic>
        <p:nvPicPr>
          <p:cNvPr id="1026" name="Picture 2">
            <a:extLst>
              <a:ext uri="{FF2B5EF4-FFF2-40B4-BE49-F238E27FC236}">
                <a16:creationId xmlns:a16="http://schemas.microsoft.com/office/drawing/2014/main" id="{D2801D57-F50C-9B03-BB6F-1AEE709E341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43095" y="1822849"/>
            <a:ext cx="2969993" cy="15526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041CE9F-E2F4-D4AD-98A8-643F2B3769E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260080" y="1762855"/>
            <a:ext cx="2695575" cy="16126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95910" y="798195"/>
            <a:ext cx="11417300"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95275" y="175913"/>
            <a:ext cx="45085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成员简介</a:t>
            </a:r>
          </a:p>
        </p:txBody>
      </p:sp>
      <p:sp>
        <p:nvSpPr>
          <p:cNvPr id="108" name="任意多边形: 形状 107"/>
          <p:cNvSpPr/>
          <p:nvPr>
            <p:custDataLst>
              <p:tags r:id="rId1"/>
            </p:custDataLst>
          </p:nvPr>
        </p:nvSpPr>
        <p:spPr>
          <a:xfrm>
            <a:off x="1575326" y="1424589"/>
            <a:ext cx="10361930" cy="2258060"/>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60000"/>
              <a:lumOff val="40000"/>
              <a:alpha val="3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en-US" altLang="zh-CN" dirty="0">
              <a:solidFill>
                <a:schemeClr val="tx1"/>
              </a:solidFill>
              <a:latin typeface="+mn-ea"/>
            </a:endParaRPr>
          </a:p>
          <a:p>
            <a:r>
              <a:rPr lang="zh-CN" altLang="en-US" dirty="0">
                <a:solidFill>
                  <a:schemeClr val="tx1"/>
                </a:solidFill>
                <a:latin typeface="+mn-ea"/>
              </a:rPr>
              <a:t>掌握</a:t>
            </a:r>
            <a:r>
              <a:rPr lang="en-US" altLang="zh-CN" dirty="0">
                <a:solidFill>
                  <a:schemeClr val="tx1"/>
                </a:solidFill>
                <a:latin typeface="+mn-ea"/>
              </a:rPr>
              <a:t>C/C++</a:t>
            </a:r>
            <a:r>
              <a:rPr lang="zh-CN" altLang="en-US" dirty="0">
                <a:solidFill>
                  <a:schemeClr val="tx1"/>
                </a:solidFill>
                <a:latin typeface="+mn-ea"/>
              </a:rPr>
              <a:t>、</a:t>
            </a:r>
            <a:r>
              <a:rPr lang="en-US" altLang="zh-CN" dirty="0">
                <a:solidFill>
                  <a:schemeClr val="tx1"/>
                </a:solidFill>
                <a:latin typeface="+mn-ea"/>
              </a:rPr>
              <a:t>Python</a:t>
            </a:r>
            <a:r>
              <a:rPr lang="zh-CN" altLang="en-US" dirty="0">
                <a:solidFill>
                  <a:schemeClr val="tx1"/>
                </a:solidFill>
                <a:latin typeface="+mn-ea"/>
              </a:rPr>
              <a:t>编程能力，熟悉嵌入式项目开发流程，熟悉基础焊接、自制</a:t>
            </a:r>
            <a:r>
              <a:rPr lang="en-US" altLang="zh-CN" dirty="0">
                <a:solidFill>
                  <a:schemeClr val="tx1"/>
                </a:solidFill>
                <a:latin typeface="+mn-ea"/>
              </a:rPr>
              <a:t>PCB</a:t>
            </a:r>
            <a:r>
              <a:rPr lang="zh-CN" altLang="en-US" dirty="0">
                <a:solidFill>
                  <a:schemeClr val="tx1"/>
                </a:solidFill>
                <a:latin typeface="+mn-ea"/>
              </a:rPr>
              <a:t>、</a:t>
            </a:r>
            <a:r>
              <a:rPr lang="en-US" altLang="zh-CN" dirty="0">
                <a:solidFill>
                  <a:schemeClr val="tx1"/>
                </a:solidFill>
                <a:latin typeface="+mn-ea"/>
              </a:rPr>
              <a:t>3D</a:t>
            </a:r>
            <a:r>
              <a:rPr lang="zh-CN" altLang="en-US" dirty="0">
                <a:solidFill>
                  <a:schemeClr val="tx1"/>
                </a:solidFill>
                <a:latin typeface="+mn-ea"/>
              </a:rPr>
              <a:t>打印技术，荣获多项市级、校级奖项。</a:t>
            </a:r>
            <a:endParaRPr lang="en-US" altLang="zh-CN" dirty="0">
              <a:solidFill>
                <a:schemeClr val="tx1"/>
              </a:solidFill>
              <a:latin typeface="+mn-ea"/>
            </a:endParaRPr>
          </a:p>
          <a:p>
            <a:r>
              <a:rPr lang="zh-CN" altLang="en-US" dirty="0">
                <a:solidFill>
                  <a:schemeClr val="tx1"/>
                </a:solidFill>
                <a:latin typeface="+mn-ea"/>
              </a:rPr>
              <a:t>实用新型专利一项。</a:t>
            </a:r>
            <a:endParaRPr lang="en-US" altLang="zh-CN" dirty="0">
              <a:solidFill>
                <a:schemeClr val="tx1"/>
              </a:solidFill>
              <a:latin typeface="+mn-ea"/>
            </a:endParaRPr>
          </a:p>
          <a:p>
            <a:r>
              <a:rPr lang="zh-CN" altLang="en-US" dirty="0">
                <a:solidFill>
                  <a:schemeClr val="tx1"/>
                </a:solidFill>
                <a:latin typeface="+mn-ea"/>
              </a:rPr>
              <a:t>主要负责下位机电控部分。</a:t>
            </a:r>
            <a:endParaRPr lang="en-US" altLang="zh-CN" dirty="0">
              <a:solidFill>
                <a:schemeClr val="tx1"/>
              </a:solidFill>
              <a:latin typeface="+mn-ea"/>
            </a:endParaRPr>
          </a:p>
          <a:p>
            <a:r>
              <a:rPr lang="zh-CN" altLang="en-US" dirty="0">
                <a:solidFill>
                  <a:schemeClr val="tx1"/>
                </a:solidFill>
                <a:latin typeface="+mn-ea"/>
              </a:rPr>
              <a:t>编写下位机控制车体移动、车体姿态速度等数据采集、对回传信息处理执行的程序。</a:t>
            </a:r>
            <a:endParaRPr lang="en-US" altLang="zh-CN" dirty="0">
              <a:solidFill>
                <a:schemeClr val="tx1"/>
              </a:solidFill>
              <a:latin typeface="+mn-ea"/>
            </a:endParaRPr>
          </a:p>
          <a:p>
            <a:r>
              <a:rPr lang="zh-CN" altLang="en-US" dirty="0">
                <a:solidFill>
                  <a:schemeClr val="tx1"/>
                </a:solidFill>
                <a:latin typeface="+mn-ea"/>
              </a:rPr>
              <a:t>负责小部分机器人建模工作。</a:t>
            </a:r>
          </a:p>
        </p:txBody>
      </p:sp>
      <p:sp>
        <p:nvSpPr>
          <p:cNvPr id="109" name="任意多边形: 形状 108"/>
          <p:cNvSpPr/>
          <p:nvPr>
            <p:custDataLst>
              <p:tags r:id="rId2"/>
            </p:custDataLst>
          </p:nvPr>
        </p:nvSpPr>
        <p:spPr>
          <a:xfrm>
            <a:off x="1616601" y="3822983"/>
            <a:ext cx="10320020" cy="2369711"/>
          </a:xfrm>
          <a:custGeom>
            <a:avLst/>
            <a:gdLst>
              <a:gd name="connsiteX0" fmla="*/ 217231 w 3868148"/>
              <a:gd name="connsiteY0" fmla="*/ 0 h 3947090"/>
              <a:gd name="connsiteX1" fmla="*/ 1570793 w 3868148"/>
              <a:gd name="connsiteY1" fmla="*/ 0 h 3947090"/>
              <a:gd name="connsiteX2" fmla="*/ 1724398 w 3868148"/>
              <a:gd name="connsiteY2" fmla="*/ 63626 h 3947090"/>
              <a:gd name="connsiteX3" fmla="*/ 1725318 w 3868148"/>
              <a:gd name="connsiteY3" fmla="*/ 64990 h 3947090"/>
              <a:gd name="connsiteX4" fmla="*/ 1725318 w 3868148"/>
              <a:gd name="connsiteY4" fmla="*/ 64067 h 3947090"/>
              <a:gd name="connsiteX5" fmla="*/ 1993463 w 3868148"/>
              <a:gd name="connsiteY5" fmla="*/ 402931 h 3947090"/>
              <a:gd name="connsiteX6" fmla="*/ 3715607 w 3868148"/>
              <a:gd name="connsiteY6" fmla="*/ 402931 h 3947090"/>
              <a:gd name="connsiteX7" fmla="*/ 3868148 w 3868148"/>
              <a:gd name="connsiteY7" fmla="*/ 555472 h 3947090"/>
              <a:gd name="connsiteX8" fmla="*/ 3868148 w 3868148"/>
              <a:gd name="connsiteY8" fmla="*/ 3794549 h 3947090"/>
              <a:gd name="connsiteX9" fmla="*/ 3715607 w 3868148"/>
              <a:gd name="connsiteY9" fmla="*/ 3947090 h 3947090"/>
              <a:gd name="connsiteX10" fmla="*/ 152541 w 3868148"/>
              <a:gd name="connsiteY10" fmla="*/ 3947090 h 3947090"/>
              <a:gd name="connsiteX11" fmla="*/ 0 w 3868148"/>
              <a:gd name="connsiteY11" fmla="*/ 3794549 h 3947090"/>
              <a:gd name="connsiteX12" fmla="*/ 0 w 3868148"/>
              <a:gd name="connsiteY12" fmla="*/ 683393 h 3947090"/>
              <a:gd name="connsiteX13" fmla="*/ 0 w 3868148"/>
              <a:gd name="connsiteY13" fmla="*/ 555472 h 3947090"/>
              <a:gd name="connsiteX14" fmla="*/ 0 w 3868148"/>
              <a:gd name="connsiteY14" fmla="*/ 217231 h 3947090"/>
              <a:gd name="connsiteX15" fmla="*/ 217231 w 3868148"/>
              <a:gd name="connsiteY15" fmla="*/ 0 h 394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68148" h="3947090">
                <a:moveTo>
                  <a:pt x="217231" y="0"/>
                </a:moveTo>
                <a:lnTo>
                  <a:pt x="1570793" y="0"/>
                </a:lnTo>
                <a:cubicBezTo>
                  <a:pt x="1630779" y="0"/>
                  <a:pt x="1685087" y="24314"/>
                  <a:pt x="1724398" y="63626"/>
                </a:cubicBezTo>
                <a:lnTo>
                  <a:pt x="1725318" y="64990"/>
                </a:lnTo>
                <a:lnTo>
                  <a:pt x="1725318" y="64067"/>
                </a:lnTo>
                <a:lnTo>
                  <a:pt x="1993463" y="402931"/>
                </a:lnTo>
                <a:lnTo>
                  <a:pt x="3715607" y="402931"/>
                </a:lnTo>
                <a:cubicBezTo>
                  <a:pt x="3799853" y="402931"/>
                  <a:pt x="3868148" y="471226"/>
                  <a:pt x="3868148" y="555472"/>
                </a:cubicBezTo>
                <a:lnTo>
                  <a:pt x="3868148" y="3794549"/>
                </a:lnTo>
                <a:cubicBezTo>
                  <a:pt x="3868148" y="3878795"/>
                  <a:pt x="3799853" y="3947090"/>
                  <a:pt x="3715607" y="3947090"/>
                </a:cubicBezTo>
                <a:lnTo>
                  <a:pt x="152541" y="3947090"/>
                </a:lnTo>
                <a:cubicBezTo>
                  <a:pt x="68295" y="3947090"/>
                  <a:pt x="0" y="3878795"/>
                  <a:pt x="0" y="3794549"/>
                </a:cubicBezTo>
                <a:lnTo>
                  <a:pt x="0" y="683393"/>
                </a:lnTo>
                <a:lnTo>
                  <a:pt x="0" y="555472"/>
                </a:lnTo>
                <a:lnTo>
                  <a:pt x="0" y="217231"/>
                </a:lnTo>
                <a:cubicBezTo>
                  <a:pt x="0" y="97258"/>
                  <a:pt x="97258" y="0"/>
                  <a:pt x="217231" y="0"/>
                </a:cubicBezTo>
                <a:close/>
              </a:path>
            </a:pathLst>
          </a:custGeom>
          <a:solidFill>
            <a:schemeClr val="accent1">
              <a:lumMod val="20000"/>
              <a:lumOff val="80000"/>
              <a:alpha val="7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n-ea"/>
            </a:endParaRPr>
          </a:p>
        </p:txBody>
      </p:sp>
      <p:pic>
        <p:nvPicPr>
          <p:cNvPr id="3" name="图片 2" descr="76b499643fee34819cb883d90f0351cf"/>
          <p:cNvPicPr>
            <a:picLocks noChangeAspect="1"/>
          </p:cNvPicPr>
          <p:nvPr/>
        </p:nvPicPr>
        <p:blipFill>
          <a:blip r:embed="rId16"/>
          <a:stretch>
            <a:fillRect/>
          </a:stretch>
        </p:blipFill>
        <p:spPr>
          <a:xfrm>
            <a:off x="10965180" y="0"/>
            <a:ext cx="748030" cy="748030"/>
          </a:xfrm>
          <a:prstGeom prst="rect">
            <a:avLst/>
          </a:prstGeom>
        </p:spPr>
      </p:pic>
      <p:grpSp>
        <p:nvGrpSpPr>
          <p:cNvPr id="14" name="组合 13"/>
          <p:cNvGrpSpPr/>
          <p:nvPr/>
        </p:nvGrpSpPr>
        <p:grpSpPr>
          <a:xfrm>
            <a:off x="365959" y="1971300"/>
            <a:ext cx="824865" cy="969383"/>
            <a:chOff x="8184" y="1893"/>
            <a:chExt cx="2068" cy="2601"/>
          </a:xfrm>
        </p:grpSpPr>
        <p:grpSp>
          <p:nvGrpSpPr>
            <p:cNvPr id="87" name="组合 86"/>
            <p:cNvGrpSpPr/>
            <p:nvPr>
              <p:custDataLst>
                <p:tags r:id="rId8"/>
              </p:custDataLst>
            </p:nvPr>
          </p:nvGrpSpPr>
          <p:grpSpPr>
            <a:xfrm>
              <a:off x="8184" y="1893"/>
              <a:ext cx="2068" cy="2601"/>
              <a:chOff x="8091791" y="1675745"/>
              <a:chExt cx="1313511" cy="1651486"/>
            </a:xfrm>
            <a:solidFill>
              <a:srgbClr val="678FC3"/>
            </a:solidFill>
          </p:grpSpPr>
          <p:grpSp>
            <p:nvGrpSpPr>
              <p:cNvPr id="36" name="组合 35"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8174990" y="1675745"/>
                <a:ext cx="1230312" cy="504825"/>
                <a:chOff x="7434263" y="1960563"/>
                <a:chExt cx="1230312" cy="504825"/>
              </a:xfrm>
              <a:grpFill/>
            </p:grpSpPr>
            <p:sp>
              <p:nvSpPr>
                <p:cNvPr id="37" name="Freeform 36"/>
                <p:cNvSpPr/>
                <p:nvPr>
                  <p:custDataLst>
                    <p:tags r:id="rId13"/>
                  </p:custDataLst>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p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8" name="Freeform 37"/>
                <p:cNvSpPr/>
                <p:nvPr>
                  <p:custDataLst>
                    <p:tags r:id="rId14"/>
                  </p:custDataLst>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p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nvGrpSpPr>
              <p:cNvPr id="61" name="组合 60"/>
              <p:cNvGrpSpPr/>
              <p:nvPr/>
            </p:nvGrpSpPr>
            <p:grpSpPr>
              <a:xfrm>
                <a:off x="8091791" y="2095590"/>
                <a:ext cx="1231640" cy="1231641"/>
                <a:chOff x="5113324" y="2105296"/>
                <a:chExt cx="1231640" cy="1231641"/>
              </a:xfrm>
              <a:grpFill/>
            </p:grpSpPr>
            <p:sp>
              <p:nvSpPr>
                <p:cNvPr id="62" name="椭圆 61"/>
                <p:cNvSpPr/>
                <p:nvPr>
                  <p:custDataLst>
                    <p:tags r:id="rId9"/>
                  </p:custDataLst>
                </p:nvPr>
              </p:nvSpPr>
              <p:spPr>
                <a:xfrm>
                  <a:off x="5113324" y="2105296"/>
                  <a:ext cx="1231640" cy="1231641"/>
                </a:xfrm>
                <a:prstGeom prst="ellipse">
                  <a:avLst/>
                </a:prstGeom>
                <a:grp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3" name="组合 62"/>
                <p:cNvGrpSpPr/>
                <p:nvPr/>
              </p:nvGrpSpPr>
              <p:grpSpPr>
                <a:xfrm>
                  <a:off x="5504988" y="2496894"/>
                  <a:ext cx="448540" cy="448540"/>
                  <a:chOff x="5394312" y="2141343"/>
                  <a:chExt cx="359165" cy="359165"/>
                </a:xfrm>
                <a:grpFill/>
              </p:grpSpPr>
              <p:sp>
                <p:nvSpPr>
                  <p:cNvPr id="64" name="AutoShape 56"/>
                  <p:cNvSpPr/>
                  <p:nvPr>
                    <p:custDataLst>
                      <p:tags r:id="rId10"/>
                    </p:custDataLst>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5" name="AutoShape 57"/>
                  <p:cNvSpPr/>
                  <p:nvPr>
                    <p:custDataLst>
                      <p:tags r:id="rId11"/>
                    </p:custDataLst>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sp>
                <p:nvSpPr>
                  <p:cNvPr id="66" name="AutoShape 58"/>
                  <p:cNvSpPr/>
                  <p:nvPr>
                    <p:custDataLst>
                      <p:tags r:id="rId12"/>
                    </p:custDataLst>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grpSp>
        </p:grpSp>
        <p:sp>
          <p:nvSpPr>
            <p:cNvPr id="8" name="椭圆 7"/>
            <p:cNvSpPr/>
            <p:nvPr/>
          </p:nvSpPr>
          <p:spPr>
            <a:xfrm>
              <a:off x="8615" y="2964"/>
              <a:ext cx="1101" cy="1101"/>
            </a:xfrm>
            <a:prstGeom prst="ellipse">
              <a:avLst/>
            </a:prstGeom>
            <a:solidFill>
              <a:srgbClr val="678F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grpSp>
      <p:grpSp>
        <p:nvGrpSpPr>
          <p:cNvPr id="15" name="组合 14"/>
          <p:cNvGrpSpPr/>
          <p:nvPr/>
        </p:nvGrpSpPr>
        <p:grpSpPr>
          <a:xfrm>
            <a:off x="344399" y="4299936"/>
            <a:ext cx="810895" cy="1031875"/>
            <a:chOff x="14097" y="1964"/>
            <a:chExt cx="2068" cy="2601"/>
          </a:xfrm>
        </p:grpSpPr>
        <p:grpSp>
          <p:nvGrpSpPr>
            <p:cNvPr id="104" name="组合 103"/>
            <p:cNvGrpSpPr/>
            <p:nvPr>
              <p:custDataLst>
                <p:tags r:id="rId3"/>
              </p:custDataLst>
            </p:nvPr>
          </p:nvGrpSpPr>
          <p:grpSpPr>
            <a:xfrm>
              <a:off x="14097" y="1964"/>
              <a:ext cx="2068" cy="2601"/>
              <a:chOff x="9073333" y="1730607"/>
              <a:chExt cx="1313397" cy="1651534"/>
            </a:xfrm>
          </p:grpSpPr>
          <p:grpSp>
            <p:nvGrpSpPr>
              <p:cNvPr id="94" name="组合 93" descr="e7d195523061f1c09e9d68d7cf438b91ef959ecb14fc25d26BBA7F7DBC18E55DFF4014AF651F0BF2569D4B6C1DA7F1A4683A481403BD872FC687266AD13265C1DE7C373772FD8728ABDD69ADD03BFF5BE2862BC891DBB79EEA6ABFDA2705539C423D9E6A869863D43AC2EBED1DD1EB162B64448B75509C01D19FA967F443D1B5FCE830C8A5DF52D02B41DCFFF314BA0C"/>
              <p:cNvGrpSpPr/>
              <p:nvPr/>
            </p:nvGrpSpPr>
            <p:grpSpPr>
              <a:xfrm>
                <a:off x="9156418" y="1730607"/>
                <a:ext cx="1230312" cy="504825"/>
                <a:chOff x="7434263" y="1960563"/>
                <a:chExt cx="1230312" cy="504825"/>
              </a:xfrm>
              <a:solidFill>
                <a:srgbClr val="2D2C3A"/>
              </a:solidFill>
            </p:grpSpPr>
            <p:sp>
              <p:nvSpPr>
                <p:cNvPr id="101" name="Freeform 36"/>
                <p:cNvSpPr/>
                <p:nvPr>
                  <p:custDataLst>
                    <p:tags r:id="rId6"/>
                  </p:custDataLst>
                </p:nvPr>
              </p:nvSpPr>
              <p:spPr bwMode="auto">
                <a:xfrm>
                  <a:off x="7434263" y="1960563"/>
                  <a:ext cx="1208087" cy="469900"/>
                </a:xfrm>
                <a:custGeom>
                  <a:avLst/>
                  <a:gdLst>
                    <a:gd name="T0" fmla="*/ 538 w 538"/>
                    <a:gd name="T1" fmla="*/ 193 h 209"/>
                    <a:gd name="T2" fmla="*/ 0 w 538"/>
                    <a:gd name="T3" fmla="*/ 132 h 209"/>
                    <a:gd name="T4" fmla="*/ 16 w 538"/>
                    <a:gd name="T5" fmla="*/ 153 h 209"/>
                    <a:gd name="T6" fmla="*/ 518 w 538"/>
                    <a:gd name="T7" fmla="*/ 209 h 209"/>
                    <a:gd name="T8" fmla="*/ 538 w 538"/>
                    <a:gd name="T9" fmla="*/ 193 h 209"/>
                  </a:gdLst>
                  <a:ahLst/>
                  <a:cxnLst>
                    <a:cxn ang="0">
                      <a:pos x="T0" y="T1"/>
                    </a:cxn>
                    <a:cxn ang="0">
                      <a:pos x="T2" y="T3"/>
                    </a:cxn>
                    <a:cxn ang="0">
                      <a:pos x="T4" y="T5"/>
                    </a:cxn>
                    <a:cxn ang="0">
                      <a:pos x="T6" y="T7"/>
                    </a:cxn>
                    <a:cxn ang="0">
                      <a:pos x="T8" y="T9"/>
                    </a:cxn>
                  </a:cxnLst>
                  <a:rect l="0" t="0" r="r" b="b"/>
                  <a:pathLst>
                    <a:path w="538" h="209">
                      <a:moveTo>
                        <a:pt x="538" y="193"/>
                      </a:moveTo>
                      <a:cubicBezTo>
                        <a:pt x="406" y="28"/>
                        <a:pt x="165" y="0"/>
                        <a:pt x="0" y="132"/>
                      </a:cubicBezTo>
                      <a:cubicBezTo>
                        <a:pt x="16" y="153"/>
                        <a:pt x="16" y="153"/>
                        <a:pt x="16" y="153"/>
                      </a:cubicBezTo>
                      <a:cubicBezTo>
                        <a:pt x="170" y="29"/>
                        <a:pt x="393" y="53"/>
                        <a:pt x="518" y="209"/>
                      </a:cubicBezTo>
                      <a:lnTo>
                        <a:pt x="538" y="193"/>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2" name="Freeform 37"/>
                <p:cNvSpPr/>
                <p:nvPr>
                  <p:custDataLst>
                    <p:tags r:id="rId7"/>
                  </p:custDataLst>
                </p:nvPr>
              </p:nvSpPr>
              <p:spPr bwMode="auto">
                <a:xfrm>
                  <a:off x="8501063" y="2295525"/>
                  <a:ext cx="163512" cy="169863"/>
                </a:xfrm>
                <a:custGeom>
                  <a:avLst/>
                  <a:gdLst>
                    <a:gd name="T0" fmla="*/ 103 w 103"/>
                    <a:gd name="T1" fmla="*/ 0 h 107"/>
                    <a:gd name="T2" fmla="*/ 0 w 103"/>
                    <a:gd name="T3" fmla="*/ 83 h 107"/>
                    <a:gd name="T4" fmla="*/ 102 w 103"/>
                    <a:gd name="T5" fmla="*/ 107 h 107"/>
                    <a:gd name="T6" fmla="*/ 103 w 103"/>
                    <a:gd name="T7" fmla="*/ 0 h 107"/>
                  </a:gdLst>
                  <a:ahLst/>
                  <a:cxnLst>
                    <a:cxn ang="0">
                      <a:pos x="T0" y="T1"/>
                    </a:cxn>
                    <a:cxn ang="0">
                      <a:pos x="T2" y="T3"/>
                    </a:cxn>
                    <a:cxn ang="0">
                      <a:pos x="T4" y="T5"/>
                    </a:cxn>
                    <a:cxn ang="0">
                      <a:pos x="T6" y="T7"/>
                    </a:cxn>
                  </a:cxnLst>
                  <a:rect l="0" t="0" r="r" b="b"/>
                  <a:pathLst>
                    <a:path w="103" h="107">
                      <a:moveTo>
                        <a:pt x="103" y="0"/>
                      </a:moveTo>
                      <a:lnTo>
                        <a:pt x="0" y="83"/>
                      </a:lnTo>
                      <a:lnTo>
                        <a:pt x="102" y="107"/>
                      </a:lnTo>
                      <a:lnTo>
                        <a:pt x="103" y="0"/>
                      </a:lnTo>
                      <a:close/>
                    </a:path>
                  </a:pathLst>
                </a:cu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sp>
            <p:nvSpPr>
              <p:cNvPr id="96" name="椭圆 95"/>
              <p:cNvSpPr/>
              <p:nvPr>
                <p:custDataLst>
                  <p:tags r:id="rId4"/>
                </p:custDataLst>
              </p:nvPr>
            </p:nvSpPr>
            <p:spPr>
              <a:xfrm>
                <a:off x="9073333" y="2150500"/>
                <a:ext cx="1231641" cy="1231641"/>
              </a:xfrm>
              <a:prstGeom prst="ellipse">
                <a:avLst/>
              </a:prstGeom>
              <a:gradFill>
                <a:gsLst>
                  <a:gs pos="100000">
                    <a:schemeClr val="accent1">
                      <a:lumMod val="75000"/>
                    </a:schemeClr>
                  </a:gs>
                  <a:gs pos="0">
                    <a:schemeClr val="accent1"/>
                  </a:gs>
                </a:gsLst>
                <a:path path="circle">
                  <a:fillToRect l="50000" t="50000" r="50000" b="50000"/>
                </a:path>
              </a:gradFill>
              <a:ln>
                <a:noFill/>
              </a:ln>
              <a:effectLst>
                <a:outerShdw blurRad="139700" dist="1016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AutoShape 112"/>
              <p:cNvSpPr/>
              <p:nvPr>
                <p:custDataLst>
                  <p:tags r:id="rId5"/>
                </p:custDataLst>
              </p:nvPr>
            </p:nvSpPr>
            <p:spPr bwMode="auto">
              <a:xfrm>
                <a:off x="9464135" y="2525417"/>
                <a:ext cx="450036" cy="44805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p:spPr>
            <p:txBody>
              <a:bodyPr lIns="19050" tIns="19050" rIns="19050" bIns="19050" anchor="ctr"/>
              <a:lstStyle/>
              <a:p>
                <a:pPr marL="0" marR="0" lvl="0" indent="0" algn="ctr" defTabSz="228600" eaLnBrk="1" fontAlgn="auto" latinLnBrk="0" hangingPunct="1">
                  <a:lnSpc>
                    <a:spcPct val="100000"/>
                  </a:lnSpc>
                  <a:spcBef>
                    <a:spcPts val="0"/>
                  </a:spcBef>
                  <a:spcAft>
                    <a:spcPts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宋体" panose="02010600030101010101" pitchFamily="2" charset="-122"/>
                  <a:sym typeface="Gill Sans" charset="0"/>
                </a:endParaRPr>
              </a:p>
            </p:txBody>
          </p:sp>
        </p:grpSp>
        <p:sp>
          <p:nvSpPr>
            <p:cNvPr id="9" name="文本框 8"/>
            <p:cNvSpPr txBox="1"/>
            <p:nvPr/>
          </p:nvSpPr>
          <p:spPr>
            <a:xfrm>
              <a:off x="14436" y="3147"/>
              <a:ext cx="1390" cy="580"/>
            </a:xfrm>
            <a:prstGeom prst="rect">
              <a:avLst/>
            </a:prstGeom>
            <a:noFill/>
          </p:spPr>
          <p:txBody>
            <a:bodyPr wrap="square" rtlCol="0">
              <a:spAutoFit/>
            </a:bodyPr>
            <a:lstStyle/>
            <a:p>
              <a:endParaRPr lang="zh-CN" altLang="en-US" b="1">
                <a:solidFill>
                  <a:schemeClr val="bg1"/>
                </a:solidFill>
              </a:endParaRPr>
            </a:p>
          </p:txBody>
        </p:sp>
      </p:grpSp>
      <p:sp>
        <p:nvSpPr>
          <p:cNvPr id="10" name="文本框 9"/>
          <p:cNvSpPr txBox="1"/>
          <p:nvPr/>
        </p:nvSpPr>
        <p:spPr>
          <a:xfrm>
            <a:off x="1616601" y="4032534"/>
            <a:ext cx="5295265" cy="645160"/>
          </a:xfrm>
          <a:prstGeom prst="rect">
            <a:avLst/>
          </a:prstGeom>
          <a:noFill/>
        </p:spPr>
        <p:txBody>
          <a:bodyPr wrap="square" rtlCol="0">
            <a:spAutoFit/>
          </a:bodyPr>
          <a:lstStyle/>
          <a:p>
            <a:r>
              <a:rPr lang="zh-CN" altLang="en-US"/>
              <a:t>主要负责机械部分</a:t>
            </a:r>
          </a:p>
          <a:p>
            <a:r>
              <a:rPr lang="zh-CN" altLang="en-US"/>
              <a:t>负责巡检机器人</a:t>
            </a:r>
            <a:r>
              <a:rPr lang="en-US" altLang="zh-CN"/>
              <a:t>solid works</a:t>
            </a:r>
            <a:r>
              <a:rPr lang="zh-CN" altLang="en-US"/>
              <a:t>建模</a:t>
            </a:r>
          </a:p>
        </p:txBody>
      </p:sp>
      <p:sp>
        <p:nvSpPr>
          <p:cNvPr id="7" name="椭圆 6"/>
          <p:cNvSpPr/>
          <p:nvPr/>
        </p:nvSpPr>
        <p:spPr>
          <a:xfrm>
            <a:off x="396469" y="4661886"/>
            <a:ext cx="683260" cy="57721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344399" y="4808571"/>
            <a:ext cx="1065530" cy="306705"/>
          </a:xfrm>
          <a:prstGeom prst="rect">
            <a:avLst/>
          </a:prstGeom>
          <a:noFill/>
        </p:spPr>
        <p:txBody>
          <a:bodyPr wrap="square" rtlCol="0">
            <a:spAutoFit/>
          </a:bodyPr>
          <a:lstStyle/>
          <a:p>
            <a:r>
              <a:rPr lang="zh-CN" altLang="en-US" sz="1400" b="1" dirty="0">
                <a:solidFill>
                  <a:schemeClr val="bg1"/>
                </a:solidFill>
              </a:rPr>
              <a:t>熊司晨</a:t>
            </a:r>
          </a:p>
        </p:txBody>
      </p:sp>
      <p:sp>
        <p:nvSpPr>
          <p:cNvPr id="6" name="文本框 5">
            <a:extLst>
              <a:ext uri="{FF2B5EF4-FFF2-40B4-BE49-F238E27FC236}">
                <a16:creationId xmlns:a16="http://schemas.microsoft.com/office/drawing/2014/main" id="{9D4ED2FB-0001-19C6-9EC1-84C4BA3543AE}"/>
              </a:ext>
            </a:extLst>
          </p:cNvPr>
          <p:cNvSpPr txBox="1"/>
          <p:nvPr/>
        </p:nvSpPr>
        <p:spPr>
          <a:xfrm>
            <a:off x="395696" y="2430713"/>
            <a:ext cx="723275" cy="307777"/>
          </a:xfrm>
          <a:prstGeom prst="rect">
            <a:avLst/>
          </a:prstGeom>
          <a:noFill/>
        </p:spPr>
        <p:txBody>
          <a:bodyPr wrap="none" rtlCol="0">
            <a:spAutoFit/>
          </a:bodyPr>
          <a:lstStyle/>
          <a:p>
            <a:r>
              <a:rPr lang="zh-CN" altLang="en-US" sz="1400" b="1" dirty="0">
                <a:solidFill>
                  <a:schemeClr val="bg1"/>
                </a:solidFill>
              </a:rPr>
              <a:t>傅思雄</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992812" y="2702486"/>
            <a:ext cx="4740984" cy="10940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p:cNvGrpSpPr/>
          <p:nvPr/>
        </p:nvGrpSpPr>
        <p:grpSpPr>
          <a:xfrm>
            <a:off x="-2" y="5522661"/>
            <a:ext cx="2867026" cy="921872"/>
            <a:chOff x="-2" y="1537960"/>
            <a:chExt cx="2867026" cy="921872"/>
          </a:xfrm>
        </p:grpSpPr>
        <p:sp>
          <p:nvSpPr>
            <p:cNvPr id="11" name="矩形 10"/>
            <p:cNvSpPr/>
            <p:nvPr/>
          </p:nvSpPr>
          <p:spPr>
            <a:xfrm>
              <a:off x="-1" y="1537960"/>
              <a:ext cx="2867025" cy="762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直角三角形 11"/>
            <p:cNvSpPr/>
            <p:nvPr/>
          </p:nvSpPr>
          <p:spPr>
            <a:xfrm rot="10800000">
              <a:off x="-2" y="2299960"/>
              <a:ext cx="295276" cy="159872"/>
            </a:xfrm>
            <a:prstGeom prst="r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691923" y="335466"/>
            <a:ext cx="1778454" cy="830997"/>
          </a:xfrm>
          <a:prstGeom prst="rect">
            <a:avLst/>
          </a:prstGeom>
          <a:noFill/>
        </p:spPr>
        <p:txBody>
          <a:bodyPr wrap="square" rtlCol="0">
            <a:spAutoFit/>
          </a:bodyPr>
          <a:lstStyle/>
          <a:p>
            <a:pPr algn="ctr"/>
            <a:r>
              <a:rPr lang="zh-CN" altLang="en-US" sz="4800" b="1" dirty="0">
                <a:solidFill>
                  <a:schemeClr val="accent1"/>
                </a:solidFill>
                <a:latin typeface="微软雅黑" panose="020B0503020204020204" pitchFamily="34" charset="-122"/>
                <a:ea typeface="微软雅黑" panose="020B0503020204020204" pitchFamily="34" charset="-122"/>
              </a:rPr>
              <a:t>目录</a:t>
            </a:r>
          </a:p>
        </p:txBody>
      </p:sp>
      <p:sp>
        <p:nvSpPr>
          <p:cNvPr id="15" name="文本框 14"/>
          <p:cNvSpPr txBox="1"/>
          <p:nvPr/>
        </p:nvSpPr>
        <p:spPr>
          <a:xfrm>
            <a:off x="4046412" y="2180590"/>
            <a:ext cx="2946400" cy="2214880"/>
          </a:xfrm>
          <a:prstGeom prst="rect">
            <a:avLst/>
          </a:prstGeom>
          <a:noFill/>
        </p:spPr>
        <p:txBody>
          <a:bodyPr wrap="square" rtlCol="0">
            <a:spAutoFit/>
          </a:bodyPr>
          <a:lstStyle/>
          <a:p>
            <a:pPr algn="ctr"/>
            <a:r>
              <a:rPr lang="en-US" altLang="zh-CN" sz="13800" b="1" dirty="0">
                <a:solidFill>
                  <a:schemeClr val="accent1"/>
                </a:solidFill>
                <a:latin typeface="微软雅黑" panose="020B0503020204020204" pitchFamily="34" charset="-122"/>
                <a:ea typeface="微软雅黑" panose="020B0503020204020204" pitchFamily="34" charset="-122"/>
              </a:rPr>
              <a:t>04</a:t>
            </a:r>
            <a:endParaRPr lang="zh-CN" altLang="en-US" sz="13800" b="1"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452369" y="2772434"/>
            <a:ext cx="4119335" cy="953135"/>
          </a:xfrm>
          <a:prstGeom prst="rect">
            <a:avLst/>
          </a:prstGeom>
          <a:noFill/>
        </p:spPr>
        <p:txBody>
          <a:bodyPr wrap="square" rtlCol="0">
            <a:spAutoFit/>
          </a:bodyPr>
          <a:lstStyle/>
          <a:p>
            <a:r>
              <a:rPr lang="zh-CN" altLang="en-US" sz="3600" b="1" dirty="0">
                <a:solidFill>
                  <a:schemeClr val="bg1"/>
                </a:solidFill>
              </a:rPr>
              <a:t>应用前景</a:t>
            </a:r>
            <a:endParaRPr lang="en-US" altLang="zh-CN" sz="3600" b="1" dirty="0">
              <a:solidFill>
                <a:schemeClr val="bg1"/>
              </a:solidFill>
            </a:endParaRPr>
          </a:p>
          <a:p>
            <a:r>
              <a:rPr lang="en-US" altLang="zh-CN" sz="2000" dirty="0">
                <a:solidFill>
                  <a:schemeClr val="bg1"/>
                </a:solidFill>
                <a:latin typeface="微软雅黑" panose="020B0503020204020204" pitchFamily="34" charset="-122"/>
                <a:ea typeface="微软雅黑" panose="020B0503020204020204" pitchFamily="34" charset="-122"/>
              </a:rPr>
              <a:t>Application Prospects</a:t>
            </a:r>
          </a:p>
        </p:txBody>
      </p:sp>
      <p:grpSp>
        <p:nvGrpSpPr>
          <p:cNvPr id="22" name="组合 21"/>
          <p:cNvGrpSpPr/>
          <p:nvPr/>
        </p:nvGrpSpPr>
        <p:grpSpPr>
          <a:xfrm flipH="1">
            <a:off x="10375900" y="6121400"/>
            <a:ext cx="1282700" cy="421640"/>
            <a:chOff x="495300" y="304800"/>
            <a:chExt cx="1282700" cy="421640"/>
          </a:xfrm>
        </p:grpSpPr>
        <p:sp>
          <p:nvSpPr>
            <p:cNvPr id="23" name="矩形: 圆角 22"/>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542925" y="1657350"/>
            <a:ext cx="2019300" cy="4493895"/>
            <a:chOff x="855" y="2610"/>
            <a:chExt cx="3180" cy="7077"/>
          </a:xfrm>
        </p:grpSpPr>
        <p:sp>
          <p:nvSpPr>
            <p:cNvPr id="6" name="文本框 5"/>
            <p:cNvSpPr txBox="1"/>
            <p:nvPr/>
          </p:nvSpPr>
          <p:spPr>
            <a:xfrm>
              <a:off x="855" y="2610"/>
              <a:ext cx="2880" cy="824"/>
            </a:xfrm>
            <a:prstGeom prst="rect">
              <a:avLst/>
            </a:prstGeom>
            <a:noFill/>
          </p:spPr>
          <p:txBody>
            <a:bodyPr wrap="square" rtlCol="0">
              <a:spAutoFit/>
            </a:bodyPr>
            <a:lstStyle/>
            <a:p>
              <a:r>
                <a:rPr lang="zh-CN" altLang="en-US" sz="2800" b="1" dirty="0">
                  <a:solidFill>
                    <a:sysClr val="windowText" lastClr="000000"/>
                  </a:solidFill>
                  <a:latin typeface="微软雅黑" panose="020B0503020204020204" pitchFamily="34" charset="-122"/>
                  <a:ea typeface="微软雅黑" panose="020B0503020204020204" pitchFamily="34" charset="-122"/>
                </a:rPr>
                <a:t>研究背景</a:t>
              </a:r>
            </a:p>
          </p:txBody>
        </p:sp>
        <p:sp>
          <p:nvSpPr>
            <p:cNvPr id="7" name="文本框 6"/>
            <p:cNvSpPr txBox="1"/>
            <p:nvPr/>
          </p:nvSpPr>
          <p:spPr>
            <a:xfrm>
              <a:off x="855" y="4594"/>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目的与意义</a:t>
              </a:r>
            </a:p>
          </p:txBody>
        </p:sp>
        <p:sp>
          <p:nvSpPr>
            <p:cNvPr id="8" name="文本框 7"/>
            <p:cNvSpPr txBox="1"/>
            <p:nvPr/>
          </p:nvSpPr>
          <p:spPr>
            <a:xfrm>
              <a:off x="855" y="6519"/>
              <a:ext cx="3180" cy="82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方法与过程</a:t>
              </a:r>
            </a:p>
          </p:txBody>
        </p:sp>
        <p:sp>
          <p:nvSpPr>
            <p:cNvPr id="10" name="文本框 9"/>
            <p:cNvSpPr txBox="1"/>
            <p:nvPr/>
          </p:nvSpPr>
          <p:spPr>
            <a:xfrm>
              <a:off x="855" y="8865"/>
              <a:ext cx="3180" cy="822"/>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应用前景</a:t>
              </a:r>
            </a:p>
          </p:txBody>
        </p:sp>
      </p:grpSp>
      <p:sp>
        <p:nvSpPr>
          <p:cNvPr id="13" name="斜纹 12"/>
          <p:cNvSpPr/>
          <p:nvPr/>
        </p:nvSpPr>
        <p:spPr>
          <a:xfrm flipH="1">
            <a:off x="10867390" y="0"/>
            <a:ext cx="1325245" cy="1223010"/>
          </a:xfrm>
          <a:prstGeom prst="diagStrip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矩形: 圆角 63">
            <a:extLst>
              <a:ext uri="{FF2B5EF4-FFF2-40B4-BE49-F238E27FC236}">
                <a16:creationId xmlns:a16="http://schemas.microsoft.com/office/drawing/2014/main" id="{36BCEEA1-EDBB-A380-A76A-21F268B339D1}"/>
              </a:ext>
            </a:extLst>
          </p:cNvPr>
          <p:cNvSpPr/>
          <p:nvPr/>
        </p:nvSpPr>
        <p:spPr>
          <a:xfrm>
            <a:off x="5143434" y="1152525"/>
            <a:ext cx="1906905" cy="42360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pic>
        <p:nvPicPr>
          <p:cNvPr id="60" name="Google Shape;87;p13" descr="image.png">
            <a:extLst>
              <a:ext uri="{FF2B5EF4-FFF2-40B4-BE49-F238E27FC236}">
                <a16:creationId xmlns:a16="http://schemas.microsoft.com/office/drawing/2014/main" id="{2EB38F0A-7C4D-C200-21AA-12D36BCA64F7}"/>
              </a:ext>
            </a:extLst>
          </p:cNvPr>
          <p:cNvPicPr preferRelativeResize="0"/>
          <p:nvPr/>
        </p:nvPicPr>
        <p:blipFill rotWithShape="1">
          <a:blip r:embed="rId2">
            <a:alphaModFix/>
          </a:blip>
          <a:srcRect/>
          <a:stretch/>
        </p:blipFill>
        <p:spPr>
          <a:xfrm>
            <a:off x="4791075" y="4310062"/>
            <a:ext cx="3367087" cy="2502693"/>
          </a:xfrm>
          <a:prstGeom prst="rect">
            <a:avLst/>
          </a:prstGeom>
          <a:noFill/>
          <a:ln>
            <a:noFill/>
          </a:ln>
        </p:spPr>
      </p:pic>
      <p:pic>
        <p:nvPicPr>
          <p:cNvPr id="63" name="Google Shape;87;p13" descr="image.png">
            <a:extLst>
              <a:ext uri="{FF2B5EF4-FFF2-40B4-BE49-F238E27FC236}">
                <a16:creationId xmlns:a16="http://schemas.microsoft.com/office/drawing/2014/main" id="{1C58073D-B470-0D3C-D963-2EC35CF1FC48}"/>
              </a:ext>
            </a:extLst>
          </p:cNvPr>
          <p:cNvPicPr preferRelativeResize="0"/>
          <p:nvPr/>
        </p:nvPicPr>
        <p:blipFill rotWithShape="1">
          <a:blip r:embed="rId2">
            <a:alphaModFix/>
          </a:blip>
          <a:srcRect/>
          <a:stretch/>
        </p:blipFill>
        <p:spPr>
          <a:xfrm>
            <a:off x="8348662" y="4332848"/>
            <a:ext cx="3367087" cy="2502693"/>
          </a:xfrm>
          <a:prstGeom prst="rect">
            <a:avLst/>
          </a:prstGeom>
          <a:noFill/>
          <a:ln>
            <a:noFill/>
          </a:ln>
        </p:spPr>
      </p:pic>
      <p:sp>
        <p:nvSpPr>
          <p:cNvPr id="5" name="矩形 4"/>
          <p:cNvSpPr/>
          <p:nvPr/>
        </p:nvSpPr>
        <p:spPr>
          <a:xfrm>
            <a:off x="299085" y="798195"/>
            <a:ext cx="1141412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98450" y="162578"/>
            <a:ext cx="45085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应用前景</a:t>
            </a:r>
          </a:p>
        </p:txBody>
      </p:sp>
      <p:pic>
        <p:nvPicPr>
          <p:cNvPr id="15" name="图片 14" descr="76b499643fee34819cb883d90f0351cf"/>
          <p:cNvPicPr>
            <a:picLocks noChangeAspect="1"/>
          </p:cNvPicPr>
          <p:nvPr/>
        </p:nvPicPr>
        <p:blipFill>
          <a:blip r:embed="rId3"/>
          <a:stretch>
            <a:fillRect/>
          </a:stretch>
        </p:blipFill>
        <p:spPr>
          <a:xfrm>
            <a:off x="10965180" y="10160"/>
            <a:ext cx="748030" cy="748030"/>
          </a:xfrm>
          <a:prstGeom prst="rect">
            <a:avLst/>
          </a:prstGeom>
        </p:spPr>
      </p:pic>
      <p:pic>
        <p:nvPicPr>
          <p:cNvPr id="3" name="Google Shape;85;p13" descr="image.png">
            <a:extLst>
              <a:ext uri="{FF2B5EF4-FFF2-40B4-BE49-F238E27FC236}">
                <a16:creationId xmlns:a16="http://schemas.microsoft.com/office/drawing/2014/main" id="{804D40D4-8F0F-F67E-9EEA-BCD1089FF233}"/>
              </a:ext>
            </a:extLst>
          </p:cNvPr>
          <p:cNvPicPr preferRelativeResize="0"/>
          <p:nvPr/>
        </p:nvPicPr>
        <p:blipFill rotWithShape="1">
          <a:blip r:embed="rId4">
            <a:alphaModFix/>
          </a:blip>
          <a:srcRect/>
          <a:stretch/>
        </p:blipFill>
        <p:spPr>
          <a:xfrm>
            <a:off x="476250" y="1152525"/>
            <a:ext cx="3933825" cy="2547937"/>
          </a:xfrm>
          <a:prstGeom prst="rect">
            <a:avLst/>
          </a:prstGeom>
          <a:noFill/>
          <a:ln>
            <a:noFill/>
          </a:ln>
        </p:spPr>
      </p:pic>
      <p:pic>
        <p:nvPicPr>
          <p:cNvPr id="4" name="Google Shape;86;p13">
            <a:extLst>
              <a:ext uri="{FF2B5EF4-FFF2-40B4-BE49-F238E27FC236}">
                <a16:creationId xmlns:a16="http://schemas.microsoft.com/office/drawing/2014/main" id="{65943F48-8F00-B4AF-9F35-40DFC33D1A56}"/>
              </a:ext>
            </a:extLst>
          </p:cNvPr>
          <p:cNvPicPr preferRelativeResize="0"/>
          <p:nvPr/>
        </p:nvPicPr>
        <p:blipFill rotWithShape="1">
          <a:blip r:embed="rId5">
            <a:alphaModFix/>
          </a:blip>
          <a:srcRect t="10121" b="10121"/>
          <a:stretch/>
        </p:blipFill>
        <p:spPr>
          <a:xfrm>
            <a:off x="476250" y="3938588"/>
            <a:ext cx="3933900" cy="2476500"/>
          </a:xfrm>
          <a:prstGeom prst="roundRect">
            <a:avLst>
              <a:gd name="adj" fmla="val 4615"/>
            </a:avLst>
          </a:prstGeom>
          <a:noFill/>
          <a:ln>
            <a:noFill/>
          </a:ln>
        </p:spPr>
      </p:pic>
      <p:pic>
        <p:nvPicPr>
          <p:cNvPr id="9" name="Google Shape;87;p13" descr="image.png">
            <a:extLst>
              <a:ext uri="{FF2B5EF4-FFF2-40B4-BE49-F238E27FC236}">
                <a16:creationId xmlns:a16="http://schemas.microsoft.com/office/drawing/2014/main" id="{6F8FE05F-84A0-6437-5579-06806734AB30}"/>
              </a:ext>
            </a:extLst>
          </p:cNvPr>
          <p:cNvPicPr preferRelativeResize="0"/>
          <p:nvPr/>
        </p:nvPicPr>
        <p:blipFill rotWithShape="1">
          <a:blip r:embed="rId2">
            <a:alphaModFix/>
          </a:blip>
          <a:srcRect/>
          <a:stretch/>
        </p:blipFill>
        <p:spPr>
          <a:xfrm>
            <a:off x="4791075" y="1819275"/>
            <a:ext cx="3367087" cy="2502693"/>
          </a:xfrm>
          <a:prstGeom prst="rect">
            <a:avLst/>
          </a:prstGeom>
          <a:noFill/>
          <a:ln>
            <a:noFill/>
          </a:ln>
        </p:spPr>
      </p:pic>
      <p:pic>
        <p:nvPicPr>
          <p:cNvPr id="10" name="Google Shape;88;p13" descr="image.png">
            <a:extLst>
              <a:ext uri="{FF2B5EF4-FFF2-40B4-BE49-F238E27FC236}">
                <a16:creationId xmlns:a16="http://schemas.microsoft.com/office/drawing/2014/main" id="{1802043A-A6FA-0051-E836-B0BF371314A5}"/>
              </a:ext>
            </a:extLst>
          </p:cNvPr>
          <p:cNvPicPr preferRelativeResize="0"/>
          <p:nvPr/>
        </p:nvPicPr>
        <p:blipFill rotWithShape="1">
          <a:blip r:embed="rId6">
            <a:alphaModFix/>
          </a:blip>
          <a:srcRect/>
          <a:stretch/>
        </p:blipFill>
        <p:spPr>
          <a:xfrm>
            <a:off x="8348662" y="1819275"/>
            <a:ext cx="3367087" cy="2502693"/>
          </a:xfrm>
          <a:prstGeom prst="rect">
            <a:avLst/>
          </a:prstGeom>
          <a:noFill/>
          <a:ln>
            <a:noFill/>
          </a:ln>
        </p:spPr>
      </p:pic>
      <p:sp>
        <p:nvSpPr>
          <p:cNvPr id="14" name="Google Shape;93;p13">
            <a:extLst>
              <a:ext uri="{FF2B5EF4-FFF2-40B4-BE49-F238E27FC236}">
                <a16:creationId xmlns:a16="http://schemas.microsoft.com/office/drawing/2014/main" id="{E9D3F9B4-3084-0AEC-F648-FFDD7FBAE6B0}"/>
              </a:ext>
            </a:extLst>
          </p:cNvPr>
          <p:cNvSpPr txBox="1"/>
          <p:nvPr/>
        </p:nvSpPr>
        <p:spPr>
          <a:xfrm>
            <a:off x="934640" y="1381125"/>
            <a:ext cx="32754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04A99"/>
                </a:solidFill>
                <a:latin typeface="Noto Sans SC"/>
                <a:ea typeface="Noto Sans SC"/>
                <a:cs typeface="Noto Sans SC"/>
                <a:sym typeface="Noto Sans SC"/>
              </a:rPr>
              <a:t>理论意义</a:t>
            </a:r>
            <a:endParaRPr/>
          </a:p>
        </p:txBody>
      </p:sp>
      <p:sp>
        <p:nvSpPr>
          <p:cNvPr id="18" name="Google Shape;94;p13">
            <a:extLst>
              <a:ext uri="{FF2B5EF4-FFF2-40B4-BE49-F238E27FC236}">
                <a16:creationId xmlns:a16="http://schemas.microsoft.com/office/drawing/2014/main" id="{334DB251-A9DE-7FA5-CF98-22E12D6E3308}"/>
              </a:ext>
            </a:extLst>
          </p:cNvPr>
          <p:cNvSpPr/>
          <p:nvPr/>
        </p:nvSpPr>
        <p:spPr>
          <a:xfrm>
            <a:off x="676275" y="1762125"/>
            <a:ext cx="3533700" cy="9600"/>
          </a:xfrm>
          <a:prstGeom prst="rect">
            <a:avLst/>
          </a:prstGeom>
          <a:solidFill>
            <a:srgbClr val="DDEC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 name="Google Shape;95;p13">
            <a:extLst>
              <a:ext uri="{FF2B5EF4-FFF2-40B4-BE49-F238E27FC236}">
                <a16:creationId xmlns:a16="http://schemas.microsoft.com/office/drawing/2014/main" id="{252A95EB-1866-4D57-F40F-B07884DE9D18}"/>
              </a:ext>
            </a:extLst>
          </p:cNvPr>
          <p:cNvSpPr txBox="1"/>
          <p:nvPr/>
        </p:nvSpPr>
        <p:spPr>
          <a:xfrm>
            <a:off x="934640" y="4167187"/>
            <a:ext cx="32754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04A99"/>
                </a:solidFill>
                <a:latin typeface="Noto Sans SC"/>
                <a:ea typeface="Noto Sans SC"/>
                <a:cs typeface="Noto Sans SC"/>
                <a:sym typeface="Noto Sans SC"/>
              </a:rPr>
              <a:t>实践意义</a:t>
            </a:r>
            <a:endParaRPr/>
          </a:p>
        </p:txBody>
      </p:sp>
      <p:sp>
        <p:nvSpPr>
          <p:cNvPr id="20" name="Google Shape;96;p13">
            <a:extLst>
              <a:ext uri="{FF2B5EF4-FFF2-40B4-BE49-F238E27FC236}">
                <a16:creationId xmlns:a16="http://schemas.microsoft.com/office/drawing/2014/main" id="{FD07DEBE-E706-8EEF-08A2-4454F5920D75}"/>
              </a:ext>
            </a:extLst>
          </p:cNvPr>
          <p:cNvSpPr/>
          <p:nvPr/>
        </p:nvSpPr>
        <p:spPr>
          <a:xfrm>
            <a:off x="676275" y="4548187"/>
            <a:ext cx="3533700" cy="9600"/>
          </a:xfrm>
          <a:prstGeom prst="rect">
            <a:avLst/>
          </a:prstGeom>
          <a:solidFill>
            <a:srgbClr val="DDECF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 name="Google Shape;98;p13">
            <a:extLst>
              <a:ext uri="{FF2B5EF4-FFF2-40B4-BE49-F238E27FC236}">
                <a16:creationId xmlns:a16="http://schemas.microsoft.com/office/drawing/2014/main" id="{7ECA775F-C97A-5BF2-520B-D5054D8AAE0B}"/>
              </a:ext>
            </a:extLst>
          </p:cNvPr>
          <p:cNvSpPr txBox="1"/>
          <p:nvPr/>
        </p:nvSpPr>
        <p:spPr>
          <a:xfrm>
            <a:off x="5279314" y="1237275"/>
            <a:ext cx="1760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err="1">
                <a:solidFill>
                  <a:schemeClr val="bg1"/>
                </a:solidFill>
                <a:latin typeface="Noto Sans SC"/>
                <a:ea typeface="Noto Sans SC"/>
                <a:cs typeface="Noto Sans SC"/>
                <a:sym typeface="Noto Sans SC"/>
              </a:rPr>
              <a:t>行业场景深度应用</a:t>
            </a:r>
            <a:endParaRPr dirty="0">
              <a:solidFill>
                <a:schemeClr val="bg1"/>
              </a:solidFill>
            </a:endParaRPr>
          </a:p>
        </p:txBody>
      </p:sp>
      <p:pic>
        <p:nvPicPr>
          <p:cNvPr id="26" name="Google Shape;99;p13" descr="image.png">
            <a:extLst>
              <a:ext uri="{FF2B5EF4-FFF2-40B4-BE49-F238E27FC236}">
                <a16:creationId xmlns:a16="http://schemas.microsoft.com/office/drawing/2014/main" id="{91A04F7F-9A18-BB1E-2329-44CB785E1D18}"/>
              </a:ext>
            </a:extLst>
          </p:cNvPr>
          <p:cNvPicPr preferRelativeResize="0"/>
          <p:nvPr/>
        </p:nvPicPr>
        <p:blipFill rotWithShape="1">
          <a:blip r:embed="rId7">
            <a:alphaModFix/>
          </a:blip>
          <a:srcRect/>
          <a:stretch/>
        </p:blipFill>
        <p:spPr>
          <a:xfrm>
            <a:off x="676275" y="1419225"/>
            <a:ext cx="163115" cy="209550"/>
          </a:xfrm>
          <a:prstGeom prst="rect">
            <a:avLst/>
          </a:prstGeom>
          <a:noFill/>
          <a:ln>
            <a:noFill/>
          </a:ln>
        </p:spPr>
      </p:pic>
      <p:sp>
        <p:nvSpPr>
          <p:cNvPr id="27" name="Google Shape;100;p13">
            <a:extLst>
              <a:ext uri="{FF2B5EF4-FFF2-40B4-BE49-F238E27FC236}">
                <a16:creationId xmlns:a16="http://schemas.microsoft.com/office/drawing/2014/main" id="{CB38227B-20CB-1CAF-7C2F-4C686BB38596}"/>
              </a:ext>
            </a:extLst>
          </p:cNvPr>
          <p:cNvSpPr txBox="1"/>
          <p:nvPr/>
        </p:nvSpPr>
        <p:spPr>
          <a:xfrm>
            <a:off x="847725" y="1914525"/>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dirty="0" err="1">
                <a:solidFill>
                  <a:srgbClr val="333333"/>
                </a:solidFill>
                <a:latin typeface="Noto Sans SC"/>
                <a:ea typeface="Noto Sans SC"/>
                <a:cs typeface="Noto Sans SC"/>
                <a:sym typeface="Noto Sans SC"/>
              </a:rPr>
              <a:t>探索具身智能</a:t>
            </a:r>
            <a:r>
              <a:rPr lang="en-US" sz="1087" b="0" i="0" u="none" strike="noStrike" cap="none" dirty="0">
                <a:solidFill>
                  <a:srgbClr val="333333"/>
                </a:solidFill>
                <a:latin typeface="Noto Sans SC"/>
                <a:ea typeface="Noto Sans SC"/>
                <a:cs typeface="Noto Sans SC"/>
                <a:sym typeface="Noto Sans SC"/>
              </a:rPr>
              <a:t> + </a:t>
            </a:r>
            <a:r>
              <a:rPr lang="en-US" sz="1087" b="0" i="0" u="none" strike="noStrike" cap="none" dirty="0" err="1">
                <a:solidFill>
                  <a:srgbClr val="333333"/>
                </a:solidFill>
                <a:latin typeface="Noto Sans SC"/>
                <a:ea typeface="Noto Sans SC"/>
                <a:cs typeface="Noto Sans SC"/>
                <a:sym typeface="Noto Sans SC"/>
              </a:rPr>
              <a:t>多模态大模型</a:t>
            </a:r>
            <a:r>
              <a:rPr lang="en-US" sz="1087" b="0" i="0" u="none" strike="noStrike" cap="none" dirty="0">
                <a:solidFill>
                  <a:srgbClr val="333333"/>
                </a:solidFill>
                <a:latin typeface="Noto Sans SC"/>
                <a:ea typeface="Noto Sans SC"/>
                <a:cs typeface="Noto Sans SC"/>
                <a:sym typeface="Noto Sans SC"/>
              </a:rPr>
              <a:t> + </a:t>
            </a:r>
            <a:r>
              <a:rPr lang="en-US" sz="1087" b="0" i="0" u="none" strike="noStrike" cap="none" dirty="0" err="1">
                <a:solidFill>
                  <a:srgbClr val="333333"/>
                </a:solidFill>
                <a:latin typeface="Noto Sans SC"/>
                <a:ea typeface="Noto Sans SC"/>
                <a:cs typeface="Noto Sans SC"/>
                <a:sym typeface="Noto Sans SC"/>
              </a:rPr>
              <a:t>知识图谱的融合范式，为工业智能决策提供新框架与新方法</a:t>
            </a:r>
            <a:r>
              <a:rPr lang="en-US" sz="1087" b="0" i="0" u="none" strike="noStrike" cap="none" dirty="0">
                <a:solidFill>
                  <a:srgbClr val="333333"/>
                </a:solidFill>
                <a:latin typeface="Noto Sans SC"/>
                <a:ea typeface="Noto Sans SC"/>
                <a:cs typeface="Noto Sans SC"/>
                <a:sym typeface="Noto Sans SC"/>
              </a:rPr>
              <a:t>。</a:t>
            </a:r>
            <a:endParaRPr dirty="0"/>
          </a:p>
        </p:txBody>
      </p:sp>
      <p:sp>
        <p:nvSpPr>
          <p:cNvPr id="28" name="Google Shape;101;p13">
            <a:extLst>
              <a:ext uri="{FF2B5EF4-FFF2-40B4-BE49-F238E27FC236}">
                <a16:creationId xmlns:a16="http://schemas.microsoft.com/office/drawing/2014/main" id="{8F0872B8-0178-83D2-206B-CD1E46A16CAF}"/>
              </a:ext>
            </a:extLst>
          </p:cNvPr>
          <p:cNvSpPr txBox="1"/>
          <p:nvPr/>
        </p:nvSpPr>
        <p:spPr>
          <a:xfrm>
            <a:off x="847725" y="2443162"/>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dirty="0" err="1">
                <a:solidFill>
                  <a:srgbClr val="333333"/>
                </a:solidFill>
                <a:latin typeface="Noto Sans SC"/>
                <a:ea typeface="Noto Sans SC"/>
                <a:cs typeface="Noto Sans SC"/>
                <a:sym typeface="Noto Sans SC"/>
              </a:rPr>
              <a:t>提出双轨协同检测、RAG</a:t>
            </a:r>
            <a:r>
              <a:rPr lang="en-US" sz="1087" b="0" i="0" u="none" strike="noStrike" cap="none" dirty="0">
                <a:solidFill>
                  <a:srgbClr val="333333"/>
                </a:solidFill>
                <a:latin typeface="Noto Sans SC"/>
                <a:ea typeface="Noto Sans SC"/>
                <a:cs typeface="Noto Sans SC"/>
                <a:sym typeface="Noto Sans SC"/>
              </a:rPr>
              <a:t> - </a:t>
            </a:r>
            <a:r>
              <a:rPr lang="en-US" sz="1087" b="0" i="0" u="none" strike="noStrike" cap="none" dirty="0" err="1">
                <a:solidFill>
                  <a:srgbClr val="333333"/>
                </a:solidFill>
                <a:latin typeface="Noto Sans SC"/>
                <a:ea typeface="Noto Sans SC"/>
                <a:cs typeface="Noto Sans SC"/>
                <a:sym typeface="Noto Sans SC"/>
              </a:rPr>
              <a:t>知识图谱联合推理等创新机制，丰富工业异常检测与智能运维理论体系</a:t>
            </a:r>
            <a:r>
              <a:rPr lang="en-US" sz="1087" b="0" i="0" u="none" strike="noStrike" cap="none" dirty="0">
                <a:solidFill>
                  <a:srgbClr val="333333"/>
                </a:solidFill>
                <a:latin typeface="Noto Sans SC"/>
                <a:ea typeface="Noto Sans SC"/>
                <a:cs typeface="Noto Sans SC"/>
                <a:sym typeface="Noto Sans SC"/>
              </a:rPr>
              <a:t>。</a:t>
            </a:r>
            <a:endParaRPr dirty="0"/>
          </a:p>
        </p:txBody>
      </p:sp>
      <p:sp>
        <p:nvSpPr>
          <p:cNvPr id="29" name="Google Shape;102;p13">
            <a:extLst>
              <a:ext uri="{FF2B5EF4-FFF2-40B4-BE49-F238E27FC236}">
                <a16:creationId xmlns:a16="http://schemas.microsoft.com/office/drawing/2014/main" id="{2F9C0F4C-6ABE-7D1C-CA67-59B002F2E6BA}"/>
              </a:ext>
            </a:extLst>
          </p:cNvPr>
          <p:cNvSpPr txBox="1"/>
          <p:nvPr/>
        </p:nvSpPr>
        <p:spPr>
          <a:xfrm>
            <a:off x="847725" y="2971800"/>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333333"/>
                </a:solidFill>
                <a:latin typeface="Noto Sans SC"/>
                <a:ea typeface="Noto Sans SC"/>
                <a:cs typeface="Noto Sans SC"/>
                <a:sym typeface="Noto Sans SC"/>
              </a:rPr>
              <a:t>实现边缘端多模态大模型轻量化部署，推动大模型工业落地的理论与技术完善。</a:t>
            </a:r>
            <a:endParaRPr/>
          </a:p>
        </p:txBody>
      </p:sp>
      <p:pic>
        <p:nvPicPr>
          <p:cNvPr id="30" name="Google Shape;103;p13" descr="image.png">
            <a:extLst>
              <a:ext uri="{FF2B5EF4-FFF2-40B4-BE49-F238E27FC236}">
                <a16:creationId xmlns:a16="http://schemas.microsoft.com/office/drawing/2014/main" id="{89836BAF-C6BA-1815-ACD3-4F2E05E67C56}"/>
              </a:ext>
            </a:extLst>
          </p:cNvPr>
          <p:cNvPicPr preferRelativeResize="0"/>
          <p:nvPr/>
        </p:nvPicPr>
        <p:blipFill rotWithShape="1">
          <a:blip r:embed="rId8">
            <a:alphaModFix/>
          </a:blip>
          <a:srcRect/>
          <a:stretch/>
        </p:blipFill>
        <p:spPr>
          <a:xfrm>
            <a:off x="676275" y="4205287"/>
            <a:ext cx="163115" cy="209550"/>
          </a:xfrm>
          <a:prstGeom prst="rect">
            <a:avLst/>
          </a:prstGeom>
          <a:noFill/>
          <a:ln>
            <a:noFill/>
          </a:ln>
        </p:spPr>
      </p:pic>
      <p:sp>
        <p:nvSpPr>
          <p:cNvPr id="31" name="Google Shape;104;p13">
            <a:extLst>
              <a:ext uri="{FF2B5EF4-FFF2-40B4-BE49-F238E27FC236}">
                <a16:creationId xmlns:a16="http://schemas.microsoft.com/office/drawing/2014/main" id="{72EE540C-6D6E-EAAB-157F-76305656FA60}"/>
              </a:ext>
            </a:extLst>
          </p:cNvPr>
          <p:cNvSpPr txBox="1"/>
          <p:nvPr/>
        </p:nvSpPr>
        <p:spPr>
          <a:xfrm>
            <a:off x="847725" y="4700587"/>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333333"/>
                </a:solidFill>
                <a:latin typeface="Noto Sans SC"/>
                <a:ea typeface="Noto Sans SC"/>
                <a:cs typeface="Noto Sans SC"/>
                <a:sym typeface="Noto Sans SC"/>
              </a:rPr>
              <a:t>替代 / 辅助人工巡检，大幅降低高温、高压、有毒等恶劣环境下的人身安全风险。</a:t>
            </a:r>
            <a:endParaRPr/>
          </a:p>
        </p:txBody>
      </p:sp>
      <p:sp>
        <p:nvSpPr>
          <p:cNvPr id="32" name="Google Shape;105;p13">
            <a:extLst>
              <a:ext uri="{FF2B5EF4-FFF2-40B4-BE49-F238E27FC236}">
                <a16:creationId xmlns:a16="http://schemas.microsoft.com/office/drawing/2014/main" id="{65ED9769-0E73-3054-A609-377F4F5843AC}"/>
              </a:ext>
            </a:extLst>
          </p:cNvPr>
          <p:cNvSpPr txBox="1"/>
          <p:nvPr/>
        </p:nvSpPr>
        <p:spPr>
          <a:xfrm>
            <a:off x="847725" y="5229225"/>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333333"/>
                </a:solidFill>
                <a:latin typeface="Noto Sans SC"/>
                <a:ea typeface="Noto Sans SC"/>
                <a:cs typeface="Noto Sans SC"/>
                <a:sym typeface="Noto Sans SC"/>
              </a:rPr>
              <a:t>实现24小时不间断巡检，提升隐患识别率与故障响应速度，减少安全事故发生。</a:t>
            </a:r>
            <a:endParaRPr/>
          </a:p>
        </p:txBody>
      </p:sp>
      <p:sp>
        <p:nvSpPr>
          <p:cNvPr id="33" name="Google Shape;106;p13">
            <a:extLst>
              <a:ext uri="{FF2B5EF4-FFF2-40B4-BE49-F238E27FC236}">
                <a16:creationId xmlns:a16="http://schemas.microsoft.com/office/drawing/2014/main" id="{2CA7732C-B654-5084-3A27-64F28E323F3A}"/>
              </a:ext>
            </a:extLst>
          </p:cNvPr>
          <p:cNvSpPr txBox="1"/>
          <p:nvPr/>
        </p:nvSpPr>
        <p:spPr>
          <a:xfrm>
            <a:off x="847725" y="5757862"/>
            <a:ext cx="3362400" cy="418500"/>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dirty="0" err="1">
                <a:solidFill>
                  <a:srgbClr val="333333"/>
                </a:solidFill>
                <a:latin typeface="Noto Sans SC"/>
                <a:ea typeface="Noto Sans SC"/>
                <a:cs typeface="Noto Sans SC"/>
                <a:sym typeface="Noto Sans SC"/>
              </a:rPr>
              <a:t>降低人力成本、提升运维效率，可广泛应用于各类高危工业领域，具备显著工程应用价值</a:t>
            </a:r>
            <a:r>
              <a:rPr lang="en-US" sz="1087" b="0" i="0" u="none" strike="noStrike" cap="none" dirty="0">
                <a:solidFill>
                  <a:srgbClr val="333333"/>
                </a:solidFill>
                <a:latin typeface="Noto Sans SC"/>
                <a:ea typeface="Noto Sans SC"/>
                <a:cs typeface="Noto Sans SC"/>
                <a:sym typeface="Noto Sans SC"/>
              </a:rPr>
              <a:t>。</a:t>
            </a:r>
            <a:endParaRPr dirty="0"/>
          </a:p>
        </p:txBody>
      </p:sp>
      <p:pic>
        <p:nvPicPr>
          <p:cNvPr id="35" name="Google Shape;108;p13" descr="image.png">
            <a:extLst>
              <a:ext uri="{FF2B5EF4-FFF2-40B4-BE49-F238E27FC236}">
                <a16:creationId xmlns:a16="http://schemas.microsoft.com/office/drawing/2014/main" id="{AA224809-9BC1-2747-6B4F-64C988500076}"/>
              </a:ext>
            </a:extLst>
          </p:cNvPr>
          <p:cNvPicPr preferRelativeResize="0"/>
          <p:nvPr/>
        </p:nvPicPr>
        <p:blipFill rotWithShape="1">
          <a:blip r:embed="rId9">
            <a:alphaModFix/>
          </a:blip>
          <a:srcRect/>
          <a:stretch/>
        </p:blipFill>
        <p:spPr>
          <a:xfrm>
            <a:off x="7392234" y="3470777"/>
            <a:ext cx="962290" cy="1111833"/>
          </a:xfrm>
          <a:prstGeom prst="rect">
            <a:avLst/>
          </a:prstGeom>
          <a:noFill/>
          <a:ln>
            <a:noFill/>
          </a:ln>
        </p:spPr>
      </p:pic>
      <p:pic>
        <p:nvPicPr>
          <p:cNvPr id="36" name="Google Shape;109;p13" descr="image.png">
            <a:extLst>
              <a:ext uri="{FF2B5EF4-FFF2-40B4-BE49-F238E27FC236}">
                <a16:creationId xmlns:a16="http://schemas.microsoft.com/office/drawing/2014/main" id="{1D4248B2-7EA9-0C5F-AD5C-3282E02EC909}"/>
              </a:ext>
            </a:extLst>
          </p:cNvPr>
          <p:cNvPicPr preferRelativeResize="0"/>
          <p:nvPr/>
        </p:nvPicPr>
        <p:blipFill rotWithShape="1">
          <a:blip r:embed="rId10">
            <a:alphaModFix/>
          </a:blip>
          <a:srcRect/>
          <a:stretch/>
        </p:blipFill>
        <p:spPr>
          <a:xfrm>
            <a:off x="10949822" y="3470777"/>
            <a:ext cx="962290" cy="1111833"/>
          </a:xfrm>
          <a:prstGeom prst="rect">
            <a:avLst/>
          </a:prstGeom>
          <a:noFill/>
          <a:ln>
            <a:noFill/>
          </a:ln>
        </p:spPr>
      </p:pic>
      <p:sp>
        <p:nvSpPr>
          <p:cNvPr id="37" name="Google Shape;110;p13">
            <a:extLst>
              <a:ext uri="{FF2B5EF4-FFF2-40B4-BE49-F238E27FC236}">
                <a16:creationId xmlns:a16="http://schemas.microsoft.com/office/drawing/2014/main" id="{DEA75506-7C41-C4F4-D67D-EE4B84D2F746}"/>
              </a:ext>
            </a:extLst>
          </p:cNvPr>
          <p:cNvSpPr txBox="1"/>
          <p:nvPr/>
        </p:nvSpPr>
        <p:spPr>
          <a:xfrm>
            <a:off x="676275" y="1924050"/>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sp>
        <p:nvSpPr>
          <p:cNvPr id="38" name="Google Shape;111;p13">
            <a:extLst>
              <a:ext uri="{FF2B5EF4-FFF2-40B4-BE49-F238E27FC236}">
                <a16:creationId xmlns:a16="http://schemas.microsoft.com/office/drawing/2014/main" id="{07861130-7C91-1812-CD08-55FF26F6FFC6}"/>
              </a:ext>
            </a:extLst>
          </p:cNvPr>
          <p:cNvSpPr txBox="1"/>
          <p:nvPr/>
        </p:nvSpPr>
        <p:spPr>
          <a:xfrm>
            <a:off x="676275" y="2452687"/>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sp>
        <p:nvSpPr>
          <p:cNvPr id="39" name="Google Shape;112;p13">
            <a:extLst>
              <a:ext uri="{FF2B5EF4-FFF2-40B4-BE49-F238E27FC236}">
                <a16:creationId xmlns:a16="http://schemas.microsoft.com/office/drawing/2014/main" id="{04A6DC70-820B-1D25-F8D0-A9264ECE1E30}"/>
              </a:ext>
            </a:extLst>
          </p:cNvPr>
          <p:cNvSpPr txBox="1"/>
          <p:nvPr/>
        </p:nvSpPr>
        <p:spPr>
          <a:xfrm>
            <a:off x="676275" y="2981325"/>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sp>
        <p:nvSpPr>
          <p:cNvPr id="40" name="Google Shape;113;p13">
            <a:extLst>
              <a:ext uri="{FF2B5EF4-FFF2-40B4-BE49-F238E27FC236}">
                <a16:creationId xmlns:a16="http://schemas.microsoft.com/office/drawing/2014/main" id="{C048E6CD-7504-E625-34C2-DDBB5495C180}"/>
              </a:ext>
            </a:extLst>
          </p:cNvPr>
          <p:cNvSpPr txBox="1"/>
          <p:nvPr/>
        </p:nvSpPr>
        <p:spPr>
          <a:xfrm>
            <a:off x="676275" y="4710112"/>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sp>
        <p:nvSpPr>
          <p:cNvPr id="41" name="Google Shape;114;p13">
            <a:extLst>
              <a:ext uri="{FF2B5EF4-FFF2-40B4-BE49-F238E27FC236}">
                <a16:creationId xmlns:a16="http://schemas.microsoft.com/office/drawing/2014/main" id="{8132EB62-A676-66AC-0E97-DAF98C17F89D}"/>
              </a:ext>
            </a:extLst>
          </p:cNvPr>
          <p:cNvSpPr txBox="1"/>
          <p:nvPr/>
        </p:nvSpPr>
        <p:spPr>
          <a:xfrm>
            <a:off x="676275" y="5238750"/>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sp>
        <p:nvSpPr>
          <p:cNvPr id="42" name="Google Shape;115;p13">
            <a:extLst>
              <a:ext uri="{FF2B5EF4-FFF2-40B4-BE49-F238E27FC236}">
                <a16:creationId xmlns:a16="http://schemas.microsoft.com/office/drawing/2014/main" id="{D35A3355-9D33-C4D7-A7DB-1E9B1B7B4EA5}"/>
              </a:ext>
            </a:extLst>
          </p:cNvPr>
          <p:cNvSpPr txBox="1"/>
          <p:nvPr/>
        </p:nvSpPr>
        <p:spPr>
          <a:xfrm>
            <a:off x="676275" y="5767387"/>
            <a:ext cx="57300" cy="115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750" b="0" i="0" u="none" strike="noStrike" cap="none">
                <a:solidFill>
                  <a:srgbClr val="007BFF"/>
                </a:solidFill>
                <a:latin typeface="Noto Sans SC"/>
                <a:ea typeface="Noto Sans SC"/>
                <a:cs typeface="Noto Sans SC"/>
                <a:sym typeface="Noto Sans SC"/>
              </a:rPr>
              <a:t>■</a:t>
            </a:r>
            <a:endParaRPr/>
          </a:p>
        </p:txBody>
      </p:sp>
      <p:pic>
        <p:nvPicPr>
          <p:cNvPr id="44" name="Google Shape;117;p13" descr="image.png">
            <a:extLst>
              <a:ext uri="{FF2B5EF4-FFF2-40B4-BE49-F238E27FC236}">
                <a16:creationId xmlns:a16="http://schemas.microsoft.com/office/drawing/2014/main" id="{A7489521-730E-9A6B-7F4B-A1B77D39E977}"/>
              </a:ext>
            </a:extLst>
          </p:cNvPr>
          <p:cNvPicPr preferRelativeResize="0"/>
          <p:nvPr/>
        </p:nvPicPr>
        <p:blipFill rotWithShape="1">
          <a:blip r:embed="rId11">
            <a:alphaModFix/>
          </a:blip>
          <a:srcRect/>
          <a:stretch/>
        </p:blipFill>
        <p:spPr>
          <a:xfrm>
            <a:off x="5038725" y="2066925"/>
            <a:ext cx="428625" cy="428625"/>
          </a:xfrm>
          <a:prstGeom prst="rect">
            <a:avLst/>
          </a:prstGeom>
          <a:noFill/>
          <a:ln>
            <a:noFill/>
          </a:ln>
        </p:spPr>
      </p:pic>
      <p:sp>
        <p:nvSpPr>
          <p:cNvPr id="45" name="Google Shape;118;p13">
            <a:extLst>
              <a:ext uri="{FF2B5EF4-FFF2-40B4-BE49-F238E27FC236}">
                <a16:creationId xmlns:a16="http://schemas.microsoft.com/office/drawing/2014/main" id="{5E141F11-61C1-7132-7DEA-8888FB75C8FF}"/>
              </a:ext>
            </a:extLst>
          </p:cNvPr>
          <p:cNvSpPr txBox="1"/>
          <p:nvPr/>
        </p:nvSpPr>
        <p:spPr>
          <a:xfrm>
            <a:off x="5610225" y="2128837"/>
            <a:ext cx="9600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4A99"/>
                </a:solidFill>
                <a:latin typeface="Noto Sans SC"/>
                <a:ea typeface="Noto Sans SC"/>
                <a:cs typeface="Noto Sans SC"/>
                <a:sym typeface="Noto Sans SC"/>
              </a:rPr>
              <a:t>石油化工</a:t>
            </a:r>
            <a:endParaRPr/>
          </a:p>
        </p:txBody>
      </p:sp>
      <p:pic>
        <p:nvPicPr>
          <p:cNvPr id="46" name="Google Shape;119;p13" descr="image.png">
            <a:extLst>
              <a:ext uri="{FF2B5EF4-FFF2-40B4-BE49-F238E27FC236}">
                <a16:creationId xmlns:a16="http://schemas.microsoft.com/office/drawing/2014/main" id="{CBBFE967-A231-4DC3-E65D-39BED4F091EE}"/>
              </a:ext>
            </a:extLst>
          </p:cNvPr>
          <p:cNvPicPr preferRelativeResize="0"/>
          <p:nvPr/>
        </p:nvPicPr>
        <p:blipFill rotWithShape="1">
          <a:blip r:embed="rId12">
            <a:alphaModFix/>
          </a:blip>
          <a:srcRect/>
          <a:stretch/>
        </p:blipFill>
        <p:spPr>
          <a:xfrm>
            <a:off x="8596312" y="2066925"/>
            <a:ext cx="428625" cy="428625"/>
          </a:xfrm>
          <a:prstGeom prst="rect">
            <a:avLst/>
          </a:prstGeom>
          <a:noFill/>
          <a:ln>
            <a:noFill/>
          </a:ln>
        </p:spPr>
      </p:pic>
      <p:sp>
        <p:nvSpPr>
          <p:cNvPr id="47" name="Google Shape;120;p13">
            <a:extLst>
              <a:ext uri="{FF2B5EF4-FFF2-40B4-BE49-F238E27FC236}">
                <a16:creationId xmlns:a16="http://schemas.microsoft.com/office/drawing/2014/main" id="{DA5C18E9-4432-1E25-AD9E-5C95B9298BE4}"/>
              </a:ext>
            </a:extLst>
          </p:cNvPr>
          <p:cNvSpPr txBox="1"/>
          <p:nvPr/>
        </p:nvSpPr>
        <p:spPr>
          <a:xfrm>
            <a:off x="9167812" y="2128837"/>
            <a:ext cx="9600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4A99"/>
                </a:solidFill>
                <a:latin typeface="Noto Sans SC"/>
                <a:ea typeface="Noto Sans SC"/>
                <a:cs typeface="Noto Sans SC"/>
                <a:sym typeface="Noto Sans SC"/>
              </a:rPr>
              <a:t>电力能源</a:t>
            </a:r>
            <a:endParaRPr/>
          </a:p>
        </p:txBody>
      </p:sp>
      <p:pic>
        <p:nvPicPr>
          <p:cNvPr id="48" name="Google Shape;121;p13" descr="image.png">
            <a:extLst>
              <a:ext uri="{FF2B5EF4-FFF2-40B4-BE49-F238E27FC236}">
                <a16:creationId xmlns:a16="http://schemas.microsoft.com/office/drawing/2014/main" id="{25972694-0B45-2BD7-068B-A38185FF5FD7}"/>
              </a:ext>
            </a:extLst>
          </p:cNvPr>
          <p:cNvPicPr preferRelativeResize="0"/>
          <p:nvPr/>
        </p:nvPicPr>
        <p:blipFill rotWithShape="1">
          <a:blip r:embed="rId13">
            <a:alphaModFix/>
          </a:blip>
          <a:srcRect/>
          <a:stretch/>
        </p:blipFill>
        <p:spPr>
          <a:xfrm>
            <a:off x="5038725" y="4760118"/>
            <a:ext cx="428625" cy="428625"/>
          </a:xfrm>
          <a:prstGeom prst="rect">
            <a:avLst/>
          </a:prstGeom>
          <a:noFill/>
          <a:ln>
            <a:noFill/>
          </a:ln>
        </p:spPr>
      </p:pic>
      <p:sp>
        <p:nvSpPr>
          <p:cNvPr id="49" name="Google Shape;122;p13">
            <a:extLst>
              <a:ext uri="{FF2B5EF4-FFF2-40B4-BE49-F238E27FC236}">
                <a16:creationId xmlns:a16="http://schemas.microsoft.com/office/drawing/2014/main" id="{84A488C4-AB40-7526-1F54-0D0600668D55}"/>
              </a:ext>
            </a:extLst>
          </p:cNvPr>
          <p:cNvSpPr txBox="1"/>
          <p:nvPr/>
        </p:nvSpPr>
        <p:spPr>
          <a:xfrm>
            <a:off x="5610225" y="4822031"/>
            <a:ext cx="9600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4A99"/>
                </a:solidFill>
                <a:latin typeface="Noto Sans SC"/>
                <a:ea typeface="Noto Sans SC"/>
                <a:cs typeface="Noto Sans SC"/>
                <a:sym typeface="Noto Sans SC"/>
              </a:rPr>
              <a:t>矿山开采</a:t>
            </a:r>
            <a:endParaRPr/>
          </a:p>
        </p:txBody>
      </p:sp>
      <p:pic>
        <p:nvPicPr>
          <p:cNvPr id="50" name="Google Shape;123;p13" descr="image.png">
            <a:extLst>
              <a:ext uri="{FF2B5EF4-FFF2-40B4-BE49-F238E27FC236}">
                <a16:creationId xmlns:a16="http://schemas.microsoft.com/office/drawing/2014/main" id="{A4AA645A-A706-19F5-69BD-AC3BF0F632B8}"/>
              </a:ext>
            </a:extLst>
          </p:cNvPr>
          <p:cNvPicPr preferRelativeResize="0"/>
          <p:nvPr/>
        </p:nvPicPr>
        <p:blipFill rotWithShape="1">
          <a:blip r:embed="rId14">
            <a:alphaModFix/>
          </a:blip>
          <a:srcRect/>
          <a:stretch/>
        </p:blipFill>
        <p:spPr>
          <a:xfrm>
            <a:off x="8596312" y="4760118"/>
            <a:ext cx="428625" cy="428625"/>
          </a:xfrm>
          <a:prstGeom prst="rect">
            <a:avLst/>
          </a:prstGeom>
          <a:noFill/>
          <a:ln>
            <a:noFill/>
          </a:ln>
        </p:spPr>
      </p:pic>
      <p:sp>
        <p:nvSpPr>
          <p:cNvPr id="51" name="Google Shape;124;p13">
            <a:extLst>
              <a:ext uri="{FF2B5EF4-FFF2-40B4-BE49-F238E27FC236}">
                <a16:creationId xmlns:a16="http://schemas.microsoft.com/office/drawing/2014/main" id="{0DE8A537-1052-B6BF-FF3C-3B1A53C57FB7}"/>
              </a:ext>
            </a:extLst>
          </p:cNvPr>
          <p:cNvSpPr txBox="1"/>
          <p:nvPr/>
        </p:nvSpPr>
        <p:spPr>
          <a:xfrm>
            <a:off x="9167812" y="4822031"/>
            <a:ext cx="9600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4A99"/>
                </a:solidFill>
                <a:latin typeface="Noto Sans SC"/>
                <a:ea typeface="Noto Sans SC"/>
                <a:cs typeface="Noto Sans SC"/>
                <a:sym typeface="Noto Sans SC"/>
              </a:rPr>
              <a:t>智能制造</a:t>
            </a:r>
            <a:endParaRPr/>
          </a:p>
        </p:txBody>
      </p:sp>
      <p:pic>
        <p:nvPicPr>
          <p:cNvPr id="52" name="Google Shape;125;p13" descr="image.png">
            <a:extLst>
              <a:ext uri="{FF2B5EF4-FFF2-40B4-BE49-F238E27FC236}">
                <a16:creationId xmlns:a16="http://schemas.microsoft.com/office/drawing/2014/main" id="{2B2502A4-B9B9-52F2-FD38-7F0238230F32}"/>
              </a:ext>
            </a:extLst>
          </p:cNvPr>
          <p:cNvPicPr preferRelativeResize="0"/>
          <p:nvPr/>
        </p:nvPicPr>
        <p:blipFill rotWithShape="1">
          <a:blip r:embed="rId15">
            <a:alphaModFix/>
          </a:blip>
          <a:srcRect/>
          <a:stretch/>
        </p:blipFill>
        <p:spPr>
          <a:xfrm>
            <a:off x="5143434" y="2176462"/>
            <a:ext cx="199798" cy="209550"/>
          </a:xfrm>
          <a:prstGeom prst="rect">
            <a:avLst/>
          </a:prstGeom>
          <a:noFill/>
          <a:ln>
            <a:noFill/>
          </a:ln>
        </p:spPr>
      </p:pic>
      <p:pic>
        <p:nvPicPr>
          <p:cNvPr id="53" name="Google Shape;126;p13" descr="image.png">
            <a:extLst>
              <a:ext uri="{FF2B5EF4-FFF2-40B4-BE49-F238E27FC236}">
                <a16:creationId xmlns:a16="http://schemas.microsoft.com/office/drawing/2014/main" id="{05689B5F-AF14-E21A-17C9-CDAED0926F73}"/>
              </a:ext>
            </a:extLst>
          </p:cNvPr>
          <p:cNvPicPr preferRelativeResize="0"/>
          <p:nvPr/>
        </p:nvPicPr>
        <p:blipFill rotWithShape="1">
          <a:blip r:embed="rId16">
            <a:alphaModFix/>
          </a:blip>
          <a:srcRect/>
          <a:stretch/>
        </p:blipFill>
        <p:spPr>
          <a:xfrm>
            <a:off x="8703203" y="2176462"/>
            <a:ext cx="214842" cy="209550"/>
          </a:xfrm>
          <a:prstGeom prst="rect">
            <a:avLst/>
          </a:prstGeom>
          <a:noFill/>
          <a:ln>
            <a:noFill/>
          </a:ln>
        </p:spPr>
      </p:pic>
      <p:pic>
        <p:nvPicPr>
          <p:cNvPr id="54" name="Google Shape;127;p13" descr="image.png">
            <a:extLst>
              <a:ext uri="{FF2B5EF4-FFF2-40B4-BE49-F238E27FC236}">
                <a16:creationId xmlns:a16="http://schemas.microsoft.com/office/drawing/2014/main" id="{51D92277-854B-2284-A1F5-BF0B30AD8FDB}"/>
              </a:ext>
            </a:extLst>
          </p:cNvPr>
          <p:cNvPicPr preferRelativeResize="0"/>
          <p:nvPr/>
        </p:nvPicPr>
        <p:blipFill rotWithShape="1">
          <a:blip r:embed="rId17">
            <a:alphaModFix/>
          </a:blip>
          <a:srcRect/>
          <a:stretch/>
        </p:blipFill>
        <p:spPr>
          <a:xfrm>
            <a:off x="5134796" y="4889681"/>
            <a:ext cx="234403" cy="209550"/>
          </a:xfrm>
          <a:prstGeom prst="rect">
            <a:avLst/>
          </a:prstGeom>
          <a:noFill/>
          <a:ln>
            <a:noFill/>
          </a:ln>
        </p:spPr>
      </p:pic>
      <p:pic>
        <p:nvPicPr>
          <p:cNvPr id="55" name="Google Shape;128;p13" descr="image.png">
            <a:extLst>
              <a:ext uri="{FF2B5EF4-FFF2-40B4-BE49-F238E27FC236}">
                <a16:creationId xmlns:a16="http://schemas.microsoft.com/office/drawing/2014/main" id="{1DAA4CE3-9483-8D29-200B-1FA882717893}"/>
              </a:ext>
            </a:extLst>
          </p:cNvPr>
          <p:cNvPicPr preferRelativeResize="0"/>
          <p:nvPr/>
        </p:nvPicPr>
        <p:blipFill rotWithShape="1">
          <a:blip r:embed="rId18">
            <a:alphaModFix/>
          </a:blip>
          <a:srcRect/>
          <a:stretch/>
        </p:blipFill>
        <p:spPr>
          <a:xfrm>
            <a:off x="8689376" y="4869655"/>
            <a:ext cx="242496" cy="209550"/>
          </a:xfrm>
          <a:prstGeom prst="rect">
            <a:avLst/>
          </a:prstGeom>
          <a:noFill/>
          <a:ln>
            <a:noFill/>
          </a:ln>
        </p:spPr>
      </p:pic>
      <p:sp>
        <p:nvSpPr>
          <p:cNvPr id="56" name="Google Shape;129;p13">
            <a:extLst>
              <a:ext uri="{FF2B5EF4-FFF2-40B4-BE49-F238E27FC236}">
                <a16:creationId xmlns:a16="http://schemas.microsoft.com/office/drawing/2014/main" id="{04E3F22B-00B5-4195-AE52-7336D7789742}"/>
              </a:ext>
            </a:extLst>
          </p:cNvPr>
          <p:cNvSpPr txBox="1"/>
          <p:nvPr/>
        </p:nvSpPr>
        <p:spPr>
          <a:xfrm>
            <a:off x="5038725" y="2638425"/>
            <a:ext cx="2871900" cy="1071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445566"/>
                </a:solidFill>
                <a:latin typeface="Noto Sans SC"/>
                <a:ea typeface="Noto Sans SC"/>
                <a:cs typeface="Noto Sans SC"/>
                <a:sym typeface="Noto Sans SC"/>
              </a:rPr>
              <a:t>巡检机器人可全天候监测设备状态、环境参数，及时发现泄漏、温度异常等隐患，降低人工巡检风险，显著提升安全防护等级</a:t>
            </a:r>
            <a:r>
              <a:rPr lang="en-US" sz="1200" b="0" i="0" u="none" strike="noStrike" cap="none" dirty="0">
                <a:solidFill>
                  <a:srgbClr val="445566"/>
                </a:solidFill>
                <a:latin typeface="Noto Sans SC"/>
                <a:ea typeface="Noto Sans SC"/>
                <a:cs typeface="Noto Sans SC"/>
                <a:sym typeface="Noto Sans SC"/>
              </a:rPr>
              <a:t>。</a:t>
            </a:r>
            <a:endParaRPr dirty="0"/>
          </a:p>
        </p:txBody>
      </p:sp>
      <p:sp>
        <p:nvSpPr>
          <p:cNvPr id="57" name="Google Shape;130;p13">
            <a:extLst>
              <a:ext uri="{FF2B5EF4-FFF2-40B4-BE49-F238E27FC236}">
                <a16:creationId xmlns:a16="http://schemas.microsoft.com/office/drawing/2014/main" id="{268B5100-7160-3A63-BA39-C0426CDB4D9F}"/>
              </a:ext>
            </a:extLst>
          </p:cNvPr>
          <p:cNvSpPr txBox="1"/>
          <p:nvPr/>
        </p:nvSpPr>
        <p:spPr>
          <a:xfrm>
            <a:off x="8596312" y="2638425"/>
            <a:ext cx="2871900" cy="1071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45566"/>
                </a:solidFill>
                <a:latin typeface="Noto Sans SC"/>
                <a:ea typeface="Noto Sans SC"/>
                <a:cs typeface="Noto Sans SC"/>
                <a:sym typeface="Noto Sans SC"/>
              </a:rPr>
              <a:t>在变电站、输电线路等场景，机器人可高频次、大范围巡检，利用红外热成像等技术精准检测设备故障，真正实现全天候无人值守。</a:t>
            </a:r>
            <a:endParaRPr/>
          </a:p>
        </p:txBody>
      </p:sp>
      <p:sp>
        <p:nvSpPr>
          <p:cNvPr id="58" name="Google Shape;131;p13">
            <a:extLst>
              <a:ext uri="{FF2B5EF4-FFF2-40B4-BE49-F238E27FC236}">
                <a16:creationId xmlns:a16="http://schemas.microsoft.com/office/drawing/2014/main" id="{93952D1E-6AEE-FFDF-4355-CE8048D1B100}"/>
              </a:ext>
            </a:extLst>
          </p:cNvPr>
          <p:cNvSpPr txBox="1"/>
          <p:nvPr/>
        </p:nvSpPr>
        <p:spPr>
          <a:xfrm>
            <a:off x="5038725" y="5331619"/>
            <a:ext cx="2871900" cy="3387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100" b="0">
                <a:solidFill>
                  <a:srgbClr val="445566"/>
                </a:solidFill>
                <a:latin typeface="Noto Sans SC"/>
                <a:ea typeface="Noto Sans SC"/>
                <a:cs typeface="Noto Sans SC"/>
                <a:sym typeface="Noto Sans SC"/>
              </a:rPr>
              <a:t>矿山巡检机器人可完成炮孔测量、设备监测、巷道巡检等任务，助力矿山智能化建设。</a:t>
            </a:r>
            <a:endParaRPr sz="1100" b="0">
              <a:solidFill>
                <a:srgbClr val="445566"/>
              </a:solidFill>
              <a:latin typeface="Noto Sans SC"/>
              <a:ea typeface="Noto Sans SC"/>
              <a:cs typeface="Noto Sans SC"/>
              <a:sym typeface="Noto Sans SC"/>
            </a:endParaRPr>
          </a:p>
        </p:txBody>
      </p:sp>
      <p:sp>
        <p:nvSpPr>
          <p:cNvPr id="59" name="Google Shape;132;p13">
            <a:extLst>
              <a:ext uri="{FF2B5EF4-FFF2-40B4-BE49-F238E27FC236}">
                <a16:creationId xmlns:a16="http://schemas.microsoft.com/office/drawing/2014/main" id="{F009C21F-1AFA-6C94-94D3-5B558D6F4296}"/>
              </a:ext>
            </a:extLst>
          </p:cNvPr>
          <p:cNvSpPr txBox="1"/>
          <p:nvPr/>
        </p:nvSpPr>
        <p:spPr>
          <a:xfrm>
            <a:off x="8596313" y="5331619"/>
            <a:ext cx="2871900" cy="3387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100" b="0">
                <a:solidFill>
                  <a:srgbClr val="445566"/>
                </a:solidFill>
                <a:latin typeface="Noto Sans SC"/>
                <a:ea typeface="Noto Sans SC"/>
                <a:cs typeface="Noto Sans SC"/>
                <a:sym typeface="Noto Sans SC"/>
              </a:rPr>
              <a:t>在现代化工厂中，机器人可自动化执行巡查与数据采集，助力智能制造体系的高效化。</a:t>
            </a:r>
            <a:endParaRPr sz="1100" b="0">
              <a:solidFill>
                <a:srgbClr val="445566"/>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flipV="1">
            <a:off x="295275" y="782955"/>
            <a:ext cx="11417935"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54330" y="162578"/>
            <a:ext cx="4508500"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a:t>
            </a:r>
          </a:p>
        </p:txBody>
      </p:sp>
      <p:sp>
        <p:nvSpPr>
          <p:cNvPr id="13" name="矩形 12"/>
          <p:cNvSpPr/>
          <p:nvPr/>
        </p:nvSpPr>
        <p:spPr>
          <a:xfrm>
            <a:off x="354330" y="1303020"/>
            <a:ext cx="11358880" cy="5050155"/>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5980" y="1388745"/>
            <a:ext cx="10480040" cy="4964430"/>
          </a:xfrm>
          <a:prstGeom prst="rect">
            <a:avLst/>
          </a:prstGeom>
          <a:noFill/>
        </p:spPr>
        <p:txBody>
          <a:bodyPr wrap="square" rtlCol="0">
            <a:spAutoFit/>
          </a:bodyPr>
          <a:lstStyle/>
          <a:p>
            <a:pPr indent="0" fontAlgn="auto">
              <a:lnSpc>
                <a:spcPts val="2000"/>
              </a:lnSpc>
            </a:pPr>
            <a:r>
              <a:rPr lang="en-US" altLang="zh-CN" sz="1000" dirty="0"/>
              <a:t>[1] Guo J, Liu Z, Han J, et al. AnomalyGPT: Detecting Industrial Anomalies using Large Vision-Language Models[C]. Advances in Neural Information Processing Systems (NeurIPS), 2024.</a:t>
            </a:r>
          </a:p>
          <a:p>
            <a:pPr indent="0" fontAlgn="auto">
              <a:lnSpc>
                <a:spcPts val="2000"/>
              </a:lnSpc>
            </a:pPr>
            <a:r>
              <a:rPr lang="en-US" altLang="zh-CN" sz="1000" dirty="0"/>
              <a:t>[2] Wang Y, Peng J, Liu Y, et al. Real-IAD: A Real-World Multi-View Industrial Anomaly Detection Dataset[C]. IEEE/CVF Conference on Computer Vision and Pattern Recognition (CVPR), 2024.</a:t>
            </a:r>
          </a:p>
          <a:p>
            <a:pPr indent="0" fontAlgn="auto">
              <a:lnSpc>
                <a:spcPts val="2000"/>
              </a:lnSpc>
            </a:pPr>
            <a:r>
              <a:rPr lang="en-US" altLang="zh-CN" sz="1000" dirty="0"/>
              <a:t>[3] Chen Z, Wu Y, Zhang X, et al. VAND 2.0: Versatile and Accurate Neural Defect Detection[C]. IEEE/CVF Conference on Computer Vision and Pattern Recognition (CVPR), 2024.</a:t>
            </a:r>
          </a:p>
          <a:p>
            <a:pPr indent="0" fontAlgn="auto">
              <a:lnSpc>
                <a:spcPts val="2000"/>
              </a:lnSpc>
            </a:pPr>
            <a:r>
              <a:rPr lang="en-US" altLang="zh-CN" sz="1000" dirty="0"/>
              <a:t>[4] Liu Z, Wang S, Cui E, et al. Adapting Segment Anything Model for Domain Adaptive Semantic Segmentation[C]. IEEE/CVF Conference on Computer Vision and Pattern Recognition (CVPR), 2024.</a:t>
            </a:r>
          </a:p>
          <a:p>
            <a:pPr indent="0" fontAlgn="auto">
              <a:lnSpc>
                <a:spcPts val="2000"/>
              </a:lnSpc>
            </a:pPr>
            <a:r>
              <a:rPr lang="en-US" altLang="zh-CN" sz="1000" dirty="0"/>
              <a:t>[5] Zhang Z, Liu Y, Wang S, et al. Goal-Guided Transformer-Enabled Reinforcement Learning for Efficient Autonomous Navigation[J]. IEEE Transactions on Intelligent Transportation Systems, 2024, 25(7): 7821-7834.</a:t>
            </a:r>
          </a:p>
          <a:p>
            <a:pPr indent="0" fontAlgn="auto">
              <a:lnSpc>
                <a:spcPts val="2000"/>
              </a:lnSpc>
            </a:pPr>
            <a:r>
              <a:rPr lang="en-US" altLang="zh-CN" sz="1000" dirty="0"/>
              <a:t>[6] Li J, Chen W, Wang H, et al. Multimodal Large Language Models for Industrial Applications: A Comprehensive Survey[J]. IEEE Transactions on Multimedia, 2024, 26: 4521-4540.</a:t>
            </a:r>
          </a:p>
          <a:p>
            <a:pPr indent="0" fontAlgn="auto">
              <a:lnSpc>
                <a:spcPts val="2000"/>
              </a:lnSpc>
            </a:pPr>
            <a:r>
              <a:rPr lang="en-US" altLang="zh-CN" sz="1000" dirty="0"/>
              <a:t>[7] Zhang L, Chen Y, Li M, et al. Deep Industrial Image Anomaly Detection: A Survey[J]. IEEE Transactions on Pattern Analysis and Machine Intelligence, 2024, 46(11): 7890-7910.</a:t>
            </a:r>
          </a:p>
          <a:p>
            <a:pPr indent="0" fontAlgn="auto">
              <a:lnSpc>
                <a:spcPts val="2000"/>
              </a:lnSpc>
            </a:pPr>
            <a:r>
              <a:rPr lang="en-US" altLang="zh-CN" sz="1000" dirty="0"/>
              <a:t>[8] Wang H, Zhang Q, Liu X, et al. Knowledge Graph-Enhanced Retrieval Augmented Generation for Industrial Intelligent Maintenance[J]. IEEE Transactions on Industrial Informatics, 2024, 20(8): 10521-10533.</a:t>
            </a:r>
          </a:p>
          <a:p>
            <a:pPr indent="0" fontAlgn="auto">
              <a:lnSpc>
                <a:spcPts val="2000"/>
              </a:lnSpc>
            </a:pPr>
            <a:r>
              <a:rPr lang="en-US" altLang="zh-CN" sz="1000" dirty="0"/>
              <a:t>[9] Chen X, Li Y, Wang Z, et al. A Survey on Retrieval-Augmented Generation for Large Language Models[J]. IEEE Transactions on Knowledge and Data Engineering, 2024, 36(12): 5678-5695.</a:t>
            </a:r>
          </a:p>
          <a:p>
            <a:pPr indent="0" fontAlgn="auto">
              <a:lnSpc>
                <a:spcPts val="2000"/>
              </a:lnSpc>
            </a:pPr>
            <a:endParaRPr lang="en-US" altLang="zh-CN" sz="1000" dirty="0"/>
          </a:p>
        </p:txBody>
      </p:sp>
      <p:pic>
        <p:nvPicPr>
          <p:cNvPr id="3" name="图片 2" descr="76b499643fee34819cb883d90f0351cf"/>
          <p:cNvPicPr>
            <a:picLocks noChangeAspect="1"/>
          </p:cNvPicPr>
          <p:nvPr/>
        </p:nvPicPr>
        <p:blipFill>
          <a:blip r:embed="rId2"/>
          <a:stretch>
            <a:fillRect/>
          </a:stretch>
        </p:blipFill>
        <p:spPr>
          <a:xfrm>
            <a:off x="10965180" y="0"/>
            <a:ext cx="748030" cy="7480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5275" y="0"/>
            <a:ext cx="2571750"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295910" y="798195"/>
            <a:ext cx="11417300" cy="76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95910" y="162578"/>
            <a:ext cx="4508500" cy="52197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参考文献（续表）</a:t>
            </a:r>
          </a:p>
        </p:txBody>
      </p:sp>
      <p:sp>
        <p:nvSpPr>
          <p:cNvPr id="13" name="矩形 12"/>
          <p:cNvSpPr/>
          <p:nvPr/>
        </p:nvSpPr>
        <p:spPr>
          <a:xfrm>
            <a:off x="295910" y="1303020"/>
            <a:ext cx="11417300" cy="5050155"/>
          </a:xfrm>
          <a:prstGeom prst="rect">
            <a:avLst/>
          </a:prstGeom>
          <a:solidFill>
            <a:schemeClr val="bg1"/>
          </a:solidFill>
          <a:ln>
            <a:noFill/>
          </a:ln>
          <a:effectLst>
            <a:outerShdw blurRad="127000" sx="102000" sy="102000" algn="ctr"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3476625" y="1466850"/>
            <a:ext cx="8096250" cy="347345"/>
          </a:xfrm>
          <a:prstGeom prst="rect">
            <a:avLst/>
          </a:prstGeom>
          <a:noFill/>
        </p:spPr>
        <p:txBody>
          <a:bodyPr wrap="square" rtlCol="0">
            <a:spAutoFit/>
          </a:bodyPr>
          <a:lstStyle/>
          <a:p>
            <a:pPr indent="0" fontAlgn="auto">
              <a:lnSpc>
                <a:spcPts val="2000"/>
              </a:lnSpc>
            </a:pPr>
            <a:endParaRPr lang="en-US" altLang="zh-CN" sz="800" dirty="0"/>
          </a:p>
        </p:txBody>
      </p:sp>
      <p:sp>
        <p:nvSpPr>
          <p:cNvPr id="3" name="文本框 2"/>
          <p:cNvSpPr txBox="1"/>
          <p:nvPr/>
        </p:nvSpPr>
        <p:spPr>
          <a:xfrm>
            <a:off x="922655" y="1466850"/>
            <a:ext cx="10163810" cy="4742180"/>
          </a:xfrm>
          <a:prstGeom prst="rect">
            <a:avLst/>
          </a:prstGeom>
          <a:noFill/>
        </p:spPr>
        <p:txBody>
          <a:bodyPr wrap="square" rtlCol="0">
            <a:noAutofit/>
          </a:bodyPr>
          <a:lstStyle/>
          <a:p>
            <a:pPr indent="0" fontAlgn="auto">
              <a:lnSpc>
                <a:spcPts val="2000"/>
              </a:lnSpc>
            </a:pPr>
            <a:r>
              <a:rPr lang="en-US" altLang="zh-CN" sz="1000"/>
              <a:t>[10] </a:t>
            </a:r>
            <a:r>
              <a:rPr lang="en-US" altLang="zh-CN" sz="1000" dirty="0"/>
              <a:t>Liu </a:t>
            </a:r>
            <a:r>
              <a:rPr lang="en-US" altLang="zh-CN" sz="1000"/>
              <a:t>S, Wang J, Chen H, et al. Predictive Maintenance Using Transformer-Based Time Series Forecasting for Industrial Equipment[J]. IEEE Transactions on Industrial Electronics, 2024, 71(5): 5432-5443.</a:t>
            </a:r>
          </a:p>
          <a:p>
            <a:pPr indent="0" fontAlgn="auto">
              <a:lnSpc>
                <a:spcPts val="2000"/>
              </a:lnSpc>
            </a:pPr>
            <a:r>
              <a:rPr lang="en-US" altLang="zh-CN" sz="1000"/>
              <a:t>[11] Yang T, Zhang W, Li X, et al. Edge Intelligence for Autonomous Mobile Robots: A Survey[J]. IEEE Internet of Things Journal, 2024, 11(15): 20156-</a:t>
            </a:r>
            <a:r>
              <a:rPr lang="en-US" altLang="zh-CN" sz="1000" dirty="0"/>
              <a:t>20173</a:t>
            </a:r>
            <a:r>
              <a:rPr lang="en-US" altLang="zh-CN" sz="1000"/>
              <a:t>.</a:t>
            </a:r>
          </a:p>
          <a:p>
            <a:pPr indent="0" fontAlgn="auto">
              <a:lnSpc>
                <a:spcPts val="2000"/>
              </a:lnSpc>
            </a:pPr>
            <a:r>
              <a:rPr lang="en-US" altLang="zh-CN" sz="1000"/>
              <a:t>[12] Wu J, Liu Y, Fan J, et al. Informer-Based Semi-Supervised Learning for Fault Diagnosis of Industrial Robot[J]. IEEE Transactions on Industrial Informatics, 2024, 20(3): 4121-4133.</a:t>
            </a:r>
          </a:p>
          <a:p>
            <a:pPr indent="0" fontAlgn="auto">
              <a:lnSpc>
                <a:spcPts val="2000"/>
              </a:lnSpc>
            </a:pPr>
            <a:r>
              <a:rPr lang="en-US" altLang="zh-CN" sz="1000"/>
              <a:t>[13] Kim S, Park J, Lee H, et al. Efficient On-Device Fine-Tuning of Vision-Language Models for Industrial Inspection[J]. IEEE Transactions on Mobile Computing, 2025, 24(1): 312-328.</a:t>
            </a:r>
          </a:p>
          <a:p>
            <a:pPr indent="0" fontAlgn="auto">
              <a:lnSpc>
                <a:spcPts val="2000"/>
              </a:lnSpc>
            </a:pPr>
            <a:r>
              <a:rPr lang="en-US" altLang="zh-CN" sz="1000"/>
              <a:t>[14] Zhao Y, Chen L, Wang K, et al. Robust SLAM with Multi-Sensor Fusion for Autonomous Navigation in Complex Industrial Environments[J]. IEEE Robotics and Automation Letters, 2024, 9(6): 5234-5241.</a:t>
            </a:r>
          </a:p>
          <a:p>
            <a:pPr indent="0" fontAlgn="auto">
              <a:lnSpc>
                <a:spcPts val="2000"/>
              </a:lnSpc>
            </a:pPr>
            <a:r>
              <a:rPr lang="en-US" altLang="zh-CN" sz="1000"/>
              <a:t>[15] Xu R, Zhang H, Liu F, et al. MMAD: The First-Ever Comprehensive Benchmark for Multimodal Large Language Models in Industrial Anomaly Detection[J]. IEEE Transactions on Instrumentation and Measurement, 2025, 74(1): 1-15.</a:t>
            </a:r>
          </a:p>
        </p:txBody>
      </p:sp>
      <p:pic>
        <p:nvPicPr>
          <p:cNvPr id="17" name="图片 16" descr="76b499643fee34819cb883d90f0351cf"/>
          <p:cNvPicPr>
            <a:picLocks noChangeAspect="1"/>
          </p:cNvPicPr>
          <p:nvPr/>
        </p:nvPicPr>
        <p:blipFill>
          <a:blip r:embed="rId2"/>
          <a:stretch>
            <a:fillRect/>
          </a:stretch>
        </p:blipFill>
        <p:spPr>
          <a:xfrm>
            <a:off x="10965180" y="0"/>
            <a:ext cx="748030" cy="7480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273300"/>
            <a:ext cx="12192000" cy="2362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1600" y="2603500"/>
            <a:ext cx="11988800" cy="1231106"/>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rPr>
              <a:t>恳请各位老师批评指正</a:t>
            </a:r>
            <a:endParaRPr lang="en-US" altLang="zh-CN" sz="5400" b="1" dirty="0">
              <a:solidFill>
                <a:schemeClr val="bg1"/>
              </a:solidFill>
              <a:latin typeface="微软雅黑" panose="020B0503020204020204" pitchFamily="34" charset="-122"/>
              <a:ea typeface="微软雅黑" panose="020B0503020204020204" pitchFamily="34" charset="-122"/>
            </a:endParaRPr>
          </a:p>
          <a:p>
            <a:pPr algn="ctr"/>
            <a:r>
              <a:rPr lang="en-US" altLang="zh-CN" sz="2000" dirty="0">
                <a:solidFill>
                  <a:schemeClr val="bg1"/>
                </a:solidFill>
                <a:latin typeface="微软雅黑" panose="020B0503020204020204" pitchFamily="34" charset="-122"/>
                <a:ea typeface="微软雅黑" panose="020B0503020204020204" pitchFamily="34" charset="-122"/>
              </a:rPr>
              <a:t>Please criticize and correct me, teachers</a:t>
            </a:r>
            <a:endParaRPr lang="en-US" altLang="zh-CN" sz="3200" dirty="0">
              <a:solidFill>
                <a:schemeClr val="bg1"/>
              </a:solidFill>
              <a:latin typeface="微软雅黑" panose="020B0503020204020204" pitchFamily="34" charset="-122"/>
              <a:ea typeface="微软雅黑" panose="020B0503020204020204" pitchFamily="34" charset="-122"/>
            </a:endParaRPr>
          </a:p>
        </p:txBody>
      </p:sp>
      <p:sp>
        <p:nvSpPr>
          <p:cNvPr id="17" name="矩形: 圆角 16"/>
          <p:cNvSpPr/>
          <p:nvPr/>
        </p:nvSpPr>
        <p:spPr>
          <a:xfrm>
            <a:off x="495300" y="3048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p:cNvSpPr/>
          <p:nvPr/>
        </p:nvSpPr>
        <p:spPr>
          <a:xfrm>
            <a:off x="495300" y="4851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p:cNvSpPr/>
          <p:nvPr/>
        </p:nvSpPr>
        <p:spPr>
          <a:xfrm>
            <a:off x="495300" y="6654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p:cNvSpPr/>
          <p:nvPr/>
        </p:nvSpPr>
        <p:spPr>
          <a:xfrm flipH="1">
            <a:off x="10866600" y="6121400"/>
            <a:ext cx="792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flipH="1">
            <a:off x="10375900" y="6301740"/>
            <a:ext cx="12827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p:nvSpPr>
        <p:spPr>
          <a:xfrm flipH="1">
            <a:off x="11118600" y="6482080"/>
            <a:ext cx="540000" cy="6096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a:off x="1127878" y="4238625"/>
            <a:ext cx="993624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1016038" y="5345462"/>
            <a:ext cx="309863" cy="30986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1338416" y="5300338"/>
            <a:ext cx="2433411"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答辩人：</a:t>
            </a:r>
          </a:p>
        </p:txBody>
      </p:sp>
      <p:sp>
        <p:nvSpPr>
          <p:cNvPr id="36" name="椭圆 35"/>
          <p:cNvSpPr/>
          <p:nvPr/>
        </p:nvSpPr>
        <p:spPr>
          <a:xfrm>
            <a:off x="4568738"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4858821"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导师：</a:t>
            </a:r>
          </a:p>
        </p:txBody>
      </p:sp>
      <p:sp>
        <p:nvSpPr>
          <p:cNvPr id="37" name="椭圆 36"/>
          <p:cNvSpPr/>
          <p:nvPr/>
        </p:nvSpPr>
        <p:spPr>
          <a:xfrm>
            <a:off x="8089143" y="5345593"/>
            <a:ext cx="309600" cy="309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398743" y="5300338"/>
            <a:ext cx="2777219" cy="398780"/>
          </a:xfrm>
          <a:prstGeom prst="rect">
            <a:avLst/>
          </a:prstGeom>
          <a:noFill/>
        </p:spPr>
        <p:txBody>
          <a:bodyPr wrap="square"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时间</a:t>
            </a:r>
          </a:p>
        </p:txBody>
      </p:sp>
      <p:sp>
        <p:nvSpPr>
          <p:cNvPr id="2" name="图形 26" descr="博士帽"/>
          <p:cNvSpPr/>
          <p:nvPr/>
        </p:nvSpPr>
        <p:spPr>
          <a:xfrm>
            <a:off x="1046600" y="5418577"/>
            <a:ext cx="248739" cy="163630"/>
          </a:xfrm>
          <a:custGeom>
            <a:avLst/>
            <a:gdLst>
              <a:gd name="connsiteX0" fmla="*/ 45340 w 248739"/>
              <a:gd name="connsiteY0" fmla="*/ 146026 h 163630"/>
              <a:gd name="connsiteX1" fmla="*/ 133235 w 248739"/>
              <a:gd name="connsiteY1" fmla="*/ 163631 h 163630"/>
              <a:gd name="connsiteX2" fmla="*/ 218597 w 248739"/>
              <a:gd name="connsiteY2" fmla="*/ 143493 h 163630"/>
              <a:gd name="connsiteX3" fmla="*/ 218597 w 248739"/>
              <a:gd name="connsiteY3" fmla="*/ 58005 h 163630"/>
              <a:gd name="connsiteX4" fmla="*/ 133235 w 248739"/>
              <a:gd name="connsiteY4" fmla="*/ 70544 h 163630"/>
              <a:gd name="connsiteX5" fmla="*/ 45340 w 248739"/>
              <a:gd name="connsiteY5" fmla="*/ 58005 h 163630"/>
              <a:gd name="connsiteX6" fmla="*/ 45340 w 248739"/>
              <a:gd name="connsiteY6" fmla="*/ 146026 h 163630"/>
              <a:gd name="connsiteX7" fmla="*/ 248739 w 248739"/>
              <a:gd name="connsiteY7" fmla="*/ 20137 h 163630"/>
              <a:gd name="connsiteX8" fmla="*/ 248739 w 248739"/>
              <a:gd name="connsiteY8" fmla="*/ 42807 h 163630"/>
              <a:gd name="connsiteX9" fmla="*/ 133235 w 248739"/>
              <a:gd name="connsiteY9" fmla="*/ 60539 h 163630"/>
              <a:gd name="connsiteX10" fmla="*/ 17604 w 248739"/>
              <a:gd name="connsiteY10" fmla="*/ 42807 h 163630"/>
              <a:gd name="connsiteX11" fmla="*/ 17604 w 248739"/>
              <a:gd name="connsiteY11" fmla="*/ 85615 h 163630"/>
              <a:gd name="connsiteX12" fmla="*/ 22670 w 248739"/>
              <a:gd name="connsiteY12" fmla="*/ 93214 h 163630"/>
              <a:gd name="connsiteX13" fmla="*/ 12665 w 248739"/>
              <a:gd name="connsiteY13" fmla="*/ 103219 h 163630"/>
              <a:gd name="connsiteX14" fmla="*/ 5066 w 248739"/>
              <a:gd name="connsiteY14" fmla="*/ 93214 h 163630"/>
              <a:gd name="connsiteX15" fmla="*/ 10132 w 248739"/>
              <a:gd name="connsiteY15" fmla="*/ 85615 h 163630"/>
              <a:gd name="connsiteX16" fmla="*/ 10132 w 248739"/>
              <a:gd name="connsiteY16" fmla="*/ 20137 h 163630"/>
              <a:gd name="connsiteX17" fmla="*/ 133235 w 248739"/>
              <a:gd name="connsiteY17" fmla="*/ 0 h 163630"/>
              <a:gd name="connsiteX18" fmla="*/ 248739 w 248739"/>
              <a:gd name="connsiteY18" fmla="*/ 20137 h 163630"/>
              <a:gd name="connsiteX19" fmla="*/ 20137 w 248739"/>
              <a:gd name="connsiteY19" fmla="*/ 105752 h 163630"/>
              <a:gd name="connsiteX20" fmla="*/ 7599 w 248739"/>
              <a:gd name="connsiteY20" fmla="*/ 105752 h 163630"/>
              <a:gd name="connsiteX21" fmla="*/ 0 w 248739"/>
              <a:gd name="connsiteY21" fmla="*/ 146026 h 163630"/>
              <a:gd name="connsiteX22" fmla="*/ 5066 w 248739"/>
              <a:gd name="connsiteY22" fmla="*/ 146026 h 163630"/>
              <a:gd name="connsiteX23" fmla="*/ 7599 w 248739"/>
              <a:gd name="connsiteY23" fmla="*/ 141088 h 163630"/>
              <a:gd name="connsiteX24" fmla="*/ 7599 w 248739"/>
              <a:gd name="connsiteY24" fmla="*/ 146026 h 163630"/>
              <a:gd name="connsiteX25" fmla="*/ 15071 w 248739"/>
              <a:gd name="connsiteY25" fmla="*/ 148559 h 163630"/>
              <a:gd name="connsiteX26" fmla="*/ 17604 w 248739"/>
              <a:gd name="connsiteY26" fmla="*/ 143493 h 163630"/>
              <a:gd name="connsiteX27" fmla="*/ 17604 w 248739"/>
              <a:gd name="connsiteY27" fmla="*/ 148559 h 163630"/>
              <a:gd name="connsiteX28" fmla="*/ 20137 w 248739"/>
              <a:gd name="connsiteY28" fmla="*/ 148559 h 163630"/>
              <a:gd name="connsiteX29" fmla="*/ 20137 w 248739"/>
              <a:gd name="connsiteY29" fmla="*/ 128422 h 163630"/>
              <a:gd name="connsiteX30" fmla="*/ 22670 w 248739"/>
              <a:gd name="connsiteY30" fmla="*/ 146026 h 163630"/>
              <a:gd name="connsiteX31" fmla="*/ 27736 w 248739"/>
              <a:gd name="connsiteY31" fmla="*/ 146026 h 163630"/>
              <a:gd name="connsiteX32" fmla="*/ 20137 w 248739"/>
              <a:gd name="connsiteY32" fmla="*/ 105752 h 16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48739" h="163630">
                <a:moveTo>
                  <a:pt x="45340" y="146026"/>
                </a:moveTo>
                <a:cubicBezTo>
                  <a:pt x="75483" y="146026"/>
                  <a:pt x="105626" y="151093"/>
                  <a:pt x="133235" y="163631"/>
                </a:cubicBezTo>
                <a:cubicBezTo>
                  <a:pt x="160845" y="151093"/>
                  <a:pt x="188454" y="143493"/>
                  <a:pt x="218597" y="143493"/>
                </a:cubicBezTo>
                <a:cubicBezTo>
                  <a:pt x="218597" y="58005"/>
                  <a:pt x="218597" y="58005"/>
                  <a:pt x="218597" y="58005"/>
                </a:cubicBezTo>
                <a:cubicBezTo>
                  <a:pt x="133235" y="70544"/>
                  <a:pt x="133235" y="70544"/>
                  <a:pt x="133235" y="70544"/>
                </a:cubicBezTo>
                <a:cubicBezTo>
                  <a:pt x="45340" y="58005"/>
                  <a:pt x="45340" y="58005"/>
                  <a:pt x="45340" y="58005"/>
                </a:cubicBezTo>
                <a:cubicBezTo>
                  <a:pt x="45340" y="146026"/>
                  <a:pt x="45340" y="146026"/>
                  <a:pt x="45340" y="146026"/>
                </a:cubicBezTo>
                <a:moveTo>
                  <a:pt x="248739" y="20137"/>
                </a:moveTo>
                <a:cubicBezTo>
                  <a:pt x="248739" y="42807"/>
                  <a:pt x="248739" y="42807"/>
                  <a:pt x="248739" y="42807"/>
                </a:cubicBezTo>
                <a:cubicBezTo>
                  <a:pt x="133235" y="60539"/>
                  <a:pt x="133235" y="60539"/>
                  <a:pt x="133235" y="60539"/>
                </a:cubicBezTo>
                <a:cubicBezTo>
                  <a:pt x="17604" y="42807"/>
                  <a:pt x="17604" y="42807"/>
                  <a:pt x="17604" y="42807"/>
                </a:cubicBezTo>
                <a:cubicBezTo>
                  <a:pt x="17604" y="85615"/>
                  <a:pt x="17604" y="85615"/>
                  <a:pt x="17604" y="85615"/>
                </a:cubicBezTo>
                <a:cubicBezTo>
                  <a:pt x="20137" y="88148"/>
                  <a:pt x="22670" y="90681"/>
                  <a:pt x="22670" y="93214"/>
                </a:cubicBezTo>
                <a:cubicBezTo>
                  <a:pt x="22670" y="98280"/>
                  <a:pt x="17604" y="103219"/>
                  <a:pt x="12665" y="103219"/>
                </a:cubicBezTo>
                <a:cubicBezTo>
                  <a:pt x="10132" y="103219"/>
                  <a:pt x="5066" y="98280"/>
                  <a:pt x="5066" y="93214"/>
                </a:cubicBezTo>
                <a:cubicBezTo>
                  <a:pt x="5066" y="90681"/>
                  <a:pt x="7599" y="88148"/>
                  <a:pt x="10132" y="85615"/>
                </a:cubicBezTo>
                <a:cubicBezTo>
                  <a:pt x="10132" y="62945"/>
                  <a:pt x="10132" y="42807"/>
                  <a:pt x="10132" y="20137"/>
                </a:cubicBezTo>
                <a:cubicBezTo>
                  <a:pt x="133235" y="0"/>
                  <a:pt x="133235" y="0"/>
                  <a:pt x="133235" y="0"/>
                </a:cubicBezTo>
                <a:cubicBezTo>
                  <a:pt x="248739" y="20137"/>
                  <a:pt x="248739" y="20137"/>
                  <a:pt x="248739" y="20137"/>
                </a:cubicBezTo>
                <a:moveTo>
                  <a:pt x="20137" y="105752"/>
                </a:moveTo>
                <a:cubicBezTo>
                  <a:pt x="15071" y="108285"/>
                  <a:pt x="12665" y="108285"/>
                  <a:pt x="7599" y="105752"/>
                </a:cubicBezTo>
                <a:cubicBezTo>
                  <a:pt x="5066" y="118417"/>
                  <a:pt x="2533" y="130955"/>
                  <a:pt x="0" y="146026"/>
                </a:cubicBezTo>
                <a:cubicBezTo>
                  <a:pt x="2533" y="146026"/>
                  <a:pt x="5066" y="146026"/>
                  <a:pt x="5066" y="146026"/>
                </a:cubicBezTo>
                <a:cubicBezTo>
                  <a:pt x="7599" y="141088"/>
                  <a:pt x="7599" y="141088"/>
                  <a:pt x="7599" y="141088"/>
                </a:cubicBezTo>
                <a:cubicBezTo>
                  <a:pt x="7599" y="146026"/>
                  <a:pt x="7599" y="146026"/>
                  <a:pt x="7599" y="146026"/>
                </a:cubicBezTo>
                <a:cubicBezTo>
                  <a:pt x="10132" y="148559"/>
                  <a:pt x="12665" y="148559"/>
                  <a:pt x="15071" y="148559"/>
                </a:cubicBezTo>
                <a:cubicBezTo>
                  <a:pt x="17604" y="143493"/>
                  <a:pt x="17604" y="143493"/>
                  <a:pt x="17604" y="143493"/>
                </a:cubicBezTo>
                <a:cubicBezTo>
                  <a:pt x="17604" y="148559"/>
                  <a:pt x="17604" y="148559"/>
                  <a:pt x="17604" y="148559"/>
                </a:cubicBezTo>
                <a:lnTo>
                  <a:pt x="20137" y="148559"/>
                </a:lnTo>
                <a:cubicBezTo>
                  <a:pt x="20137" y="128422"/>
                  <a:pt x="20137" y="128422"/>
                  <a:pt x="20137" y="128422"/>
                </a:cubicBezTo>
                <a:cubicBezTo>
                  <a:pt x="22670" y="146026"/>
                  <a:pt x="22670" y="146026"/>
                  <a:pt x="22670" y="146026"/>
                </a:cubicBezTo>
                <a:cubicBezTo>
                  <a:pt x="25203" y="146026"/>
                  <a:pt x="25203" y="146026"/>
                  <a:pt x="27736" y="146026"/>
                </a:cubicBezTo>
                <a:cubicBezTo>
                  <a:pt x="25203" y="130955"/>
                  <a:pt x="22670" y="118417"/>
                  <a:pt x="20137" y="105752"/>
                </a:cubicBezTo>
              </a:path>
            </a:pathLst>
          </a:custGeom>
          <a:solidFill>
            <a:schemeClr val="bg1"/>
          </a:solidFill>
          <a:ln w="967" cap="flat">
            <a:noFill/>
            <a:prstDash val="solid"/>
            <a:miter/>
          </a:ln>
        </p:spPr>
        <p:txBody>
          <a:bodyPr rtlCol="0" anchor="ctr"/>
          <a:lstStyle/>
          <a:p>
            <a:endParaRPr lang="zh-CN" altLang="en-US"/>
          </a:p>
        </p:txBody>
      </p:sp>
      <p:sp>
        <p:nvSpPr>
          <p:cNvPr id="3" name="图形 28" descr="授课技能"/>
          <p:cNvSpPr/>
          <p:nvPr/>
        </p:nvSpPr>
        <p:spPr>
          <a:xfrm>
            <a:off x="4632198" y="5409053"/>
            <a:ext cx="182680" cy="182680"/>
          </a:xfrm>
          <a:custGeom>
            <a:avLst/>
            <a:gdLst>
              <a:gd name="connsiteX0" fmla="*/ 155815 w 182680"/>
              <a:gd name="connsiteY0" fmla="*/ 0 h 182680"/>
              <a:gd name="connsiteX1" fmla="*/ 26864 w 182680"/>
              <a:gd name="connsiteY1" fmla="*/ 0 h 182680"/>
              <a:gd name="connsiteX2" fmla="*/ 0 w 182680"/>
              <a:gd name="connsiteY2" fmla="*/ 26864 h 182680"/>
              <a:gd name="connsiteX3" fmla="*/ 0 w 182680"/>
              <a:gd name="connsiteY3" fmla="*/ 155815 h 182680"/>
              <a:gd name="connsiteX4" fmla="*/ 26864 w 182680"/>
              <a:gd name="connsiteY4" fmla="*/ 182680 h 182680"/>
              <a:gd name="connsiteX5" fmla="*/ 155815 w 182680"/>
              <a:gd name="connsiteY5" fmla="*/ 182680 h 182680"/>
              <a:gd name="connsiteX6" fmla="*/ 182680 w 182680"/>
              <a:gd name="connsiteY6" fmla="*/ 155815 h 182680"/>
              <a:gd name="connsiteX7" fmla="*/ 182680 w 182680"/>
              <a:gd name="connsiteY7" fmla="*/ 26864 h 182680"/>
              <a:gd name="connsiteX8" fmla="*/ 155815 w 182680"/>
              <a:gd name="connsiteY8" fmla="*/ 0 h 182680"/>
              <a:gd name="connsiteX9" fmla="*/ 91877 w 182680"/>
              <a:gd name="connsiteY9" fmla="*/ 25253 h 182680"/>
              <a:gd name="connsiteX10" fmla="*/ 107459 w 182680"/>
              <a:gd name="connsiteY10" fmla="*/ 40834 h 182680"/>
              <a:gd name="connsiteX11" fmla="*/ 91877 w 182680"/>
              <a:gd name="connsiteY11" fmla="*/ 56416 h 182680"/>
              <a:gd name="connsiteX12" fmla="*/ 76295 w 182680"/>
              <a:gd name="connsiteY12" fmla="*/ 40834 h 182680"/>
              <a:gd name="connsiteX13" fmla="*/ 91877 w 182680"/>
              <a:gd name="connsiteY13" fmla="*/ 25253 h 182680"/>
              <a:gd name="connsiteX14" fmla="*/ 95639 w 182680"/>
              <a:gd name="connsiteY14" fmla="*/ 61789 h 182680"/>
              <a:gd name="connsiteX15" fmla="*/ 93489 w 182680"/>
              <a:gd name="connsiteY15" fmla="*/ 66087 h 182680"/>
              <a:gd name="connsiteX16" fmla="*/ 91340 w 182680"/>
              <a:gd name="connsiteY16" fmla="*/ 66087 h 182680"/>
              <a:gd name="connsiteX17" fmla="*/ 89191 w 182680"/>
              <a:gd name="connsiteY17" fmla="*/ 66087 h 182680"/>
              <a:gd name="connsiteX18" fmla="*/ 87041 w 182680"/>
              <a:gd name="connsiteY18" fmla="*/ 61789 h 182680"/>
              <a:gd name="connsiteX19" fmla="*/ 91340 w 182680"/>
              <a:gd name="connsiteY19" fmla="*/ 59640 h 182680"/>
              <a:gd name="connsiteX20" fmla="*/ 95639 w 182680"/>
              <a:gd name="connsiteY20" fmla="*/ 61789 h 182680"/>
              <a:gd name="connsiteX21" fmla="*/ 60177 w 182680"/>
              <a:gd name="connsiteY21" fmla="*/ 70923 h 182680"/>
              <a:gd name="connsiteX22" fmla="*/ 68237 w 182680"/>
              <a:gd name="connsiteY22" fmla="*/ 63401 h 182680"/>
              <a:gd name="connsiteX23" fmla="*/ 82743 w 182680"/>
              <a:gd name="connsiteY23" fmla="*/ 61789 h 182680"/>
              <a:gd name="connsiteX24" fmla="*/ 87041 w 182680"/>
              <a:gd name="connsiteY24" fmla="*/ 77908 h 182680"/>
              <a:gd name="connsiteX25" fmla="*/ 89191 w 182680"/>
              <a:gd name="connsiteY25" fmla="*/ 68774 h 182680"/>
              <a:gd name="connsiteX26" fmla="*/ 93489 w 182680"/>
              <a:gd name="connsiteY26" fmla="*/ 68774 h 182680"/>
              <a:gd name="connsiteX27" fmla="*/ 95639 w 182680"/>
              <a:gd name="connsiteY27" fmla="*/ 77908 h 182680"/>
              <a:gd name="connsiteX28" fmla="*/ 99937 w 182680"/>
              <a:gd name="connsiteY28" fmla="*/ 61789 h 182680"/>
              <a:gd name="connsiteX29" fmla="*/ 114981 w 182680"/>
              <a:gd name="connsiteY29" fmla="*/ 63401 h 182680"/>
              <a:gd name="connsiteX30" fmla="*/ 123041 w 182680"/>
              <a:gd name="connsiteY30" fmla="*/ 70923 h 182680"/>
              <a:gd name="connsiteX31" fmla="*/ 125189 w 182680"/>
              <a:gd name="connsiteY31" fmla="*/ 84892 h 182680"/>
              <a:gd name="connsiteX32" fmla="*/ 56954 w 182680"/>
              <a:gd name="connsiteY32" fmla="*/ 84892 h 182680"/>
              <a:gd name="connsiteX33" fmla="*/ 60177 w 182680"/>
              <a:gd name="connsiteY33" fmla="*/ 70923 h 182680"/>
              <a:gd name="connsiteX34" fmla="*/ 106576 w 182680"/>
              <a:gd name="connsiteY34" fmla="*/ 157428 h 182680"/>
              <a:gd name="connsiteX35" fmla="*/ 75669 w 182680"/>
              <a:gd name="connsiteY35" fmla="*/ 157428 h 182680"/>
              <a:gd name="connsiteX36" fmla="*/ 67416 w 182680"/>
              <a:gd name="connsiteY36" fmla="*/ 150041 h 182680"/>
              <a:gd name="connsiteX37" fmla="*/ 63938 w 182680"/>
              <a:gd name="connsiteY37" fmla="*/ 118742 h 182680"/>
              <a:gd name="connsiteX38" fmla="*/ 118742 w 182680"/>
              <a:gd name="connsiteY38" fmla="*/ 118742 h 182680"/>
              <a:gd name="connsiteX39" fmla="*/ 114815 w 182680"/>
              <a:gd name="connsiteY39" fmla="*/ 150154 h 182680"/>
              <a:gd name="connsiteX40" fmla="*/ 106576 w 182680"/>
              <a:gd name="connsiteY40" fmla="*/ 157428 h 182680"/>
              <a:gd name="connsiteX41" fmla="*/ 131099 w 182680"/>
              <a:gd name="connsiteY41" fmla="*/ 106385 h 182680"/>
              <a:gd name="connsiteX42" fmla="*/ 123041 w 182680"/>
              <a:gd name="connsiteY42" fmla="*/ 113906 h 182680"/>
              <a:gd name="connsiteX43" fmla="*/ 59640 w 182680"/>
              <a:gd name="connsiteY43" fmla="*/ 113906 h 182680"/>
              <a:gd name="connsiteX44" fmla="*/ 51580 w 182680"/>
              <a:gd name="connsiteY44" fmla="*/ 106385 h 182680"/>
              <a:gd name="connsiteX45" fmla="*/ 50506 w 182680"/>
              <a:gd name="connsiteY45" fmla="*/ 95639 h 182680"/>
              <a:gd name="connsiteX46" fmla="*/ 54804 w 182680"/>
              <a:gd name="connsiteY46" fmla="*/ 91340 h 182680"/>
              <a:gd name="connsiteX47" fmla="*/ 127339 w 182680"/>
              <a:gd name="connsiteY47" fmla="*/ 91340 h 182680"/>
              <a:gd name="connsiteX48" fmla="*/ 131637 w 182680"/>
              <a:gd name="connsiteY48" fmla="*/ 95639 h 182680"/>
              <a:gd name="connsiteX49" fmla="*/ 131099 w 182680"/>
              <a:gd name="connsiteY49" fmla="*/ 106385 h 18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82680" h="182680">
                <a:moveTo>
                  <a:pt x="155815" y="0"/>
                </a:moveTo>
                <a:lnTo>
                  <a:pt x="26864" y="0"/>
                </a:lnTo>
                <a:cubicBezTo>
                  <a:pt x="11820" y="0"/>
                  <a:pt x="0" y="11820"/>
                  <a:pt x="0" y="26864"/>
                </a:cubicBezTo>
                <a:lnTo>
                  <a:pt x="0" y="155815"/>
                </a:lnTo>
                <a:cubicBezTo>
                  <a:pt x="0" y="170859"/>
                  <a:pt x="11820" y="182680"/>
                  <a:pt x="26864" y="182680"/>
                </a:cubicBezTo>
                <a:lnTo>
                  <a:pt x="155815" y="182680"/>
                </a:lnTo>
                <a:cubicBezTo>
                  <a:pt x="170859" y="182680"/>
                  <a:pt x="182680" y="170859"/>
                  <a:pt x="182680" y="155815"/>
                </a:cubicBezTo>
                <a:lnTo>
                  <a:pt x="182680" y="26864"/>
                </a:lnTo>
                <a:cubicBezTo>
                  <a:pt x="182680" y="11820"/>
                  <a:pt x="170859" y="0"/>
                  <a:pt x="155815" y="0"/>
                </a:cubicBezTo>
                <a:moveTo>
                  <a:pt x="91877" y="25253"/>
                </a:moveTo>
                <a:cubicBezTo>
                  <a:pt x="100475" y="25253"/>
                  <a:pt x="107459" y="32237"/>
                  <a:pt x="107459" y="40834"/>
                </a:cubicBezTo>
                <a:cubicBezTo>
                  <a:pt x="107459" y="49431"/>
                  <a:pt x="100475" y="56416"/>
                  <a:pt x="91877" y="56416"/>
                </a:cubicBezTo>
                <a:cubicBezTo>
                  <a:pt x="83281" y="56416"/>
                  <a:pt x="76295" y="49431"/>
                  <a:pt x="76295" y="40834"/>
                </a:cubicBezTo>
                <a:cubicBezTo>
                  <a:pt x="76295" y="32237"/>
                  <a:pt x="83281" y="25253"/>
                  <a:pt x="91877" y="25253"/>
                </a:cubicBezTo>
                <a:moveTo>
                  <a:pt x="95639" y="61789"/>
                </a:moveTo>
                <a:cubicBezTo>
                  <a:pt x="95639" y="63401"/>
                  <a:pt x="94027" y="65550"/>
                  <a:pt x="93489" y="66087"/>
                </a:cubicBezTo>
                <a:cubicBezTo>
                  <a:pt x="92952" y="66624"/>
                  <a:pt x="92415" y="66087"/>
                  <a:pt x="91340" y="66087"/>
                </a:cubicBezTo>
                <a:cubicBezTo>
                  <a:pt x="90265" y="66087"/>
                  <a:pt x="89728" y="66624"/>
                  <a:pt x="89191" y="66087"/>
                </a:cubicBezTo>
                <a:cubicBezTo>
                  <a:pt x="88654" y="65550"/>
                  <a:pt x="87041" y="62863"/>
                  <a:pt x="87041" y="61789"/>
                </a:cubicBezTo>
                <a:cubicBezTo>
                  <a:pt x="87041" y="60177"/>
                  <a:pt x="89728" y="59640"/>
                  <a:pt x="91340" y="59640"/>
                </a:cubicBezTo>
                <a:cubicBezTo>
                  <a:pt x="92952" y="59640"/>
                  <a:pt x="95639" y="60177"/>
                  <a:pt x="95639" y="61789"/>
                </a:cubicBezTo>
                <a:moveTo>
                  <a:pt x="60177" y="70923"/>
                </a:moveTo>
                <a:cubicBezTo>
                  <a:pt x="61251" y="67162"/>
                  <a:pt x="63938" y="64475"/>
                  <a:pt x="68237" y="63401"/>
                </a:cubicBezTo>
                <a:lnTo>
                  <a:pt x="82743" y="61789"/>
                </a:lnTo>
                <a:lnTo>
                  <a:pt x="87041" y="77908"/>
                </a:lnTo>
                <a:lnTo>
                  <a:pt x="89191" y="68774"/>
                </a:lnTo>
                <a:lnTo>
                  <a:pt x="93489" y="68774"/>
                </a:lnTo>
                <a:lnTo>
                  <a:pt x="95639" y="77908"/>
                </a:lnTo>
                <a:lnTo>
                  <a:pt x="99937" y="61789"/>
                </a:lnTo>
                <a:lnTo>
                  <a:pt x="114981" y="63401"/>
                </a:lnTo>
                <a:cubicBezTo>
                  <a:pt x="118742" y="63938"/>
                  <a:pt x="121966" y="66624"/>
                  <a:pt x="123041" y="70923"/>
                </a:cubicBezTo>
                <a:lnTo>
                  <a:pt x="125189" y="84892"/>
                </a:lnTo>
                <a:lnTo>
                  <a:pt x="56954" y="84892"/>
                </a:lnTo>
                <a:lnTo>
                  <a:pt x="60177" y="70923"/>
                </a:lnTo>
                <a:moveTo>
                  <a:pt x="106576" y="157428"/>
                </a:moveTo>
                <a:lnTo>
                  <a:pt x="75669" y="157428"/>
                </a:lnTo>
                <a:cubicBezTo>
                  <a:pt x="71438" y="157428"/>
                  <a:pt x="67883" y="154247"/>
                  <a:pt x="67416" y="150041"/>
                </a:cubicBezTo>
                <a:lnTo>
                  <a:pt x="63938" y="118742"/>
                </a:lnTo>
                <a:lnTo>
                  <a:pt x="118742" y="118742"/>
                </a:lnTo>
                <a:lnTo>
                  <a:pt x="114815" y="150154"/>
                </a:lnTo>
                <a:cubicBezTo>
                  <a:pt x="114296" y="154310"/>
                  <a:pt x="110763" y="157428"/>
                  <a:pt x="106576" y="157428"/>
                </a:cubicBezTo>
                <a:moveTo>
                  <a:pt x="131099" y="106385"/>
                </a:moveTo>
                <a:cubicBezTo>
                  <a:pt x="130563" y="110145"/>
                  <a:pt x="126802" y="113906"/>
                  <a:pt x="123041" y="113906"/>
                </a:cubicBezTo>
                <a:lnTo>
                  <a:pt x="59640" y="113906"/>
                </a:lnTo>
                <a:cubicBezTo>
                  <a:pt x="55878" y="113906"/>
                  <a:pt x="52118" y="110145"/>
                  <a:pt x="51580" y="106385"/>
                </a:cubicBezTo>
                <a:lnTo>
                  <a:pt x="50506" y="95639"/>
                </a:lnTo>
                <a:cubicBezTo>
                  <a:pt x="50506" y="93489"/>
                  <a:pt x="52655" y="91340"/>
                  <a:pt x="54804" y="91340"/>
                </a:cubicBezTo>
                <a:lnTo>
                  <a:pt x="127339" y="91340"/>
                </a:lnTo>
                <a:cubicBezTo>
                  <a:pt x="129488" y="91340"/>
                  <a:pt x="132175" y="93489"/>
                  <a:pt x="131637" y="95639"/>
                </a:cubicBezTo>
                <a:lnTo>
                  <a:pt x="131099" y="106385"/>
                </a:lnTo>
              </a:path>
            </a:pathLst>
          </a:custGeom>
          <a:solidFill>
            <a:schemeClr val="bg1"/>
          </a:solidFill>
          <a:ln w="707" cap="flat">
            <a:noFill/>
            <a:prstDash val="solid"/>
            <a:miter/>
          </a:ln>
        </p:spPr>
        <p:txBody>
          <a:bodyPr rtlCol="0" anchor="ctr"/>
          <a:lstStyle/>
          <a:p>
            <a:endParaRPr lang="zh-CN" altLang="en-US"/>
          </a:p>
        </p:txBody>
      </p:sp>
      <p:sp>
        <p:nvSpPr>
          <p:cNvPr id="4" name="图形 30" descr="时间"/>
          <p:cNvSpPr/>
          <p:nvPr/>
        </p:nvSpPr>
        <p:spPr>
          <a:xfrm>
            <a:off x="8142584" y="5399034"/>
            <a:ext cx="202718" cy="202718"/>
          </a:xfrm>
          <a:custGeom>
            <a:avLst/>
            <a:gdLst>
              <a:gd name="connsiteX0" fmla="*/ 162190 w 202718"/>
              <a:gd name="connsiteY0" fmla="*/ 110711 h 202718"/>
              <a:gd name="connsiteX1" fmla="*/ 100733 w 202718"/>
              <a:gd name="connsiteY1" fmla="*/ 110711 h 202718"/>
              <a:gd name="connsiteX2" fmla="*/ 91310 w 202718"/>
              <a:gd name="connsiteY2" fmla="*/ 101296 h 202718"/>
              <a:gd name="connsiteX3" fmla="*/ 91310 w 202718"/>
              <a:gd name="connsiteY3" fmla="*/ 39831 h 202718"/>
              <a:gd name="connsiteX4" fmla="*/ 100726 w 202718"/>
              <a:gd name="connsiteY4" fmla="*/ 30416 h 202718"/>
              <a:gd name="connsiteX5" fmla="*/ 110141 w 202718"/>
              <a:gd name="connsiteY5" fmla="*/ 39831 h 202718"/>
              <a:gd name="connsiteX6" fmla="*/ 110141 w 202718"/>
              <a:gd name="connsiteY6" fmla="*/ 91857 h 202718"/>
              <a:gd name="connsiteX7" fmla="*/ 162190 w 202718"/>
              <a:gd name="connsiteY7" fmla="*/ 91857 h 202718"/>
              <a:gd name="connsiteX8" fmla="*/ 171606 w 202718"/>
              <a:gd name="connsiteY8" fmla="*/ 101272 h 202718"/>
              <a:gd name="connsiteX9" fmla="*/ 162190 w 202718"/>
              <a:gd name="connsiteY9" fmla="*/ 110687 h 202718"/>
              <a:gd name="connsiteX10" fmla="*/ 162190 w 202718"/>
              <a:gd name="connsiteY10" fmla="*/ 110711 h 202718"/>
              <a:gd name="connsiteX11" fmla="*/ 101359 w 202718"/>
              <a:gd name="connsiteY11" fmla="*/ 0 h 202718"/>
              <a:gd name="connsiteX12" fmla="*/ 0 w 202718"/>
              <a:gd name="connsiteY12" fmla="*/ 101359 h 202718"/>
              <a:gd name="connsiteX13" fmla="*/ 101359 w 202718"/>
              <a:gd name="connsiteY13" fmla="*/ 202718 h 202718"/>
              <a:gd name="connsiteX14" fmla="*/ 202718 w 202718"/>
              <a:gd name="connsiteY14" fmla="*/ 101359 h 202718"/>
              <a:gd name="connsiteX15" fmla="*/ 101359 w 202718"/>
              <a:gd name="connsiteY15" fmla="*/ 0 h 202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2718" h="202718">
                <a:moveTo>
                  <a:pt x="162190" y="110711"/>
                </a:moveTo>
                <a:lnTo>
                  <a:pt x="100733" y="110711"/>
                </a:lnTo>
                <a:cubicBezTo>
                  <a:pt x="95530" y="110716"/>
                  <a:pt x="91310" y="106499"/>
                  <a:pt x="91310" y="101296"/>
                </a:cubicBezTo>
                <a:lnTo>
                  <a:pt x="91310" y="39831"/>
                </a:lnTo>
                <a:cubicBezTo>
                  <a:pt x="91310" y="34631"/>
                  <a:pt x="95525" y="30416"/>
                  <a:pt x="100726" y="30416"/>
                </a:cubicBezTo>
                <a:cubicBezTo>
                  <a:pt x="105926" y="30416"/>
                  <a:pt x="110141" y="34631"/>
                  <a:pt x="110141" y="39831"/>
                </a:cubicBezTo>
                <a:lnTo>
                  <a:pt x="110141" y="91857"/>
                </a:lnTo>
                <a:lnTo>
                  <a:pt x="162190" y="91857"/>
                </a:lnTo>
                <a:cubicBezTo>
                  <a:pt x="167390" y="91857"/>
                  <a:pt x="171606" y="96072"/>
                  <a:pt x="171606" y="101272"/>
                </a:cubicBezTo>
                <a:cubicBezTo>
                  <a:pt x="171606" y="106472"/>
                  <a:pt x="167390" y="110687"/>
                  <a:pt x="162190" y="110687"/>
                </a:cubicBezTo>
                <a:lnTo>
                  <a:pt x="162190" y="110711"/>
                </a:lnTo>
                <a:moveTo>
                  <a:pt x="101359" y="0"/>
                </a:moveTo>
                <a:cubicBezTo>
                  <a:pt x="45380" y="0"/>
                  <a:pt x="0" y="45380"/>
                  <a:pt x="0" y="101359"/>
                </a:cubicBezTo>
                <a:cubicBezTo>
                  <a:pt x="0" y="157338"/>
                  <a:pt x="45380" y="202718"/>
                  <a:pt x="101359" y="202718"/>
                </a:cubicBezTo>
                <a:cubicBezTo>
                  <a:pt x="157338" y="202718"/>
                  <a:pt x="202718" y="157338"/>
                  <a:pt x="202718" y="101359"/>
                </a:cubicBezTo>
                <a:cubicBezTo>
                  <a:pt x="202718" y="45380"/>
                  <a:pt x="157338" y="0"/>
                  <a:pt x="101359" y="0"/>
                </a:cubicBezTo>
              </a:path>
            </a:pathLst>
          </a:custGeom>
          <a:solidFill>
            <a:schemeClr val="bg1"/>
          </a:solidFill>
          <a:ln w="781" cap="flat">
            <a:noFill/>
            <a:prstDash val="solid"/>
            <a:miter/>
          </a:ln>
        </p:spPr>
        <p:txBody>
          <a:bodyPr rtlCol="0" anchor="ctr"/>
          <a:lstStyle/>
          <a:p>
            <a:endParaRPr lang="zh-CN" altLang="en-US"/>
          </a:p>
        </p:txBody>
      </p:sp>
      <p:pic>
        <p:nvPicPr>
          <p:cNvPr id="5" name="图片 4" descr="76b499643fee34819cb883d90f0351cf"/>
          <p:cNvPicPr>
            <a:picLocks noChangeAspect="1"/>
          </p:cNvPicPr>
          <p:nvPr/>
        </p:nvPicPr>
        <p:blipFill>
          <a:blip r:embed="rId2"/>
          <a:stretch>
            <a:fillRect/>
          </a:stretch>
        </p:blipFill>
        <p:spPr>
          <a:xfrm>
            <a:off x="5529580" y="520065"/>
            <a:ext cx="1132205" cy="113220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70.9733858267717,&quot;left&quot;:151.75614173228345,&quot;top&quot;:207.83811023622047,&quot;width&quot;:722.552677165354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80.1,&quot;left&quot;:110.9,&quot;top&quot;:109.7,&quot;width&quot;:713.5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17.77826771653554,&quot;left&quot;:94.0595275590551,&quot;top&quot;:95.18866141732282,&quot;width&quot;:844.734488188976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17.77826771653554,&quot;left&quot;:94.0595275590551,&quot;top&quot;:95.18866141732282,&quot;width&quot;:844.734488188976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18.32826771653555,&quot;left&quot;:94.0595275590551,&quot;top&quot;:94.63866141732282,&quot;width&quot;:844.7344881889765}"/>
</p:tagLst>
</file>

<file path=ppt/theme/theme1.xml><?xml version="1.0" encoding="utf-8"?>
<a:theme xmlns:a="http://schemas.openxmlformats.org/drawingml/2006/main" name="Office 主题​​">
  <a:themeElements>
    <a:clrScheme name="店铺-蓝金绿">
      <a:dk1>
        <a:srgbClr val="000000"/>
      </a:dk1>
      <a:lt1>
        <a:srgbClr val="FFFFFF"/>
      </a:lt1>
      <a:dk2>
        <a:srgbClr val="44546A"/>
      </a:dk2>
      <a:lt2>
        <a:srgbClr val="E7E6E6"/>
      </a:lt2>
      <a:accent1>
        <a:srgbClr val="2C4A70"/>
      </a:accent1>
      <a:accent2>
        <a:srgbClr val="EFC475"/>
      </a:accent2>
      <a:accent3>
        <a:srgbClr val="1CC78F"/>
      </a:accent3>
      <a:accent4>
        <a:srgbClr val="75BD42"/>
      </a:accent4>
      <a:accent5>
        <a:srgbClr val="30C0B4"/>
      </a:accent5>
      <a:accent6>
        <a:srgbClr val="E54C5E"/>
      </a:accent6>
      <a:hlink>
        <a:srgbClr val="0026E5"/>
      </a:hlink>
      <a:folHlink>
        <a:srgbClr val="7E1FAD"/>
      </a:folHlink>
    </a:clrScheme>
    <a:fontScheme name="店铺-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1666</Words>
  <Application>Microsoft Office PowerPoint</Application>
  <PresentationFormat>宽屏</PresentationFormat>
  <Paragraphs>215</Paragraphs>
  <Slides>17</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Gill Sans</vt:lpstr>
      <vt:lpstr>Noto Sans SC</vt:lpstr>
      <vt:lpstr>等线</vt:lpstr>
      <vt:lpstr>微软雅黑</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zhebble@163.com</dc:creator>
  <cp:lastModifiedBy>思雄 傅</cp:lastModifiedBy>
  <cp:revision>69</cp:revision>
  <dcterms:created xsi:type="dcterms:W3CDTF">2025-04-13T12:56:00Z</dcterms:created>
  <dcterms:modified xsi:type="dcterms:W3CDTF">2026-05-12T07:59:14Z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E691088ABAEB41D894C489A19E14FB11_12</vt:lpwstr>
  </property>
  <property fmtid="{D5CDD505-2E9C-101B-9397-08002B2CF9AE}" pid="3" name="KSOProductBuildVer">
    <vt:lpwstr>2052-12.1.0.23542</vt:lpwstr>
  </property>
</Properties>
</file>