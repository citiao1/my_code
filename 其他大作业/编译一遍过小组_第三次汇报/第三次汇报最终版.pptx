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9"/>
  </p:notesMasterIdLst>
  <p:sldIdLst>
    <p:sldId id="256" r:id="rId2"/>
    <p:sldId id="257" r:id="rId3"/>
    <p:sldId id="322" r:id="rId4"/>
    <p:sldId id="262" r:id="rId5"/>
    <p:sldId id="261" r:id="rId6"/>
    <p:sldId id="276" r:id="rId7"/>
    <p:sldId id="324" r:id="rId8"/>
    <p:sldId id="310" r:id="rId9"/>
    <p:sldId id="325" r:id="rId10"/>
    <p:sldId id="311" r:id="rId11"/>
    <p:sldId id="323" r:id="rId12"/>
    <p:sldId id="270" r:id="rId13"/>
    <p:sldId id="296" r:id="rId14"/>
    <p:sldId id="275" r:id="rId15"/>
    <p:sldId id="298" r:id="rId16"/>
    <p:sldId id="321" r:id="rId17"/>
    <p:sldId id="297" r:id="rId18"/>
    <p:sldId id="328" r:id="rId19"/>
    <p:sldId id="320" r:id="rId20"/>
    <p:sldId id="263" r:id="rId21"/>
    <p:sldId id="264" r:id="rId22"/>
    <p:sldId id="267" r:id="rId23"/>
    <p:sldId id="284" r:id="rId24"/>
    <p:sldId id="280" r:id="rId25"/>
    <p:sldId id="292" r:id="rId26"/>
    <p:sldId id="294" r:id="rId27"/>
    <p:sldId id="333" r:id="rId28"/>
    <p:sldId id="326" r:id="rId29"/>
    <p:sldId id="305" r:id="rId30"/>
    <p:sldId id="327" r:id="rId31"/>
    <p:sldId id="317" r:id="rId32"/>
    <p:sldId id="319" r:id="rId33"/>
    <p:sldId id="329" r:id="rId34"/>
    <p:sldId id="318" r:id="rId35"/>
    <p:sldId id="271" r:id="rId36"/>
    <p:sldId id="306" r:id="rId37"/>
    <p:sldId id="273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7" autoAdjust="0"/>
    <p:restoredTop sz="93660" autoAdjust="0"/>
  </p:normalViewPr>
  <p:slideViewPr>
    <p:cSldViewPr snapToGrid="0">
      <p:cViewPr varScale="1">
        <p:scale>
          <a:sx n="119" d="100"/>
          <a:sy n="119" d="100"/>
        </p:scale>
        <p:origin x="15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FB471-5263-47A2-B4AC-DA5F737C40F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70647-7788-4DD3-9AF7-3A299417E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01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2083-5D7F-537B-4392-8BA19F55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0066A-7BFB-E482-1FE2-DED0DB939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BFCA3-074D-667F-9E69-10CE866A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1C1ED-5896-EE73-89D8-9D8B67214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812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0444-215D-C1C5-AB09-10B3E070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0CBA8-EDBA-3ACB-3B36-0B6D9A71F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34479-B38A-526A-8F3F-FE1F78D66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3A1AB-DFE5-9217-3334-003A8AC8E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342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84C6-16D7-8B62-5291-C288A286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79391-A24E-40AA-51A4-7CC7C3DB0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CC32A-FC37-7514-500E-AC7E7E76E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744B5-D6B5-F48B-0421-94BFCDFFB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370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A5DD-E5DD-9956-B13C-6B93077C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E2C56-6020-085B-B43A-6F8E261D1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ADB24-AC24-0FA5-050E-119DD08C7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1280D-DC30-E2B6-EAFE-A504EC1CF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906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79BF-C7DD-1F2E-A5C2-3E934A25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22A68-3C3F-82CB-AFCF-8CE79D2AA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9FAFA-364A-FB43-161B-5F101BFBC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E047D-0DD0-A665-4292-AC197DF60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8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5B26-E4F2-76CE-6B15-771B3D48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5E1E5-EF75-9435-CAF8-F310C1BEF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D56DF-CB1F-9260-C229-C5A27C55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D6072-0207-7E92-43C4-325F8A7C2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783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D98E-9321-4D5F-62D8-F4CF4F6B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51203-D545-EA11-175D-D3A9D0488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A7625-07BB-36CB-F3E6-D065E8ED7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5298F-4E56-BD7F-85B1-94BF43AF65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645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3A3E-6AD2-3D23-3E11-E26E92FD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A3163-997C-544E-6111-6BCB4B240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9B5A8-C045-2BF1-5392-D396C4615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732A7-C426-6FA3-5820-1034906DC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109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A921-7B71-5E52-552C-6202AB2B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EA2C0-D2F8-822D-9257-E334D757E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608AD-A75D-5521-7828-38C1C4B20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43333-8020-2664-890F-8243B8437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159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995C-E2F8-4436-88B7-94F4AA221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EB13-4117-354A-A5AC-E66109A42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38260-A69D-F62A-F875-A4EC5344B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3D8B3-1E4C-DDEB-A81E-202DE760D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629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D8F2-3C9B-3C6B-7CF6-B8D12B8A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B4BAC-CD11-FFFE-C131-1EEF5F8B3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32D53-B408-9EC2-76E8-ED510D326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012ED-2F91-9CA5-4B51-BC105B512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77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3B5F-435A-7DA9-C2BD-0D8AF26F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2F2AF-95E1-E9A4-3026-3D3C04CAA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51602-D2E9-F212-3B99-C30756449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E4F8F-60D0-6505-A2F8-532C10CDB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265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6196-A6CC-C99E-CD48-75364849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2DD4B-DD50-1221-1A0B-30940C846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1084E-E56B-5786-60B1-40BF70FFA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4408D-A4AC-DD23-DF1C-F09AC096F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735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67F6-7F33-7013-539D-FC4938FF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384A8-AF06-E718-D59A-90DF503E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BA506-8B0C-023A-A27C-23BC029DD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5C229-B845-702C-1931-345856E47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4823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307-51AA-BA50-9195-0D190233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38733-18B5-7173-3F0F-024DA1EC4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3FEA2-6E03-C460-11CB-84C79EB3A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25761-0636-E15C-6072-B14487FC5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766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B214-7B7C-9375-F0BA-A2FDF16A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03B5C-F36D-8921-3F7A-53EC32BD9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2A9D4-ECAB-43B5-BCD3-5B4B76288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586DF-9760-2A6F-AA89-9E622FCF0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725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F29B-D81D-B1BF-3C89-1A1F1838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E1B52-A09D-07AC-CD28-D5EA10557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AF42D-D97A-5494-F0DA-5DACE9947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61676-FFF5-0F0A-7DA5-146CA2C96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609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83E1-159F-C417-1564-548D9EDD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F2D4E-C009-91DF-B057-E8B4A7EEB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F7069-3D37-6CBF-8528-96BDA8E10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0545-FED3-843D-2FE9-608C50ECC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11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1EDA-6E0C-F2FC-3BCB-BE245CDB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10DF1-5A43-AAF4-D406-D60FA162F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36067-A329-DCC2-5F78-CE1E41A59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D579-DA94-4E40-2F5F-39E3090C0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420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DD3F-315F-EF23-378B-B7F1905C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4843B-A5B3-B525-16B2-BED1082F6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06E81-575D-BF16-186F-6197308F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D11A8-3A87-822F-D043-2B83E0746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0562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FB6B-0649-9EEC-7D4F-0EE4857A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EFF02-E08F-BE85-94E6-921B1B47F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BFCA0-41BF-73E4-E4A8-76246BF44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62764-6BF2-6977-6744-F7CCB8E97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081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348A-4844-D475-FB4F-5D093678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8BC55-E9AF-EBAD-9061-9559B0751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A224B-2A48-9738-BB93-F85D4850C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91D0-FF18-E7B4-3315-5A55D6FDB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6857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2298-5774-A176-D275-BC971B80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99669-04D8-B73A-CF7D-A39D112F9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AB368-385C-1E6E-9A1E-249C0B3AE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A2BB9-9E07-6E6E-86E9-B9E824924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2845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90E7-1038-1474-D286-240DB677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D4355-AE05-E950-44D7-0905BBB44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1A219-331A-E774-B92C-3B47A6700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15A50-C3CA-781C-4086-FC71508B5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7556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5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58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02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2981006" y="2110875"/>
            <a:ext cx="9210994" cy="15212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超市</a:t>
            </a:r>
            <a:r>
              <a:rPr kumimoji="0" lang="en-US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销售管理系统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      最终汇报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879479" y="4891405"/>
            <a:ext cx="5085825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122410" y="489140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000788" y="4889778"/>
            <a:ext cx="3918210" cy="430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汇报</a:t>
            </a: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组：编译一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遍过小组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74000"/>
              </a:srgbClr>
            </a:gs>
            <a:gs pos="3000">
              <a:srgbClr val="94B9FF">
                <a:alpha val="74000"/>
              </a:srgbClr>
            </a:gs>
            <a:gs pos="40000">
              <a:srgbClr val="94B9FF">
                <a:alpha val="35000"/>
              </a:srgbClr>
            </a:gs>
            <a:gs pos="63000">
              <a:srgbClr val="94B9FF">
                <a:alpha val="44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1">
            <a:extLst>
              <a:ext uri="{FF2B5EF4-FFF2-40B4-BE49-F238E27FC236}">
                <a16:creationId xmlns:a16="http://schemas.microsoft.com/office/drawing/2014/main" id="{E8548144-7F9E-A202-EF63-62CDCCC8356E}"/>
              </a:ext>
            </a:extLst>
          </p:cNvPr>
          <p:cNvSpPr/>
          <p:nvPr/>
        </p:nvSpPr>
        <p:spPr>
          <a:xfrm>
            <a:off x="4689773" y="956628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876800" y="71564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81575" y="80454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306358" y="2531110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381625" y="189928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11133" y="2620010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09863" y="26511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20715" y="3102610"/>
            <a:ext cx="455930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25490" y="31915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66385" y="427799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71160" y="43668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 rot="13620000">
            <a:off x="1092835" y="1878330"/>
            <a:ext cx="3207385" cy="3219450"/>
          </a:xfrm>
          <a:prstGeom prst="ellipse">
            <a:avLst/>
          </a:prstGeom>
          <a:gradFill flip="none" rotWithShape="1">
            <a:gsLst>
              <a:gs pos="0">
                <a:srgbClr val="6389D3">
                  <a:alpha val="70000"/>
                </a:srgbClr>
              </a:gs>
              <a:gs pos="36000">
                <a:srgbClr val="6389D3">
                  <a:alpha val="65000"/>
                </a:srgbClr>
              </a:gs>
              <a:gs pos="70000">
                <a:srgbClr val="6389D3">
                  <a:alpha val="55000"/>
                </a:srgbClr>
              </a:gs>
              <a:gs pos="91000">
                <a:srgbClr val="6389D3">
                  <a:alpha val="40000"/>
                </a:srgbClr>
              </a:gs>
              <a:gs pos="100000">
                <a:srgbClr val="6389D3">
                  <a:alpha val="4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 rot="13620000">
            <a:off x="1092835" y="1878330"/>
            <a:ext cx="3207385" cy="32194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60705" y="233870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76800" y="5490210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981575" y="55791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555115" y="277939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548765" y="3736340"/>
            <a:ext cx="2359660" cy="4660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 rot="14760000">
            <a:off x="1065530" y="500824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 rot="18060000">
            <a:off x="10944860" y="1118870"/>
            <a:ext cx="219710" cy="219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5880398" y="2670810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管理员操作系统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7C291764-CDD5-B71A-FE5F-81C7D1ECBC43}"/>
              </a:ext>
            </a:extLst>
          </p:cNvPr>
          <p:cNvSpPr/>
          <p:nvPr/>
        </p:nvSpPr>
        <p:spPr>
          <a:xfrm>
            <a:off x="4689773" y="969328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E2FE4B38-990E-430E-6326-5D5623A70058}"/>
              </a:ext>
            </a:extLst>
          </p:cNvPr>
          <p:cNvSpPr/>
          <p:nvPr/>
        </p:nvSpPr>
        <p:spPr>
          <a:xfrm>
            <a:off x="4794548" y="1058228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7319A334-E7DC-0E7F-7FCA-B85001CA20E6}"/>
              </a:ext>
            </a:extLst>
          </p:cNvPr>
          <p:cNvSpPr/>
          <p:nvPr/>
        </p:nvSpPr>
        <p:spPr>
          <a:xfrm>
            <a:off x="4793278" y="1089343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0">
            <a:extLst>
              <a:ext uri="{FF2B5EF4-FFF2-40B4-BE49-F238E27FC236}">
                <a16:creationId xmlns:a16="http://schemas.microsoft.com/office/drawing/2014/main" id="{B26B8859-BE63-CF4A-CD34-FC7C3600421C}"/>
              </a:ext>
            </a:extLst>
          </p:cNvPr>
          <p:cNvSpPr/>
          <p:nvPr/>
        </p:nvSpPr>
        <p:spPr>
          <a:xfrm>
            <a:off x="5263813" y="1095058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项目概览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51128C33-C57A-700D-7648-7895465B7AB6}"/>
              </a:ext>
            </a:extLst>
          </p:cNvPr>
          <p:cNvSpPr/>
          <p:nvPr/>
        </p:nvSpPr>
        <p:spPr>
          <a:xfrm>
            <a:off x="4794548" y="1045528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DDE7DCB8-E889-7213-F442-AC69D2FBB9B4}"/>
              </a:ext>
            </a:extLst>
          </p:cNvPr>
          <p:cNvSpPr/>
          <p:nvPr/>
        </p:nvSpPr>
        <p:spPr>
          <a:xfrm>
            <a:off x="4793278" y="1076643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2D43801D-51EF-0594-380E-675EE922986F}"/>
              </a:ext>
            </a:extLst>
          </p:cNvPr>
          <p:cNvSpPr/>
          <p:nvPr/>
        </p:nvSpPr>
        <p:spPr>
          <a:xfrm>
            <a:off x="4470698" y="5502910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A8841BA2-021B-5867-A861-B672553A2599}"/>
              </a:ext>
            </a:extLst>
          </p:cNvPr>
          <p:cNvSpPr/>
          <p:nvPr/>
        </p:nvSpPr>
        <p:spPr>
          <a:xfrm>
            <a:off x="4575473" y="5591810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8089673-A6DF-A9F8-35B2-EDC98904633F}"/>
              </a:ext>
            </a:extLst>
          </p:cNvPr>
          <p:cNvSpPr/>
          <p:nvPr/>
        </p:nvSpPr>
        <p:spPr>
          <a:xfrm>
            <a:off x="4574203" y="56229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391F6DF-7CDF-72B0-3980-7754CB07FA17}"/>
              </a:ext>
            </a:extLst>
          </p:cNvPr>
          <p:cNvSpPr/>
          <p:nvPr/>
        </p:nvSpPr>
        <p:spPr>
          <a:xfrm>
            <a:off x="5044738" y="5628640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程序亮点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243B58D2-A434-C12D-6397-C93146AB84D0}"/>
              </a:ext>
            </a:extLst>
          </p:cNvPr>
          <p:cNvSpPr/>
          <p:nvPr/>
        </p:nvSpPr>
        <p:spPr>
          <a:xfrm>
            <a:off x="5263813" y="4077336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8347CCA7-D58B-F622-1619-8905F7448738}"/>
              </a:ext>
            </a:extLst>
          </p:cNvPr>
          <p:cNvSpPr/>
          <p:nvPr/>
        </p:nvSpPr>
        <p:spPr>
          <a:xfrm>
            <a:off x="5368588" y="4166236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CC800BE1-FD16-EA5A-3CC9-01E0D40F9DEE}"/>
              </a:ext>
            </a:extLst>
          </p:cNvPr>
          <p:cNvSpPr/>
          <p:nvPr/>
        </p:nvSpPr>
        <p:spPr>
          <a:xfrm>
            <a:off x="5367318" y="4197351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47A53248-BF79-FEDD-A2F7-3D0998135856}"/>
              </a:ext>
            </a:extLst>
          </p:cNvPr>
          <p:cNvSpPr/>
          <p:nvPr/>
        </p:nvSpPr>
        <p:spPr>
          <a:xfrm>
            <a:off x="5837853" y="4203066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顾客操作系统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8DB81-2D7B-3EC4-9CC0-39D6DBFF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855A4E0-E4FE-0876-8811-329B94751014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F12D011-D90F-29D7-FC47-415E3E3D1F5F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A28089B-C9FD-6ED8-B518-7A41A0D1F44F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CA3B4E-13A8-9724-B70F-FC099EDDF1AF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F6A3106-9710-EC17-D08E-91B59D6C1EA0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472D093-5D9B-3457-9919-E2AC01CAB995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项目概览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985D3B9-D126-329F-BD69-B2082C4B21A4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8028B4-D39B-BCC5-B06F-A040CB1D222C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CBBA268-C492-F76A-A668-8262FEBB8923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3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2294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15015" y="275167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系统流程与核心文件架构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1589942"/>
            <a:ext cx="787400" cy="1130300"/>
          </a:xfrm>
          <a:custGeom>
            <a:avLst/>
            <a:gdLst/>
            <a:ahLst/>
            <a:cxnLst/>
            <a:rect l="l" t="t" r="r" b="b"/>
            <a:pathLst>
              <a:path w="787400" h="11303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1028702"/>
                </a:lnTo>
                <a:cubicBezTo>
                  <a:pt x="787400" y="1084813"/>
                  <a:pt x="741913" y="1130300"/>
                  <a:pt x="685802" y="1130300"/>
                </a:cubicBezTo>
                <a:lnTo>
                  <a:pt x="101598" y="1130300"/>
                </a:lnTo>
                <a:cubicBezTo>
                  <a:pt x="45487" y="1130300"/>
                  <a:pt x="0" y="1084813"/>
                  <a:pt x="0" y="1028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200869" y="180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0"/>
                </a:moveTo>
                <a:cubicBezTo>
                  <a:pt x="214313" y="-13171"/>
                  <a:pt x="203671" y="-23812"/>
                  <a:pt x="190500" y="-23812"/>
                </a:cubicBezTo>
                <a:cubicBezTo>
                  <a:pt x="177329" y="-23812"/>
                  <a:pt x="166688" y="-13171"/>
                  <a:pt x="166688" y="0"/>
                </a:cubicBezTo>
                <a:lnTo>
                  <a:pt x="166688" y="190500"/>
                </a:lnTo>
                <a:cubicBezTo>
                  <a:pt x="166688" y="203671"/>
                  <a:pt x="177329" y="214313"/>
                  <a:pt x="190500" y="214313"/>
                </a:cubicBezTo>
                <a:cubicBezTo>
                  <a:pt x="203671" y="214313"/>
                  <a:pt x="214313" y="203671"/>
                  <a:pt x="214313" y="190500"/>
                </a:cubicBezTo>
                <a:lnTo>
                  <a:pt x="214313" y="0"/>
                </a:lnTo>
                <a:close/>
                <a:moveTo>
                  <a:pt x="108868" y="73223"/>
                </a:moveTo>
                <a:cubicBezTo>
                  <a:pt x="119658" y="65708"/>
                  <a:pt x="122262" y="50825"/>
                  <a:pt x="114746" y="40035"/>
                </a:cubicBezTo>
                <a:cubicBezTo>
                  <a:pt x="107231" y="29245"/>
                  <a:pt x="92348" y="26640"/>
                  <a:pt x="81558" y="34156"/>
                </a:cubicBezTo>
                <a:cubicBezTo>
                  <a:pt x="32296" y="68535"/>
                  <a:pt x="0" y="125760"/>
                  <a:pt x="0" y="190500"/>
                </a:cubicBezTo>
                <a:cubicBezTo>
                  <a:pt x="0" y="295721"/>
                  <a:pt x="85279" y="381000"/>
                  <a:pt x="190500" y="381000"/>
                </a:cubicBezTo>
                <a:cubicBezTo>
                  <a:pt x="295721" y="381000"/>
                  <a:pt x="381000" y="295721"/>
                  <a:pt x="381000" y="190500"/>
                </a:cubicBezTo>
                <a:cubicBezTo>
                  <a:pt x="381000" y="125760"/>
                  <a:pt x="348704" y="68535"/>
                  <a:pt x="299368" y="34156"/>
                </a:cubicBezTo>
                <a:cubicBezTo>
                  <a:pt x="288578" y="26640"/>
                  <a:pt x="273769" y="29245"/>
                  <a:pt x="266179" y="40035"/>
                </a:cubicBezTo>
                <a:cubicBezTo>
                  <a:pt x="258589" y="50825"/>
                  <a:pt x="261268" y="65633"/>
                  <a:pt x="272058" y="73223"/>
                </a:cubicBezTo>
                <a:cubicBezTo>
                  <a:pt x="309116" y="99120"/>
                  <a:pt x="333301" y="141982"/>
                  <a:pt x="333301" y="190500"/>
                </a:cubicBezTo>
                <a:cubicBezTo>
                  <a:pt x="333301" y="269379"/>
                  <a:pt x="269304" y="333375"/>
                  <a:pt x="190426" y="333375"/>
                </a:cubicBezTo>
                <a:cubicBezTo>
                  <a:pt x="111547" y="333375"/>
                  <a:pt x="47625" y="269379"/>
                  <a:pt x="47625" y="190500"/>
                </a:cubicBezTo>
                <a:cubicBezTo>
                  <a:pt x="47625" y="141982"/>
                  <a:pt x="71810" y="99045"/>
                  <a:pt x="108868" y="73223"/>
                </a:cubicBez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-115015" y="21844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 rot="5400000">
            <a:off x="1184193" y="1951892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638035" y="1600200"/>
            <a:ext cx="1117600" cy="1130300"/>
          </a:xfrm>
          <a:custGeom>
            <a:avLst/>
            <a:gdLst/>
            <a:ahLst/>
            <a:cxnLst/>
            <a:rect l="l" t="t" r="r" b="b"/>
            <a:pathLst>
              <a:path w="1117600" h="1130300">
                <a:moveTo>
                  <a:pt x="101601" y="0"/>
                </a:moveTo>
                <a:lnTo>
                  <a:pt x="1015999" y="0"/>
                </a:lnTo>
                <a:cubicBezTo>
                  <a:pt x="1072112" y="0"/>
                  <a:pt x="1117600" y="45488"/>
                  <a:pt x="1117600" y="101601"/>
                </a:cubicBezTo>
                <a:lnTo>
                  <a:pt x="1117600" y="1028699"/>
                </a:lnTo>
                <a:cubicBezTo>
                  <a:pt x="1117600" y="1084812"/>
                  <a:pt x="1072112" y="1130300"/>
                  <a:pt x="1015999" y="1130300"/>
                </a:cubicBezTo>
                <a:lnTo>
                  <a:pt x="101601" y="1130300"/>
                </a:lnTo>
                <a:cubicBezTo>
                  <a:pt x="45488" y="1130300"/>
                  <a:pt x="0" y="1084812"/>
                  <a:pt x="0" y="1028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961885" y="17526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01203" y="95250"/>
                </a:moveTo>
                <a:cubicBezTo>
                  <a:pt x="101203" y="45966"/>
                  <a:pt x="141216" y="5953"/>
                  <a:pt x="190500" y="5953"/>
                </a:cubicBezTo>
                <a:cubicBezTo>
                  <a:pt x="239784" y="5953"/>
                  <a:pt x="279797" y="45966"/>
                  <a:pt x="279797" y="95250"/>
                </a:cubicBezTo>
                <a:cubicBezTo>
                  <a:pt x="279797" y="144534"/>
                  <a:pt x="239784" y="184547"/>
                  <a:pt x="190500" y="184547"/>
                </a:cubicBezTo>
                <a:cubicBezTo>
                  <a:pt x="141216" y="184547"/>
                  <a:pt x="101203" y="144534"/>
                  <a:pt x="101203" y="95250"/>
                </a:cubicBezTo>
                <a:close/>
                <a:moveTo>
                  <a:pt x="35719" y="358899"/>
                </a:moveTo>
                <a:cubicBezTo>
                  <a:pt x="35719" y="285601"/>
                  <a:pt x="95101" y="226219"/>
                  <a:pt x="168399" y="226219"/>
                </a:cubicBezTo>
                <a:lnTo>
                  <a:pt x="212601" y="226219"/>
                </a:lnTo>
                <a:cubicBezTo>
                  <a:pt x="285899" y="226219"/>
                  <a:pt x="345281" y="285601"/>
                  <a:pt x="345281" y="358899"/>
                </a:cubicBezTo>
                <a:cubicBezTo>
                  <a:pt x="345281" y="371103"/>
                  <a:pt x="335384" y="381000"/>
                  <a:pt x="323180" y="381000"/>
                </a:cubicBezTo>
                <a:lnTo>
                  <a:pt x="57820" y="381000"/>
                </a:lnTo>
                <a:cubicBezTo>
                  <a:pt x="45616" y="381000"/>
                  <a:pt x="35719" y="371103"/>
                  <a:pt x="35719" y="358899"/>
                </a:cubicBezTo>
                <a:close/>
                <a:moveTo>
                  <a:pt x="455712" y="98747"/>
                </a:moveTo>
                <a:lnTo>
                  <a:pt x="396180" y="193997"/>
                </a:lnTo>
                <a:cubicBezTo>
                  <a:pt x="393055" y="198983"/>
                  <a:pt x="387697" y="202109"/>
                  <a:pt x="381819" y="202406"/>
                </a:cubicBezTo>
                <a:cubicBezTo>
                  <a:pt x="375940" y="202704"/>
                  <a:pt x="370284" y="200025"/>
                  <a:pt x="366787" y="195262"/>
                </a:cubicBezTo>
                <a:lnTo>
                  <a:pt x="331068" y="147637"/>
                </a:lnTo>
                <a:cubicBezTo>
                  <a:pt x="325115" y="139750"/>
                  <a:pt x="326752" y="128588"/>
                  <a:pt x="334640" y="122634"/>
                </a:cubicBezTo>
                <a:cubicBezTo>
                  <a:pt x="342528" y="116681"/>
                  <a:pt x="353690" y="118318"/>
                  <a:pt x="359643" y="126206"/>
                </a:cubicBezTo>
                <a:lnTo>
                  <a:pt x="379735" y="152995"/>
                </a:lnTo>
                <a:lnTo>
                  <a:pt x="425425" y="79846"/>
                </a:lnTo>
                <a:cubicBezTo>
                  <a:pt x="430634" y="71512"/>
                  <a:pt x="441647" y="68907"/>
                  <a:pt x="450056" y="74191"/>
                </a:cubicBezTo>
                <a:cubicBezTo>
                  <a:pt x="458465" y="79474"/>
                  <a:pt x="460995" y="90413"/>
                  <a:pt x="455712" y="98822"/>
                </a:cubicBez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36435" y="2277534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角色选择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190485" y="2785534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598613" y="3242734"/>
            <a:ext cx="1193800" cy="1130300"/>
          </a:xfrm>
          <a:custGeom>
            <a:avLst/>
            <a:gdLst/>
            <a:ahLst/>
            <a:cxnLst/>
            <a:rect l="l" t="t" r="r" b="b"/>
            <a:pathLst>
              <a:path w="1193800" h="1130300">
                <a:moveTo>
                  <a:pt x="101603" y="0"/>
                </a:moveTo>
                <a:lnTo>
                  <a:pt x="1092197" y="0"/>
                </a:lnTo>
                <a:cubicBezTo>
                  <a:pt x="1148311" y="0"/>
                  <a:pt x="1193800" y="45489"/>
                  <a:pt x="1193800" y="101603"/>
                </a:cubicBezTo>
                <a:lnTo>
                  <a:pt x="1193800" y="1028697"/>
                </a:lnTo>
                <a:cubicBezTo>
                  <a:pt x="1193800" y="1084811"/>
                  <a:pt x="1148311" y="1130300"/>
                  <a:pt x="10921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2009378" y="33951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6729" y="203150"/>
                </a:moveTo>
                <a:cubicBezTo>
                  <a:pt x="263723" y="196155"/>
                  <a:pt x="263723" y="184845"/>
                  <a:pt x="256729" y="177924"/>
                </a:cubicBezTo>
                <a:lnTo>
                  <a:pt x="149572" y="70693"/>
                </a:lnTo>
                <a:cubicBezTo>
                  <a:pt x="144438" y="65559"/>
                  <a:pt x="136773" y="64071"/>
                  <a:pt x="130076" y="66824"/>
                </a:cubicBezTo>
                <a:cubicBezTo>
                  <a:pt x="123379" y="69577"/>
                  <a:pt x="119063" y="76126"/>
                  <a:pt x="119063" y="83344"/>
                </a:cubicBezTo>
                <a:lnTo>
                  <a:pt x="119063" y="142875"/>
                </a:lnTo>
                <a:lnTo>
                  <a:pt x="35719" y="142875"/>
                </a:lnTo>
                <a:cubicBezTo>
                  <a:pt x="15999" y="142875"/>
                  <a:pt x="0" y="158874"/>
                  <a:pt x="0" y="178594"/>
                </a:cubicBezTo>
                <a:lnTo>
                  <a:pt x="0" y="202406"/>
                </a:lnTo>
                <a:cubicBezTo>
                  <a:pt x="0" y="222126"/>
                  <a:pt x="15999" y="238125"/>
                  <a:pt x="35719" y="238125"/>
                </a:cubicBezTo>
                <a:lnTo>
                  <a:pt x="119063" y="238125"/>
                </a:lnTo>
                <a:lnTo>
                  <a:pt x="119063" y="297656"/>
                </a:lnTo>
                <a:cubicBezTo>
                  <a:pt x="119063" y="304874"/>
                  <a:pt x="123379" y="311423"/>
                  <a:pt x="130076" y="314176"/>
                </a:cubicBezTo>
                <a:cubicBezTo>
                  <a:pt x="136773" y="316929"/>
                  <a:pt x="144438" y="315441"/>
                  <a:pt x="149572" y="310307"/>
                </a:cubicBezTo>
                <a:lnTo>
                  <a:pt x="256729" y="203150"/>
                </a:lnTo>
                <a:close/>
                <a:moveTo>
                  <a:pt x="261938" y="309563"/>
                </a:moveTo>
                <a:cubicBezTo>
                  <a:pt x="248766" y="309563"/>
                  <a:pt x="238125" y="320204"/>
                  <a:pt x="238125" y="333375"/>
                </a:cubicBezTo>
                <a:cubicBezTo>
                  <a:pt x="238125" y="346546"/>
                  <a:pt x="248766" y="357188"/>
                  <a:pt x="261938" y="357188"/>
                </a:cubicBezTo>
                <a:lnTo>
                  <a:pt x="309563" y="357188"/>
                </a:lnTo>
                <a:cubicBezTo>
                  <a:pt x="349002" y="357188"/>
                  <a:pt x="381000" y="325189"/>
                  <a:pt x="381000" y="285750"/>
                </a:cubicBezTo>
                <a:lnTo>
                  <a:pt x="381000" y="95250"/>
                </a:lnTo>
                <a:cubicBezTo>
                  <a:pt x="381000" y="55811"/>
                  <a:pt x="349002" y="23812"/>
                  <a:pt x="309563" y="23812"/>
                </a:cubicBezTo>
                <a:lnTo>
                  <a:pt x="261938" y="23812"/>
                </a:lnTo>
                <a:cubicBezTo>
                  <a:pt x="248766" y="23812"/>
                  <a:pt x="238125" y="34454"/>
                  <a:pt x="238125" y="47625"/>
                </a:cubicBezTo>
                <a:cubicBezTo>
                  <a:pt x="238125" y="60796"/>
                  <a:pt x="248766" y="71438"/>
                  <a:pt x="261938" y="71438"/>
                </a:cubicBezTo>
                <a:lnTo>
                  <a:pt x="309563" y="71438"/>
                </a:lnTo>
                <a:cubicBezTo>
                  <a:pt x="322734" y="71438"/>
                  <a:pt x="333375" y="82079"/>
                  <a:pt x="333375" y="95250"/>
                </a:cubicBezTo>
                <a:lnTo>
                  <a:pt x="333375" y="285750"/>
                </a:lnTo>
                <a:cubicBezTo>
                  <a:pt x="333375" y="298921"/>
                  <a:pt x="322734" y="309563"/>
                  <a:pt x="309563" y="309563"/>
                </a:cubicBezTo>
                <a:lnTo>
                  <a:pt x="261938" y="309563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497013" y="3920067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登录/注册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190485" y="4428067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638035" y="4885267"/>
            <a:ext cx="1117600" cy="1130300"/>
          </a:xfrm>
          <a:custGeom>
            <a:avLst/>
            <a:gdLst/>
            <a:ahLst/>
            <a:cxnLst/>
            <a:rect l="l" t="t" r="r" b="b"/>
            <a:pathLst>
              <a:path w="1117600" h="1130300">
                <a:moveTo>
                  <a:pt x="101601" y="0"/>
                </a:moveTo>
                <a:lnTo>
                  <a:pt x="1015999" y="0"/>
                </a:lnTo>
                <a:cubicBezTo>
                  <a:pt x="1072112" y="0"/>
                  <a:pt x="1117600" y="45488"/>
                  <a:pt x="1117600" y="101601"/>
                </a:cubicBezTo>
                <a:lnTo>
                  <a:pt x="1117600" y="1028699"/>
                </a:lnTo>
                <a:cubicBezTo>
                  <a:pt x="1117600" y="1084812"/>
                  <a:pt x="1072112" y="1130300"/>
                  <a:pt x="1015999" y="1130300"/>
                </a:cubicBezTo>
                <a:lnTo>
                  <a:pt x="101601" y="1130300"/>
                </a:lnTo>
                <a:cubicBezTo>
                  <a:pt x="45488" y="1130300"/>
                  <a:pt x="0" y="1084812"/>
                  <a:pt x="0" y="1028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2033323" y="503766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71438"/>
                </a:moveTo>
                <a:cubicBezTo>
                  <a:pt x="0" y="58266"/>
                  <a:pt x="10641" y="47625"/>
                  <a:pt x="23812" y="47625"/>
                </a:cubicBezTo>
                <a:lnTo>
                  <a:pt x="309563" y="47625"/>
                </a:lnTo>
                <a:cubicBezTo>
                  <a:pt x="322734" y="47625"/>
                  <a:pt x="333375" y="58266"/>
                  <a:pt x="333375" y="71438"/>
                </a:cubicBezTo>
                <a:cubicBezTo>
                  <a:pt x="333375" y="84609"/>
                  <a:pt x="322734" y="95250"/>
                  <a:pt x="309563" y="95250"/>
                </a:cubicBezTo>
                <a:lnTo>
                  <a:pt x="23812" y="95250"/>
                </a:lnTo>
                <a:cubicBezTo>
                  <a:pt x="10641" y="95250"/>
                  <a:pt x="0" y="84609"/>
                  <a:pt x="0" y="71438"/>
                </a:cubicBezTo>
                <a:close/>
                <a:moveTo>
                  <a:pt x="0" y="190500"/>
                </a:moveTo>
                <a:cubicBezTo>
                  <a:pt x="0" y="177329"/>
                  <a:pt x="10641" y="166688"/>
                  <a:pt x="23812" y="166688"/>
                </a:cubicBezTo>
                <a:lnTo>
                  <a:pt x="309563" y="166688"/>
                </a:lnTo>
                <a:cubicBezTo>
                  <a:pt x="322734" y="166688"/>
                  <a:pt x="333375" y="177329"/>
                  <a:pt x="333375" y="190500"/>
                </a:cubicBezTo>
                <a:cubicBezTo>
                  <a:pt x="333375" y="203671"/>
                  <a:pt x="322734" y="214313"/>
                  <a:pt x="309563" y="214313"/>
                </a:cubicBezTo>
                <a:lnTo>
                  <a:pt x="23812" y="214313"/>
                </a:lnTo>
                <a:cubicBezTo>
                  <a:pt x="10641" y="214313"/>
                  <a:pt x="0" y="203671"/>
                  <a:pt x="0" y="190500"/>
                </a:cubicBezTo>
                <a:close/>
                <a:moveTo>
                  <a:pt x="333375" y="309563"/>
                </a:moveTo>
                <a:cubicBezTo>
                  <a:pt x="333375" y="322734"/>
                  <a:pt x="322734" y="333375"/>
                  <a:pt x="309563" y="333375"/>
                </a:cubicBezTo>
                <a:lnTo>
                  <a:pt x="23812" y="333375"/>
                </a:lnTo>
                <a:cubicBezTo>
                  <a:pt x="10641" y="333375"/>
                  <a:pt x="0" y="322734"/>
                  <a:pt x="0" y="309563"/>
                </a:cubicBezTo>
                <a:cubicBezTo>
                  <a:pt x="0" y="296391"/>
                  <a:pt x="10641" y="285750"/>
                  <a:pt x="23812" y="285750"/>
                </a:cubicBezTo>
                <a:lnTo>
                  <a:pt x="309563" y="285750"/>
                </a:lnTo>
                <a:cubicBezTo>
                  <a:pt x="322734" y="285750"/>
                  <a:pt x="333375" y="296391"/>
                  <a:pt x="333375" y="309563"/>
                </a:cubicBez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536435" y="5562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功能菜单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 rot="5400000">
            <a:off x="3040790" y="5263662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3338645" y="4885267"/>
            <a:ext cx="1117600" cy="1130300"/>
          </a:xfrm>
          <a:custGeom>
            <a:avLst/>
            <a:gdLst/>
            <a:ahLst/>
            <a:cxnLst/>
            <a:rect l="l" t="t" r="r" b="b"/>
            <a:pathLst>
              <a:path w="1117600" h="1130300">
                <a:moveTo>
                  <a:pt x="101601" y="0"/>
                </a:moveTo>
                <a:lnTo>
                  <a:pt x="1015999" y="0"/>
                </a:lnTo>
                <a:cubicBezTo>
                  <a:pt x="1072112" y="0"/>
                  <a:pt x="1117600" y="45488"/>
                  <a:pt x="1117600" y="101601"/>
                </a:cubicBezTo>
                <a:lnTo>
                  <a:pt x="1117600" y="1028699"/>
                </a:lnTo>
                <a:cubicBezTo>
                  <a:pt x="1117600" y="1084812"/>
                  <a:pt x="1072112" y="1130300"/>
                  <a:pt x="1015999" y="1130300"/>
                </a:cubicBezTo>
                <a:lnTo>
                  <a:pt x="101601" y="1130300"/>
                </a:lnTo>
                <a:cubicBezTo>
                  <a:pt x="45488" y="1130300"/>
                  <a:pt x="0" y="1084812"/>
                  <a:pt x="0" y="1028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3623336" y="51562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3201061" y="5655733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操作执行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676807" y="2260600"/>
            <a:ext cx="12700" cy="3251200"/>
          </a:xfrm>
          <a:custGeom>
            <a:avLst/>
            <a:gdLst/>
            <a:ahLst/>
            <a:cxnLst/>
            <a:rect l="l" t="t" r="r" b="b"/>
            <a:pathLst>
              <a:path w="12700" h="3251200">
                <a:moveTo>
                  <a:pt x="0" y="0"/>
                </a:moveTo>
                <a:lnTo>
                  <a:pt x="12700" y="0"/>
                </a:lnTo>
                <a:lnTo>
                  <a:pt x="127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4964245" y="2082800"/>
            <a:ext cx="727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关键文件职责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964245" y="2641600"/>
            <a:ext cx="6769100" cy="863600"/>
          </a:xfrm>
          <a:custGeom>
            <a:avLst/>
            <a:gdLst/>
            <a:ahLst/>
            <a:cxnLst/>
            <a:rect l="l" t="t" r="r" b="b"/>
            <a:pathLst>
              <a:path w="6769100" h="863600">
                <a:moveTo>
                  <a:pt x="101603" y="0"/>
                </a:moveTo>
                <a:lnTo>
                  <a:pt x="6667497" y="0"/>
                </a:lnTo>
                <a:cubicBezTo>
                  <a:pt x="6723611" y="0"/>
                  <a:pt x="6769100" y="45489"/>
                  <a:pt x="6769100" y="101603"/>
                </a:cubicBezTo>
                <a:lnTo>
                  <a:pt x="6769100" y="761997"/>
                </a:lnTo>
                <a:cubicBezTo>
                  <a:pt x="6769100" y="818111"/>
                  <a:pt x="6723611" y="863600"/>
                  <a:pt x="66674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5192845" y="292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5650045" y="27940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main.c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650045" y="3115734"/>
            <a:ext cx="353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程序入口，负责角色选择与登录逻辑。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964245" y="3657600"/>
            <a:ext cx="6769100" cy="863600"/>
          </a:xfrm>
          <a:custGeom>
            <a:avLst/>
            <a:gdLst/>
            <a:ahLst/>
            <a:cxnLst/>
            <a:rect l="l" t="t" r="r" b="b"/>
            <a:pathLst>
              <a:path w="6769100" h="863600">
                <a:moveTo>
                  <a:pt x="101603" y="0"/>
                </a:moveTo>
                <a:lnTo>
                  <a:pt x="6667497" y="0"/>
                </a:lnTo>
                <a:cubicBezTo>
                  <a:pt x="6723611" y="0"/>
                  <a:pt x="6769100" y="45489"/>
                  <a:pt x="6769100" y="101603"/>
                </a:cubicBezTo>
                <a:lnTo>
                  <a:pt x="6769100" y="761997"/>
                </a:lnTo>
                <a:cubicBezTo>
                  <a:pt x="6769100" y="818111"/>
                  <a:pt x="6723611" y="863600"/>
                  <a:pt x="66674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5192845" y="393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5650045" y="38100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user_menu.c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650045" y="4149928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角色权限控制与菜单展示。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964245" y="4673600"/>
            <a:ext cx="6769100" cy="863600"/>
          </a:xfrm>
          <a:custGeom>
            <a:avLst/>
            <a:gdLst/>
            <a:ahLst/>
            <a:cxnLst/>
            <a:rect l="l" t="t" r="r" b="b"/>
            <a:pathLst>
              <a:path w="6769100" h="863600">
                <a:moveTo>
                  <a:pt x="101603" y="0"/>
                </a:moveTo>
                <a:lnTo>
                  <a:pt x="6667497" y="0"/>
                </a:lnTo>
                <a:cubicBezTo>
                  <a:pt x="6723611" y="0"/>
                  <a:pt x="6769100" y="45489"/>
                  <a:pt x="6769100" y="101603"/>
                </a:cubicBezTo>
                <a:lnTo>
                  <a:pt x="6769100" y="761997"/>
                </a:lnTo>
                <a:cubicBezTo>
                  <a:pt x="6769100" y="818111"/>
                  <a:pt x="6723611" y="863600"/>
                  <a:pt x="66674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5192845" y="4953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5650045" y="48260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功能模块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637324" y="5178718"/>
            <a:ext cx="60960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establish.c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(商品) /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shop_cart.c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(购物车) /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profit_analysis.c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(利润)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管理员操作系统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E7F02-F383-7C31-2A1E-ED34319D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>
            <a:extLst>
              <a:ext uri="{FF2B5EF4-FFF2-40B4-BE49-F238E27FC236}">
                <a16:creationId xmlns:a16="http://schemas.microsoft.com/office/drawing/2014/main" id="{71587A60-36CC-FECE-C2B9-818340B3B2D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380" y="-60325"/>
            <a:ext cx="12311380" cy="69786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134E95C-A517-081D-B166-C0E5A947A0A8}"/>
              </a:ext>
            </a:extLst>
          </p:cNvPr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管理员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操作页面展示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56BF91-2145-2684-13AB-91C463BF4B4E}"/>
              </a:ext>
            </a:extLst>
          </p:cNvPr>
          <p:cNvSpPr/>
          <p:nvPr/>
        </p:nvSpPr>
        <p:spPr>
          <a:xfrm>
            <a:off x="585788" y="1231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21159" y="381000"/>
                </a:lnTo>
                <a:cubicBezTo>
                  <a:pt x="194221" y="349300"/>
                  <a:pt x="178594" y="308446"/>
                  <a:pt x="178594" y="265212"/>
                </a:cubicBezTo>
                <a:lnTo>
                  <a:pt x="178594" y="242069"/>
                </a:lnTo>
                <a:cubicBezTo>
                  <a:pt x="178594" y="236637"/>
                  <a:pt x="179338" y="231279"/>
                  <a:pt x="180752" y="226219"/>
                </a:cubicBezTo>
                <a:lnTo>
                  <a:pt x="144587" y="226219"/>
                </a:lnTo>
                <a:close/>
                <a:moveTo>
                  <a:pt x="331366" y="363513"/>
                </a:moveTo>
                <a:lnTo>
                  <a:pt x="321469" y="368201"/>
                </a:lnTo>
                <a:lnTo>
                  <a:pt x="321469" y="228228"/>
                </a:lnTo>
                <a:lnTo>
                  <a:pt x="392906" y="252040"/>
                </a:lnTo>
                <a:lnTo>
                  <a:pt x="392906" y="266626"/>
                </a:lnTo>
                <a:cubicBezTo>
                  <a:pt x="392906" y="308149"/>
                  <a:pt x="368945" y="345877"/>
                  <a:pt x="331366" y="363587"/>
                </a:cubicBezTo>
                <a:close/>
                <a:moveTo>
                  <a:pt x="313953" y="193104"/>
                </a:moveTo>
                <a:lnTo>
                  <a:pt x="230609" y="220861"/>
                </a:lnTo>
                <a:cubicBezTo>
                  <a:pt x="220861" y="224135"/>
                  <a:pt x="214313" y="233214"/>
                  <a:pt x="214313" y="243483"/>
                </a:cubicBezTo>
                <a:lnTo>
                  <a:pt x="214313" y="266626"/>
                </a:lnTo>
                <a:cubicBezTo>
                  <a:pt x="214313" y="321990"/>
                  <a:pt x="246311" y="372368"/>
                  <a:pt x="296317" y="395883"/>
                </a:cubicBezTo>
                <a:lnTo>
                  <a:pt x="310083" y="402357"/>
                </a:lnTo>
                <a:cubicBezTo>
                  <a:pt x="313655" y="403994"/>
                  <a:pt x="317525" y="404887"/>
                  <a:pt x="321394" y="404887"/>
                </a:cubicBezTo>
                <a:cubicBezTo>
                  <a:pt x="325264" y="404887"/>
                  <a:pt x="329208" y="403994"/>
                  <a:pt x="332705" y="402357"/>
                </a:cubicBezTo>
                <a:lnTo>
                  <a:pt x="346472" y="395883"/>
                </a:lnTo>
                <a:cubicBezTo>
                  <a:pt x="396627" y="372294"/>
                  <a:pt x="428625" y="321915"/>
                  <a:pt x="428625" y="266551"/>
                </a:cubicBezTo>
                <a:lnTo>
                  <a:pt x="428625" y="243408"/>
                </a:lnTo>
                <a:cubicBezTo>
                  <a:pt x="428625" y="233139"/>
                  <a:pt x="422077" y="224061"/>
                  <a:pt x="412328" y="220787"/>
                </a:cubicBezTo>
                <a:lnTo>
                  <a:pt x="328985" y="193030"/>
                </a:lnTo>
                <a:cubicBezTo>
                  <a:pt x="324073" y="191393"/>
                  <a:pt x="318790" y="191393"/>
                  <a:pt x="313953" y="193030"/>
                </a:cubicBezTo>
                <a:close/>
              </a:path>
            </a:pathLst>
          </a:custGeom>
          <a:solidFill>
            <a:srgbClr val="3C5A8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54EB7BA-456D-7F76-8523-C86353F88C66}"/>
              </a:ext>
            </a:extLst>
          </p:cNvPr>
          <p:cNvSpPr/>
          <p:nvPr/>
        </p:nvSpPr>
        <p:spPr>
          <a:xfrm>
            <a:off x="1187450" y="12192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管理员权限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C873AE-3A4A-E51A-7500-895E2BEBBE13}"/>
              </a:ext>
            </a:extLst>
          </p:cNvPr>
          <p:cNvSpPr/>
          <p:nvPr/>
        </p:nvSpPr>
        <p:spPr>
          <a:xfrm>
            <a:off x="1056177" y="1706446"/>
            <a:ext cx="4418011" cy="300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个主菜单：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）商品管理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包含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项操作，支持商品全生命周期管理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）用户管理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包含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项操作，用于管理系统用户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）利润分析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EB2B340-A581-356B-9ABA-E9A890791917}"/>
              </a:ext>
            </a:extLst>
          </p:cNvPr>
          <p:cNvSpPr/>
          <p:nvPr/>
        </p:nvSpPr>
        <p:spPr>
          <a:xfrm>
            <a:off x="946150" y="2336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E1B56DD-5FCE-6BFC-769B-43659DFCCC12}"/>
              </a:ext>
            </a:extLst>
          </p:cNvPr>
          <p:cNvSpPr/>
          <p:nvPr/>
        </p:nvSpPr>
        <p:spPr>
          <a:xfrm>
            <a:off x="946150" y="2844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80BB784-C3A5-FC34-0D65-650D8D577213}"/>
              </a:ext>
            </a:extLst>
          </p:cNvPr>
          <p:cNvSpPr/>
          <p:nvPr/>
        </p:nvSpPr>
        <p:spPr>
          <a:xfrm>
            <a:off x="7181850" y="12192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E306F34-BEE0-F6CC-BC8C-12F46C3E66EE}"/>
              </a:ext>
            </a:extLst>
          </p:cNvPr>
          <p:cNvSpPr/>
          <p:nvPr/>
        </p:nvSpPr>
        <p:spPr>
          <a:xfrm>
            <a:off x="7088188" y="1162050"/>
            <a:ext cx="4418012" cy="270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EC6DAFD-1D8B-3F48-541A-B6E628343E70}"/>
              </a:ext>
            </a:extLst>
          </p:cNvPr>
          <p:cNvSpPr/>
          <p:nvPr/>
        </p:nvSpPr>
        <p:spPr>
          <a:xfrm>
            <a:off x="6940550" y="23368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2C3A96A-7A14-EEC4-AA35-0624AB1CF99F}"/>
              </a:ext>
            </a:extLst>
          </p:cNvPr>
          <p:cNvSpPr/>
          <p:nvPr/>
        </p:nvSpPr>
        <p:spPr>
          <a:xfrm>
            <a:off x="254000" y="60452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C5A85">
              <a:alpha val="1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AB6503F-20EB-BFC7-452A-3A08285D33FA}"/>
              </a:ext>
            </a:extLst>
          </p:cNvPr>
          <p:cNvSpPr/>
          <p:nvPr/>
        </p:nvSpPr>
        <p:spPr>
          <a:xfrm>
            <a:off x="406400" y="6197600"/>
            <a:ext cx="1137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核心代码 (`user_menu.c`):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通过条件分支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9AB3D4">
                    <a:alpha val="30196"/>
                  </a:srgbClr>
                </a:highlight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(type == ADMIN)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过滤菜单选项，并在选择阶段二次校验权限，防止越权操作。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1DE4B3-18F8-B285-6C4D-640BDCFA63CF}"/>
              </a:ext>
            </a:extLst>
          </p:cNvPr>
          <p:cNvSpPr txBox="1"/>
          <p:nvPr/>
        </p:nvSpPr>
        <p:spPr>
          <a:xfrm>
            <a:off x="7447575" y="1219200"/>
            <a:ext cx="3144532" cy="47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+mn-cs"/>
              </a:rPr>
              <a:t>管理员页面展示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2B92076-4161-FFCE-D9AE-6D8780C32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0" y="1706446"/>
            <a:ext cx="3251381" cy="384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5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7D006-9CC9-7F2E-1CA5-8375DF0B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D3A3815-CF0E-E44C-5D72-9E730C97AD88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1A44B5B-3ABE-3F49-D2AC-04462961C2AD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49537C7-7A14-4ACD-81AD-CA8CE55FC771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1221AA-A939-8086-B9F6-EC8CCB70761B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C309032-F90B-3291-3F82-C987ABAEAB99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4E56125-8952-6D6D-F9C7-AC353C99EFD6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商品管理模块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C54E2FD-8691-EFAB-A4E7-FA62B665BF05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3F85497-7860-5193-E7E0-A687AA23DF02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A6D459E-3490-8059-29BE-2A1CCC2E8AA1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95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3C140-134F-C780-B831-84C2C664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C43D76F-7BD1-CBA7-1BA0-1E0A7DE81291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84E2FB-D04D-0BFB-A39B-C8E9E5958D47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DBCD94-0AC0-9B9D-0C55-6A85084D69DD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8F7FFF-9555-AB56-C4BE-5460A8E7DDC8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5C86E2-381D-BEC5-AD17-666E8E30C0C4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7161633-3D68-0E78-1180-A5BBA38E2CCA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F44FB79-6C67-78C7-25BC-6F6DD8A4EE12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E18C7C2-D920-501A-D61A-D56B6B05D265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7BD40F-AE98-90B3-702F-40D3F8076739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1DE0E5-06C4-62EF-DDF3-4ACE60961B79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EBC4A1-8713-318C-D0C1-2FC71F40BF54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DDBD6E5-7F2C-4AD9-4F32-073EDE0050EB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6BCA83-139C-5E2B-BDFB-C94D6DE4BAAB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621CA13-BB3C-0BB9-2332-60D7C88545C6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623612-83BD-0CB0-EB26-2A8F0BC757F8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4C3C58E-0F11-A89F-8864-4706FF56565E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BA153C9-9CE5-E923-B326-FB4E8B3C7991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8EF1F35-7546-AE05-D837-B9522CA72BF8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DF06FD9-C55B-1A1E-F358-8F184947A874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06AC129-E463-5836-D171-1A9F32D7889F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15A4A6A-8514-0BA8-9D37-FCA42DC0B604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69D24F2-B312-1060-B54C-5AEC1DB75C1C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490D435-0B65-21D4-82E5-BE84355265CD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15374AF-693F-AFF6-89AB-F9456AAA8120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8A6723D-AB8D-820A-7BE1-342C93A95659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AC8300E-4A92-DBD7-E9D8-59D27A888183}"/>
              </a:ext>
            </a:extLst>
          </p:cNvPr>
          <p:cNvSpPr/>
          <p:nvPr/>
        </p:nvSpPr>
        <p:spPr>
          <a:xfrm>
            <a:off x="2139316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界面展示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5648BA9-88A1-7E30-6BEC-950D0CEA3A45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40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A8ACE77-FCA4-0FC0-8ACD-8609AFE0CE10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E18826D-F251-57FF-1173-5F77777DB617}"/>
              </a:ext>
            </a:extLst>
          </p:cNvPr>
          <p:cNvSpPr/>
          <p:nvPr/>
        </p:nvSpPr>
        <p:spPr>
          <a:xfrm>
            <a:off x="7697471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功能介绍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8F89731-2D2F-84B7-1224-72CF23DA98CB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商品管理介绍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3EE5BA-9AF5-E86A-9B04-EE7A76CFD031}"/>
              </a:ext>
            </a:extLst>
          </p:cNvPr>
          <p:cNvSpPr txBox="1"/>
          <p:nvPr/>
        </p:nvSpPr>
        <p:spPr>
          <a:xfrm>
            <a:off x="6736666" y="2755583"/>
            <a:ext cx="43002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添加商品信息</a:t>
            </a:r>
            <a:r>
              <a:rPr lang="zh-CN" altLang="en-US" dirty="0"/>
              <a:t>：录入商品 </a:t>
            </a:r>
            <a:r>
              <a:rPr lang="en-US" altLang="zh-CN" dirty="0"/>
              <a:t>ID</a:t>
            </a:r>
            <a:r>
              <a:rPr lang="zh-CN" altLang="en-US" dirty="0"/>
              <a:t>、名称、进价、售价、库存等信息，需确保 </a:t>
            </a:r>
            <a:r>
              <a:rPr lang="en-US" altLang="zh-CN" dirty="0"/>
              <a:t>ID </a:t>
            </a:r>
            <a:r>
              <a:rPr lang="zh-CN" altLang="en-US" dirty="0"/>
              <a:t>唯一。</a:t>
            </a:r>
          </a:p>
          <a:p>
            <a:r>
              <a:rPr lang="zh-CN" altLang="en-US" b="1" dirty="0"/>
              <a:t>显示商品信息</a:t>
            </a:r>
            <a:r>
              <a:rPr lang="zh-CN" altLang="en-US" dirty="0"/>
              <a:t>：以表格形式展示所有商品，库存低于 </a:t>
            </a:r>
            <a:r>
              <a:rPr lang="en-US" altLang="zh-CN" dirty="0"/>
              <a:t>500 </a:t>
            </a:r>
            <a:r>
              <a:rPr lang="zh-CN" altLang="en-US" dirty="0"/>
              <a:t>时标红警告</a:t>
            </a:r>
            <a:endParaRPr lang="en-US" altLang="zh-CN" dirty="0"/>
          </a:p>
          <a:p>
            <a:r>
              <a:rPr lang="zh-CN" altLang="en-US" b="1" dirty="0"/>
              <a:t>修改商品信息</a:t>
            </a:r>
            <a:r>
              <a:rPr lang="zh-CN" altLang="en-US" dirty="0"/>
              <a:t>：通过商品 </a:t>
            </a:r>
            <a:r>
              <a:rPr lang="en-US" altLang="zh-CN" dirty="0"/>
              <a:t>ID </a:t>
            </a:r>
            <a:r>
              <a:rPr lang="zh-CN" altLang="en-US" dirty="0"/>
              <a:t>定位并修改名称、价格、库存等属性（</a:t>
            </a:r>
            <a:r>
              <a:rPr lang="en-US" altLang="zh-CN" dirty="0" err="1"/>
              <a:t>modifyGoodsByID</a:t>
            </a:r>
            <a:r>
              <a:rPr lang="en-US" altLang="zh-CN" dirty="0"/>
              <a:t>()</a:t>
            </a:r>
            <a:r>
              <a:rPr lang="zh-CN" altLang="en-US" dirty="0"/>
              <a:t>）。</a:t>
            </a:r>
          </a:p>
          <a:p>
            <a:r>
              <a:rPr lang="zh-CN" altLang="en-US" b="1" dirty="0"/>
              <a:t>删除商品信息</a:t>
            </a:r>
            <a:r>
              <a:rPr lang="zh-CN" altLang="en-US" dirty="0"/>
              <a:t>：通过商品 </a:t>
            </a:r>
            <a:r>
              <a:rPr lang="en-US" altLang="zh-CN" dirty="0"/>
              <a:t>ID </a:t>
            </a:r>
            <a:r>
              <a:rPr lang="zh-CN" altLang="en-US" dirty="0"/>
              <a:t>删除指定商品（</a:t>
            </a:r>
            <a:r>
              <a:rPr lang="en-US" altLang="zh-CN" dirty="0" err="1"/>
              <a:t>deleteGoodsByID</a:t>
            </a:r>
            <a:r>
              <a:rPr lang="en-US" altLang="zh-CN" dirty="0"/>
              <a:t>()</a:t>
            </a:r>
            <a:r>
              <a:rPr lang="zh-CN" altLang="en-US" dirty="0"/>
              <a:t>）。</a:t>
            </a:r>
          </a:p>
          <a:p>
            <a:endParaRPr lang="en-US" altLang="zh-CN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A22863CE-02AA-2429-62FF-7F241969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1" y="2309178"/>
            <a:ext cx="3425851" cy="38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0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A665F-A734-B3A7-7154-37BCD1E0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90086CA-23B8-21D1-0EC2-EAE1715BA3C4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AD3F8AE-043F-8F0C-A37A-2AA670ACB352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C8A7EEA-3719-5B20-5ADD-F2B60062FC10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B3B863-1BC0-7C57-ABE3-B802FE5BAD53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565D330-CCA1-23B9-6ECC-D03264DEAB11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0E0579C-531F-49FF-4AB1-C8AB6DC17967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用户管理模块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5BB11CF-1333-FD06-1002-CA3EECAC8F59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39C4137-3521-63CB-CE9C-AF4B2B2200F0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AF6AAB0-48F8-76A1-085E-EDBF7443A435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CA20E-3304-EB10-2850-448A5932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80192B7-08F2-F737-922D-E68BF4702183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621D90-93AC-F00D-7BCD-65AFA3D7DCE9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0EB1BF-2A80-BF20-3476-0243C4E793A3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59F632-C40E-477A-F428-24DEAF6D53E3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347E23D-6999-8F8E-EBEC-7CAF81B94BC9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F5DD463-6F90-0EF6-BFC9-456BEB47907A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6D2C32-3EA4-80BB-59B2-39BC6FD87278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9A9D18-32B2-187E-8F4D-0A5EE30285C8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D85E77-B696-D762-1158-366CEB5CE485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C90CEE2-7AB0-8664-899D-6DAB4FAFFAEB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6B52F3-B6B9-B49F-86D6-E760C919C0B4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9105EEF-33CC-B7A4-5BA9-D1BD24F44849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AD2FB9-0ADF-9B1D-1D56-60E80961B098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DEDA77A-21AB-60B2-AFEA-204BD5201ACE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E4CA823-AC33-5DC4-FD19-662AF6F4159C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D263C7A-6417-FA81-4250-5E54BD453B13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AF67728-40BB-2A14-D81A-CBDF12AE8CF5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8617F9-09C4-EEA2-2F12-72DF01E60B3C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4E3051-F3CD-BC44-D33F-691235836F1D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FC4D79-35AA-A654-8EB7-5ED7158CC604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F78FC5D-2F4B-5D2A-74C0-4123F35F5370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B0BA341-BE15-C896-F3D0-654FE1F696D1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EEC2753-1B81-C2A9-0CEA-73ADD4952B39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6202638-B142-B90D-5BF1-428715EC291D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E004802-55C9-DAED-8E8B-BC81EA75C0A6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A2A24D6-50ED-CB62-A34B-3D8EF30FBD20}"/>
              </a:ext>
            </a:extLst>
          </p:cNvPr>
          <p:cNvSpPr/>
          <p:nvPr/>
        </p:nvSpPr>
        <p:spPr>
          <a:xfrm>
            <a:off x="2139316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界面展示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679DD05-1BF5-AA67-308B-E7663203955C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40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799BD7B-35BD-9411-F51B-390E2AD81EB4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A10595B-E96A-79B3-EFD7-0B5B60A19CB7}"/>
              </a:ext>
            </a:extLst>
          </p:cNvPr>
          <p:cNvSpPr/>
          <p:nvPr/>
        </p:nvSpPr>
        <p:spPr>
          <a:xfrm>
            <a:off x="7697471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功能介绍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C6162B50-9A77-BCD0-5088-89FBE1E56D4C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用户管理介绍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B6B5A1-89AF-DCF0-7DD9-543115E2C807}"/>
              </a:ext>
            </a:extLst>
          </p:cNvPr>
          <p:cNvSpPr txBox="1"/>
          <p:nvPr/>
        </p:nvSpPr>
        <p:spPr>
          <a:xfrm>
            <a:off x="6736666" y="2755583"/>
            <a:ext cx="43002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查询用户消费记录</a:t>
            </a:r>
            <a:r>
              <a:rPr lang="zh-CN" altLang="en-US" dirty="0"/>
              <a:t>：查看用户的历史订单及消费金额（关联</a:t>
            </a:r>
            <a:r>
              <a:rPr lang="en-US" altLang="zh-CN" dirty="0" err="1"/>
              <a:t>user_consumption.c</a:t>
            </a:r>
            <a:r>
              <a:rPr lang="zh-CN" altLang="en-US" dirty="0"/>
              <a:t>）。</a:t>
            </a:r>
          </a:p>
          <a:p>
            <a:r>
              <a:rPr lang="zh-CN" altLang="en-US" b="1" dirty="0"/>
              <a:t>修改用户密码</a:t>
            </a:r>
            <a:r>
              <a:rPr lang="zh-CN" altLang="en-US" dirty="0"/>
              <a:t>：管理员需输入自身密码验证，然后指定目标用户（管理员或顾客）并设置新密码（</a:t>
            </a:r>
            <a:r>
              <a:rPr lang="en-US" altLang="zh-CN" dirty="0" err="1"/>
              <a:t>adminModifyPasswordMenu</a:t>
            </a:r>
            <a:r>
              <a:rPr lang="en-US" altLang="zh-CN" dirty="0"/>
              <a:t>()</a:t>
            </a:r>
            <a:r>
              <a:rPr lang="zh-CN" altLang="en-US" dirty="0"/>
              <a:t>）。</a:t>
            </a:r>
          </a:p>
          <a:p>
            <a:r>
              <a:rPr lang="zh-CN" altLang="en-US" b="1" dirty="0"/>
              <a:t>删除用户</a:t>
            </a:r>
            <a:r>
              <a:rPr lang="zh-CN" altLang="en-US" dirty="0"/>
              <a:t>：验证管理员密码后，可删除其他管理员（不可删除当前登录管理员）或顾客（</a:t>
            </a:r>
            <a:r>
              <a:rPr lang="en-US" altLang="zh-CN" dirty="0" err="1"/>
              <a:t>adminDeleteUserMenu</a:t>
            </a:r>
            <a:r>
              <a:rPr lang="en-US" altLang="zh-CN" dirty="0"/>
              <a:t>()</a:t>
            </a:r>
            <a:r>
              <a:rPr lang="zh-CN" altLang="en-US" dirty="0"/>
              <a:t>）。</a:t>
            </a:r>
          </a:p>
          <a:p>
            <a:r>
              <a:rPr lang="zh-CN" altLang="en-US" b="1" dirty="0"/>
              <a:t>显示所有用户信息</a:t>
            </a:r>
            <a:r>
              <a:rPr lang="zh-CN" altLang="en-US" dirty="0"/>
              <a:t>：分别列出所有管理员和顾客的用户名，标注当前登录的管理员（</a:t>
            </a:r>
            <a:r>
              <a:rPr lang="en-US" altLang="zh-CN" dirty="0" err="1"/>
              <a:t>adminShowAllUsersMenu</a:t>
            </a:r>
            <a:r>
              <a:rPr lang="en-US" altLang="zh-CN" dirty="0"/>
              <a:t>()</a:t>
            </a:r>
            <a:r>
              <a:rPr lang="zh-CN" altLang="en-US" dirty="0"/>
              <a:t>）。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28C2B10-D33D-BFBB-ABAE-5FDC7C74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966" y="2341185"/>
            <a:ext cx="3673158" cy="36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5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F8145-73C2-F482-0F78-8B973715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DE82F08-7D76-659F-8B89-EE361572FA06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05C0CB6-AFC1-BA13-B0C3-BEE6FE9292F3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135FFFE-3A2C-8E64-113B-1719006C0265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5963090-F562-EF4F-2A85-334D8F80919F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0824887-443D-848E-06B4-6FEEAB57E339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83DD539-0D3E-7303-AC45-BDE6077E3F79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利润分析模块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67357CF-87CD-3366-4B9F-7781FF60625C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9A5F30A-55EB-0416-7CBC-FE938866F2CD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36FDEAC-A715-FAB9-0158-6A5D37A1C51A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92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4000" y="254000"/>
            <a:ext cx="4559300" cy="6350000"/>
          </a:xfrm>
          <a:custGeom>
            <a:avLst/>
            <a:gdLst/>
            <a:ahLst/>
            <a:cxnLst/>
            <a:rect l="l" t="t" r="r" b="b"/>
            <a:pathLst>
              <a:path w="4559300" h="6350000">
                <a:moveTo>
                  <a:pt x="101581" y="0"/>
                </a:moveTo>
                <a:lnTo>
                  <a:pt x="4457719" y="0"/>
                </a:lnTo>
                <a:cubicBezTo>
                  <a:pt x="4513821" y="0"/>
                  <a:pt x="4559300" y="45479"/>
                  <a:pt x="4559300" y="101581"/>
                </a:cubicBezTo>
                <a:lnTo>
                  <a:pt x="4559300" y="6248419"/>
                </a:lnTo>
                <a:cubicBezTo>
                  <a:pt x="4559300" y="6304521"/>
                  <a:pt x="4513821" y="6350000"/>
                  <a:pt x="4457719" y="6350000"/>
                </a:cubicBezTo>
                <a:lnTo>
                  <a:pt x="101581" y="6350000"/>
                </a:lnTo>
                <a:cubicBezTo>
                  <a:pt x="45479" y="6350000"/>
                  <a:pt x="0" y="6304521"/>
                  <a:pt x="0" y="6248419"/>
                </a:cubicBezTo>
                <a:lnTo>
                  <a:pt x="0" y="101581"/>
                </a:lnTo>
                <a:cubicBezTo>
                  <a:pt x="0" y="45517"/>
                  <a:pt x="45517" y="0"/>
                  <a:pt x="101581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57200" y="457200"/>
            <a:ext cx="466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订单结构 (`profit_analysis.h`)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965200"/>
            <a:ext cx="4152900" cy="4775200"/>
          </a:xfrm>
          <a:custGeom>
            <a:avLst/>
            <a:gdLst/>
            <a:ahLst/>
            <a:cxnLst/>
            <a:rect l="l" t="t" r="r" b="b"/>
            <a:pathLst>
              <a:path w="4152900" h="4775200">
                <a:moveTo>
                  <a:pt x="76206" y="0"/>
                </a:moveTo>
                <a:lnTo>
                  <a:pt x="4076694" y="0"/>
                </a:lnTo>
                <a:cubicBezTo>
                  <a:pt x="4118753" y="0"/>
                  <a:pt x="4152900" y="34147"/>
                  <a:pt x="4152900" y="76206"/>
                </a:cubicBezTo>
                <a:lnTo>
                  <a:pt x="4152900" y="4698994"/>
                </a:lnTo>
                <a:cubicBezTo>
                  <a:pt x="4152900" y="4741082"/>
                  <a:pt x="4118782" y="4775200"/>
                  <a:pt x="4076694" y="4775200"/>
                </a:cubicBezTo>
                <a:lnTo>
                  <a:pt x="76206" y="4775200"/>
                </a:lnTo>
                <a:cubicBezTo>
                  <a:pt x="34118" y="4775200"/>
                  <a:pt x="0" y="4741082"/>
                  <a:pt x="0" y="46989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09600" y="1143000"/>
            <a:ext cx="2150666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typedef struct Order { char orderId[30]; char username[20]; time_t orderTime; float totalProfit; OrderItem* items; } Order;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58928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订单结构体包含唯一ID及总利润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17042" y="254000"/>
            <a:ext cx="6819900" cy="1700924"/>
          </a:xfrm>
          <a:custGeom>
            <a:avLst/>
            <a:gdLst/>
            <a:ahLst/>
            <a:cxnLst/>
            <a:rect l="l" t="t" r="r" b="b"/>
            <a:pathLst>
              <a:path w="6819900" h="1066800">
                <a:moveTo>
                  <a:pt x="101602" y="0"/>
                </a:moveTo>
                <a:lnTo>
                  <a:pt x="6718298" y="0"/>
                </a:lnTo>
                <a:cubicBezTo>
                  <a:pt x="6774411" y="0"/>
                  <a:pt x="6819900" y="45489"/>
                  <a:pt x="6819900" y="101602"/>
                </a:cubicBezTo>
                <a:lnTo>
                  <a:pt x="6819900" y="965198"/>
                </a:lnTo>
                <a:cubicBezTo>
                  <a:pt x="6819900" y="1021311"/>
                  <a:pt x="6774411" y="1066800"/>
                  <a:pt x="6718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361305" y="561228"/>
            <a:ext cx="692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总利润统计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61305" y="1196228"/>
            <a:ext cx="641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遍历订单链表，即可快速得出全局利润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58105" y="3105150"/>
            <a:ext cx="6819900" cy="2021796"/>
          </a:xfrm>
          <a:custGeom>
            <a:avLst/>
            <a:gdLst/>
            <a:ahLst/>
            <a:cxnLst/>
            <a:rect l="l" t="t" r="r" b="b"/>
            <a:pathLst>
              <a:path w="6819900" h="1320800">
                <a:moveTo>
                  <a:pt x="101596" y="0"/>
                </a:moveTo>
                <a:lnTo>
                  <a:pt x="6718304" y="0"/>
                </a:lnTo>
                <a:cubicBezTo>
                  <a:pt x="6774414" y="0"/>
                  <a:pt x="6819900" y="45486"/>
                  <a:pt x="6819900" y="101596"/>
                </a:cubicBezTo>
                <a:lnTo>
                  <a:pt x="6819900" y="1219204"/>
                </a:lnTo>
                <a:cubicBezTo>
                  <a:pt x="6819900" y="1275314"/>
                  <a:pt x="6774414" y="1320800"/>
                  <a:pt x="67183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400675" y="3402405"/>
            <a:ext cx="692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多维度分析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43881" y="4158812"/>
            <a:ext cx="641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利用临时数组，可按</a:t>
            </a:r>
            <a:r>
              <a:rPr lang="zh-CN" altLang="en-US" sz="20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商品名称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对订单进行分类聚合，实现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利润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数据分析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0872E95-7511-6A5E-9328-460B1D420C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619" y="935878"/>
            <a:ext cx="4378530" cy="39306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91BAD-101D-03B9-C85E-8DD66043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5">
            <a:extLst>
              <a:ext uri="{FF2B5EF4-FFF2-40B4-BE49-F238E27FC236}">
                <a16:creationId xmlns:a16="http://schemas.microsoft.com/office/drawing/2014/main" id="{F2FA18AA-4F60-E303-70EB-521AABCC3B74}"/>
              </a:ext>
            </a:extLst>
          </p:cNvPr>
          <p:cNvSpPr/>
          <p:nvPr/>
        </p:nvSpPr>
        <p:spPr>
          <a:xfrm>
            <a:off x="588847" y="1557703"/>
            <a:ext cx="5612881" cy="4655653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5ACE65F1-3AF5-B09B-446C-0DE90366E4CA}"/>
              </a:ext>
            </a:extLst>
          </p:cNvPr>
          <p:cNvSpPr/>
          <p:nvPr/>
        </p:nvSpPr>
        <p:spPr>
          <a:xfrm>
            <a:off x="936617" y="1040178"/>
            <a:ext cx="4969169" cy="5601254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E8C62-450C-E6A4-F3D0-2676E506F9C5}"/>
              </a:ext>
            </a:extLst>
          </p:cNvPr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3F729E-5515-1A54-CE1C-FEEC3B331131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blockArc">
            <a:avLst/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8CD06E-D887-D659-65B6-A4D7AC35C53C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483B7F-4514-2095-2804-71FE2B604FD3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内容介绍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57FD9F-84AF-7208-D800-B6265A866C7B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AF2668-A0B1-0645-AA49-827C320BA87F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73EE91-E1A0-CAE3-E84F-6F020595B8E4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20342B-7572-54ED-32E9-58380F00B61C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FEEDA8-23C8-BE92-E711-065A617D2340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A148B3-5120-EA43-B225-650E9A3E1957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350B5DE-7583-65C5-17A0-E3D1A453F3B1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E40020-0A20-B9B9-6787-2619AD653CB8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3B9D290-EE35-1CED-A9F8-82B43D283694}"/>
              </a:ext>
            </a:extLst>
          </p:cNvPr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7CE0CAB-7C44-0167-D4A8-6E3BFE706EC1}"/>
              </a:ext>
            </a:extLst>
          </p:cNvPr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4:54:56-d2sjfg61bb2p4onbpvp0.png">
            <a:extLst>
              <a:ext uri="{FF2B5EF4-FFF2-40B4-BE49-F238E27FC236}">
                <a16:creationId xmlns:a16="http://schemas.microsoft.com/office/drawing/2014/main" id="{1841521E-14DF-70D6-F00B-2318850B80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30" name="Shape 9">
            <a:extLst>
              <a:ext uri="{FF2B5EF4-FFF2-40B4-BE49-F238E27FC236}">
                <a16:creationId xmlns:a16="http://schemas.microsoft.com/office/drawing/2014/main" id="{983B88EB-62F4-F779-94C4-33723A9C07B0}"/>
              </a:ext>
            </a:extLst>
          </p:cNvPr>
          <p:cNvSpPr/>
          <p:nvPr/>
        </p:nvSpPr>
        <p:spPr>
          <a:xfrm>
            <a:off x="6676072" y="166353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E535BA08-A179-E6C5-52E4-1DE8FC539364}"/>
              </a:ext>
            </a:extLst>
          </p:cNvPr>
          <p:cNvSpPr/>
          <p:nvPr/>
        </p:nvSpPr>
        <p:spPr>
          <a:xfrm>
            <a:off x="6909117" y="147430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ED62CF3D-0873-2274-367A-7D89097FEEE4}"/>
              </a:ext>
            </a:extLst>
          </p:cNvPr>
          <p:cNvSpPr/>
          <p:nvPr/>
        </p:nvSpPr>
        <p:spPr>
          <a:xfrm>
            <a:off x="8099108" y="193912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亮点小结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EE68167A-A0D6-201E-FFDD-E92EC1EEF97D}"/>
              </a:ext>
            </a:extLst>
          </p:cNvPr>
          <p:cNvSpPr/>
          <p:nvPr/>
        </p:nvSpPr>
        <p:spPr>
          <a:xfrm>
            <a:off x="7236342" y="3015448"/>
            <a:ext cx="4116304" cy="1938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000" b="1" dirty="0"/>
              <a:t>利润分析板块亮点：多维度统计总利润、品牌及时间维度利润，</a:t>
            </a:r>
            <a:r>
              <a:rPr lang="en-US" altLang="zh-CN" sz="2000" b="1" dirty="0"/>
              <a:t>GDI</a:t>
            </a:r>
            <a:r>
              <a:rPr lang="zh-CN" altLang="en-US" sz="2000" b="1" dirty="0"/>
              <a:t>绘制柱状图、饼图可视化呈现，支持自定义时间筛选，自动关联订单数据计算，交互简洁，兼顾数据详情与直观图表，助力经营决策。</a:t>
            </a:r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B879115F-7C3A-0024-6BF6-DD265B140500}"/>
              </a:ext>
            </a:extLst>
          </p:cNvPr>
          <p:cNvSpPr/>
          <p:nvPr/>
        </p:nvSpPr>
        <p:spPr>
          <a:xfrm>
            <a:off x="1268572" y="1859280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界面展示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8E33AD3-7729-9F11-D8D5-B0A7E7825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85" y="2495377"/>
            <a:ext cx="3734124" cy="322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4343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846879" y="1155372"/>
            <a:ext cx="30607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盈利页面展示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63F66ABD-D4A0-4ED8-5ACC-187252E1BC2C}"/>
              </a:ext>
            </a:extLst>
          </p:cNvPr>
          <p:cNvSpPr/>
          <p:nvPr/>
        </p:nvSpPr>
        <p:spPr>
          <a:xfrm>
            <a:off x="7148830" y="1105505"/>
            <a:ext cx="30607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查看总盈利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0848E82-0193-68FD-1433-99B84224A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600" y="1835247"/>
            <a:ext cx="3628571" cy="8571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0C0BB6C-28A6-EE0F-8F7C-C402B032A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14" y="1991013"/>
            <a:ext cx="3734124" cy="40084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30079-1F56-AA4C-A880-5262371D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37075B-56C3-3654-DB2A-175DB9F9AD5A}"/>
              </a:ext>
            </a:extLst>
          </p:cNvPr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1B594B-BFAF-C02E-D960-D51B6D43E0E5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0121AC-E3A2-52A2-FBA8-1566A260756A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E64BA9-030D-2BED-B193-A4075B97F973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CD186D-A0AC-0082-CD36-8882B6A37A9B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BC637B-12AE-886E-DAEC-B73F38E2A08A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0A3058C-EEFF-F2A8-6D1C-9348B1F0D4F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1E5CBD-D674-27B2-8582-1B58F986DC24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502340-E492-685D-EC20-07101BCF9F1D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64FB94-3502-BAE9-7941-4874998D84AE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045B82-A84C-B9C4-5A81-F2DBCDDC204C}"/>
              </a:ext>
            </a:extLst>
          </p:cNvPr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2145DB3-4939-6B5F-720C-0386E4888C52}"/>
              </a:ext>
            </a:extLst>
          </p:cNvPr>
          <p:cNvSpPr/>
          <p:nvPr/>
        </p:nvSpPr>
        <p:spPr>
          <a:xfrm>
            <a:off x="204343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0DFA50E-F190-7E5F-B157-2CFB4B9D5DBE}"/>
              </a:ext>
            </a:extLst>
          </p:cNvPr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1028D4C-BA66-D4BB-7729-56DED835BF82}"/>
              </a:ext>
            </a:extLst>
          </p:cNvPr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35E088-0508-BC13-52A9-5CB31A992251}"/>
              </a:ext>
            </a:extLst>
          </p:cNvPr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C088E0F-6E99-EE8F-57F1-FB2CAD4AC593}"/>
              </a:ext>
            </a:extLst>
          </p:cNvPr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07095074-D439-5357-8047-C2D5826C9B14}"/>
              </a:ext>
            </a:extLst>
          </p:cNvPr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AF5690D-15C8-C2D2-4C1E-036FE1601794}"/>
              </a:ext>
            </a:extLst>
          </p:cNvPr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678298E0-BF87-713A-789B-AC8AD3B652F3}"/>
              </a:ext>
            </a:extLst>
          </p:cNvPr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4145E287-E01B-7994-6F7B-01E27B7DA0E9}"/>
              </a:ext>
            </a:extLst>
          </p:cNvPr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38A284D-830E-ED62-AC4A-49E8E53BA90C}"/>
              </a:ext>
            </a:extLst>
          </p:cNvPr>
          <p:cNvSpPr/>
          <p:nvPr/>
        </p:nvSpPr>
        <p:spPr>
          <a:xfrm>
            <a:off x="846879" y="1155372"/>
            <a:ext cx="30607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按名称查看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A565013-CA8F-56DF-3CFF-9DF4EFD6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830" y="1714500"/>
            <a:ext cx="4886797" cy="44782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E01CA7-2A26-AB77-EEC6-2CE0154AB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2" y="1714500"/>
            <a:ext cx="7545298" cy="438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9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9DDB8-A84B-7EE8-5D12-5B762D29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26D67DF-D89C-54D7-149E-B07C7ADEAE07}"/>
              </a:ext>
            </a:extLst>
          </p:cNvPr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07626E-8251-B3DD-CFC3-DC12E7CB7CE3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53590E-CB1B-5A13-D689-ED599A73DABE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159BEA-7501-339B-D596-FBAF40F8FE7A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B57110-1C7F-842A-8F61-B8D69CA86092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E87F28-C5F0-5701-51C5-80EF49F0B595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F44A99-55FC-7A2F-7B8B-DBC1617F3F41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D90A795-1778-7A06-38FD-47C9E58B1ADF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0581F8-49CC-D684-0CAC-E81531A676AF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873D429-8932-E352-9A37-004F4A6438A4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E07214-7FF1-8FF8-155F-F3EB3BAFF1CD}"/>
              </a:ext>
            </a:extLst>
          </p:cNvPr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58A284F-07F6-204D-7ADE-492607C40522}"/>
              </a:ext>
            </a:extLst>
          </p:cNvPr>
          <p:cNvSpPr/>
          <p:nvPr/>
        </p:nvSpPr>
        <p:spPr>
          <a:xfrm>
            <a:off x="204343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E2D50FD-F6EE-0563-05C2-04B72CA0535E}"/>
              </a:ext>
            </a:extLst>
          </p:cNvPr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47C9B2D-35B9-0581-DA1C-90568A9171C7}"/>
              </a:ext>
            </a:extLst>
          </p:cNvPr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C9F1578-312B-D6CE-E7CE-D4D83C77F642}"/>
              </a:ext>
            </a:extLst>
          </p:cNvPr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1EC0539-5366-E280-743B-DF2F8FB30446}"/>
              </a:ext>
            </a:extLst>
          </p:cNvPr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453C822-35DE-F210-A37F-892716904795}"/>
              </a:ext>
            </a:extLst>
          </p:cNvPr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9569E87-82E9-B2DA-8FBD-211D6E32AC2B}"/>
              </a:ext>
            </a:extLst>
          </p:cNvPr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B669908E-E2E3-0ED0-84CA-4D2543F2F250}"/>
              </a:ext>
            </a:extLst>
          </p:cNvPr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B122656-55A3-3593-DED3-8C6DB82D1795}"/>
              </a:ext>
            </a:extLst>
          </p:cNvPr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21D6E1AC-1D1A-124F-5E9B-76D3EF9E0195}"/>
              </a:ext>
            </a:extLst>
          </p:cNvPr>
          <p:cNvSpPr/>
          <p:nvPr/>
        </p:nvSpPr>
        <p:spPr>
          <a:xfrm>
            <a:off x="846879" y="1155372"/>
            <a:ext cx="6488056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按名称查看</a:t>
            </a: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——Excel</a:t>
            </a:r>
            <a:r>
              <a:rPr lang="zh-CN" alt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表格呈现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6522791-A0D6-2707-AF41-CB84E182E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2" y="1714500"/>
            <a:ext cx="7545298" cy="43896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B367407-4915-007F-3574-B498A8F9E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743" y="1714501"/>
            <a:ext cx="4142857" cy="426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0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C299B-D4FB-8B55-1251-19221CDB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EB09003-A187-D6EF-0D30-68B51FA8F4FD}"/>
              </a:ext>
            </a:extLst>
          </p:cNvPr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E1EC37-5500-FCB5-C51F-2567AF3EE14B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28BAA3-6732-FEC7-7C67-188509EB9F1D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23FE80-1348-4D66-7844-18F82FBC5933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4B6895-E716-5C47-63CD-7C1EF70B9687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2FF21E-DB23-EDC7-84C6-5ED7336C6678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F8DC12-68C7-4392-9D98-EB51C2A4B7A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E942A-A042-A6AB-A125-5C310514ED6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2975EE-C32A-41FD-1C1B-097E4015460D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3516A9-FA67-4D6D-AAEA-8C5AC9EA4A68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350C57-00E3-60D8-813D-E22010D11BF3}"/>
              </a:ext>
            </a:extLst>
          </p:cNvPr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FC10940-6F12-0943-DCEF-BE189503EE93}"/>
              </a:ext>
            </a:extLst>
          </p:cNvPr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DC50E28-9F5B-CDD1-B292-787A2D3A4971}"/>
              </a:ext>
            </a:extLst>
          </p:cNvPr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5529A40-7E3A-9D27-11FF-1B8C955AFE61}"/>
              </a:ext>
            </a:extLst>
          </p:cNvPr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8C3E3EB-0957-C744-4D07-1952054913ED}"/>
              </a:ext>
            </a:extLst>
          </p:cNvPr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8644F6AD-A7A9-8FB5-FB25-83B824A942C4}"/>
              </a:ext>
            </a:extLst>
          </p:cNvPr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151127E5-D31F-1D9A-241E-477B7E509736}"/>
              </a:ext>
            </a:extLst>
          </p:cNvPr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690EB2AE-5891-C6AE-993F-02AE3C61EDC7}"/>
              </a:ext>
            </a:extLst>
          </p:cNvPr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B40CE588-5210-B3F3-43D7-A3597FE77C9D}"/>
              </a:ext>
            </a:extLst>
          </p:cNvPr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23E74371-7645-8DD0-6211-F86625250A8A}"/>
              </a:ext>
            </a:extLst>
          </p:cNvPr>
          <p:cNvSpPr/>
          <p:nvPr/>
        </p:nvSpPr>
        <p:spPr>
          <a:xfrm>
            <a:off x="846879" y="1155372"/>
            <a:ext cx="30607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按照时间查看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E852C63-B66E-7593-F702-888C34C9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5139"/>
            <a:ext cx="7402605" cy="452191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5C2EE08-0E57-BBE4-4B31-30EC804A6C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003" t="-26152" r="2081" b="1376"/>
          <a:stretch>
            <a:fillRect/>
          </a:stretch>
        </p:blipFill>
        <p:spPr>
          <a:xfrm>
            <a:off x="7402605" y="651196"/>
            <a:ext cx="4789394" cy="55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56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A6BAD-0912-C213-D547-10FBD7FD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AD1EC07-8C1A-761B-9AF4-2157748B0271}"/>
              </a:ext>
            </a:extLst>
          </p:cNvPr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B30355-195B-4C1A-3B34-C1EE5DE2979C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48BFAA-E2A2-A349-3AD4-986A36E1F927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24485B-6A4F-5232-75F0-0EECAF6179D5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D80004-289C-518E-087F-D9D947AF9895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778830-D242-0CE8-C105-A3733E07C98D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BC6729-E02A-FCC1-E7EE-9B6FB3BCE719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5DBC94-156A-23C5-B7E9-99B17F47293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F724C18-FB54-D5B8-FC09-B6F99BC63618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25BDC6-295C-C6B9-7123-27762303E18F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DFC253-C2A6-3C59-BB2A-2E665A890B08}"/>
              </a:ext>
            </a:extLst>
          </p:cNvPr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DC8BAE7-095C-573B-C555-941ACAD1B7D9}"/>
              </a:ext>
            </a:extLst>
          </p:cNvPr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2734179-B40E-6A4A-CBC5-C38B68578095}"/>
              </a:ext>
            </a:extLst>
          </p:cNvPr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520FB8-5082-8D86-FEA7-3F3EAABD9383}"/>
              </a:ext>
            </a:extLst>
          </p:cNvPr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D59A30D-71A8-01FC-60CF-B98E35EFF025}"/>
              </a:ext>
            </a:extLst>
          </p:cNvPr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B925F1D-A378-595D-AED4-3657E409DD89}"/>
              </a:ext>
            </a:extLst>
          </p:cNvPr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18579418-2CF2-A7B8-A250-C008015F8A47}"/>
              </a:ext>
            </a:extLst>
          </p:cNvPr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4695786C-88A9-DE5E-C43D-43236F573DBB}"/>
              </a:ext>
            </a:extLst>
          </p:cNvPr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865FE84F-46C3-52C1-C308-6466D822BBD6}"/>
              </a:ext>
            </a:extLst>
          </p:cNvPr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C103748B-A58A-1CB4-D8C1-EA010E98C0ED}"/>
              </a:ext>
            </a:extLst>
          </p:cNvPr>
          <p:cNvSpPr/>
          <p:nvPr/>
        </p:nvSpPr>
        <p:spPr>
          <a:xfrm>
            <a:off x="846878" y="1155372"/>
            <a:ext cx="564663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按照时间查看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——Excel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表格呈现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5813087-3B3C-AA76-AB15-B4A4DD14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5139"/>
            <a:ext cx="7402605" cy="45219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4B1A636-66CC-9D0F-BAC6-FECC7509F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411" y="1755138"/>
            <a:ext cx="5152499" cy="432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89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8000"/>
              </a:srgbClr>
            </a:gs>
            <a:gs pos="9000">
              <a:srgbClr val="94B9FF">
                <a:alpha val="58000"/>
              </a:srgbClr>
            </a:gs>
            <a:gs pos="37000">
              <a:srgbClr val="94B9FF">
                <a:alpha val="18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3D3DF-2EAD-D7FE-45CE-50ACC3F0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166C62-C02B-A489-9857-BD52B7564A68}"/>
              </a:ext>
            </a:extLst>
          </p:cNvPr>
          <p:cNvSpPr/>
          <p:nvPr/>
        </p:nvSpPr>
        <p:spPr>
          <a:xfrm rot="10800000">
            <a:off x="10527030" y="57232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526A0C-044A-28D8-EF05-91ECA55115E1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盈利模块展示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46F6DA-C123-11B8-B9F0-2D3D1BB9FEC8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93366C-9FED-38F2-B061-C320162B4886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3BB38D-D150-DFBC-65D6-3E33A03D749A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2F0A9E-A67F-8F64-D95E-431835B487F2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75981B-8D77-9B16-C0CC-1E61264AB117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283F66-D060-E29E-02F6-72B890215DAC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BDDE87-8983-6FE1-369F-E5CDDA7B48DF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614829-21AF-4AD3-DA88-90FAF1C57298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E937C1-B63D-3405-BFE8-2D88493A95FB}"/>
              </a:ext>
            </a:extLst>
          </p:cNvPr>
          <p:cNvSpPr/>
          <p:nvPr/>
        </p:nvSpPr>
        <p:spPr>
          <a:xfrm>
            <a:off x="726440" y="1848485"/>
            <a:ext cx="3368040" cy="4286250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0704CE8-D1CA-8BCF-6A27-9B11BF27ED48}"/>
              </a:ext>
            </a:extLst>
          </p:cNvPr>
          <p:cNvSpPr/>
          <p:nvPr/>
        </p:nvSpPr>
        <p:spPr>
          <a:xfrm>
            <a:off x="4442460" y="1848485"/>
            <a:ext cx="3368040" cy="428561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7561BE3-7B31-9627-E538-10B67C031D58}"/>
              </a:ext>
            </a:extLst>
          </p:cNvPr>
          <p:cNvSpPr/>
          <p:nvPr/>
        </p:nvSpPr>
        <p:spPr>
          <a:xfrm>
            <a:off x="5759450" y="147732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F46B22B-25D7-E7EF-B6BD-4C93C1D8301B}"/>
              </a:ext>
            </a:extLst>
          </p:cNvPr>
          <p:cNvSpPr/>
          <p:nvPr/>
        </p:nvSpPr>
        <p:spPr>
          <a:xfrm>
            <a:off x="5861050" y="157829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B0BBCDC-9341-EC2A-56EB-DB896A29F6E3}"/>
              </a:ext>
            </a:extLst>
          </p:cNvPr>
          <p:cNvSpPr/>
          <p:nvPr/>
        </p:nvSpPr>
        <p:spPr>
          <a:xfrm>
            <a:off x="8158480" y="1849755"/>
            <a:ext cx="3368040" cy="4283075"/>
          </a:xfrm>
          <a:prstGeom prst="rect">
            <a:avLst/>
          </a:prstGeom>
          <a:noFill/>
          <a:ln/>
        </p:spPr>
        <p:txBody>
          <a:bodyPr wrap="square" lIns="46990" tIns="91440" rIns="91440" bIns="46990"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01120AA4-6EF5-7BE0-0BD6-929BEE9FBC42}"/>
              </a:ext>
            </a:extLst>
          </p:cNvPr>
          <p:cNvSpPr/>
          <p:nvPr/>
        </p:nvSpPr>
        <p:spPr>
          <a:xfrm>
            <a:off x="9475470" y="1476058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08C22A4-0D0C-1FA9-2EF5-BD512F54A373}"/>
              </a:ext>
            </a:extLst>
          </p:cNvPr>
          <p:cNvSpPr/>
          <p:nvPr/>
        </p:nvSpPr>
        <p:spPr>
          <a:xfrm>
            <a:off x="9577070" y="1577023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CA026A5B-69D0-AF3A-CB52-AAAB37F5101C}"/>
              </a:ext>
            </a:extLst>
          </p:cNvPr>
          <p:cNvSpPr/>
          <p:nvPr/>
        </p:nvSpPr>
        <p:spPr>
          <a:xfrm>
            <a:off x="-3182620" y="650367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DF8C43E-6E9A-8598-B4F9-A97D01176FBD}"/>
              </a:ext>
            </a:extLst>
          </p:cNvPr>
          <p:cNvSpPr/>
          <p:nvPr/>
        </p:nvSpPr>
        <p:spPr>
          <a:xfrm rot="10800000">
            <a:off x="11485880" y="6080760"/>
            <a:ext cx="6776085" cy="529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BCC3A87B-5135-B7E8-048F-84B4B12AB39E}"/>
              </a:ext>
            </a:extLst>
          </p:cNvPr>
          <p:cNvSpPr/>
          <p:nvPr/>
        </p:nvSpPr>
        <p:spPr>
          <a:xfrm>
            <a:off x="846879" y="1155372"/>
            <a:ext cx="428045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特定商品月度利润查看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D076CEC-D90E-3301-4F4E-41A250A5D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79" y="1718002"/>
            <a:ext cx="10604409" cy="416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96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顾客操作系统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380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操作页面展示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85788" y="1231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21159" y="381000"/>
                </a:lnTo>
                <a:cubicBezTo>
                  <a:pt x="194221" y="349300"/>
                  <a:pt x="178594" y="308446"/>
                  <a:pt x="178594" y="265212"/>
                </a:cubicBezTo>
                <a:lnTo>
                  <a:pt x="178594" y="242069"/>
                </a:lnTo>
                <a:cubicBezTo>
                  <a:pt x="178594" y="236637"/>
                  <a:pt x="179338" y="231279"/>
                  <a:pt x="180752" y="226219"/>
                </a:cubicBezTo>
                <a:lnTo>
                  <a:pt x="144587" y="226219"/>
                </a:lnTo>
                <a:close/>
                <a:moveTo>
                  <a:pt x="331366" y="363513"/>
                </a:moveTo>
                <a:lnTo>
                  <a:pt x="321469" y="368201"/>
                </a:lnTo>
                <a:lnTo>
                  <a:pt x="321469" y="228228"/>
                </a:lnTo>
                <a:lnTo>
                  <a:pt x="392906" y="252040"/>
                </a:lnTo>
                <a:lnTo>
                  <a:pt x="392906" y="266626"/>
                </a:lnTo>
                <a:cubicBezTo>
                  <a:pt x="392906" y="308149"/>
                  <a:pt x="368945" y="345877"/>
                  <a:pt x="331366" y="363587"/>
                </a:cubicBezTo>
                <a:close/>
                <a:moveTo>
                  <a:pt x="313953" y="193104"/>
                </a:moveTo>
                <a:lnTo>
                  <a:pt x="230609" y="220861"/>
                </a:lnTo>
                <a:cubicBezTo>
                  <a:pt x="220861" y="224135"/>
                  <a:pt x="214313" y="233214"/>
                  <a:pt x="214313" y="243483"/>
                </a:cubicBezTo>
                <a:lnTo>
                  <a:pt x="214313" y="266626"/>
                </a:lnTo>
                <a:cubicBezTo>
                  <a:pt x="214313" y="321990"/>
                  <a:pt x="246311" y="372368"/>
                  <a:pt x="296317" y="395883"/>
                </a:cubicBezTo>
                <a:lnTo>
                  <a:pt x="310083" y="402357"/>
                </a:lnTo>
                <a:cubicBezTo>
                  <a:pt x="313655" y="403994"/>
                  <a:pt x="317525" y="404887"/>
                  <a:pt x="321394" y="404887"/>
                </a:cubicBezTo>
                <a:cubicBezTo>
                  <a:pt x="325264" y="404887"/>
                  <a:pt x="329208" y="403994"/>
                  <a:pt x="332705" y="402357"/>
                </a:cubicBezTo>
                <a:lnTo>
                  <a:pt x="346472" y="395883"/>
                </a:lnTo>
                <a:cubicBezTo>
                  <a:pt x="396627" y="372294"/>
                  <a:pt x="428625" y="321915"/>
                  <a:pt x="428625" y="266551"/>
                </a:cubicBezTo>
                <a:lnTo>
                  <a:pt x="428625" y="243408"/>
                </a:lnTo>
                <a:cubicBezTo>
                  <a:pt x="428625" y="233139"/>
                  <a:pt x="422077" y="224061"/>
                  <a:pt x="412328" y="220787"/>
                </a:cubicBezTo>
                <a:lnTo>
                  <a:pt x="328985" y="193030"/>
                </a:lnTo>
                <a:cubicBezTo>
                  <a:pt x="324073" y="191393"/>
                  <a:pt x="318790" y="191393"/>
                  <a:pt x="313953" y="193030"/>
                </a:cubicBezTo>
                <a:close/>
              </a:path>
            </a:pathLst>
          </a:custGeom>
          <a:solidFill>
            <a:srgbClr val="3C5A8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87450" y="12192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90550" y="1892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18749" y="1503246"/>
            <a:ext cx="4349260" cy="2662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4838" y="402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46150" y="2336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6263" y="290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678B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46150" y="2844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81850" y="1219200"/>
            <a:ext cx="265381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+mn-cs"/>
              </a:rPr>
              <a:t>客户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+mn-cs"/>
              </a:rPr>
              <a:t>页面展示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C5A85"/>
              </a:solidFill>
              <a:effectLst/>
              <a:uLnTx/>
              <a:uFillTx/>
              <a:latin typeface="Noto Sans SC" pitchFamily="34" charset="0"/>
              <a:ea typeface="Noto Sans SC" pitchFamily="34" charset="-122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84168" y="1141802"/>
            <a:ext cx="5399834" cy="3761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分为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个主菜单：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购物车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：管理选中的商品（查看、添加、删除）。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结算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：完成购物车商品的支付流程。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会员中心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：使用会员余额结算（限会员用户）。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查看历史订单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：查询过往订单记录及消费统计。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修改密码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：修改当前登录账号的密码。</a:t>
            </a:r>
          </a:p>
        </p:txBody>
      </p:sp>
      <p:sp>
        <p:nvSpPr>
          <p:cNvPr id="19" name="Text 16"/>
          <p:cNvSpPr/>
          <p:nvPr/>
        </p:nvSpPr>
        <p:spPr>
          <a:xfrm>
            <a:off x="6940550" y="23368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4000" y="60452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C5A85">
              <a:alpha val="1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06400" y="6197600"/>
            <a:ext cx="1137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C5A85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核心代码 (`user_menu.c`):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通过条件分支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9AB3D4">
                    <a:alpha val="30196"/>
                  </a:srgbClr>
                </a:highlight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(type == ADMIN)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过滤菜单选项，并在选择阶段二次校验权限，防止越权操作。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929572-99F1-49DE-E5E4-9608EBC1A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123" y="1657114"/>
            <a:ext cx="3160823" cy="42963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购物车与结算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82140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40296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9325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49325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39316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b="1" dirty="0" err="1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购物车</a:t>
            </a:r>
            <a:r>
              <a:rPr lang="zh-CN" alt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结构体</a:t>
            </a: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 (`</a:t>
            </a:r>
            <a:r>
              <a:rPr lang="en-US" altLang="zh-CN" sz="2400" b="1" dirty="0" err="1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shop_cart.h</a:t>
            </a:r>
            <a:r>
              <a:rPr lang="en-US" altLang="zh-CN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`)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07481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40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07481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97471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购物车主流程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7A4318A-1B3A-439D-A30D-B0704AD6C7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868" y="2944813"/>
            <a:ext cx="4961353" cy="255807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7EAF36C-8B8A-AB89-34E0-9248249B5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779" y="2480136"/>
            <a:ext cx="4961353" cy="3837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>
            <a:extLst>
              <a:ext uri="{FF2B5EF4-FFF2-40B4-BE49-F238E27FC236}">
                <a16:creationId xmlns:a16="http://schemas.microsoft.com/office/drawing/2014/main" id="{5EB71F12-C463-F565-2D53-68DFCB94CCC4}"/>
              </a:ext>
            </a:extLst>
          </p:cNvPr>
          <p:cNvSpPr/>
          <p:nvPr/>
        </p:nvSpPr>
        <p:spPr>
          <a:xfrm>
            <a:off x="6652434" y="166353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BCB7A146-069D-E63B-59CC-A3C09577AF51}"/>
              </a:ext>
            </a:extLst>
          </p:cNvPr>
          <p:cNvSpPr/>
          <p:nvPr/>
        </p:nvSpPr>
        <p:spPr>
          <a:xfrm>
            <a:off x="6899530" y="2346409"/>
            <a:ext cx="5034088" cy="391048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503555" y="3703319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81525" y="1299845"/>
            <a:ext cx="634365" cy="634365"/>
          </a:xfrm>
          <a:prstGeom prst="blockArc">
            <a:avLst/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核心功能介绍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02920" y="1534795"/>
            <a:ext cx="585089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4:54:56-d2sjfg61bb2p4onbpvp0.png"/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添加商品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250682" y="2035703"/>
            <a:ext cx="6136238" cy="18912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zh-CN" altLang="en-US" dirty="0"/>
              <a:t>通过商品 </a:t>
            </a:r>
            <a:r>
              <a:rPr lang="en-US" altLang="zh-CN" dirty="0"/>
              <a:t>ID </a:t>
            </a:r>
            <a:r>
              <a:rPr lang="zh-CN" altLang="en-US" dirty="0"/>
              <a:t>或名称查询商品，验证库存后，输入购买数量。</a:t>
            </a:r>
          </a:p>
          <a:p>
            <a:pPr lvl="1"/>
            <a:r>
              <a:rPr lang="zh-CN" altLang="en-US" dirty="0"/>
              <a:t>生成新的购物车节点，插入链表尾部，完成商品添加。</a:t>
            </a:r>
          </a:p>
          <a:p>
            <a:pPr lvl="1"/>
            <a:r>
              <a:rPr lang="zh-CN" altLang="en-US" dirty="0"/>
              <a:t>支持连续添加多个商品，通过用户选择（</a:t>
            </a:r>
            <a:r>
              <a:rPr lang="en-US" altLang="zh-CN" dirty="0"/>
              <a:t>Y/N</a:t>
            </a:r>
            <a:r>
              <a:rPr lang="zh-CN" altLang="en-US" dirty="0"/>
              <a:t>）控制流程。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查看购物车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28189" y="4401562"/>
            <a:ext cx="3247582" cy="20621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zh-CN" altLang="en-US" dirty="0"/>
              <a:t>遍历购物车链表，展示商品 </a:t>
            </a:r>
            <a:r>
              <a:rPr lang="en-US" altLang="zh-CN" dirty="0"/>
              <a:t>ID</a:t>
            </a:r>
            <a:r>
              <a:rPr lang="zh-CN" altLang="en-US" dirty="0"/>
              <a:t>、名称、售价及购买数量。</a:t>
            </a:r>
          </a:p>
          <a:p>
            <a:pPr lvl="1"/>
            <a:r>
              <a:rPr lang="zh-CN" altLang="en-US" dirty="0"/>
              <a:t>若购物车为空，提示 “购物车为空”。</a:t>
            </a:r>
          </a:p>
          <a:p>
            <a:br>
              <a:rPr lang="zh-CN" altLang="en-US" dirty="0"/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3B83A0BA-7D86-5ED4-84BD-D2578732F451}"/>
              </a:ext>
            </a:extLst>
          </p:cNvPr>
          <p:cNvSpPr/>
          <p:nvPr/>
        </p:nvSpPr>
        <p:spPr>
          <a:xfrm>
            <a:off x="6909117" y="147430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D6906C6-9364-2AE6-D507-6F56A5A63F07}"/>
              </a:ext>
            </a:extLst>
          </p:cNvPr>
          <p:cNvSpPr/>
          <p:nvPr/>
        </p:nvSpPr>
        <p:spPr>
          <a:xfrm>
            <a:off x="8099108" y="193912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F4219DB-82BC-00E6-3FFF-4477E2426C87}"/>
              </a:ext>
            </a:extLst>
          </p:cNvPr>
          <p:cNvSpPr/>
          <p:nvPr/>
        </p:nvSpPr>
        <p:spPr>
          <a:xfrm>
            <a:off x="7017068" y="2834172"/>
            <a:ext cx="4799012" cy="266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/>
              <a:t>商品数据来源</a:t>
            </a:r>
            <a:r>
              <a:rPr lang="zh-CN" altLang="en-US" dirty="0"/>
              <a:t>：从</a:t>
            </a:r>
            <a:r>
              <a:rPr lang="en-US" altLang="zh-CN" dirty="0"/>
              <a:t>goods</a:t>
            </a:r>
            <a:r>
              <a:rPr lang="zh-CN" altLang="en-US" dirty="0"/>
              <a:t>文件读取商品信息，用于添加商品时的库存验证和信息展示。</a:t>
            </a:r>
          </a:p>
          <a:p>
            <a:r>
              <a:rPr lang="zh-CN" altLang="en-US" dirty="0"/>
              <a:t>订单生成：结算时基于购物车商品信息（售价、数量、进价）计算利润，生成</a:t>
            </a:r>
            <a:r>
              <a:rPr lang="en-US" altLang="zh-CN" dirty="0"/>
              <a:t>Order</a:t>
            </a:r>
            <a:r>
              <a:rPr lang="zh-CN" altLang="en-US" dirty="0"/>
              <a:t>和</a:t>
            </a:r>
            <a:r>
              <a:rPr lang="en-US" altLang="zh-CN" dirty="0" err="1"/>
              <a:t>OrderItem</a:t>
            </a:r>
            <a:r>
              <a:rPr lang="zh-CN" altLang="en-US" dirty="0"/>
              <a:t>结构，写入订单文件。</a:t>
            </a:r>
          </a:p>
          <a:p>
            <a:r>
              <a:rPr lang="zh-CN" altLang="en-US" b="1" dirty="0"/>
              <a:t>状态同步</a:t>
            </a:r>
            <a:r>
              <a:rPr lang="zh-CN" altLang="en-US" dirty="0"/>
              <a:t>：结算后实时更新商品库存和会员余额，确保数据一致性。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该模块通过链表管理购物车数据，结合库存校验和订单生成机制，实现了完整的购物流程，同时支持会员折扣和卡扣款，提升用户体验。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9B968E-0C33-FCA7-CE5C-E0108451CD68}"/>
              </a:ext>
            </a:extLst>
          </p:cNvPr>
          <p:cNvSpPr txBox="1"/>
          <p:nvPr/>
        </p:nvSpPr>
        <p:spPr>
          <a:xfrm>
            <a:off x="7846359" y="1663533"/>
            <a:ext cx="3619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数据流转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4F3F4-8C0B-5417-D357-DBF75BC0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289E0D5-60CE-9A0A-EB8F-A8E0A6964F8D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A9112F-3973-1D51-37CF-113C57C1FB71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22185E-8106-78C9-87C9-331EA04F512B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CA2A8B-8B6F-F106-D9F1-AE509AFBFB75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3EBC7A-2029-B23D-1011-BE0FA25056D5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AFC91D8-1DB9-F632-1120-CE444EAC842F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707AA6-FAEC-3A62-2501-092F821879CF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BF525D-799B-519D-0656-3C55E089A047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D35F97B-C1CE-054F-C1DA-582A584A3F4A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2EF236-9346-B712-7D6B-7D4B84CE21E9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67CBC3-32C3-9491-2F00-7D7FA78CA6AF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EC64A53-597E-9DF3-2B4E-C3E5D8D371C1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9D7E8B4-3095-FD31-EE37-D6202EEC174A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DC5506E-389D-FE0B-E83B-AFE6A2809EE6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62CF0D3-2776-5BAB-E1C0-CA04969AA6E3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9AB2447-F86C-8BA6-7B3F-D11E429CAC70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11A40CB-19FB-EDFB-876F-C0596CADB7D1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9FA9D64-B293-C1A1-B7A4-933B5F47FF8B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746808-8813-E110-E578-6453468CBB7F}"/>
              </a:ext>
            </a:extLst>
          </p:cNvPr>
          <p:cNvSpPr/>
          <p:nvPr/>
        </p:nvSpPr>
        <p:spPr>
          <a:xfrm>
            <a:off x="1362710" y="209519"/>
            <a:ext cx="597222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购物车页面展示（具体请见展示）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1EB38-E049-D57A-77C3-8654E8A8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1" y="724535"/>
            <a:ext cx="3481785" cy="46767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5008314-6452-0582-2526-8F3D56678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047" y="716915"/>
            <a:ext cx="7126143" cy="290136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F380B3E-1D84-4136-E204-57DB7959A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047" y="3618283"/>
            <a:ext cx="6457266" cy="206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53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A4014-15ED-1C32-F68F-7DD30FF6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F676418-63EE-6FE6-05A1-9AD26AEC7D12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E3164D-8E3A-2182-5371-190749876BD1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430917-DD40-2C47-3EE1-A5DF67B00F47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505340-2085-67EE-8E41-60BF1BC8A71B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EF4F79-9731-A772-1FA7-2DFDC21F3B69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59B900-6664-9B65-256C-3DEB11C73AC7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509C564-D248-A654-906F-D16D009B8154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gradFill flip="none" rotWithShape="0">
            <a:gsLst>
              <a:gs pos="0">
                <a:srgbClr val="94B9FF">
                  <a:alpha val="22000"/>
                </a:srgbClr>
              </a:gs>
              <a:gs pos="2000">
                <a:srgbClr val="94B9FF">
                  <a:alpha val="22000"/>
                </a:srgbClr>
              </a:gs>
              <a:gs pos="36000">
                <a:srgbClr val="94B9FF">
                  <a:alpha val="14000"/>
                </a:srgbClr>
              </a:gs>
              <a:gs pos="63000">
                <a:srgbClr val="94B9FF">
                  <a:alpha val="6000"/>
                </a:srgbClr>
              </a:gs>
              <a:gs pos="98000">
                <a:srgbClr val="94B9FF">
                  <a:alpha val="53000"/>
                </a:srgbClr>
              </a:gs>
              <a:gs pos="100000">
                <a:srgbClr val="94B9FF">
                  <a:alpha val="53000"/>
                </a:srgbClr>
              </a:gs>
            </a:gsLst>
            <a:lin ang="16980000" scaled="1"/>
          </a:gradFill>
          <a:ln/>
          <a:effectLst>
            <a:outerShdw blurRad="215900" dist="50800" dir="2700000" algn="bl" rotWithShape="0">
              <a:srgbClr val="376FFF">
                <a:alpha val="1490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1F1FD7-D950-CADE-5875-0DBFF610D93F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ADBA94-DFC8-89F0-DA9A-0673CBC4880C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A49270-F561-2DC8-5B04-FBC2895D23B8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BCED54-C364-1A4B-5F34-6D54F1CC4544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592AA0-100E-1CB5-DE96-CF46DD89B0DF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1806D73-541D-BB51-E597-1E16F6DB64E6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841617-9F32-1F83-D1EC-D1CB0889B4CB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D006750-BC74-A12E-C3CD-D7A56B65874F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custGeom>
            <a:avLst/>
            <a:gdLst/>
            <a:ahLst/>
            <a:cxnLst/>
            <a:rect l="l" t="t" r="r" b="b"/>
            <a:pathLst>
              <a:path w="256540" h="189865">
                <a:moveTo>
                  <a:pt x="128270" y="0"/>
                </a:moveTo>
                <a:cubicBezTo>
                  <a:pt x="199196" y="0"/>
                  <a:pt x="256540" y="73545"/>
                  <a:pt x="256540" y="165100"/>
                </a:cubicBezTo>
                <a:cubicBezTo>
                  <a:pt x="256540" y="173355"/>
                  <a:pt x="255785" y="181610"/>
                  <a:pt x="255031" y="189865"/>
                </a:cubicBezTo>
                <a:lnTo>
                  <a:pt x="255031" y="189865"/>
                </a:lnTo>
                <a:lnTo>
                  <a:pt x="1509" y="189865"/>
                </a:lnTo>
                <a:lnTo>
                  <a:pt x="1509" y="189865"/>
                </a:lnTo>
                <a:cubicBezTo>
                  <a:pt x="755" y="181610"/>
                  <a:pt x="0" y="173355"/>
                  <a:pt x="0" y="165100"/>
                </a:cubicBezTo>
                <a:cubicBezTo>
                  <a:pt x="0" y="73545"/>
                  <a:pt x="57344" y="0"/>
                  <a:pt x="128270" y="0"/>
                </a:cubicBezTo>
                <a:close/>
              </a:path>
            </a:pathLst>
          </a:custGeom>
          <a:solidFill>
            <a:srgbClr val="4874C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04E86CB-B002-0DA1-55D4-7CCB4E5F4B2F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7161F79-7FF3-77A6-1365-B4AA8ACDA2A5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D619AA0-517A-CA9D-A394-4DAB5432FFC9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B7C8CA-2531-FE00-7D8B-60EB862D0A9A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DE2618-A370-D4A5-DD3F-508FB02CCB30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7ECB591-5920-B7B8-F2FF-B59EC44D0D3B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E768E1B-0AB9-F328-84B7-753A59E30888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BB3B5F5-ABDA-88F0-DE40-FE57D0E30283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789C20F-F07F-A223-1DAF-7536B7702ECC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A0EB43-2E9B-81C6-A687-6ED9A6E68695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325F7CD-5DC6-941B-459F-469B17FCF9CE}"/>
              </a:ext>
            </a:extLst>
          </p:cNvPr>
          <p:cNvSpPr/>
          <p:nvPr/>
        </p:nvSpPr>
        <p:spPr>
          <a:xfrm>
            <a:off x="949325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22B0D97-D1C0-3445-C5C4-AC603322D982}"/>
              </a:ext>
            </a:extLst>
          </p:cNvPr>
          <p:cNvSpPr/>
          <p:nvPr/>
        </p:nvSpPr>
        <p:spPr>
          <a:xfrm>
            <a:off x="2139316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普通顾客结算流程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8580074-EEEC-DC46-3322-791386171F0F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40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2778074-1BAC-E273-ECB6-AFE8A55E8FF7}"/>
              </a:ext>
            </a:extLst>
          </p:cNvPr>
          <p:cNvSpPr/>
          <p:nvPr/>
        </p:nvSpPr>
        <p:spPr>
          <a:xfrm>
            <a:off x="6507481" y="1397953"/>
            <a:ext cx="1057910" cy="1358265"/>
          </a:xfrm>
          <a:prstGeom prst="rect">
            <a:avLst/>
          </a:prstGeom>
          <a:noFill/>
          <a:ln/>
        </p:spPr>
        <p:txBody>
          <a:bodyPr wrap="square" lIns="45720" tIns="91440" rIns="179705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A027414-E575-D6F7-857C-1C48940F0E48}"/>
              </a:ext>
            </a:extLst>
          </p:cNvPr>
          <p:cNvSpPr/>
          <p:nvPr/>
        </p:nvSpPr>
        <p:spPr>
          <a:xfrm>
            <a:off x="7697471" y="186277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会员结算流程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0CC23A6-DC4D-0CAA-C123-7BDFC649ABC6}"/>
              </a:ext>
            </a:extLst>
          </p:cNvPr>
          <p:cNvSpPr/>
          <p:nvPr/>
        </p:nvSpPr>
        <p:spPr>
          <a:xfrm>
            <a:off x="1362710" y="209519"/>
            <a:ext cx="597222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结算页面展示（具体请见展示）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F115747-30A2-DB4B-60E7-EFEE3CECC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36" y="2410143"/>
            <a:ext cx="5287264" cy="353726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BB8214E-4940-C280-52DB-2398952D9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97" y="2604553"/>
            <a:ext cx="4969496" cy="3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06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3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582BB-B560-705C-75ED-F8959800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>
            <a:extLst>
              <a:ext uri="{FF2B5EF4-FFF2-40B4-BE49-F238E27FC236}">
                <a16:creationId xmlns:a16="http://schemas.microsoft.com/office/drawing/2014/main" id="{5D466E8A-D70A-5111-EF49-89206F714CAC}"/>
              </a:ext>
            </a:extLst>
          </p:cNvPr>
          <p:cNvSpPr/>
          <p:nvPr/>
        </p:nvSpPr>
        <p:spPr>
          <a:xfrm>
            <a:off x="6676072" y="166353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D8E1EFA4-8A7A-D267-B173-1008DED78427}"/>
              </a:ext>
            </a:extLst>
          </p:cNvPr>
          <p:cNvSpPr/>
          <p:nvPr/>
        </p:nvSpPr>
        <p:spPr>
          <a:xfrm>
            <a:off x="354111" y="147430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9E626-8CAD-A281-5A8D-D72389FF61F0}"/>
              </a:ext>
            </a:extLst>
          </p:cNvPr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498BC2-2CAF-DF84-A212-2222679C318C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blockArc">
            <a:avLst/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D2EB7B-45A1-7202-1520-5A6E62AB8EE9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F530E8-A7DE-7F30-AC85-C1B88657CD11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收款码模块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C60B52-841C-6F39-74C2-4EBB3D6F4829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BF9BAE-AB05-A490-D70A-D99A61CAA8B4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A9B0DC-161A-9D08-989B-27E6420A9DDB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5C6EF9-3BC1-4665-1530-9908D71CFA1F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B99A203-2B9D-0581-0DB8-D00074728567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340F4C-0C07-E30A-1BB5-A6FE0A8E25A4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6A38A09-DEBB-3810-4377-E7E11FCAE9A5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42F8CA5-C9B7-BCC0-D0A1-59E7C900001B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5881AD4-686B-1EA6-F8AC-235D32C7D89E}"/>
              </a:ext>
            </a:extLst>
          </p:cNvPr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595463A8-F0E1-89E4-814B-B49F96980EFA}"/>
              </a:ext>
            </a:extLst>
          </p:cNvPr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4:54:56-d2sjfg61bb2p4onbpvp0.png">
            <a:extLst>
              <a:ext uri="{FF2B5EF4-FFF2-40B4-BE49-F238E27FC236}">
                <a16:creationId xmlns:a16="http://schemas.microsoft.com/office/drawing/2014/main" id="{BEF2DEB1-DDF0-BF61-B044-3E468483DA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34" name="Text 28">
            <a:extLst>
              <a:ext uri="{FF2B5EF4-FFF2-40B4-BE49-F238E27FC236}">
                <a16:creationId xmlns:a16="http://schemas.microsoft.com/office/drawing/2014/main" id="{4D6CC623-3E79-DD6B-208B-96FE1ECAACC0}"/>
              </a:ext>
            </a:extLst>
          </p:cNvPr>
          <p:cNvSpPr/>
          <p:nvPr/>
        </p:nvSpPr>
        <p:spPr>
          <a:xfrm>
            <a:off x="7089934" y="2986480"/>
            <a:ext cx="4876482" cy="3458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/>
              <a:t>顾客修改自身密码流程</a:t>
            </a:r>
          </a:p>
          <a:p>
            <a:r>
              <a:rPr lang="zh-CN" altLang="en-US" dirty="0"/>
              <a:t>输入当前密码进行验证。输入新密码并二次确认，确保两次输入一致。新密码通过格式校验后，加密存储至</a:t>
            </a:r>
            <a:r>
              <a:rPr lang="en-US" altLang="zh-CN" dirty="0"/>
              <a:t>customers.dat</a:t>
            </a:r>
            <a:r>
              <a:rPr lang="zh-CN" altLang="en-US" dirty="0"/>
              <a:t>文件。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管理员修改密码流程</a:t>
            </a:r>
          </a:p>
          <a:p>
            <a:r>
              <a:rPr lang="zh-CN" altLang="en-US" dirty="0"/>
              <a:t>输入管理员自身密码进行权限验证</a:t>
            </a:r>
          </a:p>
          <a:p>
            <a:r>
              <a:rPr lang="zh-CN" altLang="en-US" dirty="0"/>
              <a:t>选择目标用户并输入其用户名。</a:t>
            </a:r>
          </a:p>
          <a:p>
            <a:r>
              <a:rPr lang="zh-CN" altLang="en-US" dirty="0"/>
              <a:t>输入新密码，系统加密后更新至对应文件（</a:t>
            </a:r>
            <a:r>
              <a:rPr lang="en-US" altLang="zh-CN" dirty="0"/>
              <a:t>admins.dat</a:t>
            </a:r>
            <a:r>
              <a:rPr lang="zh-CN" altLang="en-US" dirty="0"/>
              <a:t>或</a:t>
            </a:r>
            <a:r>
              <a:rPr lang="en-US" altLang="zh-CN" dirty="0"/>
              <a:t>customers.dat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禁止管理员修改自身密码（避免权限滥用）。</a:t>
            </a: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55251901-89E9-04DA-5D5F-D14D50DD2FD4}"/>
              </a:ext>
            </a:extLst>
          </p:cNvPr>
          <p:cNvSpPr/>
          <p:nvPr/>
        </p:nvSpPr>
        <p:spPr>
          <a:xfrm>
            <a:off x="635635" y="1534795"/>
            <a:ext cx="3813809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zh-CN" altLang="en-US" sz="3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</a:rPr>
              <a:t>模块展示</a:t>
            </a:r>
            <a:endParaRPr lang="en-US" sz="3200" b="1" dirty="0">
              <a:solidFill>
                <a:srgbClr val="4874CB"/>
              </a:solidFill>
              <a:latin typeface="MiSans" pitchFamily="34" charset="0"/>
              <a:ea typeface="MiSans" pitchFamily="34" charset="-122"/>
            </a:endParaRPr>
          </a:p>
        </p:txBody>
      </p:sp>
      <p:pic>
        <p:nvPicPr>
          <p:cNvPr id="24" name="图片 2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18C17F0-69FF-6087-B18B-30F03189B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357979"/>
            <a:ext cx="7641124" cy="4110207"/>
          </a:xfrm>
          <a:prstGeom prst="rect">
            <a:avLst/>
          </a:prstGeom>
        </p:spPr>
      </p:pic>
      <p:sp>
        <p:nvSpPr>
          <p:cNvPr id="31" name="Shape 25">
            <a:extLst>
              <a:ext uri="{FF2B5EF4-FFF2-40B4-BE49-F238E27FC236}">
                <a16:creationId xmlns:a16="http://schemas.microsoft.com/office/drawing/2014/main" id="{73B35E7A-E29D-A98F-FDBA-4E3030DE7B9F}"/>
              </a:ext>
            </a:extLst>
          </p:cNvPr>
          <p:cNvSpPr/>
          <p:nvPr/>
        </p:nvSpPr>
        <p:spPr>
          <a:xfrm>
            <a:off x="6909117" y="147430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0C6AA7F8-62C2-E4E0-9AB7-B10E53515D13}"/>
              </a:ext>
            </a:extLst>
          </p:cNvPr>
          <p:cNvSpPr/>
          <p:nvPr/>
        </p:nvSpPr>
        <p:spPr>
          <a:xfrm>
            <a:off x="7344573" y="2855204"/>
            <a:ext cx="4497145" cy="3435741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5D070A9-D01E-F939-7E73-17BE711515C5}"/>
              </a:ext>
            </a:extLst>
          </p:cNvPr>
          <p:cNvSpPr txBox="1"/>
          <p:nvPr/>
        </p:nvSpPr>
        <p:spPr>
          <a:xfrm>
            <a:off x="7438926" y="3289600"/>
            <a:ext cx="4212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个人或商家只需通过支付平台生成专属收款码，他人使用对应 </a:t>
            </a:r>
            <a:r>
              <a:rPr lang="en-US" altLang="zh-CN" b="1" dirty="0"/>
              <a:t>App </a:t>
            </a:r>
            <a:r>
              <a:rPr lang="zh-CN" altLang="en-US" b="1" dirty="0"/>
              <a:t>扫描该二维码，即可直接完成转账支付，无需手动输入收款方账号、金额等信息，减少操作步骤和出错概率。</a:t>
            </a:r>
          </a:p>
          <a:p>
            <a:r>
              <a:rPr lang="zh-CN" altLang="en-US" b="1" dirty="0"/>
              <a:t>收款码功能通过简化支付流程、降低使用成本，极大地提升了资金收付效率，成为移动支付时代不可或缺的工具。</a:t>
            </a:r>
          </a:p>
        </p:txBody>
      </p:sp>
    </p:spTree>
    <p:extLst>
      <p:ext uri="{BB962C8B-B14F-4D97-AF65-F5344CB8AC3E}">
        <p14:creationId xmlns:p14="http://schemas.microsoft.com/office/powerpoint/2010/main" val="1858673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32A57-C29F-61CE-2312-6944F27A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C522B55-4B86-43CC-7D07-F25565E5DAD5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197C7CB-18EC-31D4-4309-39A0B2AAD180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292DB74-08B5-C54F-D511-C6D79A42E80B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D5192F9-9D08-9391-4110-1D4F53653CEC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36876C7-B47D-7CBB-38D5-9D180F9CC507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FD866CD-5310-A739-67F2-E5FA93C8AD1D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会员中心模块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2F3D07A-C49B-1E1A-3B96-E0DB1512E322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4311576-7537-A643-98C2-9A7479C3BE43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72A8399-EE1D-C3B8-9AA7-83AF3D2C90A5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152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9A410-0FA3-3420-7329-1E4B671C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5">
            <a:extLst>
              <a:ext uri="{FF2B5EF4-FFF2-40B4-BE49-F238E27FC236}">
                <a16:creationId xmlns:a16="http://schemas.microsoft.com/office/drawing/2014/main" id="{A38F37DC-4D86-6FE7-57E3-70E5CC9F46E0}"/>
              </a:ext>
            </a:extLst>
          </p:cNvPr>
          <p:cNvSpPr/>
          <p:nvPr/>
        </p:nvSpPr>
        <p:spPr>
          <a:xfrm>
            <a:off x="5193363" y="4160872"/>
            <a:ext cx="585089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1009F7C-9C8C-DFBD-8DD3-10A45116ABDD}"/>
              </a:ext>
            </a:extLst>
          </p:cNvPr>
          <p:cNvSpPr/>
          <p:nvPr/>
        </p:nvSpPr>
        <p:spPr>
          <a:xfrm>
            <a:off x="503555" y="3703319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EB3953-57F5-E5F1-D36D-2653A1614185}"/>
              </a:ext>
            </a:extLst>
          </p:cNvPr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7478D5-5061-5820-7A0D-C7B46F5685FE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blockArc">
            <a:avLst/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0890E6-BF83-3AA4-8967-6E0183524171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21042E-C8C4-CC5D-6C90-5231A8EDE679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会员中心内容介绍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68EC8F-F588-1A72-12F5-F391E0B56605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7E54A5-F7D0-DF7C-86BE-F3C12C41535F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E2B214B-53DF-1DB6-6A6F-2E9035C4A126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51AAC5-9C5D-AF8A-F351-493270ABF237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8C5D69-7844-B9AA-A1AF-7A2E88EAE9C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0CA370A-A1BF-3AF5-9058-E635D54ADCD6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5BACFE9-A810-EF34-E495-88419B4F2C2B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96D231-0DCA-C0D5-A215-36EC774EB913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E2A3680-D91B-B2F5-5FEE-DBED3D7BD46B}"/>
              </a:ext>
            </a:extLst>
          </p:cNvPr>
          <p:cNvSpPr/>
          <p:nvPr/>
        </p:nvSpPr>
        <p:spPr>
          <a:xfrm>
            <a:off x="502920" y="1534795"/>
            <a:ext cx="585089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5F46277-6FED-B124-CEE3-A221F1CADC20}"/>
              </a:ext>
            </a:extLst>
          </p:cNvPr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07830CC-A8B0-DB17-04AC-863041AC6968}"/>
              </a:ext>
            </a:extLst>
          </p:cNvPr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4:54:56-d2sjfg61bb2p4onbpvp0.png">
            <a:extLst>
              <a:ext uri="{FF2B5EF4-FFF2-40B4-BE49-F238E27FC236}">
                <a16:creationId xmlns:a16="http://schemas.microsoft.com/office/drawing/2014/main" id="{2D8BC026-9FF4-1A37-3C55-A4168FF263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3C91D26C-6C4B-83BE-E82C-E885466104EB}"/>
              </a:ext>
            </a:extLst>
          </p:cNvPr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605DE9E-990A-453A-1D27-3FD57D6FD5C6}"/>
              </a:ext>
            </a:extLst>
          </p:cNvPr>
          <p:cNvSpPr/>
          <p:nvPr/>
        </p:nvSpPr>
        <p:spPr>
          <a:xfrm>
            <a:off x="-142745" y="3821729"/>
            <a:ext cx="4322950" cy="2246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lvl="2"/>
            <a:r>
              <a:rPr lang="zh-CN" altLang="en-US" sz="2000" dirty="0"/>
              <a:t>非会员用户进入会员中心时，系统会询问是否要开通会员。若用户选择开通，会完成会员注册流程，并将会员初始余额设为 </a:t>
            </a:r>
            <a:r>
              <a:rPr lang="en-US" altLang="zh-CN" sz="2000" dirty="0"/>
              <a:t>0.00 </a:t>
            </a:r>
            <a:r>
              <a:rPr lang="zh-CN" altLang="en-US" sz="2000" dirty="0"/>
              <a:t>元，同时会员可享受 </a:t>
            </a:r>
            <a:r>
              <a:rPr lang="en-US" altLang="zh-CN" sz="2000" dirty="0"/>
              <a:t>9 </a:t>
            </a:r>
            <a:r>
              <a:rPr lang="zh-CN" altLang="en-US" sz="2000" dirty="0"/>
              <a:t>折优惠。</a:t>
            </a:r>
            <a:br>
              <a:rPr lang="zh-CN" altLang="en-US" dirty="0"/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A5872F62-1D63-469A-29F4-CA6077B8F2F4}"/>
              </a:ext>
            </a:extLst>
          </p:cNvPr>
          <p:cNvSpPr/>
          <p:nvPr/>
        </p:nvSpPr>
        <p:spPr>
          <a:xfrm>
            <a:off x="6720205" y="301801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CE07375A-EE22-8D35-32CC-AC254B18A862}"/>
              </a:ext>
            </a:extLst>
          </p:cNvPr>
          <p:cNvSpPr/>
          <p:nvPr/>
        </p:nvSpPr>
        <p:spPr>
          <a:xfrm>
            <a:off x="6953250" y="112571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2FEB9B81-3EF0-B6B6-25D7-C377A146BDD2}"/>
              </a:ext>
            </a:extLst>
          </p:cNvPr>
          <p:cNvSpPr/>
          <p:nvPr/>
        </p:nvSpPr>
        <p:spPr>
          <a:xfrm>
            <a:off x="8143241" y="577391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核心流程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9B8FC391-D264-1FE2-D1F1-41BBA00F43CD}"/>
              </a:ext>
            </a:extLst>
          </p:cNvPr>
          <p:cNvSpPr/>
          <p:nvPr/>
        </p:nvSpPr>
        <p:spPr>
          <a:xfrm>
            <a:off x="7196455" y="1794686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/>
              <a:t>会员充值</a:t>
            </a:r>
            <a:r>
              <a:rPr lang="zh-CN" altLang="en-US" dirty="0"/>
              <a:t>：会员可以进行余额充值。系统会对用户输入的充值金额进行校验，确保金额为正数且格式正确。充值成功后，会更新会员在</a:t>
            </a:r>
            <a:r>
              <a:rPr lang="en-US" altLang="zh-CN" dirty="0"/>
              <a:t>customers.dat</a:t>
            </a:r>
            <a:r>
              <a:rPr lang="zh-CN" altLang="en-US" dirty="0"/>
              <a:t>文件中的余额信息，并显示当前的会员余额。</a:t>
            </a:r>
          </a:p>
          <a:p>
            <a:r>
              <a:rPr lang="zh-CN" altLang="en-US" b="1" dirty="0"/>
              <a:t>查询会员余额</a:t>
            </a:r>
            <a:r>
              <a:rPr lang="zh-CN" altLang="en-US" dirty="0"/>
              <a:t>：会员能够查询自己当前的余额信息。系统会从</a:t>
            </a:r>
            <a:r>
              <a:rPr lang="en-US" altLang="zh-CN" dirty="0"/>
              <a:t>customers.dat</a:t>
            </a:r>
            <a:r>
              <a:rPr lang="zh-CN" altLang="en-US" dirty="0"/>
              <a:t>文件中读取并返回当前登录用户的余额。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AB8A431-26C6-DDE9-A59F-77184A689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15" y="1586153"/>
            <a:ext cx="5320485" cy="179847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FE5BAF0-D991-6F75-425C-7E77A8FF4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535" y="4389931"/>
            <a:ext cx="50006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26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7F0A4-09F4-A2AC-4332-25DC6BCC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FD8818A-7992-3CD6-2185-1B87374ECD18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529C46E-CBF4-715B-8F36-0926682AB135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911333F-2067-8DBB-33FC-B851AB36B0C0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17A25EA-61EC-4E41-4ACC-D527EDA673D4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B042CD4-65CF-7A79-0267-B80DA3EAB280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3281150-42A1-1FA8-FCFD-6CA1760CC955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历史订单模块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51CA199-4C76-C5DB-CDD0-0227ECD26D35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30D395E-6F0B-71EC-7F02-87458878DBA4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B7E5FD3-32D7-792E-119E-35FC5A868063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709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1D259-8D89-F479-1904-92A0A983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6666835-8F16-7541-CC50-33C7B24C8A30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5F0EAE-5AC9-8562-8E8B-527A6F42B806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0A208A-5B8A-2F3C-0608-DC9618BFB4B8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5CE832-355D-5A94-C60A-76CE7727B751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A0DED34-DB4B-7DC0-8C94-40FCDD8F9F4E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256718D-C9DF-744B-B1C0-6E12A4D691EC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3C5088-763D-79A4-A7F7-B47442836DF6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603BE6C-B5D0-3997-4965-E38E3DE1A4D0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70E6ED1-554B-D27D-CFA4-59E03E97BF0E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AA03B8F-F539-CC9D-738D-158F7FA2D39E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E614DDF-F622-7BD3-5D00-94AFB7EF2E76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EDC041-2040-9F0B-8717-94A24D7ED705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44892E-719C-44EF-5AFB-FC33F1D37309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9787AC7-B981-0D06-F0D9-1861BCB4F167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47E2FF5-5C09-5B15-9ADE-2EB26C4036C2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70C33AB-177C-2378-8BCC-393642E3C7B8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0542D1D-E470-493A-4E85-A4A6CBD23E1D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967626-9996-C40B-B26E-FA8349E62131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D975913-9CE4-DF10-3C5B-630B308E8587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查看历史订单功能介绍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941F67-E95C-DBF8-A591-439D7FC2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63" y="1017270"/>
            <a:ext cx="9630803" cy="53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68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2000"/>
              </a:srgbClr>
            </a:gs>
            <a:gs pos="2000">
              <a:srgbClr val="94B9FF">
                <a:alpha val="22000"/>
              </a:srgbClr>
            </a:gs>
            <a:gs pos="36000">
              <a:srgbClr val="94B9FF">
                <a:alpha val="14000"/>
              </a:srgbClr>
            </a:gs>
            <a:gs pos="63000">
              <a:srgbClr val="94B9FF">
                <a:alpha val="6000"/>
              </a:srgbClr>
            </a:gs>
            <a:gs pos="98000">
              <a:srgbClr val="94B9FF">
                <a:alpha val="53000"/>
              </a:srgbClr>
            </a:gs>
            <a:gs pos="100000">
              <a:srgbClr val="94B9FF">
                <a:alpha val="53000"/>
              </a:srgbClr>
            </a:gs>
          </a:gsLst>
          <a:lin ang="1698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F02E1-EC94-C0F8-8DAF-56CEC66C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F06DC08-1257-B928-47C5-C0ADC080A381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ED0B0B-EBBD-ED26-A75C-DEC3F7CBFEE8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821C66-2B5F-E603-9ED6-995F2E13B5C0}"/>
              </a:ext>
            </a:extLst>
          </p:cNvPr>
          <p:cNvSpPr/>
          <p:nvPr/>
        </p:nvSpPr>
        <p:spPr>
          <a:xfrm>
            <a:off x="6274436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9B3BF0-9070-7A04-F3E0-ED72C56D5901}"/>
              </a:ext>
            </a:extLst>
          </p:cNvPr>
          <p:cNvSpPr/>
          <p:nvPr/>
        </p:nvSpPr>
        <p:spPr>
          <a:xfrm>
            <a:off x="6274436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07DADA-ED79-844B-8730-B835C17DD37F}"/>
              </a:ext>
            </a:extLst>
          </p:cNvPr>
          <p:cNvSpPr/>
          <p:nvPr/>
        </p:nvSpPr>
        <p:spPr>
          <a:xfrm>
            <a:off x="716280" y="159607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F76180-548D-7059-BCF7-4FFD2F8EDF0C}"/>
              </a:ext>
            </a:extLst>
          </p:cNvPr>
          <p:cNvSpPr/>
          <p:nvPr/>
        </p:nvSpPr>
        <p:spPr>
          <a:xfrm>
            <a:off x="716280" y="1587183"/>
            <a:ext cx="5236845" cy="4526915"/>
          </a:xfrm>
          <a:prstGeom prst="rect">
            <a:avLst/>
          </a:prstGeom>
          <a:noFill/>
          <a:ln/>
        </p:spPr>
        <p:txBody>
          <a:bodyPr wrap="square" lIns="935990" tIns="215900" rIns="215900" bIns="36195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C6BA80-EDC8-1AD7-AA13-CBC1A8307729}"/>
              </a:ext>
            </a:extLst>
          </p:cNvPr>
          <p:cNvSpPr/>
          <p:nvPr/>
        </p:nvSpPr>
        <p:spPr>
          <a:xfrm>
            <a:off x="1882140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DC0E0D6-8FB1-88D5-64A7-2260D295C676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7DCD63D-A850-644D-75AE-1E9E4B6C447E}"/>
              </a:ext>
            </a:extLst>
          </p:cNvPr>
          <p:cNvSpPr/>
          <p:nvPr/>
        </p:nvSpPr>
        <p:spPr>
          <a:xfrm>
            <a:off x="2074545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37EB8F8-0AF2-F842-D97D-640AE9553C8E}"/>
              </a:ext>
            </a:extLst>
          </p:cNvPr>
          <p:cNvSpPr/>
          <p:nvPr/>
        </p:nvSpPr>
        <p:spPr>
          <a:xfrm>
            <a:off x="7440296" y="1397318"/>
            <a:ext cx="256540" cy="189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C99B52D-A5BE-55C7-7A3B-1EB5616F1C80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oundRect">
            <a:avLst/>
          </a:prstGeom>
          <a:gradFill flip="none" rotWithShape="1">
            <a:gsLst>
              <a:gs pos="0">
                <a:srgbClr val="87A9FF">
                  <a:alpha val="61000"/>
                </a:srgbClr>
              </a:gs>
              <a:gs pos="71000">
                <a:srgbClr val="4874CB">
                  <a:alpha val="83000"/>
                </a:srgbClr>
              </a:gs>
              <a:gs pos="100000">
                <a:srgbClr val="4874CB">
                  <a:alpha val="83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02F6AD8-ABE0-4303-7ABE-7C0CF3FBE9A7}"/>
              </a:ext>
            </a:extLst>
          </p:cNvPr>
          <p:cNvSpPr/>
          <p:nvPr/>
        </p:nvSpPr>
        <p:spPr>
          <a:xfrm>
            <a:off x="7632701" y="6042343"/>
            <a:ext cx="2520000" cy="90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31D46B8-F746-089B-AB12-A1A91AB7D728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A768715-5C2E-D3E2-B7C0-6E2A62A59443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669532A-6BFB-52D8-735F-B7166405C636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FB8AA5-A7A2-DAD7-C61E-9CD5F885D703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2DB5CAC-B7D8-D7DB-E9F7-293FD84C55FE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1D3ECF3-7ACB-109D-948B-259E0892FE30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12DCAE3-99B4-1E63-8D7C-63EC537D160D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查看历史订单功能介绍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793AB7-B70A-B7F4-CF17-38F0C1F8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0" y="1165542"/>
            <a:ext cx="10833227" cy="452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81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8435B-2FA0-8EE8-CD8A-FFCB40BB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6B41FBF-35EF-EF50-6936-C5890D9ABA43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CD2532D-8551-4935-674B-7F8DB686ACDD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BACA50D-7F9A-9BD3-2AFC-88532A828EE5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A91F4A7-20BA-8E43-DE96-FD5B866744A3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7BDA4C0-8014-37CD-C4E9-D93605959587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5C4213D-1366-923B-9A77-F97E2546C366}"/>
              </a:ext>
            </a:extLst>
          </p:cNvPr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密码修改模块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A084E90-2B38-D3BE-0E59-F8685C9CFA59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562B484-35AA-3292-D011-941C7E911EF6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E9E1455-5430-0A4A-3C51-51991C9D9430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126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E78A8-875C-0018-72EE-B7A91C7A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>
            <a:extLst>
              <a:ext uri="{FF2B5EF4-FFF2-40B4-BE49-F238E27FC236}">
                <a16:creationId xmlns:a16="http://schemas.microsoft.com/office/drawing/2014/main" id="{62173B87-0B2D-6F61-8C1E-3F4291AB0582}"/>
              </a:ext>
            </a:extLst>
          </p:cNvPr>
          <p:cNvSpPr/>
          <p:nvPr/>
        </p:nvSpPr>
        <p:spPr>
          <a:xfrm>
            <a:off x="6676072" y="1663533"/>
            <a:ext cx="5236845" cy="4526915"/>
          </a:xfrm>
          <a:prstGeom prst="rect">
            <a:avLst/>
          </a:prstGeom>
          <a:solidFill>
            <a:srgbClr val="94B9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1EAF54DA-DEE4-03F3-DC20-D709D178C1D5}"/>
              </a:ext>
            </a:extLst>
          </p:cNvPr>
          <p:cNvSpPr/>
          <p:nvPr/>
        </p:nvSpPr>
        <p:spPr>
          <a:xfrm>
            <a:off x="6727758" y="2586921"/>
            <a:ext cx="5185680" cy="3736409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9B86A71-D470-0386-8158-BA375C96EAA2}"/>
              </a:ext>
            </a:extLst>
          </p:cNvPr>
          <p:cNvSpPr/>
          <p:nvPr/>
        </p:nvSpPr>
        <p:spPr>
          <a:xfrm>
            <a:off x="503555" y="3857625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82EFBF-FFC4-9F91-4EBF-6036FB2522AE}"/>
              </a:ext>
            </a:extLst>
          </p:cNvPr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5B2FED-98CD-2239-2FDA-F161C6E0FBA8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blockArc">
            <a:avLst/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8244FB-1E2D-9AD4-D54B-0B3D0C0125DD}"/>
              </a:ext>
            </a:extLst>
          </p:cNvPr>
          <p:cNvSpPr/>
          <p:nvPr/>
        </p:nvSpPr>
        <p:spPr>
          <a:xfrm>
            <a:off x="4581525" y="129984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3FC354-12E5-4FBE-6111-64B5DA5F314A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密码修改模块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775FDA-76B0-7DD4-A52D-F6D0961FCB24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32022C-4124-6459-8EED-A27DA0E55007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CAB5DA-D41B-3017-2A7A-4402AFDF939B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FF147B-EA13-C12F-4A74-29585BFF72AE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A6DF297-2F27-359E-D578-703799297C1F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F6AF6E-1857-F503-78D4-59A5B96EEFF1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60D023-D04A-801B-86D4-E98456DCD6A9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B7016F-8E6A-D82B-C576-296C1EE428EC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058B3F4A-E57A-19B0-E6AF-D4822EE5D6A0}"/>
              </a:ext>
            </a:extLst>
          </p:cNvPr>
          <p:cNvSpPr/>
          <p:nvPr/>
        </p:nvSpPr>
        <p:spPr>
          <a:xfrm>
            <a:off x="502920" y="1534795"/>
            <a:ext cx="5850890" cy="213106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9600172-2386-2FCD-C30D-0EF934630EC6}"/>
              </a:ext>
            </a:extLst>
          </p:cNvPr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009E9D8-F91C-FB8F-7DA4-B361C40CC57E}"/>
              </a:ext>
            </a:extLst>
          </p:cNvPr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4:54:56-d2sjfg61bb2p4onbpvp0.png">
            <a:extLst>
              <a:ext uri="{FF2B5EF4-FFF2-40B4-BE49-F238E27FC236}">
                <a16:creationId xmlns:a16="http://schemas.microsoft.com/office/drawing/2014/main" id="{ABC2364E-EFD1-A321-6AE6-23E6ABE3D9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19300EC6-94E9-61BE-2923-7A48526C4DA7}"/>
              </a:ext>
            </a:extLst>
          </p:cNvPr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功能适用角色与入口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8390FDD-F11A-52F5-709C-6FD11155240F}"/>
              </a:ext>
            </a:extLst>
          </p:cNvPr>
          <p:cNvSpPr/>
          <p:nvPr/>
        </p:nvSpPr>
        <p:spPr>
          <a:xfrm>
            <a:off x="659765" y="2140467"/>
            <a:ext cx="5642359" cy="18912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b="1" dirty="0"/>
              <a:t>顾客</a:t>
            </a:r>
            <a:r>
              <a:rPr lang="zh-CN" altLang="en-US" dirty="0"/>
              <a:t>：通过顾客主菜单的「修改密码」选项进入，仅能修改自身密码。</a:t>
            </a:r>
          </a:p>
          <a:p>
            <a:r>
              <a:rPr lang="zh-CN" altLang="en-US" b="1" dirty="0"/>
              <a:t>管理员</a:t>
            </a:r>
            <a:r>
              <a:rPr lang="zh-CN" altLang="en-US" dirty="0"/>
              <a:t>：通过管理员「用户管理」子菜单进入，可修改所有用户（包括管理员和顾客）的密码，但需验证自身密码权限。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F7F6DB8-D581-7E28-CC89-CCFC8B6FB17B}"/>
              </a:ext>
            </a:extLst>
          </p:cNvPr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数据安全机制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078FD9E2-372B-DB73-2E48-3CBC86EECF6B}"/>
              </a:ext>
            </a:extLst>
          </p:cNvPr>
          <p:cNvSpPr/>
          <p:nvPr/>
        </p:nvSpPr>
        <p:spPr>
          <a:xfrm>
            <a:off x="659766" y="4715865"/>
            <a:ext cx="3625849" cy="1508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b="1" dirty="0"/>
              <a:t>密码存储</a:t>
            </a:r>
            <a:r>
              <a:rPr lang="zh-CN" altLang="en-US" dirty="0"/>
              <a:t>：采用 </a:t>
            </a:r>
            <a:r>
              <a:rPr lang="en-US" altLang="zh-CN" dirty="0"/>
              <a:t>FNV-1a </a:t>
            </a:r>
            <a:r>
              <a:rPr lang="zh-CN" altLang="en-US" dirty="0"/>
              <a:t>哈希算法将密码转换为 </a:t>
            </a:r>
            <a:r>
              <a:rPr lang="en-US" altLang="zh-CN" dirty="0"/>
              <a:t>32 </a:t>
            </a:r>
            <a:r>
              <a:rPr lang="zh-CN" altLang="en-US" dirty="0"/>
              <a:t>位十六进制哈希值，避免明文存储。</a:t>
            </a:r>
          </a:p>
          <a:p>
            <a:br>
              <a:rPr lang="zh-CN" altLang="en-US" dirty="0"/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2BA2083D-3496-BC2D-7370-3A05B96A7264}"/>
              </a:ext>
            </a:extLst>
          </p:cNvPr>
          <p:cNvSpPr/>
          <p:nvPr/>
        </p:nvSpPr>
        <p:spPr>
          <a:xfrm>
            <a:off x="6909117" y="1474303"/>
            <a:ext cx="1057910" cy="1358265"/>
          </a:xfrm>
          <a:custGeom>
            <a:avLst/>
            <a:gdLst/>
            <a:ahLst/>
            <a:cxnLst/>
            <a:rect l="l" t="t" r="r" b="b"/>
            <a:pathLst>
              <a:path w="1057910" h="1358265">
                <a:moveTo>
                  <a:pt x="1057910" y="191051"/>
                </a:moveTo>
                <a:lnTo>
                  <a:pt x="946701" y="191051"/>
                </a:lnTo>
                <a:lnTo>
                  <a:pt x="1057910" y="191051"/>
                </a:lnTo>
                <a:close/>
                <a:moveTo>
                  <a:pt x="164437" y="0"/>
                </a:moveTo>
                <a:lnTo>
                  <a:pt x="173942" y="0"/>
                </a:lnTo>
                <a:lnTo>
                  <a:pt x="1057910" y="0"/>
                </a:lnTo>
                <a:lnTo>
                  <a:pt x="1057910" y="951"/>
                </a:lnTo>
                <a:lnTo>
                  <a:pt x="1053157" y="951"/>
                </a:lnTo>
                <a:cubicBezTo>
                  <a:pt x="993276" y="5703"/>
                  <a:pt x="945751" y="77941"/>
                  <a:pt x="945751" y="165387"/>
                </a:cubicBezTo>
                <a:cubicBezTo>
                  <a:pt x="945751" y="173942"/>
                  <a:pt x="945751" y="182496"/>
                  <a:pt x="946701" y="190100"/>
                </a:cubicBezTo>
                <a:lnTo>
                  <a:pt x="946701" y="191051"/>
                </a:lnTo>
                <a:lnTo>
                  <a:pt x="940048" y="191051"/>
                </a:lnTo>
                <a:lnTo>
                  <a:pt x="940048" y="859252"/>
                </a:lnTo>
                <a:lnTo>
                  <a:pt x="940048" y="864005"/>
                </a:lnTo>
                <a:cubicBezTo>
                  <a:pt x="940998" y="871609"/>
                  <a:pt x="940998" y="879213"/>
                  <a:pt x="940998" y="887767"/>
                </a:cubicBezTo>
                <a:cubicBezTo>
                  <a:pt x="940998" y="896322"/>
                  <a:pt x="940998" y="903926"/>
                  <a:pt x="940048" y="911530"/>
                </a:cubicBezTo>
                <a:lnTo>
                  <a:pt x="940048" y="916282"/>
                </a:lnTo>
                <a:lnTo>
                  <a:pt x="940048" y="922936"/>
                </a:lnTo>
                <a:lnTo>
                  <a:pt x="940048" y="924837"/>
                </a:lnTo>
                <a:cubicBezTo>
                  <a:pt x="939097" y="949550"/>
                  <a:pt x="935295" y="974263"/>
                  <a:pt x="928642" y="998025"/>
                </a:cubicBezTo>
                <a:lnTo>
                  <a:pt x="926741" y="1002778"/>
                </a:lnTo>
                <a:lnTo>
                  <a:pt x="925790" y="1005629"/>
                </a:lnTo>
                <a:cubicBezTo>
                  <a:pt x="873512" y="1208086"/>
                  <a:pt x="690065" y="1358265"/>
                  <a:pt x="470499" y="1358265"/>
                </a:cubicBezTo>
                <a:cubicBezTo>
                  <a:pt x="250933" y="1358265"/>
                  <a:pt x="67486" y="1208086"/>
                  <a:pt x="15208" y="1005629"/>
                </a:cubicBezTo>
                <a:lnTo>
                  <a:pt x="14258" y="1002778"/>
                </a:lnTo>
                <a:lnTo>
                  <a:pt x="12357" y="998025"/>
                </a:lnTo>
                <a:cubicBezTo>
                  <a:pt x="5703" y="974263"/>
                  <a:pt x="1901" y="949550"/>
                  <a:pt x="951" y="924837"/>
                </a:cubicBezTo>
                <a:lnTo>
                  <a:pt x="951" y="922936"/>
                </a:lnTo>
                <a:lnTo>
                  <a:pt x="951" y="916282"/>
                </a:lnTo>
                <a:lnTo>
                  <a:pt x="951" y="911530"/>
                </a:lnTo>
                <a:cubicBezTo>
                  <a:pt x="0" y="903926"/>
                  <a:pt x="0" y="896322"/>
                  <a:pt x="0" y="887767"/>
                </a:cubicBezTo>
                <a:cubicBezTo>
                  <a:pt x="0" y="879213"/>
                  <a:pt x="0" y="871609"/>
                  <a:pt x="951" y="864005"/>
                </a:cubicBezTo>
                <a:lnTo>
                  <a:pt x="951" y="859252"/>
                </a:lnTo>
                <a:lnTo>
                  <a:pt x="951" y="175843"/>
                </a:lnTo>
                <a:lnTo>
                  <a:pt x="951" y="175843"/>
                </a:lnTo>
                <a:lnTo>
                  <a:pt x="951" y="173942"/>
                </a:lnTo>
                <a:cubicBezTo>
                  <a:pt x="951" y="172041"/>
                  <a:pt x="951" y="169189"/>
                  <a:pt x="951" y="166338"/>
                </a:cubicBezTo>
                <a:cubicBezTo>
                  <a:pt x="951" y="79842"/>
                  <a:pt x="68436" y="9505"/>
                  <a:pt x="155883" y="951"/>
                </a:cubicBezTo>
                <a:lnTo>
                  <a:pt x="155883" y="951"/>
                </a:lnTo>
                <a:lnTo>
                  <a:pt x="158734" y="0"/>
                </a:lnTo>
                <a:cubicBezTo>
                  <a:pt x="160635" y="0"/>
                  <a:pt x="162536" y="0"/>
                  <a:pt x="1644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7A9FF">
                  <a:alpha val="18000"/>
                </a:srgbClr>
              </a:gs>
              <a:gs pos="71000">
                <a:srgbClr val="678DD3"/>
              </a:gs>
              <a:gs pos="100000">
                <a:srgbClr val="678DD3"/>
              </a:gs>
            </a:gsLst>
            <a:lin ang="2700000" scaled="1"/>
          </a:gradFill>
          <a:ln/>
          <a:effectLst>
            <a:outerShdw blurRad="101600" dist="254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E37C469B-269E-18FF-25D9-8E61F7B0B02F}"/>
              </a:ext>
            </a:extLst>
          </p:cNvPr>
          <p:cNvSpPr/>
          <p:nvPr/>
        </p:nvSpPr>
        <p:spPr>
          <a:xfrm>
            <a:off x="8099108" y="193912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核心流程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61C02928-08E1-CE54-AC6A-A91DB7BDF16C}"/>
              </a:ext>
            </a:extLst>
          </p:cNvPr>
          <p:cNvSpPr/>
          <p:nvPr/>
        </p:nvSpPr>
        <p:spPr>
          <a:xfrm>
            <a:off x="7089934" y="2986480"/>
            <a:ext cx="4876482" cy="3458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b="1" dirty="0"/>
              <a:t>顾客修改自身密码流程</a:t>
            </a:r>
          </a:p>
          <a:p>
            <a:r>
              <a:rPr lang="zh-CN" altLang="en-US" dirty="0"/>
              <a:t>输入当前密码进行验证。输入新密码并二次确认，确保两次输入一致。新密码通过格式校验后，加密存储至</a:t>
            </a:r>
            <a:r>
              <a:rPr lang="en-US" altLang="zh-CN" dirty="0"/>
              <a:t>customers.dat</a:t>
            </a:r>
            <a:r>
              <a:rPr lang="zh-CN" altLang="en-US" dirty="0"/>
              <a:t>文件。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管理员修改密码流程</a:t>
            </a:r>
          </a:p>
          <a:p>
            <a:r>
              <a:rPr lang="zh-CN" altLang="en-US" dirty="0"/>
              <a:t>输入管理员自身密码进行权限验证</a:t>
            </a:r>
          </a:p>
          <a:p>
            <a:r>
              <a:rPr lang="zh-CN" altLang="en-US" dirty="0"/>
              <a:t>选择目标用户并输入其用户名。</a:t>
            </a:r>
          </a:p>
          <a:p>
            <a:r>
              <a:rPr lang="zh-CN" altLang="en-US" dirty="0"/>
              <a:t>输入新密码，系统加密后更新至对应文件（</a:t>
            </a:r>
            <a:r>
              <a:rPr lang="en-US" altLang="zh-CN" dirty="0"/>
              <a:t>admins.dat</a:t>
            </a:r>
            <a:r>
              <a:rPr lang="zh-CN" altLang="en-US" dirty="0"/>
              <a:t>或</a:t>
            </a:r>
            <a:r>
              <a:rPr lang="en-US" altLang="zh-CN" dirty="0"/>
              <a:t>customers.dat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136640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程序亮点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</a:t>
            </a: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27000"/>
              </a:srgbClr>
            </a:gs>
            <a:gs pos="8000">
              <a:srgbClr val="94B9FF">
                <a:alpha val="27000"/>
              </a:srgbClr>
            </a:gs>
            <a:gs pos="37000">
              <a:srgbClr val="94B9FF">
                <a:alpha val="3000"/>
              </a:srgbClr>
            </a:gs>
            <a:gs pos="65000">
              <a:srgbClr val="94B9FF">
                <a:alpha val="18000"/>
              </a:srgbClr>
            </a:gs>
            <a:gs pos="98000">
              <a:srgbClr val="94B9FF">
                <a:alpha val="51000"/>
              </a:srgbClr>
            </a:gs>
            <a:gs pos="100000">
              <a:srgbClr val="94B9FF">
                <a:alpha val="51000"/>
              </a:srgbClr>
            </a:gs>
          </a:gsLst>
          <a:lin ang="1746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420BD-2C7C-4E5B-EBF0-F03E8824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48415E-9A44-4ACB-AC98-C26022F73A5E}"/>
              </a:ext>
            </a:extLst>
          </p:cNvPr>
          <p:cNvSpPr/>
          <p:nvPr/>
        </p:nvSpPr>
        <p:spPr>
          <a:xfrm>
            <a:off x="406400" y="499745"/>
            <a:ext cx="8239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结算原子操作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91DA11-240A-61BD-E070-3B5946C5A330}"/>
              </a:ext>
            </a:extLst>
          </p:cNvPr>
          <p:cNvSpPr/>
          <p:nvPr/>
        </p:nvSpPr>
        <p:spPr>
          <a:xfrm flipH="1">
            <a:off x="536575" y="1445260"/>
            <a:ext cx="6555740" cy="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FFFFFF"/>
                </a:gs>
                <a:gs pos="21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https://kimi-img.moonshot.cn/pub/slides/slides_tmpl/image/25-09-04-14:55:10-d2sjfjm1bb2p4onbq0bg.png">
            <a:extLst>
              <a:ext uri="{FF2B5EF4-FFF2-40B4-BE49-F238E27FC236}">
                <a16:creationId xmlns:a16="http://schemas.microsoft.com/office/drawing/2014/main" id="{A6E0B2FB-6616-F94A-C8F9-B9864AAB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2171699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937D33DF-80C3-8592-688B-11D248D3846D}"/>
              </a:ext>
            </a:extLst>
          </p:cNvPr>
          <p:cNvSpPr/>
          <p:nvPr/>
        </p:nvSpPr>
        <p:spPr>
          <a:xfrm rot="16200000">
            <a:off x="4979169" y="-5041132"/>
            <a:ext cx="2233658" cy="12192000"/>
          </a:xfrm>
          <a:prstGeom prst="rect">
            <a:avLst/>
          </a:prstGeom>
          <a:gradFill flip="none" rotWithShape="0">
            <a:gsLst>
              <a:gs pos="0">
                <a:srgbClr val="678DD3">
                  <a:alpha val="21000"/>
                </a:srgbClr>
              </a:gs>
              <a:gs pos="27000">
                <a:srgbClr val="5B87CF">
                  <a:alpha val="53000"/>
                </a:srgbClr>
              </a:gs>
              <a:gs pos="56000">
                <a:srgbClr val="678DD3">
                  <a:alpha val="94000"/>
                </a:srgbClr>
              </a:gs>
              <a:gs pos="94000">
                <a:srgbClr val="4E80CA">
                  <a:alpha val="94000"/>
                </a:srgbClr>
              </a:gs>
              <a:gs pos="100000">
                <a:srgbClr val="4E80CA">
                  <a:alpha val="94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F561E8-7FD5-9426-2962-1EAE69FAD3E5}"/>
              </a:ext>
            </a:extLst>
          </p:cNvPr>
          <p:cNvSpPr/>
          <p:nvPr/>
        </p:nvSpPr>
        <p:spPr>
          <a:xfrm rot="16200000">
            <a:off x="4979169" y="-5041132"/>
            <a:ext cx="2233658" cy="1219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F937629-4805-F597-37F9-344AD6E742D2}"/>
              </a:ext>
            </a:extLst>
          </p:cNvPr>
          <p:cNvSpPr/>
          <p:nvPr/>
        </p:nvSpPr>
        <p:spPr>
          <a:xfrm>
            <a:off x="452120" y="1958031"/>
            <a:ext cx="2626127" cy="4406574"/>
          </a:xfrm>
          <a:prstGeom prst="roundRect">
            <a:avLst/>
          </a:prstGeom>
          <a:gradFill flip="none" rotWithShape="0">
            <a:gsLst>
              <a:gs pos="0">
                <a:srgbClr val="94B9FF">
                  <a:alpha val="27000"/>
                </a:srgbClr>
              </a:gs>
              <a:gs pos="8000">
                <a:srgbClr val="94B9FF">
                  <a:alpha val="27000"/>
                </a:srgbClr>
              </a:gs>
              <a:gs pos="37000">
                <a:srgbClr val="94B9FF">
                  <a:alpha val="3000"/>
                </a:srgbClr>
              </a:gs>
              <a:gs pos="65000">
                <a:srgbClr val="94B9FF">
                  <a:alpha val="18000"/>
                </a:srgbClr>
              </a:gs>
              <a:gs pos="98000">
                <a:srgbClr val="94B9FF">
                  <a:alpha val="51000"/>
                </a:srgbClr>
              </a:gs>
              <a:gs pos="100000">
                <a:srgbClr val="94B9FF">
                  <a:alpha val="51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8F0D628-81E9-A2F0-BC7F-BE2CA34395CC}"/>
              </a:ext>
            </a:extLst>
          </p:cNvPr>
          <p:cNvSpPr/>
          <p:nvPr/>
        </p:nvSpPr>
        <p:spPr>
          <a:xfrm>
            <a:off x="452120" y="1958031"/>
            <a:ext cx="2626127" cy="440657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B733BAF-52C7-C7A5-030D-2368EA778B54}"/>
              </a:ext>
            </a:extLst>
          </p:cNvPr>
          <p:cNvSpPr/>
          <p:nvPr/>
        </p:nvSpPr>
        <p:spPr>
          <a:xfrm>
            <a:off x="452120" y="1954530"/>
            <a:ext cx="2626360" cy="4410075"/>
          </a:xfrm>
          <a:prstGeom prst="roundRect">
            <a:avLst/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0DBCF8B-8682-064A-9E6A-F28E63CBA517}"/>
              </a:ext>
            </a:extLst>
          </p:cNvPr>
          <p:cNvSpPr/>
          <p:nvPr/>
        </p:nvSpPr>
        <p:spPr>
          <a:xfrm>
            <a:off x="452120" y="1954530"/>
            <a:ext cx="2626360" cy="441007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2502EA4-8869-8FD5-1C93-C25F365C652E}"/>
              </a:ext>
            </a:extLst>
          </p:cNvPr>
          <p:cNvSpPr/>
          <p:nvPr/>
        </p:nvSpPr>
        <p:spPr>
          <a:xfrm>
            <a:off x="6181090" y="1961841"/>
            <a:ext cx="2626127" cy="4406574"/>
          </a:xfrm>
          <a:prstGeom prst="roundRect">
            <a:avLst/>
          </a:prstGeom>
          <a:gradFill flip="none" rotWithShape="0">
            <a:gsLst>
              <a:gs pos="0">
                <a:srgbClr val="94B9FF">
                  <a:alpha val="27000"/>
                </a:srgbClr>
              </a:gs>
              <a:gs pos="8000">
                <a:srgbClr val="94B9FF">
                  <a:alpha val="27000"/>
                </a:srgbClr>
              </a:gs>
              <a:gs pos="37000">
                <a:srgbClr val="94B9FF">
                  <a:alpha val="3000"/>
                </a:srgbClr>
              </a:gs>
              <a:gs pos="65000">
                <a:srgbClr val="94B9FF">
                  <a:alpha val="18000"/>
                </a:srgbClr>
              </a:gs>
              <a:gs pos="98000">
                <a:srgbClr val="94B9FF">
                  <a:alpha val="51000"/>
                </a:srgbClr>
              </a:gs>
              <a:gs pos="100000">
                <a:srgbClr val="94B9FF">
                  <a:alpha val="51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EB56496-0A5F-872A-3AF0-077E2016BE2E}"/>
              </a:ext>
            </a:extLst>
          </p:cNvPr>
          <p:cNvSpPr/>
          <p:nvPr/>
        </p:nvSpPr>
        <p:spPr>
          <a:xfrm>
            <a:off x="6181090" y="1961841"/>
            <a:ext cx="2626127" cy="440657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1CA2182-C569-B06D-B63D-3B86882BD3BA}"/>
              </a:ext>
            </a:extLst>
          </p:cNvPr>
          <p:cNvSpPr/>
          <p:nvPr/>
        </p:nvSpPr>
        <p:spPr>
          <a:xfrm>
            <a:off x="6181090" y="1958340"/>
            <a:ext cx="2626360" cy="4410075"/>
          </a:xfrm>
          <a:prstGeom prst="roundRect">
            <a:avLst/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5C1FAFD-0AA3-C4D0-3C36-7B577B66D0ED}"/>
              </a:ext>
            </a:extLst>
          </p:cNvPr>
          <p:cNvSpPr/>
          <p:nvPr/>
        </p:nvSpPr>
        <p:spPr>
          <a:xfrm>
            <a:off x="6181090" y="1958340"/>
            <a:ext cx="2626360" cy="441007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43C11A1-A91D-1562-0602-49D108C43497}"/>
              </a:ext>
            </a:extLst>
          </p:cNvPr>
          <p:cNvSpPr/>
          <p:nvPr/>
        </p:nvSpPr>
        <p:spPr>
          <a:xfrm>
            <a:off x="9045575" y="1961841"/>
            <a:ext cx="2626127" cy="4406574"/>
          </a:xfrm>
          <a:prstGeom prst="roundRect">
            <a:avLst/>
          </a:prstGeom>
          <a:gradFill flip="none" rotWithShape="0">
            <a:gsLst>
              <a:gs pos="0">
                <a:srgbClr val="94B9FF">
                  <a:alpha val="27000"/>
                </a:srgbClr>
              </a:gs>
              <a:gs pos="8000">
                <a:srgbClr val="94B9FF">
                  <a:alpha val="27000"/>
                </a:srgbClr>
              </a:gs>
              <a:gs pos="37000">
                <a:srgbClr val="94B9FF">
                  <a:alpha val="3000"/>
                </a:srgbClr>
              </a:gs>
              <a:gs pos="65000">
                <a:srgbClr val="94B9FF">
                  <a:alpha val="18000"/>
                </a:srgbClr>
              </a:gs>
              <a:gs pos="98000">
                <a:srgbClr val="94B9FF">
                  <a:alpha val="51000"/>
                </a:srgbClr>
              </a:gs>
              <a:gs pos="100000">
                <a:srgbClr val="94B9FF">
                  <a:alpha val="51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E06DB2A-8D7D-4B32-2DE4-6D08ECDAAE88}"/>
              </a:ext>
            </a:extLst>
          </p:cNvPr>
          <p:cNvSpPr/>
          <p:nvPr/>
        </p:nvSpPr>
        <p:spPr>
          <a:xfrm>
            <a:off x="9045575" y="1961841"/>
            <a:ext cx="2626127" cy="440657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4988D04-5A82-666C-5E5C-4EB1CF2522F7}"/>
              </a:ext>
            </a:extLst>
          </p:cNvPr>
          <p:cNvSpPr/>
          <p:nvPr/>
        </p:nvSpPr>
        <p:spPr>
          <a:xfrm>
            <a:off x="9031576" y="1961841"/>
            <a:ext cx="2626360" cy="4410075"/>
          </a:xfrm>
          <a:prstGeom prst="roundRect">
            <a:avLst/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1DD2370-4F20-D8B5-9FD7-AC7F9297F038}"/>
              </a:ext>
            </a:extLst>
          </p:cNvPr>
          <p:cNvSpPr/>
          <p:nvPr/>
        </p:nvSpPr>
        <p:spPr>
          <a:xfrm>
            <a:off x="9045575" y="1958340"/>
            <a:ext cx="2626360" cy="441007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E918BC8-03F5-0476-F902-E386E6429051}"/>
              </a:ext>
            </a:extLst>
          </p:cNvPr>
          <p:cNvSpPr/>
          <p:nvPr/>
        </p:nvSpPr>
        <p:spPr>
          <a:xfrm>
            <a:off x="3316605" y="1958031"/>
            <a:ext cx="2626127" cy="4406574"/>
          </a:xfrm>
          <a:prstGeom prst="roundRect">
            <a:avLst/>
          </a:prstGeom>
          <a:gradFill flip="none" rotWithShape="0">
            <a:gsLst>
              <a:gs pos="0">
                <a:srgbClr val="94B9FF">
                  <a:alpha val="27000"/>
                </a:srgbClr>
              </a:gs>
              <a:gs pos="8000">
                <a:srgbClr val="94B9FF">
                  <a:alpha val="27000"/>
                </a:srgbClr>
              </a:gs>
              <a:gs pos="37000">
                <a:srgbClr val="94B9FF">
                  <a:alpha val="3000"/>
                </a:srgbClr>
              </a:gs>
              <a:gs pos="65000">
                <a:srgbClr val="94B9FF">
                  <a:alpha val="18000"/>
                </a:srgbClr>
              </a:gs>
              <a:gs pos="98000">
                <a:srgbClr val="94B9FF">
                  <a:alpha val="51000"/>
                </a:srgbClr>
              </a:gs>
              <a:gs pos="100000">
                <a:srgbClr val="94B9FF">
                  <a:alpha val="51000"/>
                </a:srgbClr>
              </a:gs>
            </a:gsLst>
            <a:lin ang="17460000" scaled="1"/>
          </a:gradFill>
          <a:ln w="3175">
            <a:solidFill>
              <a:srgbClr val="376FFF">
                <a:alpha val="20000"/>
              </a:srgbClr>
            </a:solidFill>
            <a:prstDash val="solid"/>
          </a:ln>
          <a:effectLst>
            <a:outerShdw blurRad="508000" dist="50800" dir="2700000" algn="bl" rotWithShape="0">
              <a:srgbClr val="376FFF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0F881AE-8049-4C90-B082-EAA0AB21EAA0}"/>
              </a:ext>
            </a:extLst>
          </p:cNvPr>
          <p:cNvSpPr/>
          <p:nvPr/>
        </p:nvSpPr>
        <p:spPr>
          <a:xfrm>
            <a:off x="3316605" y="1958031"/>
            <a:ext cx="2626127" cy="4406574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39ECC99-9C6F-B39A-662C-8ADDA7C8120C}"/>
              </a:ext>
            </a:extLst>
          </p:cNvPr>
          <p:cNvSpPr/>
          <p:nvPr/>
        </p:nvSpPr>
        <p:spPr>
          <a:xfrm>
            <a:off x="3250041" y="1976446"/>
            <a:ext cx="2626360" cy="4410075"/>
          </a:xfrm>
          <a:prstGeom prst="roundRect">
            <a:avLst/>
          </a:prstGeom>
          <a:solidFill>
            <a:srgbClr val="FFFFFF">
              <a:alpha val="20000"/>
            </a:srgbClr>
          </a:solidFill>
          <a:ln w="3175">
            <a:solidFill>
              <a:srgbClr val="4874C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E75558F-9579-C4CC-CB5F-BFAD331C4F08}"/>
              </a:ext>
            </a:extLst>
          </p:cNvPr>
          <p:cNvSpPr/>
          <p:nvPr/>
        </p:nvSpPr>
        <p:spPr>
          <a:xfrm>
            <a:off x="3316605" y="1954530"/>
            <a:ext cx="2626360" cy="4410075"/>
          </a:xfrm>
          <a:prstGeom prst="rect">
            <a:avLst/>
          </a:prstGeom>
          <a:noFill/>
          <a:ln/>
        </p:spPr>
        <p:txBody>
          <a:bodyPr wrap="square" lIns="45720" tIns="0" rIns="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4A46CA9-5BF3-82A1-84A3-1A41992EEA65}"/>
              </a:ext>
            </a:extLst>
          </p:cNvPr>
          <p:cNvSpPr/>
          <p:nvPr/>
        </p:nvSpPr>
        <p:spPr>
          <a:xfrm>
            <a:off x="2318833" y="5725795"/>
            <a:ext cx="693083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FFF">
                    <a:alpha val="25098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155E72C-5FE3-EC23-1C87-EAA21F5B0D1A}"/>
              </a:ext>
            </a:extLst>
          </p:cNvPr>
          <p:cNvSpPr/>
          <p:nvPr/>
        </p:nvSpPr>
        <p:spPr>
          <a:xfrm>
            <a:off x="710842" y="1838326"/>
            <a:ext cx="2139797" cy="126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</a:rPr>
              <a:t>互动界面优化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53973DB-4F6E-934D-608E-2994D19E037E}"/>
              </a:ext>
            </a:extLst>
          </p:cNvPr>
          <p:cNvSpPr/>
          <p:nvPr/>
        </p:nvSpPr>
        <p:spPr>
          <a:xfrm>
            <a:off x="760859" y="2891775"/>
            <a:ext cx="2095438" cy="265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该程序的界面基于控制台文本交互，结合了简单的图形化元素，整体风格简洁实用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通过菜单系统实现功能导航，支持键盘上下键选择选项、回车键确认操</a:t>
            </a:r>
            <a:r>
              <a:rPr lang="zh-CN" altLang="en-US" sz="2000" dirty="0"/>
              <a:t>作</a:t>
            </a:r>
            <a:r>
              <a:rPr lang="en-US" altLang="zh-CN" sz="2000" dirty="0"/>
              <a:t>	</a:t>
            </a:r>
          </a:p>
          <a:p>
            <a:pPr lvl="0">
              <a:defRPr/>
            </a:pP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1066DB9-AFCB-BD7C-5B10-4C618421570B}"/>
              </a:ext>
            </a:extLst>
          </p:cNvPr>
          <p:cNvSpPr/>
          <p:nvPr/>
        </p:nvSpPr>
        <p:spPr>
          <a:xfrm>
            <a:off x="5183318" y="5725795"/>
            <a:ext cx="693083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FFF">
                    <a:alpha val="25098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73FAC1C-C83C-790E-8E54-CA9B7F0A7E38}"/>
              </a:ext>
            </a:extLst>
          </p:cNvPr>
          <p:cNvSpPr/>
          <p:nvPr/>
        </p:nvSpPr>
        <p:spPr>
          <a:xfrm>
            <a:off x="3379769" y="1834020"/>
            <a:ext cx="2645702" cy="126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</a:rPr>
              <a:t>    数据可视化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2903E8A-6090-2B3D-1A16-4B47072B6F98}"/>
              </a:ext>
            </a:extLst>
          </p:cNvPr>
          <p:cNvSpPr/>
          <p:nvPr/>
        </p:nvSpPr>
        <p:spPr>
          <a:xfrm>
            <a:off x="3611128" y="2894190"/>
            <a:ext cx="2051080" cy="202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多维度统计总利润、名称及时间维度利润，</a:t>
            </a:r>
            <a:r>
              <a:rPr lang="en-US" altLang="zh-CN" sz="2000" dirty="0">
                <a:solidFill>
                  <a:srgbClr val="000000"/>
                </a:solidFill>
                <a:latin typeface="Inter"/>
              </a:rPr>
              <a:t>GDI</a:t>
            </a: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绘制柱状图、饼图、折线图可视化呈现，支持自定义时间筛选，交互简洁，兼顾数据详情与直观图表，助力经营决策。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944C683-2146-14C3-15DB-1F33C0E55DDA}"/>
              </a:ext>
            </a:extLst>
          </p:cNvPr>
          <p:cNvSpPr/>
          <p:nvPr/>
        </p:nvSpPr>
        <p:spPr>
          <a:xfrm>
            <a:off x="8047803" y="5729605"/>
            <a:ext cx="693083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FFF">
                    <a:alpha val="25098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03EA257-F827-42D3-8B11-9344355A25D6}"/>
              </a:ext>
            </a:extLst>
          </p:cNvPr>
          <p:cNvSpPr/>
          <p:nvPr/>
        </p:nvSpPr>
        <p:spPr>
          <a:xfrm>
            <a:off x="6524699" y="1861035"/>
            <a:ext cx="1953344" cy="126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</a:rPr>
              <a:t>交互反馈明确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D581AA5-B2B8-7FBC-4EA5-BE86A25ADA3D}"/>
              </a:ext>
            </a:extLst>
          </p:cNvPr>
          <p:cNvSpPr/>
          <p:nvPr/>
        </p:nvSpPr>
        <p:spPr>
          <a:xfrm>
            <a:off x="6504674" y="2891775"/>
            <a:ext cx="2051080" cy="202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defRPr/>
            </a:pP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当用户移动光标时，会触发</a:t>
            </a:r>
            <a:r>
              <a:rPr lang="en-US" altLang="zh-CN" sz="2000" dirty="0">
                <a:solidFill>
                  <a:srgbClr val="000000"/>
                </a:solidFill>
                <a:latin typeface="Inter"/>
              </a:rPr>
              <a:t>playMP3</a:t>
            </a: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函数播放音频文件。声音反馈让用户在操作菜单时，无需紧盯屏幕也能感知到操作是否生效，提升整体操作体验的流畅性和沉浸感。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56DC625-AFDC-866B-2F32-2D69C336BA5E}"/>
              </a:ext>
            </a:extLst>
          </p:cNvPr>
          <p:cNvSpPr/>
          <p:nvPr/>
        </p:nvSpPr>
        <p:spPr>
          <a:xfrm>
            <a:off x="10912288" y="5729605"/>
            <a:ext cx="693083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FFF">
                    <a:alpha val="25098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19199DC-C178-782F-E70B-3BAA3F4008F9}"/>
              </a:ext>
            </a:extLst>
          </p:cNvPr>
          <p:cNvSpPr/>
          <p:nvPr/>
        </p:nvSpPr>
        <p:spPr>
          <a:xfrm>
            <a:off x="9333097" y="1788520"/>
            <a:ext cx="2338603" cy="126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</a:rPr>
              <a:t>数据可导入 </a:t>
            </a:r>
            <a:r>
              <a:rPr lang="en-US" altLang="zh-CN" sz="2400" b="1" dirty="0">
                <a:solidFill>
                  <a:srgbClr val="000000"/>
                </a:solidFill>
              </a:rPr>
              <a:t>Excel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C2D37677-407B-3C5A-9E85-C804CA85761A}"/>
              </a:ext>
            </a:extLst>
          </p:cNvPr>
          <p:cNvSpPr/>
          <p:nvPr/>
        </p:nvSpPr>
        <p:spPr>
          <a:xfrm>
            <a:off x="9333098" y="2891775"/>
            <a:ext cx="2233556" cy="303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通过生成 </a:t>
            </a:r>
            <a:r>
              <a:rPr lang="en-US" altLang="zh-CN" sz="2000" dirty="0">
                <a:solidFill>
                  <a:srgbClr val="000000"/>
                </a:solidFill>
                <a:latin typeface="Inter"/>
              </a:rPr>
              <a:t>CSV </a:t>
            </a: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格式文件，直接适配 </a:t>
            </a:r>
            <a:r>
              <a:rPr lang="en-US" altLang="zh-CN" sz="2000" dirty="0">
                <a:solidFill>
                  <a:srgbClr val="000000"/>
                </a:solidFill>
                <a:latin typeface="Inter"/>
              </a:rPr>
              <a:t>Excel </a:t>
            </a: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Inter"/>
            </a:endParaRPr>
          </a:p>
          <a:p>
            <a:pPr lvl="0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将系统内的利润数据导出至 </a:t>
            </a:r>
            <a:r>
              <a:rPr lang="en-US" altLang="zh-CN" sz="2000" dirty="0">
                <a:solidFill>
                  <a:srgbClr val="000000"/>
                </a:solidFill>
                <a:latin typeface="Inter"/>
              </a:rPr>
              <a:t>Excel</a:t>
            </a:r>
            <a:r>
              <a:rPr lang="zh-CN" altLang="en-US" sz="2000" dirty="0">
                <a:solidFill>
                  <a:srgbClr val="000000"/>
                </a:solidFill>
                <a:latin typeface="Inter"/>
              </a:rPr>
              <a:t>，突破系统内置分析功能的局限，满足个性化分析需求（如多维度对比、趋势预测等）。</a:t>
            </a:r>
            <a:endParaRPr lang="en-US" sz="2000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4CB39281-B5D4-4682-52EE-13041F134573}"/>
              </a:ext>
            </a:extLst>
          </p:cNvPr>
          <p:cNvSpPr/>
          <p:nvPr/>
        </p:nvSpPr>
        <p:spPr>
          <a:xfrm>
            <a:off x="554356" y="322224"/>
            <a:ext cx="849757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程序核心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亮点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82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1939925" y="2018030"/>
            <a:ext cx="9644380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感谢观看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ＴＨＡＮＫＳ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8840" y="1196975"/>
            <a:ext cx="1070546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9122410" y="459803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9135110" y="4596130"/>
            <a:ext cx="230695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1635</Words>
  <Application>Microsoft Office PowerPoint</Application>
  <PresentationFormat>宽屏</PresentationFormat>
  <Paragraphs>236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Inter</vt:lpstr>
      <vt:lpstr>MiSans</vt:lpstr>
      <vt:lpstr>Noto Sans SC</vt:lpstr>
      <vt:lpstr>等线</vt:lpstr>
      <vt:lpstr>黑体</vt:lpstr>
      <vt:lpstr>Arial</vt:lpstr>
      <vt:lpstr>Arial Black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xiaoshuai</dc:creator>
  <cp:lastModifiedBy>思雄 傅</cp:lastModifiedBy>
  <cp:revision>55</cp:revision>
  <dcterms:created xsi:type="dcterms:W3CDTF">2025-09-27T07:08:59Z</dcterms:created>
  <dcterms:modified xsi:type="dcterms:W3CDTF">2025-11-02T14:34:29Z</dcterms:modified>
</cp:coreProperties>
</file>