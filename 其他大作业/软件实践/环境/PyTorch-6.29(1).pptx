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461" r:id="rId4"/>
    <p:sldId id="258" r:id="rId5"/>
    <p:sldId id="334" r:id="rId6"/>
    <p:sldId id="477" r:id="rId7"/>
    <p:sldId id="462" r:id="rId8"/>
    <p:sldId id="347" r:id="rId9"/>
    <p:sldId id="354" r:id="rId10"/>
    <p:sldId id="483" r:id="rId11"/>
    <p:sldId id="495" r:id="rId12"/>
    <p:sldId id="466" r:id="rId13"/>
    <p:sldId id="491" r:id="rId14"/>
    <p:sldId id="486" r:id="rId15"/>
    <p:sldId id="487" r:id="rId16"/>
    <p:sldId id="484" r:id="rId17"/>
    <p:sldId id="262" r:id="rId18"/>
    <p:sldId id="496" r:id="rId19"/>
    <p:sldId id="497" r:id="rId20"/>
    <p:sldId id="499" r:id="rId21"/>
    <p:sldId id="498" r:id="rId22"/>
    <p:sldId id="281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FF"/>
    <a:srgbClr val="17406D"/>
    <a:srgbClr val="3645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33" autoAdjust="0"/>
  </p:normalViewPr>
  <p:slideViewPr>
    <p:cSldViewPr snapToGrid="0">
      <p:cViewPr>
        <p:scale>
          <a:sx n="66" d="100"/>
          <a:sy n="66" d="100"/>
        </p:scale>
        <p:origin x="2232" y="12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63747-E947-4EE8-A3D7-5C559D64BD3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B4B9A-146B-438D-BC76-C366C66ED2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B4B9A-146B-438D-BC76-C366C66ED2E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B4B9A-146B-438D-BC76-C366C66ED2E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B4B9A-146B-438D-BC76-C366C66ED2E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B4B9A-146B-438D-BC76-C366C66ED2E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B4B9A-146B-438D-BC76-C366C66ED2E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7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-3" y="1196752"/>
            <a:ext cx="12192636" cy="2304256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480022" y="1593795"/>
            <a:ext cx="11281218" cy="1208842"/>
          </a:xfrm>
        </p:spPr>
        <p:txBody>
          <a:bodyPr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单击编辑课程名称</a:t>
            </a:r>
          </a:p>
        </p:txBody>
      </p:sp>
      <p:sp>
        <p:nvSpPr>
          <p:cNvPr id="4101" name="内容占位符 4100"/>
          <p:cNvSpPr>
            <a:spLocks noGrp="1"/>
          </p:cNvSpPr>
          <p:nvPr>
            <p:ph sz="quarter" idx="11" hasCustomPrompt="1"/>
          </p:nvPr>
        </p:nvSpPr>
        <p:spPr>
          <a:xfrm>
            <a:off x="480509" y="3949200"/>
            <a:ext cx="11280732" cy="1871662"/>
          </a:xfrm>
        </p:spPr>
        <p:txBody>
          <a:bodyPr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pPr>
              <a:defRPr/>
            </a:pPr>
            <a:r>
              <a:rPr lang="en-US" altLang="zh-CN"/>
              <a:t>Cheng Cheng @ CPCC 2019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018" y="188913"/>
            <a:ext cx="10080525" cy="576000"/>
          </a:xfrm>
        </p:spPr>
        <p:txBody>
          <a:bodyPr/>
          <a:lstStyle/>
          <a:p>
            <a:r>
              <a:rPr lang="zh-CN" altLang="en-US" dirty="0"/>
              <a:t>单击编辑母版标题样式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336018" y="981075"/>
            <a:ext cx="5664295" cy="5334000"/>
          </a:xfrm>
        </p:spPr>
        <p:txBody>
          <a:bodyPr/>
          <a:lstStyle/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2323" y="981075"/>
            <a:ext cx="5664295" cy="5334000"/>
          </a:xfrm>
        </p:spPr>
        <p:txBody>
          <a:bodyPr/>
          <a:lstStyle/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ym typeface="+mn-ea"/>
            </a:endParaRPr>
          </a:p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36018" y="1556791"/>
            <a:ext cx="5664295" cy="475828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2323" y="1556791"/>
            <a:ext cx="5664295" cy="47582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ym typeface="+mn-ea"/>
            </a:endParaRPr>
          </a:p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  <a:p>
            <a:pPr>
              <a:defRPr/>
            </a:pPr>
            <a:endParaRPr lang="en-US" altLang="zh-CN"/>
          </a:p>
        </p:txBody>
      </p:sp>
      <p:sp>
        <p:nvSpPr>
          <p:cNvPr id="6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336018" y="908302"/>
            <a:ext cx="5664295" cy="639762"/>
          </a:xfrm>
        </p:spPr>
        <p:txBody>
          <a:bodyPr anchor="ctr" anchorCtr="0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单击编辑母版文本样式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92323" y="907885"/>
            <a:ext cx="5664295" cy="639762"/>
          </a:xfrm>
        </p:spPr>
        <p:txBody>
          <a:bodyPr anchor="ctr" anchorCtr="0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4451" y="188913"/>
            <a:ext cx="10080525" cy="576000"/>
          </a:xfrm>
        </p:spPr>
        <p:txBody>
          <a:bodyPr/>
          <a:lstStyle/>
          <a:p>
            <a:r>
              <a:rPr lang="zh-CN" altLang="en-US" dirty="0"/>
              <a:t>单击编辑母版标题样式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36018" y="981075"/>
            <a:ext cx="5664295" cy="2590800"/>
          </a:xfrm>
        </p:spPr>
        <p:txBody>
          <a:bodyPr/>
          <a:lstStyle/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192323" y="981075"/>
            <a:ext cx="5664295" cy="2590800"/>
          </a:xfrm>
        </p:spPr>
        <p:txBody>
          <a:bodyPr/>
          <a:lstStyle/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 hasCustomPrompt="1"/>
          </p:nvPr>
        </p:nvSpPr>
        <p:spPr>
          <a:xfrm>
            <a:off x="336018" y="3724275"/>
            <a:ext cx="11520600" cy="2590800"/>
          </a:xfrm>
        </p:spPr>
        <p:txBody>
          <a:bodyPr/>
          <a:lstStyle/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112844" y="351889"/>
            <a:ext cx="465754" cy="472063"/>
            <a:chOff x="4796805" y="-215900"/>
            <a:chExt cx="2093913" cy="2122488"/>
          </a:xfrm>
          <a:solidFill>
            <a:srgbClr val="0070C0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311772" y="351889"/>
            <a:ext cx="465754" cy="472063"/>
            <a:chOff x="7717810" y="-375235"/>
            <a:chExt cx="2093913" cy="2122488"/>
          </a:xfrm>
          <a:solidFill>
            <a:srgbClr val="0070C0"/>
          </a:solidFill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7717810" y="-375235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7873033" y="-212106"/>
              <a:ext cx="1796329" cy="1793077"/>
            </a:xfrm>
            <a:custGeom>
              <a:avLst/>
              <a:gdLst>
                <a:gd name="T0" fmla="*/ 439327 w 1145"/>
                <a:gd name="T1" fmla="*/ 326030 h 1145"/>
                <a:gd name="T2" fmla="*/ 326620 w 1145"/>
                <a:gd name="T3" fmla="*/ 438533 h 1145"/>
                <a:gd name="T4" fmla="*/ 439327 w 1145"/>
                <a:gd name="T5" fmla="*/ 551036 h 1145"/>
                <a:gd name="T6" fmla="*/ 552034 w 1145"/>
                <a:gd name="T7" fmla="*/ 438533 h 1145"/>
                <a:gd name="T8" fmla="*/ 439327 w 1145"/>
                <a:gd name="T9" fmla="*/ 326030 h 1145"/>
                <a:gd name="T10" fmla="*/ 485330 w 1145"/>
                <a:gd name="T11" fmla="*/ 652824 h 1145"/>
                <a:gd name="T12" fmla="*/ 485330 w 1145"/>
                <a:gd name="T13" fmla="*/ 601547 h 1145"/>
                <a:gd name="T14" fmla="*/ 393324 w 1145"/>
                <a:gd name="T15" fmla="*/ 601547 h 1145"/>
                <a:gd name="T16" fmla="*/ 393324 w 1145"/>
                <a:gd name="T17" fmla="*/ 652824 h 1145"/>
                <a:gd name="T18" fmla="*/ 224647 w 1145"/>
                <a:gd name="T19" fmla="*/ 484452 h 1145"/>
                <a:gd name="T20" fmla="*/ 275250 w 1145"/>
                <a:gd name="T21" fmla="*/ 484452 h 1145"/>
                <a:gd name="T22" fmla="*/ 275250 w 1145"/>
                <a:gd name="T23" fmla="*/ 392613 h 1145"/>
                <a:gd name="T24" fmla="*/ 224647 w 1145"/>
                <a:gd name="T25" fmla="*/ 392613 h 1145"/>
                <a:gd name="T26" fmla="*/ 393324 w 1145"/>
                <a:gd name="T27" fmla="*/ 224241 h 1145"/>
                <a:gd name="T28" fmla="*/ 393324 w 1145"/>
                <a:gd name="T29" fmla="*/ 274753 h 1145"/>
                <a:gd name="T30" fmla="*/ 485330 w 1145"/>
                <a:gd name="T31" fmla="*/ 274753 h 1145"/>
                <a:gd name="T32" fmla="*/ 485330 w 1145"/>
                <a:gd name="T33" fmla="*/ 224241 h 1145"/>
                <a:gd name="T34" fmla="*/ 654007 w 1145"/>
                <a:gd name="T35" fmla="*/ 392613 h 1145"/>
                <a:gd name="T36" fmla="*/ 603404 w 1145"/>
                <a:gd name="T37" fmla="*/ 392613 h 1145"/>
                <a:gd name="T38" fmla="*/ 603404 w 1145"/>
                <a:gd name="T39" fmla="*/ 484452 h 1145"/>
                <a:gd name="T40" fmla="*/ 654007 w 1145"/>
                <a:gd name="T41" fmla="*/ 484452 h 1145"/>
                <a:gd name="T42" fmla="*/ 485330 w 1145"/>
                <a:gd name="T43" fmla="*/ 652824 h 1145"/>
                <a:gd name="T44" fmla="*/ 747546 w 1145"/>
                <a:gd name="T45" fmla="*/ 392613 h 1145"/>
                <a:gd name="T46" fmla="*/ 485330 w 1145"/>
                <a:gd name="T47" fmla="*/ 130871 h 1145"/>
                <a:gd name="T48" fmla="*/ 485330 w 1145"/>
                <a:gd name="T49" fmla="*/ 0 h 1145"/>
                <a:gd name="T50" fmla="*/ 393324 w 1145"/>
                <a:gd name="T51" fmla="*/ 0 h 1145"/>
                <a:gd name="T52" fmla="*/ 393324 w 1145"/>
                <a:gd name="T53" fmla="*/ 130871 h 1145"/>
                <a:gd name="T54" fmla="*/ 131108 w 1145"/>
                <a:gd name="T55" fmla="*/ 392613 h 1145"/>
                <a:gd name="T56" fmla="*/ 0 w 1145"/>
                <a:gd name="T57" fmla="*/ 392613 h 1145"/>
                <a:gd name="T58" fmla="*/ 0 w 1145"/>
                <a:gd name="T59" fmla="*/ 484452 h 1145"/>
                <a:gd name="T60" fmla="*/ 131108 w 1145"/>
                <a:gd name="T61" fmla="*/ 484452 h 1145"/>
                <a:gd name="T62" fmla="*/ 393324 w 1145"/>
                <a:gd name="T63" fmla="*/ 746194 h 1145"/>
                <a:gd name="T64" fmla="*/ 393324 w 1145"/>
                <a:gd name="T65" fmla="*/ 876300 h 1145"/>
                <a:gd name="T66" fmla="*/ 485330 w 1145"/>
                <a:gd name="T67" fmla="*/ 876300 h 1145"/>
                <a:gd name="T68" fmla="*/ 485330 w 1145"/>
                <a:gd name="T69" fmla="*/ 746194 h 1145"/>
                <a:gd name="T70" fmla="*/ 747546 w 1145"/>
                <a:gd name="T71" fmla="*/ 484452 h 1145"/>
                <a:gd name="T72" fmla="*/ 877887 w 1145"/>
                <a:gd name="T73" fmla="*/ 484452 h 1145"/>
                <a:gd name="T74" fmla="*/ 877887 w 1145"/>
                <a:gd name="T75" fmla="*/ 392613 h 1145"/>
                <a:gd name="T76" fmla="*/ 747546 w 1145"/>
                <a:gd name="T77" fmla="*/ 392613 h 114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145" h="1145">
                  <a:moveTo>
                    <a:pt x="573" y="426"/>
                  </a:moveTo>
                  <a:cubicBezTo>
                    <a:pt x="492" y="426"/>
                    <a:pt x="426" y="492"/>
                    <a:pt x="426" y="573"/>
                  </a:cubicBezTo>
                  <a:cubicBezTo>
                    <a:pt x="426" y="654"/>
                    <a:pt x="492" y="720"/>
                    <a:pt x="573" y="720"/>
                  </a:cubicBezTo>
                  <a:cubicBezTo>
                    <a:pt x="654" y="720"/>
                    <a:pt x="720" y="654"/>
                    <a:pt x="720" y="573"/>
                  </a:cubicBezTo>
                  <a:cubicBezTo>
                    <a:pt x="720" y="492"/>
                    <a:pt x="654" y="426"/>
                    <a:pt x="573" y="426"/>
                  </a:cubicBezTo>
                  <a:close/>
                  <a:moveTo>
                    <a:pt x="633" y="853"/>
                  </a:moveTo>
                  <a:lnTo>
                    <a:pt x="633" y="786"/>
                  </a:lnTo>
                  <a:lnTo>
                    <a:pt x="513" y="786"/>
                  </a:lnTo>
                  <a:lnTo>
                    <a:pt x="513" y="853"/>
                  </a:lnTo>
                  <a:cubicBezTo>
                    <a:pt x="403" y="829"/>
                    <a:pt x="316" y="743"/>
                    <a:pt x="293" y="633"/>
                  </a:cubicBezTo>
                  <a:lnTo>
                    <a:pt x="359" y="633"/>
                  </a:lnTo>
                  <a:lnTo>
                    <a:pt x="359" y="513"/>
                  </a:lnTo>
                  <a:lnTo>
                    <a:pt x="293" y="513"/>
                  </a:lnTo>
                  <a:cubicBezTo>
                    <a:pt x="316" y="403"/>
                    <a:pt x="403" y="316"/>
                    <a:pt x="513" y="293"/>
                  </a:cubicBezTo>
                  <a:lnTo>
                    <a:pt x="513" y="359"/>
                  </a:lnTo>
                  <a:lnTo>
                    <a:pt x="633" y="359"/>
                  </a:lnTo>
                  <a:lnTo>
                    <a:pt x="633" y="293"/>
                  </a:lnTo>
                  <a:cubicBezTo>
                    <a:pt x="743" y="316"/>
                    <a:pt x="830" y="403"/>
                    <a:pt x="853" y="513"/>
                  </a:cubicBezTo>
                  <a:lnTo>
                    <a:pt x="787" y="513"/>
                  </a:lnTo>
                  <a:lnTo>
                    <a:pt x="787" y="633"/>
                  </a:lnTo>
                  <a:lnTo>
                    <a:pt x="853" y="633"/>
                  </a:lnTo>
                  <a:cubicBezTo>
                    <a:pt x="830" y="743"/>
                    <a:pt x="743" y="829"/>
                    <a:pt x="633" y="853"/>
                  </a:cubicBezTo>
                  <a:close/>
                  <a:moveTo>
                    <a:pt x="975" y="513"/>
                  </a:moveTo>
                  <a:cubicBezTo>
                    <a:pt x="949" y="337"/>
                    <a:pt x="809" y="197"/>
                    <a:pt x="633" y="171"/>
                  </a:cubicBezTo>
                  <a:lnTo>
                    <a:pt x="633" y="0"/>
                  </a:lnTo>
                  <a:lnTo>
                    <a:pt x="513" y="0"/>
                  </a:lnTo>
                  <a:lnTo>
                    <a:pt x="513" y="171"/>
                  </a:lnTo>
                  <a:cubicBezTo>
                    <a:pt x="337" y="197"/>
                    <a:pt x="197" y="337"/>
                    <a:pt x="171" y="513"/>
                  </a:cubicBezTo>
                  <a:lnTo>
                    <a:pt x="0" y="513"/>
                  </a:lnTo>
                  <a:lnTo>
                    <a:pt x="0" y="633"/>
                  </a:lnTo>
                  <a:lnTo>
                    <a:pt x="171" y="633"/>
                  </a:lnTo>
                  <a:cubicBezTo>
                    <a:pt x="197" y="809"/>
                    <a:pt x="337" y="949"/>
                    <a:pt x="513" y="975"/>
                  </a:cubicBezTo>
                  <a:lnTo>
                    <a:pt x="513" y="1145"/>
                  </a:lnTo>
                  <a:lnTo>
                    <a:pt x="633" y="1145"/>
                  </a:lnTo>
                  <a:lnTo>
                    <a:pt x="633" y="975"/>
                  </a:lnTo>
                  <a:cubicBezTo>
                    <a:pt x="809" y="949"/>
                    <a:pt x="949" y="809"/>
                    <a:pt x="975" y="633"/>
                  </a:cubicBezTo>
                  <a:lnTo>
                    <a:pt x="1145" y="633"/>
                  </a:lnTo>
                  <a:lnTo>
                    <a:pt x="1145" y="513"/>
                  </a:lnTo>
                  <a:lnTo>
                    <a:pt x="975" y="513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9712308" y="351889"/>
            <a:ext cx="465754" cy="472063"/>
            <a:chOff x="10019977" y="-551766"/>
            <a:chExt cx="2093913" cy="2122488"/>
          </a:xfrm>
          <a:solidFill>
            <a:srgbClr val="0070C0"/>
          </a:solidFill>
        </p:grpSpPr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0911236" y="351889"/>
            <a:ext cx="465754" cy="472063"/>
            <a:chOff x="1342896" y="2366362"/>
            <a:chExt cx="2093913" cy="2122488"/>
          </a:xfrm>
          <a:solidFill>
            <a:srgbClr val="0070C0"/>
          </a:solidFill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1342896" y="2366362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767347" y="2753040"/>
              <a:ext cx="1311950" cy="1299916"/>
              <a:chOff x="4699000" y="4643438"/>
              <a:chExt cx="346075" cy="342900"/>
            </a:xfrm>
            <a:grpFill/>
          </p:grpSpPr>
          <p:sp>
            <p:nvSpPr>
              <p:cNvPr id="19" name="Freeform 20"/>
              <p:cNvSpPr>
                <a:spLocks noEditPoints="1"/>
              </p:cNvSpPr>
              <p:nvPr/>
            </p:nvSpPr>
            <p:spPr bwMode="auto">
              <a:xfrm>
                <a:off x="4894263" y="4841875"/>
                <a:ext cx="146050" cy="142875"/>
              </a:xfrm>
              <a:custGeom>
                <a:avLst/>
                <a:gdLst>
                  <a:gd name="T0" fmla="*/ 232 w 340"/>
                  <a:gd name="T1" fmla="*/ 183 h 333"/>
                  <a:gd name="T2" fmla="*/ 274 w 340"/>
                  <a:gd name="T3" fmla="*/ 224 h 333"/>
                  <a:gd name="T4" fmla="*/ 232 w 340"/>
                  <a:gd name="T5" fmla="*/ 266 h 333"/>
                  <a:gd name="T6" fmla="*/ 191 w 340"/>
                  <a:gd name="T7" fmla="*/ 224 h 333"/>
                  <a:gd name="T8" fmla="*/ 232 w 340"/>
                  <a:gd name="T9" fmla="*/ 183 h 333"/>
                  <a:gd name="T10" fmla="*/ 75 w 340"/>
                  <a:gd name="T11" fmla="*/ 3 h 333"/>
                  <a:gd name="T12" fmla="*/ 85 w 340"/>
                  <a:gd name="T13" fmla="*/ 24 h 333"/>
                  <a:gd name="T14" fmla="*/ 63 w 340"/>
                  <a:gd name="T15" fmla="*/ 46 h 333"/>
                  <a:gd name="T16" fmla="*/ 42 w 340"/>
                  <a:gd name="T17" fmla="*/ 67 h 333"/>
                  <a:gd name="T18" fmla="*/ 0 w 340"/>
                  <a:gd name="T19" fmla="*/ 94 h 333"/>
                  <a:gd name="T20" fmla="*/ 140 w 340"/>
                  <a:gd name="T21" fmla="*/ 235 h 333"/>
                  <a:gd name="T22" fmla="*/ 207 w 340"/>
                  <a:gd name="T23" fmla="*/ 324 h 333"/>
                  <a:gd name="T24" fmla="*/ 242 w 340"/>
                  <a:gd name="T25" fmla="*/ 333 h 333"/>
                  <a:gd name="T26" fmla="*/ 340 w 340"/>
                  <a:gd name="T27" fmla="*/ 235 h 333"/>
                  <a:gd name="T28" fmla="*/ 330 w 340"/>
                  <a:gd name="T29" fmla="*/ 199 h 333"/>
                  <a:gd name="T30" fmla="*/ 242 w 340"/>
                  <a:gd name="T31" fmla="*/ 133 h 333"/>
                  <a:gd name="T32" fmla="*/ 109 w 340"/>
                  <a:gd name="T33" fmla="*/ 0 h 333"/>
                  <a:gd name="T34" fmla="*/ 96 w 340"/>
                  <a:gd name="T35" fmla="*/ 13 h 333"/>
                  <a:gd name="T36" fmla="*/ 75 w 340"/>
                  <a:gd name="T37" fmla="*/ 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0" h="333">
                    <a:moveTo>
                      <a:pt x="232" y="183"/>
                    </a:moveTo>
                    <a:cubicBezTo>
                      <a:pt x="255" y="183"/>
                      <a:pt x="274" y="201"/>
                      <a:pt x="274" y="224"/>
                    </a:cubicBezTo>
                    <a:cubicBezTo>
                      <a:pt x="274" y="247"/>
                      <a:pt x="255" y="266"/>
                      <a:pt x="232" y="266"/>
                    </a:cubicBezTo>
                    <a:cubicBezTo>
                      <a:pt x="210" y="266"/>
                      <a:pt x="191" y="247"/>
                      <a:pt x="191" y="224"/>
                    </a:cubicBezTo>
                    <a:cubicBezTo>
                      <a:pt x="191" y="201"/>
                      <a:pt x="210" y="183"/>
                      <a:pt x="232" y="183"/>
                    </a:cubicBezTo>
                    <a:close/>
                    <a:moveTo>
                      <a:pt x="75" y="3"/>
                    </a:moveTo>
                    <a:lnTo>
                      <a:pt x="85" y="24"/>
                    </a:lnTo>
                    <a:lnTo>
                      <a:pt x="63" y="46"/>
                    </a:lnTo>
                    <a:lnTo>
                      <a:pt x="42" y="67"/>
                    </a:lnTo>
                    <a:cubicBezTo>
                      <a:pt x="30" y="79"/>
                      <a:pt x="15" y="88"/>
                      <a:pt x="0" y="94"/>
                    </a:cubicBezTo>
                    <a:lnTo>
                      <a:pt x="140" y="235"/>
                    </a:lnTo>
                    <a:lnTo>
                      <a:pt x="207" y="324"/>
                    </a:lnTo>
                    <a:lnTo>
                      <a:pt x="242" y="333"/>
                    </a:lnTo>
                    <a:lnTo>
                      <a:pt x="340" y="235"/>
                    </a:lnTo>
                    <a:lnTo>
                      <a:pt x="330" y="199"/>
                    </a:lnTo>
                    <a:lnTo>
                      <a:pt x="242" y="133"/>
                    </a:lnTo>
                    <a:lnTo>
                      <a:pt x="109" y="0"/>
                    </a:lnTo>
                    <a:lnTo>
                      <a:pt x="96" y="13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0" name="Freeform 21"/>
              <p:cNvSpPr/>
              <p:nvPr/>
            </p:nvSpPr>
            <p:spPr bwMode="auto">
              <a:xfrm>
                <a:off x="4699000" y="4643438"/>
                <a:ext cx="153987" cy="153988"/>
              </a:xfrm>
              <a:custGeom>
                <a:avLst/>
                <a:gdLst>
                  <a:gd name="T0" fmla="*/ 288 w 354"/>
                  <a:gd name="T1" fmla="*/ 281 h 355"/>
                  <a:gd name="T2" fmla="*/ 311 w 354"/>
                  <a:gd name="T3" fmla="*/ 258 h 355"/>
                  <a:gd name="T4" fmla="*/ 332 w 354"/>
                  <a:gd name="T5" fmla="*/ 269 h 355"/>
                  <a:gd name="T6" fmla="*/ 321 w 354"/>
                  <a:gd name="T7" fmla="*/ 248 h 355"/>
                  <a:gd name="T8" fmla="*/ 344 w 354"/>
                  <a:gd name="T9" fmla="*/ 225 h 355"/>
                  <a:gd name="T10" fmla="*/ 346 w 354"/>
                  <a:gd name="T11" fmla="*/ 223 h 355"/>
                  <a:gd name="T12" fmla="*/ 354 w 354"/>
                  <a:gd name="T13" fmla="*/ 185 h 355"/>
                  <a:gd name="T14" fmla="*/ 170 w 354"/>
                  <a:gd name="T15" fmla="*/ 1 h 355"/>
                  <a:gd name="T16" fmla="*/ 153 w 354"/>
                  <a:gd name="T17" fmla="*/ 17 h 355"/>
                  <a:gd name="T18" fmla="*/ 222 w 354"/>
                  <a:gd name="T19" fmla="*/ 127 h 355"/>
                  <a:gd name="T20" fmla="*/ 126 w 354"/>
                  <a:gd name="T21" fmla="*/ 223 h 355"/>
                  <a:gd name="T22" fmla="*/ 16 w 354"/>
                  <a:gd name="T23" fmla="*/ 154 h 355"/>
                  <a:gd name="T24" fmla="*/ 0 w 354"/>
                  <a:gd name="T25" fmla="*/ 171 h 355"/>
                  <a:gd name="T26" fmla="*/ 184 w 354"/>
                  <a:gd name="T27" fmla="*/ 355 h 355"/>
                  <a:gd name="T28" fmla="*/ 237 w 354"/>
                  <a:gd name="T29" fmla="*/ 340 h 355"/>
                  <a:gd name="T30" fmla="*/ 240 w 354"/>
                  <a:gd name="T31" fmla="*/ 344 h 355"/>
                  <a:gd name="T32" fmla="*/ 268 w 354"/>
                  <a:gd name="T33" fmla="*/ 301 h 355"/>
                  <a:gd name="T34" fmla="*/ 288 w 354"/>
                  <a:gd name="T35" fmla="*/ 281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4" h="355">
                    <a:moveTo>
                      <a:pt x="288" y="281"/>
                    </a:moveTo>
                    <a:lnTo>
                      <a:pt x="311" y="258"/>
                    </a:lnTo>
                    <a:lnTo>
                      <a:pt x="332" y="269"/>
                    </a:lnTo>
                    <a:lnTo>
                      <a:pt x="321" y="248"/>
                    </a:lnTo>
                    <a:lnTo>
                      <a:pt x="344" y="225"/>
                    </a:lnTo>
                    <a:lnTo>
                      <a:pt x="346" y="223"/>
                    </a:lnTo>
                    <a:cubicBezTo>
                      <a:pt x="351" y="210"/>
                      <a:pt x="354" y="197"/>
                      <a:pt x="354" y="185"/>
                    </a:cubicBezTo>
                    <a:cubicBezTo>
                      <a:pt x="354" y="91"/>
                      <a:pt x="264" y="0"/>
                      <a:pt x="170" y="1"/>
                    </a:cubicBezTo>
                    <a:cubicBezTo>
                      <a:pt x="170" y="1"/>
                      <a:pt x="159" y="11"/>
                      <a:pt x="153" y="17"/>
                    </a:cubicBezTo>
                    <a:cubicBezTo>
                      <a:pt x="229" y="93"/>
                      <a:pt x="222" y="80"/>
                      <a:pt x="222" y="127"/>
                    </a:cubicBezTo>
                    <a:cubicBezTo>
                      <a:pt x="222" y="164"/>
                      <a:pt x="162" y="223"/>
                      <a:pt x="126" y="223"/>
                    </a:cubicBezTo>
                    <a:cubicBezTo>
                      <a:pt x="78" y="223"/>
                      <a:pt x="93" y="231"/>
                      <a:pt x="16" y="154"/>
                    </a:cubicBezTo>
                    <a:cubicBezTo>
                      <a:pt x="10" y="160"/>
                      <a:pt x="0" y="171"/>
                      <a:pt x="0" y="171"/>
                    </a:cubicBezTo>
                    <a:cubicBezTo>
                      <a:pt x="1" y="265"/>
                      <a:pt x="90" y="355"/>
                      <a:pt x="184" y="355"/>
                    </a:cubicBezTo>
                    <a:cubicBezTo>
                      <a:pt x="201" y="355"/>
                      <a:pt x="219" y="349"/>
                      <a:pt x="237" y="340"/>
                    </a:cubicBezTo>
                    <a:lnTo>
                      <a:pt x="240" y="344"/>
                    </a:lnTo>
                    <a:cubicBezTo>
                      <a:pt x="246" y="328"/>
                      <a:pt x="255" y="314"/>
                      <a:pt x="268" y="301"/>
                    </a:cubicBezTo>
                    <a:lnTo>
                      <a:pt x="288" y="281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1" name="Freeform 22"/>
              <p:cNvSpPr/>
              <p:nvPr/>
            </p:nvSpPr>
            <p:spPr bwMode="auto">
              <a:xfrm>
                <a:off x="4699000" y="4643438"/>
                <a:ext cx="346075" cy="342900"/>
              </a:xfrm>
              <a:custGeom>
                <a:avLst/>
                <a:gdLst>
                  <a:gd name="T0" fmla="*/ 771 w 800"/>
                  <a:gd name="T1" fmla="*/ 76 h 791"/>
                  <a:gd name="T2" fmla="*/ 716 w 800"/>
                  <a:gd name="T3" fmla="*/ 22 h 791"/>
                  <a:gd name="T4" fmla="*/ 663 w 800"/>
                  <a:gd name="T5" fmla="*/ 0 h 791"/>
                  <a:gd name="T6" fmla="*/ 610 w 800"/>
                  <a:gd name="T7" fmla="*/ 22 h 791"/>
                  <a:gd name="T8" fmla="*/ 376 w 800"/>
                  <a:gd name="T9" fmla="*/ 256 h 791"/>
                  <a:gd name="T10" fmla="*/ 366 w 800"/>
                  <a:gd name="T11" fmla="*/ 302 h 791"/>
                  <a:gd name="T12" fmla="*/ 335 w 800"/>
                  <a:gd name="T13" fmla="*/ 315 h 791"/>
                  <a:gd name="T14" fmla="*/ 320 w 800"/>
                  <a:gd name="T15" fmla="*/ 312 h 791"/>
                  <a:gd name="T16" fmla="*/ 300 w 800"/>
                  <a:gd name="T17" fmla="*/ 332 h 791"/>
                  <a:gd name="T18" fmla="*/ 300 w 800"/>
                  <a:gd name="T19" fmla="*/ 438 h 791"/>
                  <a:gd name="T20" fmla="*/ 303 w 800"/>
                  <a:gd name="T21" fmla="*/ 442 h 791"/>
                  <a:gd name="T22" fmla="*/ 120 w 800"/>
                  <a:gd name="T23" fmla="*/ 625 h 791"/>
                  <a:gd name="T24" fmla="*/ 72 w 800"/>
                  <a:gd name="T25" fmla="*/ 643 h 791"/>
                  <a:gd name="T26" fmla="*/ 0 w 800"/>
                  <a:gd name="T27" fmla="*/ 745 h 791"/>
                  <a:gd name="T28" fmla="*/ 46 w 800"/>
                  <a:gd name="T29" fmla="*/ 791 h 791"/>
                  <a:gd name="T30" fmla="*/ 148 w 800"/>
                  <a:gd name="T31" fmla="*/ 720 h 791"/>
                  <a:gd name="T32" fmla="*/ 166 w 800"/>
                  <a:gd name="T33" fmla="*/ 670 h 791"/>
                  <a:gd name="T34" fmla="*/ 349 w 800"/>
                  <a:gd name="T35" fmla="*/ 487 h 791"/>
                  <a:gd name="T36" fmla="*/ 355 w 800"/>
                  <a:gd name="T37" fmla="*/ 493 h 791"/>
                  <a:gd name="T38" fmla="*/ 407 w 800"/>
                  <a:gd name="T39" fmla="*/ 515 h 791"/>
                  <a:gd name="T40" fmla="*/ 460 w 800"/>
                  <a:gd name="T41" fmla="*/ 493 h 791"/>
                  <a:gd name="T42" fmla="*/ 481 w 800"/>
                  <a:gd name="T43" fmla="*/ 472 h 791"/>
                  <a:gd name="T44" fmla="*/ 490 w 800"/>
                  <a:gd name="T45" fmla="*/ 426 h 791"/>
                  <a:gd name="T46" fmla="*/ 522 w 800"/>
                  <a:gd name="T47" fmla="*/ 414 h 791"/>
                  <a:gd name="T48" fmla="*/ 536 w 800"/>
                  <a:gd name="T49" fmla="*/ 417 h 791"/>
                  <a:gd name="T50" fmla="*/ 771 w 800"/>
                  <a:gd name="T51" fmla="*/ 182 h 791"/>
                  <a:gd name="T52" fmla="*/ 771 w 800"/>
                  <a:gd name="T53" fmla="*/ 7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0" h="791">
                    <a:moveTo>
                      <a:pt x="771" y="76"/>
                    </a:moveTo>
                    <a:lnTo>
                      <a:pt x="716" y="22"/>
                    </a:lnTo>
                    <a:cubicBezTo>
                      <a:pt x="701" y="7"/>
                      <a:pt x="682" y="0"/>
                      <a:pt x="663" y="0"/>
                    </a:cubicBezTo>
                    <a:cubicBezTo>
                      <a:pt x="644" y="0"/>
                      <a:pt x="625" y="7"/>
                      <a:pt x="610" y="22"/>
                    </a:cubicBezTo>
                    <a:lnTo>
                      <a:pt x="376" y="256"/>
                    </a:lnTo>
                    <a:cubicBezTo>
                      <a:pt x="383" y="270"/>
                      <a:pt x="378" y="291"/>
                      <a:pt x="366" y="302"/>
                    </a:cubicBezTo>
                    <a:cubicBezTo>
                      <a:pt x="359" y="310"/>
                      <a:pt x="346" y="315"/>
                      <a:pt x="335" y="315"/>
                    </a:cubicBezTo>
                    <a:cubicBezTo>
                      <a:pt x="330" y="315"/>
                      <a:pt x="325" y="314"/>
                      <a:pt x="320" y="312"/>
                    </a:cubicBezTo>
                    <a:lnTo>
                      <a:pt x="300" y="332"/>
                    </a:lnTo>
                    <a:cubicBezTo>
                      <a:pt x="271" y="361"/>
                      <a:pt x="271" y="409"/>
                      <a:pt x="300" y="438"/>
                    </a:cubicBezTo>
                    <a:lnTo>
                      <a:pt x="303" y="442"/>
                    </a:lnTo>
                    <a:lnTo>
                      <a:pt x="120" y="625"/>
                    </a:lnTo>
                    <a:lnTo>
                      <a:pt x="72" y="643"/>
                    </a:lnTo>
                    <a:lnTo>
                      <a:pt x="0" y="745"/>
                    </a:lnTo>
                    <a:lnTo>
                      <a:pt x="46" y="791"/>
                    </a:lnTo>
                    <a:lnTo>
                      <a:pt x="148" y="720"/>
                    </a:lnTo>
                    <a:lnTo>
                      <a:pt x="166" y="670"/>
                    </a:lnTo>
                    <a:lnTo>
                      <a:pt x="349" y="487"/>
                    </a:lnTo>
                    <a:lnTo>
                      <a:pt x="355" y="493"/>
                    </a:lnTo>
                    <a:cubicBezTo>
                      <a:pt x="369" y="507"/>
                      <a:pt x="388" y="515"/>
                      <a:pt x="407" y="515"/>
                    </a:cubicBezTo>
                    <a:cubicBezTo>
                      <a:pt x="426" y="515"/>
                      <a:pt x="446" y="507"/>
                      <a:pt x="460" y="493"/>
                    </a:cubicBezTo>
                    <a:lnTo>
                      <a:pt x="481" y="472"/>
                    </a:lnTo>
                    <a:cubicBezTo>
                      <a:pt x="474" y="458"/>
                      <a:pt x="479" y="437"/>
                      <a:pt x="490" y="426"/>
                    </a:cubicBezTo>
                    <a:cubicBezTo>
                      <a:pt x="498" y="419"/>
                      <a:pt x="510" y="414"/>
                      <a:pt x="522" y="414"/>
                    </a:cubicBezTo>
                    <a:cubicBezTo>
                      <a:pt x="527" y="414"/>
                      <a:pt x="532" y="415"/>
                      <a:pt x="536" y="417"/>
                    </a:cubicBezTo>
                    <a:lnTo>
                      <a:pt x="771" y="182"/>
                    </a:lnTo>
                    <a:cubicBezTo>
                      <a:pt x="800" y="153"/>
                      <a:pt x="800" y="106"/>
                      <a:pt x="771" y="7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22" name="组合 21"/>
          <p:cNvGrpSpPr/>
          <p:nvPr userDrawn="1"/>
        </p:nvGrpSpPr>
        <p:grpSpPr>
          <a:xfrm>
            <a:off x="11502292" y="351889"/>
            <a:ext cx="465754" cy="472063"/>
            <a:chOff x="4910385" y="-2248866"/>
            <a:chExt cx="2093913" cy="2122488"/>
          </a:xfrm>
          <a:solidFill>
            <a:srgbClr val="0070C0"/>
          </a:solidFill>
        </p:grpSpPr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sp>
        <p:nvSpPr>
          <p:cNvPr id="26" name="矩形 25"/>
          <p:cNvSpPr/>
          <p:nvPr userDrawn="1"/>
        </p:nvSpPr>
        <p:spPr>
          <a:xfrm>
            <a:off x="1" y="3111689"/>
            <a:ext cx="368526" cy="1924335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87656" y="196812"/>
            <a:ext cx="3572666" cy="866846"/>
            <a:chOff x="583188" y="474517"/>
            <a:chExt cx="4358865" cy="1057708"/>
          </a:xfrm>
        </p:grpSpPr>
        <p:pic>
          <p:nvPicPr>
            <p:cNvPr id="31" name="图片 3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188" y="474517"/>
              <a:ext cx="1029183" cy="1057708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34" name="矩形 33"/>
            <p:cNvSpPr/>
            <p:nvPr userDrawn="1"/>
          </p:nvSpPr>
          <p:spPr>
            <a:xfrm>
              <a:off x="1700548" y="1241379"/>
              <a:ext cx="3241505" cy="280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5"/>
          <a:stretch>
            <a:fillRect/>
          </a:stretch>
        </p:blipFill>
        <p:spPr>
          <a:xfrm>
            <a:off x="6972988" y="1725722"/>
            <a:ext cx="5220214" cy="35413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5" name="Freeform 6"/>
          <p:cNvSpPr>
            <a:spLocks noEditPoints="1"/>
          </p:cNvSpPr>
          <p:nvPr userDrawn="1"/>
        </p:nvSpPr>
        <p:spPr bwMode="auto">
          <a:xfrm>
            <a:off x="1315395" y="2644042"/>
            <a:ext cx="2345146" cy="2222446"/>
          </a:xfrm>
          <a:custGeom>
            <a:avLst/>
            <a:gdLst>
              <a:gd name="T0" fmla="*/ 1391 w 2783"/>
              <a:gd name="T1" fmla="*/ 0 h 2783"/>
              <a:gd name="T2" fmla="*/ 0 w 2783"/>
              <a:gd name="T3" fmla="*/ 1391 h 2783"/>
              <a:gd name="T4" fmla="*/ 1391 w 2783"/>
              <a:gd name="T5" fmla="*/ 2783 h 2783"/>
              <a:gd name="T6" fmla="*/ 2783 w 2783"/>
              <a:gd name="T7" fmla="*/ 1391 h 2783"/>
              <a:gd name="T8" fmla="*/ 1391 w 2783"/>
              <a:gd name="T9" fmla="*/ 0 h 2783"/>
              <a:gd name="T10" fmla="*/ 1391 w 2783"/>
              <a:gd name="T11" fmla="*/ 55 h 2783"/>
              <a:gd name="T12" fmla="*/ 55 w 2783"/>
              <a:gd name="T13" fmla="*/ 1391 h 2783"/>
              <a:gd name="T14" fmla="*/ 1391 w 2783"/>
              <a:gd name="T15" fmla="*/ 2728 h 2783"/>
              <a:gd name="T16" fmla="*/ 2728 w 2783"/>
              <a:gd name="T17" fmla="*/ 1391 h 2783"/>
              <a:gd name="T18" fmla="*/ 1391 w 2783"/>
              <a:gd name="T19" fmla="*/ 55 h 2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83" h="2783">
                <a:moveTo>
                  <a:pt x="1391" y="0"/>
                </a:moveTo>
                <a:cubicBezTo>
                  <a:pt x="623" y="0"/>
                  <a:pt x="0" y="623"/>
                  <a:pt x="0" y="1391"/>
                </a:cubicBezTo>
                <a:cubicBezTo>
                  <a:pt x="0" y="2160"/>
                  <a:pt x="623" y="2783"/>
                  <a:pt x="1391" y="2783"/>
                </a:cubicBezTo>
                <a:cubicBezTo>
                  <a:pt x="2160" y="2783"/>
                  <a:pt x="2783" y="2160"/>
                  <a:pt x="2783" y="1391"/>
                </a:cubicBezTo>
                <a:cubicBezTo>
                  <a:pt x="2783" y="623"/>
                  <a:pt x="2160" y="0"/>
                  <a:pt x="1391" y="0"/>
                </a:cubicBezTo>
                <a:close/>
                <a:moveTo>
                  <a:pt x="1391" y="55"/>
                </a:moveTo>
                <a:cubicBezTo>
                  <a:pt x="654" y="55"/>
                  <a:pt x="55" y="654"/>
                  <a:pt x="55" y="1391"/>
                </a:cubicBezTo>
                <a:cubicBezTo>
                  <a:pt x="55" y="2129"/>
                  <a:pt x="654" y="2728"/>
                  <a:pt x="1391" y="2728"/>
                </a:cubicBezTo>
                <a:cubicBezTo>
                  <a:pt x="2129" y="2728"/>
                  <a:pt x="2728" y="2129"/>
                  <a:pt x="2728" y="1391"/>
                </a:cubicBezTo>
                <a:cubicBezTo>
                  <a:pt x="2728" y="654"/>
                  <a:pt x="2129" y="55"/>
                  <a:pt x="1391" y="55"/>
                </a:cubicBezTo>
                <a:close/>
              </a:path>
            </a:pathLst>
          </a:custGeom>
          <a:solidFill>
            <a:srgbClr val="0070C0"/>
          </a:solidFill>
          <a:ln>
            <a:solidFill>
              <a:srgbClr val="00206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1597428" y="312405"/>
            <a:ext cx="2656842" cy="853837"/>
            <a:chOff x="1700548" y="480028"/>
            <a:chExt cx="3241505" cy="1041833"/>
          </a:xfrm>
        </p:grpSpPr>
        <p:pic>
          <p:nvPicPr>
            <p:cNvPr id="39" name="图片 3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40" name="矩形 39"/>
            <p:cNvSpPr/>
            <p:nvPr userDrawn="1"/>
          </p:nvSpPr>
          <p:spPr>
            <a:xfrm>
              <a:off x="1700548" y="1241379"/>
              <a:ext cx="3241505" cy="2804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15" y="312106"/>
            <a:ext cx="812196" cy="819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 userDrawn="1"/>
        </p:nvSpPr>
        <p:spPr>
          <a:xfrm>
            <a:off x="0" y="1846666"/>
            <a:ext cx="4038998" cy="4258349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/>
          <a:lstStyle/>
          <a:p>
            <a:fld id="{6EC35B7C-9CA1-4257-8EBB-4A49DF31859F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0" y="696036"/>
            <a:ext cx="1474103" cy="573206"/>
            <a:chOff x="0" y="696036"/>
            <a:chExt cx="1473958" cy="573206"/>
          </a:xfrm>
        </p:grpSpPr>
        <p:sp>
          <p:nvSpPr>
            <p:cNvPr id="21" name="矩形 20"/>
            <p:cNvSpPr/>
            <p:nvPr/>
          </p:nvSpPr>
          <p:spPr>
            <a:xfrm>
              <a:off x="0" y="696036"/>
              <a:ext cx="1473958" cy="573206"/>
            </a:xfrm>
            <a:prstGeom prst="rect">
              <a:avLst/>
            </a:prstGeom>
            <a:solidFill>
              <a:srgbClr val="17406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4591" y="751806"/>
              <a:ext cx="1078174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</a:rPr>
                <a:t>目 录</a:t>
              </a:r>
            </a:p>
          </p:txBody>
        </p:sp>
      </p:grpSp>
      <p:sp>
        <p:nvSpPr>
          <p:cNvPr id="23" name="文本框 22"/>
          <p:cNvSpPr txBox="1"/>
          <p:nvPr userDrawn="1"/>
        </p:nvSpPr>
        <p:spPr>
          <a:xfrm>
            <a:off x="1528700" y="696036"/>
            <a:ext cx="256603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7406D"/>
                </a:solidFill>
                <a:latin typeface="Impact" panose="020B0806030902050204" pitchFamily="34" charset="0"/>
                <a:ea typeface="微软雅黑" panose="020B0503020204020204" charset="-122"/>
              </a:rPr>
              <a:t>C</a:t>
            </a:r>
            <a:r>
              <a:rPr lang="en-US" altLang="zh-CN" sz="2000" b="1" dirty="0">
                <a:solidFill>
                  <a:srgbClr val="17406D"/>
                </a:solidFill>
                <a:latin typeface="Impact" panose="020B0806030902050204" pitchFamily="34" charset="0"/>
                <a:ea typeface="微软雅黑" panose="020B0503020204020204" charset="-122"/>
              </a:rPr>
              <a:t>ONTENT</a:t>
            </a:r>
            <a:endParaRPr lang="zh-CN" altLang="en-US" sz="2000" b="1" dirty="0">
              <a:solidFill>
                <a:srgbClr val="17406D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 userDrawn="1"/>
        </p:nvSpPr>
        <p:spPr>
          <a:xfrm>
            <a:off x="4038998" y="1846666"/>
            <a:ext cx="8154203" cy="4258349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018" y="670367"/>
            <a:ext cx="2506966" cy="624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/>
          <a:lstStyle/>
          <a:p>
            <a:fld id="{6EC35B7C-9CA1-4257-8EBB-4A49DF31859F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5062" y="728592"/>
            <a:ext cx="2293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17406D"/>
                </a:solidFill>
                <a:latin typeface="Calibri" panose="020F0502020204030204"/>
                <a:ea typeface="微软雅黑" panose="020B0503020204020204" charset="-122"/>
              </a:rPr>
              <a:t>参考文献</a:t>
            </a: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duotone>
              <a:srgbClr val="0F6F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50" y="549495"/>
            <a:ext cx="719412" cy="720000"/>
          </a:xfrm>
          <a:prstGeom prst="rect">
            <a:avLst/>
          </a:prstGeom>
          <a:noFill/>
        </p:spPr>
      </p:pic>
      <p:sp>
        <p:nvSpPr>
          <p:cNvPr id="15" name="矩形 14"/>
          <p:cNvSpPr/>
          <p:nvPr userDrawn="1"/>
        </p:nvSpPr>
        <p:spPr>
          <a:xfrm>
            <a:off x="3098781" y="1246972"/>
            <a:ext cx="9094419" cy="45719"/>
          </a:xfrm>
          <a:prstGeom prst="rect">
            <a:avLst/>
          </a:prstGeom>
          <a:solidFill>
            <a:srgbClr val="0F6F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17406D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Cheng Cheng @ CPCC 2019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112844" y="351889"/>
            <a:ext cx="465754" cy="472063"/>
            <a:chOff x="4796805" y="-215900"/>
            <a:chExt cx="2093913" cy="2122488"/>
          </a:xfrm>
          <a:solidFill>
            <a:srgbClr val="0070C0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311772" y="351889"/>
            <a:ext cx="465754" cy="472063"/>
            <a:chOff x="7717810" y="-375235"/>
            <a:chExt cx="2093913" cy="2122488"/>
          </a:xfrm>
          <a:solidFill>
            <a:srgbClr val="0070C0"/>
          </a:solidFill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7717810" y="-375235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7873033" y="-212106"/>
              <a:ext cx="1796329" cy="1793077"/>
            </a:xfrm>
            <a:custGeom>
              <a:avLst/>
              <a:gdLst>
                <a:gd name="T0" fmla="*/ 439327 w 1145"/>
                <a:gd name="T1" fmla="*/ 326030 h 1145"/>
                <a:gd name="T2" fmla="*/ 326620 w 1145"/>
                <a:gd name="T3" fmla="*/ 438533 h 1145"/>
                <a:gd name="T4" fmla="*/ 439327 w 1145"/>
                <a:gd name="T5" fmla="*/ 551036 h 1145"/>
                <a:gd name="T6" fmla="*/ 552034 w 1145"/>
                <a:gd name="T7" fmla="*/ 438533 h 1145"/>
                <a:gd name="T8" fmla="*/ 439327 w 1145"/>
                <a:gd name="T9" fmla="*/ 326030 h 1145"/>
                <a:gd name="T10" fmla="*/ 485330 w 1145"/>
                <a:gd name="T11" fmla="*/ 652824 h 1145"/>
                <a:gd name="T12" fmla="*/ 485330 w 1145"/>
                <a:gd name="T13" fmla="*/ 601547 h 1145"/>
                <a:gd name="T14" fmla="*/ 393324 w 1145"/>
                <a:gd name="T15" fmla="*/ 601547 h 1145"/>
                <a:gd name="T16" fmla="*/ 393324 w 1145"/>
                <a:gd name="T17" fmla="*/ 652824 h 1145"/>
                <a:gd name="T18" fmla="*/ 224647 w 1145"/>
                <a:gd name="T19" fmla="*/ 484452 h 1145"/>
                <a:gd name="T20" fmla="*/ 275250 w 1145"/>
                <a:gd name="T21" fmla="*/ 484452 h 1145"/>
                <a:gd name="T22" fmla="*/ 275250 w 1145"/>
                <a:gd name="T23" fmla="*/ 392613 h 1145"/>
                <a:gd name="T24" fmla="*/ 224647 w 1145"/>
                <a:gd name="T25" fmla="*/ 392613 h 1145"/>
                <a:gd name="T26" fmla="*/ 393324 w 1145"/>
                <a:gd name="T27" fmla="*/ 224241 h 1145"/>
                <a:gd name="T28" fmla="*/ 393324 w 1145"/>
                <a:gd name="T29" fmla="*/ 274753 h 1145"/>
                <a:gd name="T30" fmla="*/ 485330 w 1145"/>
                <a:gd name="T31" fmla="*/ 274753 h 1145"/>
                <a:gd name="T32" fmla="*/ 485330 w 1145"/>
                <a:gd name="T33" fmla="*/ 224241 h 1145"/>
                <a:gd name="T34" fmla="*/ 654007 w 1145"/>
                <a:gd name="T35" fmla="*/ 392613 h 1145"/>
                <a:gd name="T36" fmla="*/ 603404 w 1145"/>
                <a:gd name="T37" fmla="*/ 392613 h 1145"/>
                <a:gd name="T38" fmla="*/ 603404 w 1145"/>
                <a:gd name="T39" fmla="*/ 484452 h 1145"/>
                <a:gd name="T40" fmla="*/ 654007 w 1145"/>
                <a:gd name="T41" fmla="*/ 484452 h 1145"/>
                <a:gd name="T42" fmla="*/ 485330 w 1145"/>
                <a:gd name="T43" fmla="*/ 652824 h 1145"/>
                <a:gd name="T44" fmla="*/ 747546 w 1145"/>
                <a:gd name="T45" fmla="*/ 392613 h 1145"/>
                <a:gd name="T46" fmla="*/ 485330 w 1145"/>
                <a:gd name="T47" fmla="*/ 130871 h 1145"/>
                <a:gd name="T48" fmla="*/ 485330 w 1145"/>
                <a:gd name="T49" fmla="*/ 0 h 1145"/>
                <a:gd name="T50" fmla="*/ 393324 w 1145"/>
                <a:gd name="T51" fmla="*/ 0 h 1145"/>
                <a:gd name="T52" fmla="*/ 393324 w 1145"/>
                <a:gd name="T53" fmla="*/ 130871 h 1145"/>
                <a:gd name="T54" fmla="*/ 131108 w 1145"/>
                <a:gd name="T55" fmla="*/ 392613 h 1145"/>
                <a:gd name="T56" fmla="*/ 0 w 1145"/>
                <a:gd name="T57" fmla="*/ 392613 h 1145"/>
                <a:gd name="T58" fmla="*/ 0 w 1145"/>
                <a:gd name="T59" fmla="*/ 484452 h 1145"/>
                <a:gd name="T60" fmla="*/ 131108 w 1145"/>
                <a:gd name="T61" fmla="*/ 484452 h 1145"/>
                <a:gd name="T62" fmla="*/ 393324 w 1145"/>
                <a:gd name="T63" fmla="*/ 746194 h 1145"/>
                <a:gd name="T64" fmla="*/ 393324 w 1145"/>
                <a:gd name="T65" fmla="*/ 876300 h 1145"/>
                <a:gd name="T66" fmla="*/ 485330 w 1145"/>
                <a:gd name="T67" fmla="*/ 876300 h 1145"/>
                <a:gd name="T68" fmla="*/ 485330 w 1145"/>
                <a:gd name="T69" fmla="*/ 746194 h 1145"/>
                <a:gd name="T70" fmla="*/ 747546 w 1145"/>
                <a:gd name="T71" fmla="*/ 484452 h 1145"/>
                <a:gd name="T72" fmla="*/ 877887 w 1145"/>
                <a:gd name="T73" fmla="*/ 484452 h 1145"/>
                <a:gd name="T74" fmla="*/ 877887 w 1145"/>
                <a:gd name="T75" fmla="*/ 392613 h 1145"/>
                <a:gd name="T76" fmla="*/ 747546 w 1145"/>
                <a:gd name="T77" fmla="*/ 392613 h 114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145" h="1145">
                  <a:moveTo>
                    <a:pt x="573" y="426"/>
                  </a:moveTo>
                  <a:cubicBezTo>
                    <a:pt x="492" y="426"/>
                    <a:pt x="426" y="492"/>
                    <a:pt x="426" y="573"/>
                  </a:cubicBezTo>
                  <a:cubicBezTo>
                    <a:pt x="426" y="654"/>
                    <a:pt x="492" y="720"/>
                    <a:pt x="573" y="720"/>
                  </a:cubicBezTo>
                  <a:cubicBezTo>
                    <a:pt x="654" y="720"/>
                    <a:pt x="720" y="654"/>
                    <a:pt x="720" y="573"/>
                  </a:cubicBezTo>
                  <a:cubicBezTo>
                    <a:pt x="720" y="492"/>
                    <a:pt x="654" y="426"/>
                    <a:pt x="573" y="426"/>
                  </a:cubicBezTo>
                  <a:close/>
                  <a:moveTo>
                    <a:pt x="633" y="853"/>
                  </a:moveTo>
                  <a:lnTo>
                    <a:pt x="633" y="786"/>
                  </a:lnTo>
                  <a:lnTo>
                    <a:pt x="513" y="786"/>
                  </a:lnTo>
                  <a:lnTo>
                    <a:pt x="513" y="853"/>
                  </a:lnTo>
                  <a:cubicBezTo>
                    <a:pt x="403" y="829"/>
                    <a:pt x="316" y="743"/>
                    <a:pt x="293" y="633"/>
                  </a:cubicBezTo>
                  <a:lnTo>
                    <a:pt x="359" y="633"/>
                  </a:lnTo>
                  <a:lnTo>
                    <a:pt x="359" y="513"/>
                  </a:lnTo>
                  <a:lnTo>
                    <a:pt x="293" y="513"/>
                  </a:lnTo>
                  <a:cubicBezTo>
                    <a:pt x="316" y="403"/>
                    <a:pt x="403" y="316"/>
                    <a:pt x="513" y="293"/>
                  </a:cubicBezTo>
                  <a:lnTo>
                    <a:pt x="513" y="359"/>
                  </a:lnTo>
                  <a:lnTo>
                    <a:pt x="633" y="359"/>
                  </a:lnTo>
                  <a:lnTo>
                    <a:pt x="633" y="293"/>
                  </a:lnTo>
                  <a:cubicBezTo>
                    <a:pt x="743" y="316"/>
                    <a:pt x="830" y="403"/>
                    <a:pt x="853" y="513"/>
                  </a:cubicBezTo>
                  <a:lnTo>
                    <a:pt x="787" y="513"/>
                  </a:lnTo>
                  <a:lnTo>
                    <a:pt x="787" y="633"/>
                  </a:lnTo>
                  <a:lnTo>
                    <a:pt x="853" y="633"/>
                  </a:lnTo>
                  <a:cubicBezTo>
                    <a:pt x="830" y="743"/>
                    <a:pt x="743" y="829"/>
                    <a:pt x="633" y="853"/>
                  </a:cubicBezTo>
                  <a:close/>
                  <a:moveTo>
                    <a:pt x="975" y="513"/>
                  </a:moveTo>
                  <a:cubicBezTo>
                    <a:pt x="949" y="337"/>
                    <a:pt x="809" y="197"/>
                    <a:pt x="633" y="171"/>
                  </a:cubicBezTo>
                  <a:lnTo>
                    <a:pt x="633" y="0"/>
                  </a:lnTo>
                  <a:lnTo>
                    <a:pt x="513" y="0"/>
                  </a:lnTo>
                  <a:lnTo>
                    <a:pt x="513" y="171"/>
                  </a:lnTo>
                  <a:cubicBezTo>
                    <a:pt x="337" y="197"/>
                    <a:pt x="197" y="337"/>
                    <a:pt x="171" y="513"/>
                  </a:cubicBezTo>
                  <a:lnTo>
                    <a:pt x="0" y="513"/>
                  </a:lnTo>
                  <a:lnTo>
                    <a:pt x="0" y="633"/>
                  </a:lnTo>
                  <a:lnTo>
                    <a:pt x="171" y="633"/>
                  </a:lnTo>
                  <a:cubicBezTo>
                    <a:pt x="197" y="809"/>
                    <a:pt x="337" y="949"/>
                    <a:pt x="513" y="975"/>
                  </a:cubicBezTo>
                  <a:lnTo>
                    <a:pt x="513" y="1145"/>
                  </a:lnTo>
                  <a:lnTo>
                    <a:pt x="633" y="1145"/>
                  </a:lnTo>
                  <a:lnTo>
                    <a:pt x="633" y="975"/>
                  </a:lnTo>
                  <a:cubicBezTo>
                    <a:pt x="809" y="949"/>
                    <a:pt x="949" y="809"/>
                    <a:pt x="975" y="633"/>
                  </a:cubicBezTo>
                  <a:lnTo>
                    <a:pt x="1145" y="633"/>
                  </a:lnTo>
                  <a:lnTo>
                    <a:pt x="1145" y="513"/>
                  </a:lnTo>
                  <a:lnTo>
                    <a:pt x="975" y="513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9712308" y="351889"/>
            <a:ext cx="465754" cy="472063"/>
            <a:chOff x="10019977" y="-551766"/>
            <a:chExt cx="2093913" cy="2122488"/>
          </a:xfrm>
          <a:solidFill>
            <a:srgbClr val="0070C0"/>
          </a:solidFill>
        </p:grpSpPr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0911236" y="351889"/>
            <a:ext cx="465754" cy="472063"/>
            <a:chOff x="1342896" y="2366362"/>
            <a:chExt cx="2093913" cy="2122488"/>
          </a:xfrm>
          <a:solidFill>
            <a:srgbClr val="0070C0"/>
          </a:solidFill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1342896" y="2366362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767347" y="2753040"/>
              <a:ext cx="1311950" cy="1299916"/>
              <a:chOff x="4699000" y="4643438"/>
              <a:chExt cx="346075" cy="342900"/>
            </a:xfrm>
            <a:grpFill/>
          </p:grpSpPr>
          <p:sp>
            <p:nvSpPr>
              <p:cNvPr id="19" name="Freeform 20"/>
              <p:cNvSpPr>
                <a:spLocks noEditPoints="1"/>
              </p:cNvSpPr>
              <p:nvPr/>
            </p:nvSpPr>
            <p:spPr bwMode="auto">
              <a:xfrm>
                <a:off x="4894263" y="4841875"/>
                <a:ext cx="146050" cy="142875"/>
              </a:xfrm>
              <a:custGeom>
                <a:avLst/>
                <a:gdLst>
                  <a:gd name="T0" fmla="*/ 232 w 340"/>
                  <a:gd name="T1" fmla="*/ 183 h 333"/>
                  <a:gd name="T2" fmla="*/ 274 w 340"/>
                  <a:gd name="T3" fmla="*/ 224 h 333"/>
                  <a:gd name="T4" fmla="*/ 232 w 340"/>
                  <a:gd name="T5" fmla="*/ 266 h 333"/>
                  <a:gd name="T6" fmla="*/ 191 w 340"/>
                  <a:gd name="T7" fmla="*/ 224 h 333"/>
                  <a:gd name="T8" fmla="*/ 232 w 340"/>
                  <a:gd name="T9" fmla="*/ 183 h 333"/>
                  <a:gd name="T10" fmla="*/ 75 w 340"/>
                  <a:gd name="T11" fmla="*/ 3 h 333"/>
                  <a:gd name="T12" fmla="*/ 85 w 340"/>
                  <a:gd name="T13" fmla="*/ 24 h 333"/>
                  <a:gd name="T14" fmla="*/ 63 w 340"/>
                  <a:gd name="T15" fmla="*/ 46 h 333"/>
                  <a:gd name="T16" fmla="*/ 42 w 340"/>
                  <a:gd name="T17" fmla="*/ 67 h 333"/>
                  <a:gd name="T18" fmla="*/ 0 w 340"/>
                  <a:gd name="T19" fmla="*/ 94 h 333"/>
                  <a:gd name="T20" fmla="*/ 140 w 340"/>
                  <a:gd name="T21" fmla="*/ 235 h 333"/>
                  <a:gd name="T22" fmla="*/ 207 w 340"/>
                  <a:gd name="T23" fmla="*/ 324 h 333"/>
                  <a:gd name="T24" fmla="*/ 242 w 340"/>
                  <a:gd name="T25" fmla="*/ 333 h 333"/>
                  <a:gd name="T26" fmla="*/ 340 w 340"/>
                  <a:gd name="T27" fmla="*/ 235 h 333"/>
                  <a:gd name="T28" fmla="*/ 330 w 340"/>
                  <a:gd name="T29" fmla="*/ 199 h 333"/>
                  <a:gd name="T30" fmla="*/ 242 w 340"/>
                  <a:gd name="T31" fmla="*/ 133 h 333"/>
                  <a:gd name="T32" fmla="*/ 109 w 340"/>
                  <a:gd name="T33" fmla="*/ 0 h 333"/>
                  <a:gd name="T34" fmla="*/ 96 w 340"/>
                  <a:gd name="T35" fmla="*/ 13 h 333"/>
                  <a:gd name="T36" fmla="*/ 75 w 340"/>
                  <a:gd name="T37" fmla="*/ 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0" h="333">
                    <a:moveTo>
                      <a:pt x="232" y="183"/>
                    </a:moveTo>
                    <a:cubicBezTo>
                      <a:pt x="255" y="183"/>
                      <a:pt x="274" y="201"/>
                      <a:pt x="274" y="224"/>
                    </a:cubicBezTo>
                    <a:cubicBezTo>
                      <a:pt x="274" y="247"/>
                      <a:pt x="255" y="266"/>
                      <a:pt x="232" y="266"/>
                    </a:cubicBezTo>
                    <a:cubicBezTo>
                      <a:pt x="210" y="266"/>
                      <a:pt x="191" y="247"/>
                      <a:pt x="191" y="224"/>
                    </a:cubicBezTo>
                    <a:cubicBezTo>
                      <a:pt x="191" y="201"/>
                      <a:pt x="210" y="183"/>
                      <a:pt x="232" y="183"/>
                    </a:cubicBezTo>
                    <a:close/>
                    <a:moveTo>
                      <a:pt x="75" y="3"/>
                    </a:moveTo>
                    <a:lnTo>
                      <a:pt x="85" y="24"/>
                    </a:lnTo>
                    <a:lnTo>
                      <a:pt x="63" y="46"/>
                    </a:lnTo>
                    <a:lnTo>
                      <a:pt x="42" y="67"/>
                    </a:lnTo>
                    <a:cubicBezTo>
                      <a:pt x="30" y="79"/>
                      <a:pt x="15" y="88"/>
                      <a:pt x="0" y="94"/>
                    </a:cubicBezTo>
                    <a:lnTo>
                      <a:pt x="140" y="235"/>
                    </a:lnTo>
                    <a:lnTo>
                      <a:pt x="207" y="324"/>
                    </a:lnTo>
                    <a:lnTo>
                      <a:pt x="242" y="333"/>
                    </a:lnTo>
                    <a:lnTo>
                      <a:pt x="340" y="235"/>
                    </a:lnTo>
                    <a:lnTo>
                      <a:pt x="330" y="199"/>
                    </a:lnTo>
                    <a:lnTo>
                      <a:pt x="242" y="133"/>
                    </a:lnTo>
                    <a:lnTo>
                      <a:pt x="109" y="0"/>
                    </a:lnTo>
                    <a:lnTo>
                      <a:pt x="96" y="13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0" name="Freeform 21"/>
              <p:cNvSpPr/>
              <p:nvPr/>
            </p:nvSpPr>
            <p:spPr bwMode="auto">
              <a:xfrm>
                <a:off x="4699000" y="4643438"/>
                <a:ext cx="153987" cy="153988"/>
              </a:xfrm>
              <a:custGeom>
                <a:avLst/>
                <a:gdLst>
                  <a:gd name="T0" fmla="*/ 288 w 354"/>
                  <a:gd name="T1" fmla="*/ 281 h 355"/>
                  <a:gd name="T2" fmla="*/ 311 w 354"/>
                  <a:gd name="T3" fmla="*/ 258 h 355"/>
                  <a:gd name="T4" fmla="*/ 332 w 354"/>
                  <a:gd name="T5" fmla="*/ 269 h 355"/>
                  <a:gd name="T6" fmla="*/ 321 w 354"/>
                  <a:gd name="T7" fmla="*/ 248 h 355"/>
                  <a:gd name="T8" fmla="*/ 344 w 354"/>
                  <a:gd name="T9" fmla="*/ 225 h 355"/>
                  <a:gd name="T10" fmla="*/ 346 w 354"/>
                  <a:gd name="T11" fmla="*/ 223 h 355"/>
                  <a:gd name="T12" fmla="*/ 354 w 354"/>
                  <a:gd name="T13" fmla="*/ 185 h 355"/>
                  <a:gd name="T14" fmla="*/ 170 w 354"/>
                  <a:gd name="T15" fmla="*/ 1 h 355"/>
                  <a:gd name="T16" fmla="*/ 153 w 354"/>
                  <a:gd name="T17" fmla="*/ 17 h 355"/>
                  <a:gd name="T18" fmla="*/ 222 w 354"/>
                  <a:gd name="T19" fmla="*/ 127 h 355"/>
                  <a:gd name="T20" fmla="*/ 126 w 354"/>
                  <a:gd name="T21" fmla="*/ 223 h 355"/>
                  <a:gd name="T22" fmla="*/ 16 w 354"/>
                  <a:gd name="T23" fmla="*/ 154 h 355"/>
                  <a:gd name="T24" fmla="*/ 0 w 354"/>
                  <a:gd name="T25" fmla="*/ 171 h 355"/>
                  <a:gd name="T26" fmla="*/ 184 w 354"/>
                  <a:gd name="T27" fmla="*/ 355 h 355"/>
                  <a:gd name="T28" fmla="*/ 237 w 354"/>
                  <a:gd name="T29" fmla="*/ 340 h 355"/>
                  <a:gd name="T30" fmla="*/ 240 w 354"/>
                  <a:gd name="T31" fmla="*/ 344 h 355"/>
                  <a:gd name="T32" fmla="*/ 268 w 354"/>
                  <a:gd name="T33" fmla="*/ 301 h 355"/>
                  <a:gd name="T34" fmla="*/ 288 w 354"/>
                  <a:gd name="T35" fmla="*/ 281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4" h="355">
                    <a:moveTo>
                      <a:pt x="288" y="281"/>
                    </a:moveTo>
                    <a:lnTo>
                      <a:pt x="311" y="258"/>
                    </a:lnTo>
                    <a:lnTo>
                      <a:pt x="332" y="269"/>
                    </a:lnTo>
                    <a:lnTo>
                      <a:pt x="321" y="248"/>
                    </a:lnTo>
                    <a:lnTo>
                      <a:pt x="344" y="225"/>
                    </a:lnTo>
                    <a:lnTo>
                      <a:pt x="346" y="223"/>
                    </a:lnTo>
                    <a:cubicBezTo>
                      <a:pt x="351" y="210"/>
                      <a:pt x="354" y="197"/>
                      <a:pt x="354" y="185"/>
                    </a:cubicBezTo>
                    <a:cubicBezTo>
                      <a:pt x="354" y="91"/>
                      <a:pt x="264" y="0"/>
                      <a:pt x="170" y="1"/>
                    </a:cubicBezTo>
                    <a:cubicBezTo>
                      <a:pt x="170" y="1"/>
                      <a:pt x="159" y="11"/>
                      <a:pt x="153" y="17"/>
                    </a:cubicBezTo>
                    <a:cubicBezTo>
                      <a:pt x="229" y="93"/>
                      <a:pt x="222" y="80"/>
                      <a:pt x="222" y="127"/>
                    </a:cubicBezTo>
                    <a:cubicBezTo>
                      <a:pt x="222" y="164"/>
                      <a:pt x="162" y="223"/>
                      <a:pt x="126" y="223"/>
                    </a:cubicBezTo>
                    <a:cubicBezTo>
                      <a:pt x="78" y="223"/>
                      <a:pt x="93" y="231"/>
                      <a:pt x="16" y="154"/>
                    </a:cubicBezTo>
                    <a:cubicBezTo>
                      <a:pt x="10" y="160"/>
                      <a:pt x="0" y="171"/>
                      <a:pt x="0" y="171"/>
                    </a:cubicBezTo>
                    <a:cubicBezTo>
                      <a:pt x="1" y="265"/>
                      <a:pt x="90" y="355"/>
                      <a:pt x="184" y="355"/>
                    </a:cubicBezTo>
                    <a:cubicBezTo>
                      <a:pt x="201" y="355"/>
                      <a:pt x="219" y="349"/>
                      <a:pt x="237" y="340"/>
                    </a:cubicBezTo>
                    <a:lnTo>
                      <a:pt x="240" y="344"/>
                    </a:lnTo>
                    <a:cubicBezTo>
                      <a:pt x="246" y="328"/>
                      <a:pt x="255" y="314"/>
                      <a:pt x="268" y="301"/>
                    </a:cubicBezTo>
                    <a:lnTo>
                      <a:pt x="288" y="281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1" name="Freeform 22"/>
              <p:cNvSpPr/>
              <p:nvPr/>
            </p:nvSpPr>
            <p:spPr bwMode="auto">
              <a:xfrm>
                <a:off x="4699000" y="4643438"/>
                <a:ext cx="346075" cy="342900"/>
              </a:xfrm>
              <a:custGeom>
                <a:avLst/>
                <a:gdLst>
                  <a:gd name="T0" fmla="*/ 771 w 800"/>
                  <a:gd name="T1" fmla="*/ 76 h 791"/>
                  <a:gd name="T2" fmla="*/ 716 w 800"/>
                  <a:gd name="T3" fmla="*/ 22 h 791"/>
                  <a:gd name="T4" fmla="*/ 663 w 800"/>
                  <a:gd name="T5" fmla="*/ 0 h 791"/>
                  <a:gd name="T6" fmla="*/ 610 w 800"/>
                  <a:gd name="T7" fmla="*/ 22 h 791"/>
                  <a:gd name="T8" fmla="*/ 376 w 800"/>
                  <a:gd name="T9" fmla="*/ 256 h 791"/>
                  <a:gd name="T10" fmla="*/ 366 w 800"/>
                  <a:gd name="T11" fmla="*/ 302 h 791"/>
                  <a:gd name="T12" fmla="*/ 335 w 800"/>
                  <a:gd name="T13" fmla="*/ 315 h 791"/>
                  <a:gd name="T14" fmla="*/ 320 w 800"/>
                  <a:gd name="T15" fmla="*/ 312 h 791"/>
                  <a:gd name="T16" fmla="*/ 300 w 800"/>
                  <a:gd name="T17" fmla="*/ 332 h 791"/>
                  <a:gd name="T18" fmla="*/ 300 w 800"/>
                  <a:gd name="T19" fmla="*/ 438 h 791"/>
                  <a:gd name="T20" fmla="*/ 303 w 800"/>
                  <a:gd name="T21" fmla="*/ 442 h 791"/>
                  <a:gd name="T22" fmla="*/ 120 w 800"/>
                  <a:gd name="T23" fmla="*/ 625 h 791"/>
                  <a:gd name="T24" fmla="*/ 72 w 800"/>
                  <a:gd name="T25" fmla="*/ 643 h 791"/>
                  <a:gd name="T26" fmla="*/ 0 w 800"/>
                  <a:gd name="T27" fmla="*/ 745 h 791"/>
                  <a:gd name="T28" fmla="*/ 46 w 800"/>
                  <a:gd name="T29" fmla="*/ 791 h 791"/>
                  <a:gd name="T30" fmla="*/ 148 w 800"/>
                  <a:gd name="T31" fmla="*/ 720 h 791"/>
                  <a:gd name="T32" fmla="*/ 166 w 800"/>
                  <a:gd name="T33" fmla="*/ 670 h 791"/>
                  <a:gd name="T34" fmla="*/ 349 w 800"/>
                  <a:gd name="T35" fmla="*/ 487 h 791"/>
                  <a:gd name="T36" fmla="*/ 355 w 800"/>
                  <a:gd name="T37" fmla="*/ 493 h 791"/>
                  <a:gd name="T38" fmla="*/ 407 w 800"/>
                  <a:gd name="T39" fmla="*/ 515 h 791"/>
                  <a:gd name="T40" fmla="*/ 460 w 800"/>
                  <a:gd name="T41" fmla="*/ 493 h 791"/>
                  <a:gd name="T42" fmla="*/ 481 w 800"/>
                  <a:gd name="T43" fmla="*/ 472 h 791"/>
                  <a:gd name="T44" fmla="*/ 490 w 800"/>
                  <a:gd name="T45" fmla="*/ 426 h 791"/>
                  <a:gd name="T46" fmla="*/ 522 w 800"/>
                  <a:gd name="T47" fmla="*/ 414 h 791"/>
                  <a:gd name="T48" fmla="*/ 536 w 800"/>
                  <a:gd name="T49" fmla="*/ 417 h 791"/>
                  <a:gd name="T50" fmla="*/ 771 w 800"/>
                  <a:gd name="T51" fmla="*/ 182 h 791"/>
                  <a:gd name="T52" fmla="*/ 771 w 800"/>
                  <a:gd name="T53" fmla="*/ 7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0" h="791">
                    <a:moveTo>
                      <a:pt x="771" y="76"/>
                    </a:moveTo>
                    <a:lnTo>
                      <a:pt x="716" y="22"/>
                    </a:lnTo>
                    <a:cubicBezTo>
                      <a:pt x="701" y="7"/>
                      <a:pt x="682" y="0"/>
                      <a:pt x="663" y="0"/>
                    </a:cubicBezTo>
                    <a:cubicBezTo>
                      <a:pt x="644" y="0"/>
                      <a:pt x="625" y="7"/>
                      <a:pt x="610" y="22"/>
                    </a:cubicBezTo>
                    <a:lnTo>
                      <a:pt x="376" y="256"/>
                    </a:lnTo>
                    <a:cubicBezTo>
                      <a:pt x="383" y="270"/>
                      <a:pt x="378" y="291"/>
                      <a:pt x="366" y="302"/>
                    </a:cubicBezTo>
                    <a:cubicBezTo>
                      <a:pt x="359" y="310"/>
                      <a:pt x="346" y="315"/>
                      <a:pt x="335" y="315"/>
                    </a:cubicBezTo>
                    <a:cubicBezTo>
                      <a:pt x="330" y="315"/>
                      <a:pt x="325" y="314"/>
                      <a:pt x="320" y="312"/>
                    </a:cubicBezTo>
                    <a:lnTo>
                      <a:pt x="300" y="332"/>
                    </a:lnTo>
                    <a:cubicBezTo>
                      <a:pt x="271" y="361"/>
                      <a:pt x="271" y="409"/>
                      <a:pt x="300" y="438"/>
                    </a:cubicBezTo>
                    <a:lnTo>
                      <a:pt x="303" y="442"/>
                    </a:lnTo>
                    <a:lnTo>
                      <a:pt x="120" y="625"/>
                    </a:lnTo>
                    <a:lnTo>
                      <a:pt x="72" y="643"/>
                    </a:lnTo>
                    <a:lnTo>
                      <a:pt x="0" y="745"/>
                    </a:lnTo>
                    <a:lnTo>
                      <a:pt x="46" y="791"/>
                    </a:lnTo>
                    <a:lnTo>
                      <a:pt x="148" y="720"/>
                    </a:lnTo>
                    <a:lnTo>
                      <a:pt x="166" y="670"/>
                    </a:lnTo>
                    <a:lnTo>
                      <a:pt x="349" y="487"/>
                    </a:lnTo>
                    <a:lnTo>
                      <a:pt x="355" y="493"/>
                    </a:lnTo>
                    <a:cubicBezTo>
                      <a:pt x="369" y="507"/>
                      <a:pt x="388" y="515"/>
                      <a:pt x="407" y="515"/>
                    </a:cubicBezTo>
                    <a:cubicBezTo>
                      <a:pt x="426" y="515"/>
                      <a:pt x="446" y="507"/>
                      <a:pt x="460" y="493"/>
                    </a:cubicBezTo>
                    <a:lnTo>
                      <a:pt x="481" y="472"/>
                    </a:lnTo>
                    <a:cubicBezTo>
                      <a:pt x="474" y="458"/>
                      <a:pt x="479" y="437"/>
                      <a:pt x="490" y="426"/>
                    </a:cubicBezTo>
                    <a:cubicBezTo>
                      <a:pt x="498" y="419"/>
                      <a:pt x="510" y="414"/>
                      <a:pt x="522" y="414"/>
                    </a:cubicBezTo>
                    <a:cubicBezTo>
                      <a:pt x="527" y="414"/>
                      <a:pt x="532" y="415"/>
                      <a:pt x="536" y="417"/>
                    </a:cubicBezTo>
                    <a:lnTo>
                      <a:pt x="771" y="182"/>
                    </a:lnTo>
                    <a:cubicBezTo>
                      <a:pt x="800" y="153"/>
                      <a:pt x="800" y="106"/>
                      <a:pt x="771" y="7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22" name="组合 21"/>
          <p:cNvGrpSpPr/>
          <p:nvPr userDrawn="1"/>
        </p:nvGrpSpPr>
        <p:grpSpPr>
          <a:xfrm>
            <a:off x="11502292" y="351889"/>
            <a:ext cx="465754" cy="472063"/>
            <a:chOff x="4910385" y="-2248866"/>
            <a:chExt cx="2093913" cy="2122488"/>
          </a:xfrm>
          <a:solidFill>
            <a:srgbClr val="0070C0"/>
          </a:solidFill>
        </p:grpSpPr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sp>
        <p:nvSpPr>
          <p:cNvPr id="26" name="矩形 25"/>
          <p:cNvSpPr/>
          <p:nvPr userDrawn="1"/>
        </p:nvSpPr>
        <p:spPr>
          <a:xfrm>
            <a:off x="1" y="3111689"/>
            <a:ext cx="368526" cy="1924335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87656" y="196812"/>
            <a:ext cx="3572666" cy="866846"/>
            <a:chOff x="583188" y="474517"/>
            <a:chExt cx="4358865" cy="1057708"/>
          </a:xfrm>
        </p:grpSpPr>
        <p:pic>
          <p:nvPicPr>
            <p:cNvPr id="31" name="图片 3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188" y="474517"/>
              <a:ext cx="1029183" cy="1057708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34" name="矩形 33"/>
            <p:cNvSpPr/>
            <p:nvPr userDrawn="1"/>
          </p:nvSpPr>
          <p:spPr>
            <a:xfrm>
              <a:off x="1700548" y="1241379"/>
              <a:ext cx="3241505" cy="280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5"/>
          <a:stretch>
            <a:fillRect/>
          </a:stretch>
        </p:blipFill>
        <p:spPr>
          <a:xfrm>
            <a:off x="6972988" y="1725722"/>
            <a:ext cx="5220214" cy="35413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05" name="矩形 304"/>
          <p:cNvSpPr/>
          <p:nvPr userDrawn="1"/>
        </p:nvSpPr>
        <p:spPr>
          <a:xfrm>
            <a:off x="0" y="0"/>
            <a:ext cx="12193270" cy="851535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306" name="矩形 305"/>
          <p:cNvSpPr/>
          <p:nvPr userDrawn="1"/>
        </p:nvSpPr>
        <p:spPr>
          <a:xfrm>
            <a:off x="1180646" y="1"/>
            <a:ext cx="1119227" cy="1470726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307" name="直角三角形 306"/>
          <p:cNvSpPr/>
          <p:nvPr userDrawn="1"/>
        </p:nvSpPr>
        <p:spPr>
          <a:xfrm rot="5400000">
            <a:off x="2312507" y="1106484"/>
            <a:ext cx="351647" cy="376878"/>
          </a:xfrm>
          <a:prstGeom prst="rtTriangle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pic>
        <p:nvPicPr>
          <p:cNvPr id="10" name="Picture 4" descr="未标题-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6693" y="197731"/>
            <a:ext cx="200997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5" name="Freeform 6"/>
          <p:cNvSpPr>
            <a:spLocks noEditPoints="1"/>
          </p:cNvSpPr>
          <p:nvPr userDrawn="1"/>
        </p:nvSpPr>
        <p:spPr bwMode="auto">
          <a:xfrm>
            <a:off x="1315395" y="2644042"/>
            <a:ext cx="2345146" cy="2222446"/>
          </a:xfrm>
          <a:custGeom>
            <a:avLst/>
            <a:gdLst>
              <a:gd name="T0" fmla="*/ 1391 w 2783"/>
              <a:gd name="T1" fmla="*/ 0 h 2783"/>
              <a:gd name="T2" fmla="*/ 0 w 2783"/>
              <a:gd name="T3" fmla="*/ 1391 h 2783"/>
              <a:gd name="T4" fmla="*/ 1391 w 2783"/>
              <a:gd name="T5" fmla="*/ 2783 h 2783"/>
              <a:gd name="T6" fmla="*/ 2783 w 2783"/>
              <a:gd name="T7" fmla="*/ 1391 h 2783"/>
              <a:gd name="T8" fmla="*/ 1391 w 2783"/>
              <a:gd name="T9" fmla="*/ 0 h 2783"/>
              <a:gd name="T10" fmla="*/ 1391 w 2783"/>
              <a:gd name="T11" fmla="*/ 55 h 2783"/>
              <a:gd name="T12" fmla="*/ 55 w 2783"/>
              <a:gd name="T13" fmla="*/ 1391 h 2783"/>
              <a:gd name="T14" fmla="*/ 1391 w 2783"/>
              <a:gd name="T15" fmla="*/ 2728 h 2783"/>
              <a:gd name="T16" fmla="*/ 2728 w 2783"/>
              <a:gd name="T17" fmla="*/ 1391 h 2783"/>
              <a:gd name="T18" fmla="*/ 1391 w 2783"/>
              <a:gd name="T19" fmla="*/ 55 h 2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83" h="2783">
                <a:moveTo>
                  <a:pt x="1391" y="0"/>
                </a:moveTo>
                <a:cubicBezTo>
                  <a:pt x="623" y="0"/>
                  <a:pt x="0" y="623"/>
                  <a:pt x="0" y="1391"/>
                </a:cubicBezTo>
                <a:cubicBezTo>
                  <a:pt x="0" y="2160"/>
                  <a:pt x="623" y="2783"/>
                  <a:pt x="1391" y="2783"/>
                </a:cubicBezTo>
                <a:cubicBezTo>
                  <a:pt x="2160" y="2783"/>
                  <a:pt x="2783" y="2160"/>
                  <a:pt x="2783" y="1391"/>
                </a:cubicBezTo>
                <a:cubicBezTo>
                  <a:pt x="2783" y="623"/>
                  <a:pt x="2160" y="0"/>
                  <a:pt x="1391" y="0"/>
                </a:cubicBezTo>
                <a:close/>
                <a:moveTo>
                  <a:pt x="1391" y="55"/>
                </a:moveTo>
                <a:cubicBezTo>
                  <a:pt x="654" y="55"/>
                  <a:pt x="55" y="654"/>
                  <a:pt x="55" y="1391"/>
                </a:cubicBezTo>
                <a:cubicBezTo>
                  <a:pt x="55" y="2129"/>
                  <a:pt x="654" y="2728"/>
                  <a:pt x="1391" y="2728"/>
                </a:cubicBezTo>
                <a:cubicBezTo>
                  <a:pt x="2129" y="2728"/>
                  <a:pt x="2728" y="2129"/>
                  <a:pt x="2728" y="1391"/>
                </a:cubicBezTo>
                <a:cubicBezTo>
                  <a:pt x="2728" y="654"/>
                  <a:pt x="2129" y="55"/>
                  <a:pt x="1391" y="55"/>
                </a:cubicBezTo>
                <a:close/>
              </a:path>
            </a:pathLst>
          </a:custGeom>
          <a:solidFill>
            <a:srgbClr val="0070C0"/>
          </a:solidFill>
          <a:ln>
            <a:solidFill>
              <a:srgbClr val="00206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1597428" y="312405"/>
            <a:ext cx="2656842" cy="853837"/>
            <a:chOff x="1700548" y="480028"/>
            <a:chExt cx="3241505" cy="1041833"/>
          </a:xfrm>
        </p:grpSpPr>
        <p:pic>
          <p:nvPicPr>
            <p:cNvPr id="39" name="图片 3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40" name="矩形 39"/>
            <p:cNvSpPr/>
            <p:nvPr userDrawn="1"/>
          </p:nvSpPr>
          <p:spPr>
            <a:xfrm>
              <a:off x="1700548" y="1241379"/>
              <a:ext cx="3241505" cy="2804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15" y="312106"/>
            <a:ext cx="812196" cy="8193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gray">
          <a:xfrm>
            <a:off x="-1" y="0"/>
            <a:ext cx="12192635" cy="82550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66667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0" y="6498000"/>
            <a:ext cx="12192635" cy="3600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75976" y="6498000"/>
            <a:ext cx="7968936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eaLnBrk="1" hangingPunct="1">
              <a:defRPr sz="1200" b="1" i="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title"/>
          </p:nvPr>
        </p:nvSpPr>
        <p:spPr bwMode="white">
          <a:xfrm>
            <a:off x="336018" y="188913"/>
            <a:ext cx="10080525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单击编辑母版标题样式</a:t>
            </a: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gray">
          <a:xfrm>
            <a:off x="-1" y="836613"/>
            <a:ext cx="12192635" cy="100012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1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018" y="981075"/>
            <a:ext cx="11520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37" name="Rectangle 23"/>
          <p:cNvSpPr>
            <a:spLocks noChangeArrowheads="1"/>
          </p:cNvSpPr>
          <p:nvPr/>
        </p:nvSpPr>
        <p:spPr bwMode="gray">
          <a:xfrm>
            <a:off x="10992423" y="6498000"/>
            <a:ext cx="720187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A3DCE672-83E4-44AE-BFA8-4CC8B4FD60F3}" type="slidenum">
              <a:rPr lang="ko-KR" altLang="en-US" sz="1200" b="1" baseline="0" smtClean="0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‹#›</a:t>
            </a:fld>
            <a:endParaRPr lang="en-US" altLang="ko-KR" sz="1000" b="1" baseline="0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cap="small" baseline="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60045" indent="-360045" algn="just" rtl="0" eaLnBrk="0" fontAlgn="base" hangingPunct="1">
        <a:spcBef>
          <a:spcPts val="0"/>
        </a:spcBef>
        <a:spcAft>
          <a:spcPts val="1000"/>
        </a:spcAft>
        <a:buClr>
          <a:srgbClr val="1D7ACF"/>
        </a:buClr>
        <a:buFont typeface="Wingdings" panose="05000000000000000000" pitchFamily="2" charset="2"/>
        <a:buChar char="v"/>
        <a:defRPr sz="2400" b="0" i="0" baseline="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360045" indent="-360045" algn="just" rtl="0" eaLnBrk="0" fontAlgn="base" hangingPunct="1">
        <a:spcBef>
          <a:spcPts val="0"/>
        </a:spcBef>
        <a:spcAft>
          <a:spcPts val="1000"/>
        </a:spcAft>
        <a:buClr>
          <a:schemeClr val="tx1"/>
        </a:buClr>
        <a:buFont typeface="Wingdings" panose="05000000000000000000" pitchFamily="2" charset="2"/>
        <a:buChar char=""/>
        <a:defRPr sz="20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marL="720090" indent="-360045" algn="just" rtl="0" eaLnBrk="0" fontAlgn="base" hangingPunct="1">
        <a:spcBef>
          <a:spcPts val="0"/>
        </a:spcBef>
        <a:spcAft>
          <a:spcPts val="1000"/>
        </a:spcAft>
        <a:buClr>
          <a:schemeClr val="tx1"/>
        </a:buClr>
        <a:buFont typeface="Arial" panose="020B0604020202020204" pitchFamily="34" charset="0"/>
        <a:buChar char="»"/>
        <a:defRPr sz="20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marL="1080135" indent="-360045" algn="just" rtl="0" eaLnBrk="0" fontAlgn="base" hangingPunct="1">
        <a:spcBef>
          <a:spcPts val="0"/>
        </a:spcBef>
        <a:spcAft>
          <a:spcPts val="1000"/>
        </a:spcAft>
        <a:buFont typeface="Arial" panose="020B0604020202020204" pitchFamily="34" charset="0"/>
        <a:buChar char="▫"/>
        <a:defRPr sz="20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marL="2057400" indent="-228600" algn="l" rtl="0" eaLnBrk="0" fontAlgn="base" hangingPunct="1">
        <a:spcBef>
          <a:spcPct val="20000"/>
        </a:spcBef>
        <a:spcAft>
          <a:spcPts val="1000"/>
        </a:spcAft>
        <a:buChar char="»"/>
        <a:defRPr sz="2000">
          <a:solidFill>
            <a:schemeClr val="tx1"/>
          </a:solidFill>
          <a:latin typeface="+mj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24F41-0572-4779-A173-B9751FD828F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>
                <a:sym typeface="+mn-ea"/>
              </a:rPr>
              <a:t>Cheng Cheng @ CPCC 2019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91F34-774B-485C-BD54-BA48C2EC8F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2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31790" y="3267710"/>
            <a:ext cx="648462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469049" y="2918961"/>
            <a:ext cx="3665948" cy="1924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32"/>
          <p:cNvSpPr>
            <a:spLocks noChangeArrowheads="1"/>
          </p:cNvSpPr>
          <p:nvPr/>
        </p:nvSpPr>
        <p:spPr bwMode="auto">
          <a:xfrm>
            <a:off x="759425" y="2899410"/>
            <a:ext cx="6229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    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9D4997C7-4FD4-725A-BEB8-4258BC11607F}"/>
              </a:ext>
            </a:extLst>
          </p:cNvPr>
          <p:cNvSpPr/>
          <p:nvPr/>
        </p:nvSpPr>
        <p:spPr>
          <a:xfrm rot="21600000">
            <a:off x="1118468" y="1477010"/>
            <a:ext cx="6110443" cy="17145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15000"/>
              </a:lnSpc>
              <a:buNone/>
            </a:pPr>
            <a:r>
              <a:rPr lang="en-US" sz="5400" dirty="0">
                <a:latin typeface="NotoSansSC-Bold" pitchFamily="34" charset="0"/>
                <a:ea typeface="NotoSansSC-Bold" pitchFamily="34" charset="-122"/>
                <a:cs typeface="NotoSansSC-Bold" pitchFamily="34" charset="-120"/>
              </a:rPr>
              <a:t>PyTorch实战指南</a:t>
            </a:r>
            <a:endParaRPr lang="en-US" sz="54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0E6A426F-E49F-A4A6-109E-152961F14B1B}"/>
              </a:ext>
            </a:extLst>
          </p:cNvPr>
          <p:cNvSpPr/>
          <p:nvPr/>
        </p:nvSpPr>
        <p:spPr>
          <a:xfrm rot="21600000">
            <a:off x="2215606" y="3157729"/>
            <a:ext cx="4773168" cy="71272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160"/>
              </a:lnSpc>
              <a:buNone/>
            </a:pPr>
            <a:r>
              <a:rPr lang="en-US" sz="3200" dirty="0"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核心概念与开发应用精要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38"/>
    </mc:Choice>
    <mc:Fallback xmlns="">
      <p:transition spd="slow" advTm="101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2143919" y="1095376"/>
            <a:ext cx="996950" cy="11969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" name="Freeform 6"/>
          <p:cNvSpPr/>
          <p:nvPr/>
        </p:nvSpPr>
        <p:spPr bwMode="auto">
          <a:xfrm>
            <a:off x="2283619" y="1287463"/>
            <a:ext cx="762000" cy="958850"/>
          </a:xfrm>
          <a:custGeom>
            <a:avLst/>
            <a:gdLst>
              <a:gd name="T0" fmla="*/ 2147483647 w 1173"/>
              <a:gd name="T1" fmla="*/ 2147483647 h 1472"/>
              <a:gd name="T2" fmla="*/ 2147483647 w 1173"/>
              <a:gd name="T3" fmla="*/ 2147483647 h 1472"/>
              <a:gd name="T4" fmla="*/ 2147483647 w 1173"/>
              <a:gd name="T5" fmla="*/ 2147483647 h 1472"/>
              <a:gd name="T6" fmla="*/ 2147483647 w 1173"/>
              <a:gd name="T7" fmla="*/ 2147483647 h 1472"/>
              <a:gd name="T8" fmla="*/ 2147483647 w 1173"/>
              <a:gd name="T9" fmla="*/ 2147483647 h 1472"/>
              <a:gd name="T10" fmla="*/ 2147483647 w 1173"/>
              <a:gd name="T11" fmla="*/ 2147483647 h 1472"/>
              <a:gd name="T12" fmla="*/ 0 w 1173"/>
              <a:gd name="T13" fmla="*/ 2147483647 h 1472"/>
              <a:gd name="T14" fmla="*/ 2147483647 w 1173"/>
              <a:gd name="T15" fmla="*/ 2147483647 h 1472"/>
              <a:gd name="T16" fmla="*/ 2147483647 w 1173"/>
              <a:gd name="T17" fmla="*/ 2147483647 h 1472"/>
              <a:gd name="T18" fmla="*/ 2147483647 w 1173"/>
              <a:gd name="T19" fmla="*/ 2147483647 h 1472"/>
              <a:gd name="T20" fmla="*/ 2147483647 w 1173"/>
              <a:gd name="T21" fmla="*/ 2147483647 h 1472"/>
              <a:gd name="T22" fmla="*/ 2147483647 w 1173"/>
              <a:gd name="T23" fmla="*/ 2147483647 h 1472"/>
              <a:gd name="T24" fmla="*/ 2147483647 w 1173"/>
              <a:gd name="T25" fmla="*/ 2147483647 h 1472"/>
              <a:gd name="T26" fmla="*/ 2147483647 w 1173"/>
              <a:gd name="T27" fmla="*/ 2147483647 h 1472"/>
              <a:gd name="T28" fmla="*/ 2147483647 w 1173"/>
              <a:gd name="T29" fmla="*/ 2147483647 h 14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Freeform 7"/>
          <p:cNvSpPr>
            <a:spLocks noEditPoints="1"/>
          </p:cNvSpPr>
          <p:nvPr/>
        </p:nvSpPr>
        <p:spPr bwMode="auto">
          <a:xfrm>
            <a:off x="3232945" y="1916113"/>
            <a:ext cx="1423987" cy="290512"/>
          </a:xfrm>
          <a:custGeom>
            <a:avLst/>
            <a:gdLst>
              <a:gd name="T0" fmla="*/ 2147483647 w 2195"/>
              <a:gd name="T1" fmla="*/ 2147483647 h 445"/>
              <a:gd name="T2" fmla="*/ 2147483647 w 2195"/>
              <a:gd name="T3" fmla="*/ 2147483647 h 445"/>
              <a:gd name="T4" fmla="*/ 2147483647 w 2195"/>
              <a:gd name="T5" fmla="*/ 2147483647 h 445"/>
              <a:gd name="T6" fmla="*/ 2147483647 w 2195"/>
              <a:gd name="T7" fmla="*/ 2147483647 h 445"/>
              <a:gd name="T8" fmla="*/ 2147483647 w 2195"/>
              <a:gd name="T9" fmla="*/ 2147483647 h 445"/>
              <a:gd name="T10" fmla="*/ 2147483647 w 2195"/>
              <a:gd name="T11" fmla="*/ 2147483647 h 445"/>
              <a:gd name="T12" fmla="*/ 2147483647 w 2195"/>
              <a:gd name="T13" fmla="*/ 2147483647 h 445"/>
              <a:gd name="T14" fmla="*/ 2147483647 w 2195"/>
              <a:gd name="T15" fmla="*/ 2147483647 h 445"/>
              <a:gd name="T16" fmla="*/ 2147483647 w 2195"/>
              <a:gd name="T17" fmla="*/ 2147483647 h 445"/>
              <a:gd name="T18" fmla="*/ 2147483647 w 2195"/>
              <a:gd name="T19" fmla="*/ 2147483647 h 445"/>
              <a:gd name="T20" fmla="*/ 2147483647 w 2195"/>
              <a:gd name="T21" fmla="*/ 2147483647 h 445"/>
              <a:gd name="T22" fmla="*/ 2147483647 w 2195"/>
              <a:gd name="T23" fmla="*/ 2147483647 h 445"/>
              <a:gd name="T24" fmla="*/ 2147483647 w 2195"/>
              <a:gd name="T25" fmla="*/ 2147483647 h 445"/>
              <a:gd name="T26" fmla="*/ 2147483647 w 2195"/>
              <a:gd name="T27" fmla="*/ 2147483647 h 445"/>
              <a:gd name="T28" fmla="*/ 2147483647 w 2195"/>
              <a:gd name="T29" fmla="*/ 2147483647 h 445"/>
              <a:gd name="T30" fmla="*/ 2147483647 w 2195"/>
              <a:gd name="T31" fmla="*/ 2147483647 h 445"/>
              <a:gd name="T32" fmla="*/ 2147483647 w 2195"/>
              <a:gd name="T33" fmla="*/ 2147483647 h 445"/>
              <a:gd name="T34" fmla="*/ 2147483647 w 2195"/>
              <a:gd name="T35" fmla="*/ 2147483647 h 445"/>
              <a:gd name="T36" fmla="*/ 2147483647 w 2195"/>
              <a:gd name="T37" fmla="*/ 2147483647 h 445"/>
              <a:gd name="T38" fmla="*/ 2147483647 w 2195"/>
              <a:gd name="T39" fmla="*/ 2147483647 h 445"/>
              <a:gd name="T40" fmla="*/ 2147483647 w 2195"/>
              <a:gd name="T41" fmla="*/ 2147483647 h 445"/>
              <a:gd name="T42" fmla="*/ 2147483647 w 2195"/>
              <a:gd name="T43" fmla="*/ 2147483647 h 445"/>
              <a:gd name="T44" fmla="*/ 2147483647 w 2195"/>
              <a:gd name="T45" fmla="*/ 2147483647 h 445"/>
              <a:gd name="T46" fmla="*/ 2147483647 w 2195"/>
              <a:gd name="T47" fmla="*/ 2147483647 h 445"/>
              <a:gd name="T48" fmla="*/ 2147483647 w 2195"/>
              <a:gd name="T49" fmla="*/ 2147483647 h 445"/>
              <a:gd name="T50" fmla="*/ 2147483647 w 2195"/>
              <a:gd name="T51" fmla="*/ 2147483647 h 445"/>
              <a:gd name="T52" fmla="*/ 2147483647 w 2195"/>
              <a:gd name="T53" fmla="*/ 2147483647 h 445"/>
              <a:gd name="T54" fmla="*/ 2147483647 w 2195"/>
              <a:gd name="T55" fmla="*/ 2147483647 h 445"/>
              <a:gd name="T56" fmla="*/ 2147483647 w 2195"/>
              <a:gd name="T57" fmla="*/ 2147483647 h 445"/>
              <a:gd name="T58" fmla="*/ 2147483647 w 2195"/>
              <a:gd name="T59" fmla="*/ 2147483647 h 445"/>
              <a:gd name="T60" fmla="*/ 2147483647 w 2195"/>
              <a:gd name="T61" fmla="*/ 2147483647 h 445"/>
              <a:gd name="T62" fmla="*/ 2147483647 w 2195"/>
              <a:gd name="T63" fmla="*/ 2147483647 h 445"/>
              <a:gd name="T64" fmla="*/ 2147483647 w 2195"/>
              <a:gd name="T65" fmla="*/ 2147483647 h 445"/>
              <a:gd name="T66" fmla="*/ 2147483647 w 2195"/>
              <a:gd name="T67" fmla="*/ 2147483647 h 445"/>
              <a:gd name="T68" fmla="*/ 2147483647 w 2195"/>
              <a:gd name="T69" fmla="*/ 2147483647 h 445"/>
              <a:gd name="T70" fmla="*/ 2147483647 w 2195"/>
              <a:gd name="T71" fmla="*/ 2147483647 h 445"/>
              <a:gd name="T72" fmla="*/ 2147483647 w 2195"/>
              <a:gd name="T73" fmla="*/ 2147483647 h 445"/>
              <a:gd name="T74" fmla="*/ 2147483647 w 2195"/>
              <a:gd name="T75" fmla="*/ 2147483647 h 445"/>
              <a:gd name="T76" fmla="*/ 2147483647 w 2195"/>
              <a:gd name="T77" fmla="*/ 2147483647 h 445"/>
              <a:gd name="T78" fmla="*/ 2147483647 w 2195"/>
              <a:gd name="T79" fmla="*/ 2147483647 h 445"/>
              <a:gd name="T80" fmla="*/ 2147483647 w 2195"/>
              <a:gd name="T81" fmla="*/ 2147483647 h 445"/>
              <a:gd name="T82" fmla="*/ 2147483647 w 2195"/>
              <a:gd name="T83" fmla="*/ 2147483647 h 445"/>
              <a:gd name="T84" fmla="*/ 2147483647 w 2195"/>
              <a:gd name="T85" fmla="*/ 2147483647 h 445"/>
              <a:gd name="T86" fmla="*/ 2147483647 w 2195"/>
              <a:gd name="T87" fmla="*/ 2147483647 h 445"/>
              <a:gd name="T88" fmla="*/ 2147483647 w 2195"/>
              <a:gd name="T89" fmla="*/ 2147483647 h 445"/>
              <a:gd name="T90" fmla="*/ 2147483647 w 2195"/>
              <a:gd name="T91" fmla="*/ 2147483647 h 445"/>
              <a:gd name="T92" fmla="*/ 2147483647 w 2195"/>
              <a:gd name="T93" fmla="*/ 2147483647 h 445"/>
              <a:gd name="T94" fmla="*/ 2147483647 w 2195"/>
              <a:gd name="T95" fmla="*/ 2147483647 h 445"/>
              <a:gd name="T96" fmla="*/ 2147483647 w 2195"/>
              <a:gd name="T97" fmla="*/ 2147483647 h 44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Freeform 8"/>
          <p:cNvSpPr>
            <a:spLocks noEditPoints="1"/>
          </p:cNvSpPr>
          <p:nvPr/>
        </p:nvSpPr>
        <p:spPr bwMode="auto">
          <a:xfrm>
            <a:off x="3318670" y="1182689"/>
            <a:ext cx="1368425" cy="642937"/>
          </a:xfrm>
          <a:custGeom>
            <a:avLst/>
            <a:gdLst>
              <a:gd name="T0" fmla="*/ 2147483647 w 2109"/>
              <a:gd name="T1" fmla="*/ 0 h 986"/>
              <a:gd name="T2" fmla="*/ 2147483647 w 2109"/>
              <a:gd name="T3" fmla="*/ 2147483647 h 986"/>
              <a:gd name="T4" fmla="*/ 2147483647 w 2109"/>
              <a:gd name="T5" fmla="*/ 2147483647 h 986"/>
              <a:gd name="T6" fmla="*/ 0 w 2109"/>
              <a:gd name="T7" fmla="*/ 2147483647 h 986"/>
              <a:gd name="T8" fmla="*/ 2147483647 w 2109"/>
              <a:gd name="T9" fmla="*/ 2147483647 h 986"/>
              <a:gd name="T10" fmla="*/ 2147483647 w 2109"/>
              <a:gd name="T11" fmla="*/ 2147483647 h 986"/>
              <a:gd name="T12" fmla="*/ 2147483647 w 2109"/>
              <a:gd name="T13" fmla="*/ 2147483647 h 986"/>
              <a:gd name="T14" fmla="*/ 2147483647 w 2109"/>
              <a:gd name="T15" fmla="*/ 2147483647 h 986"/>
              <a:gd name="T16" fmla="*/ 2147483647 w 2109"/>
              <a:gd name="T17" fmla="*/ 2147483647 h 986"/>
              <a:gd name="T18" fmla="*/ 2147483647 w 2109"/>
              <a:gd name="T19" fmla="*/ 2147483647 h 986"/>
              <a:gd name="T20" fmla="*/ 2147483647 w 2109"/>
              <a:gd name="T21" fmla="*/ 2147483647 h 986"/>
              <a:gd name="T22" fmla="*/ 2147483647 w 2109"/>
              <a:gd name="T23" fmla="*/ 2147483647 h 986"/>
              <a:gd name="T24" fmla="*/ 2147483647 w 2109"/>
              <a:gd name="T25" fmla="*/ 2147483647 h 986"/>
              <a:gd name="T26" fmla="*/ 2147483647 w 2109"/>
              <a:gd name="T27" fmla="*/ 2147483647 h 986"/>
              <a:gd name="T28" fmla="*/ 2147483647 w 2109"/>
              <a:gd name="T29" fmla="*/ 2147483647 h 986"/>
              <a:gd name="T30" fmla="*/ 2147483647 w 2109"/>
              <a:gd name="T31" fmla="*/ 2147483647 h 986"/>
              <a:gd name="T32" fmla="*/ 2147483647 w 2109"/>
              <a:gd name="T33" fmla="*/ 2147483647 h 986"/>
              <a:gd name="T34" fmla="*/ 2147483647 w 2109"/>
              <a:gd name="T35" fmla="*/ 2147483647 h 986"/>
              <a:gd name="T36" fmla="*/ 2147483647 w 2109"/>
              <a:gd name="T37" fmla="*/ 2147483647 h 986"/>
              <a:gd name="T38" fmla="*/ 2147483647 w 2109"/>
              <a:gd name="T39" fmla="*/ 2147483647 h 986"/>
              <a:gd name="T40" fmla="*/ 2147483647 w 2109"/>
              <a:gd name="T41" fmla="*/ 2147483647 h 986"/>
              <a:gd name="T42" fmla="*/ 2147483647 w 2109"/>
              <a:gd name="T43" fmla="*/ 2147483647 h 986"/>
              <a:gd name="T44" fmla="*/ 2147483647 w 2109"/>
              <a:gd name="T45" fmla="*/ 2147483647 h 986"/>
              <a:gd name="T46" fmla="*/ 2147483647 w 2109"/>
              <a:gd name="T47" fmla="*/ 2147483647 h 986"/>
              <a:gd name="T48" fmla="*/ 2147483647 w 2109"/>
              <a:gd name="T49" fmla="*/ 2147483647 h 986"/>
              <a:gd name="T50" fmla="*/ 2147483647 w 2109"/>
              <a:gd name="T51" fmla="*/ 2147483647 h 986"/>
              <a:gd name="T52" fmla="*/ 2147483647 w 2109"/>
              <a:gd name="T53" fmla="*/ 2147483647 h 986"/>
              <a:gd name="T54" fmla="*/ 2147483647 w 2109"/>
              <a:gd name="T55" fmla="*/ 2147483647 h 986"/>
              <a:gd name="T56" fmla="*/ 2147483647 w 2109"/>
              <a:gd name="T57" fmla="*/ 2147483647 h 986"/>
              <a:gd name="T58" fmla="*/ 2147483647 w 2109"/>
              <a:gd name="T59" fmla="*/ 2147483647 h 986"/>
              <a:gd name="T60" fmla="*/ 2147483647 w 2109"/>
              <a:gd name="T61" fmla="*/ 2147483647 h 986"/>
              <a:gd name="T62" fmla="*/ 2147483647 w 2109"/>
              <a:gd name="T63" fmla="*/ 2147483647 h 986"/>
              <a:gd name="T64" fmla="*/ 2147483647 w 2109"/>
              <a:gd name="T65" fmla="*/ 2147483647 h 986"/>
              <a:gd name="T66" fmla="*/ 2147483647 w 2109"/>
              <a:gd name="T67" fmla="*/ 2147483647 h 98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Freeform 9"/>
          <p:cNvSpPr>
            <a:spLocks noEditPoints="1"/>
          </p:cNvSpPr>
          <p:nvPr/>
        </p:nvSpPr>
        <p:spPr bwMode="auto">
          <a:xfrm>
            <a:off x="4906169" y="141402"/>
            <a:ext cx="112713" cy="6438507"/>
          </a:xfrm>
          <a:custGeom>
            <a:avLst/>
            <a:gdLst>
              <a:gd name="T0" fmla="*/ 0 w 153"/>
              <a:gd name="T1" fmla="*/ 0 h 6522"/>
              <a:gd name="T2" fmla="*/ 2147483647 w 153"/>
              <a:gd name="T3" fmla="*/ 0 h 6522"/>
              <a:gd name="T4" fmla="*/ 2147483647 w 153"/>
              <a:gd name="T5" fmla="*/ 2147483647 h 6522"/>
              <a:gd name="T6" fmla="*/ 0 w 153"/>
              <a:gd name="T7" fmla="*/ 2147483647 h 6522"/>
              <a:gd name="T8" fmla="*/ 0 w 153"/>
              <a:gd name="T9" fmla="*/ 0 h 6522"/>
              <a:gd name="T10" fmla="*/ 2147483647 w 153"/>
              <a:gd name="T11" fmla="*/ 0 h 6522"/>
              <a:gd name="T12" fmla="*/ 2147483647 w 153"/>
              <a:gd name="T13" fmla="*/ 0 h 6522"/>
              <a:gd name="T14" fmla="*/ 2147483647 w 153"/>
              <a:gd name="T15" fmla="*/ 2147483647 h 6522"/>
              <a:gd name="T16" fmla="*/ 2147483647 w 153"/>
              <a:gd name="T17" fmla="*/ 2147483647 h 6522"/>
              <a:gd name="T18" fmla="*/ 2147483647 w 153"/>
              <a:gd name="T19" fmla="*/ 0 h 65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rgbClr val="2E2C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3" name="TextBox 91"/>
          <p:cNvSpPr txBox="1">
            <a:spLocks noChangeArrowheads="1"/>
          </p:cNvSpPr>
          <p:nvPr/>
        </p:nvSpPr>
        <p:spPr bwMode="auto">
          <a:xfrm>
            <a:off x="5818981" y="141402"/>
            <a:ext cx="587966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实践单位概况</a:t>
            </a:r>
            <a:endParaRPr lang="en-US" altLang="zh-CN" sz="3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/>
            <a:r>
              <a: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北京新航智科技有限公司</a:t>
            </a:r>
          </a:p>
        </p:txBody>
      </p:sp>
      <p:pic>
        <p:nvPicPr>
          <p:cNvPr id="9248" name="Picture 2" descr="E:\我的文档\Nipic_6852949_2011040110100047815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919" y="3992563"/>
            <a:ext cx="2043112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98D53868-BF7F-0DD5-F4FF-1C1F0D5BC52C}"/>
              </a:ext>
            </a:extLst>
          </p:cNvPr>
          <p:cNvSpPr/>
          <p:nvPr/>
        </p:nvSpPr>
        <p:spPr>
          <a:xfrm rot="21600000">
            <a:off x="5894420" y="913513"/>
            <a:ext cx="2347880" cy="76168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4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PyTorch概述</a:t>
            </a:r>
            <a:endParaRPr lang="en-US" sz="28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550416D-6E42-A52D-A7BD-C8D2F2A02B52}"/>
              </a:ext>
            </a:extLst>
          </p:cNvPr>
          <p:cNvSpPr/>
          <p:nvPr/>
        </p:nvSpPr>
        <p:spPr>
          <a:xfrm rot="21600000">
            <a:off x="5894420" y="4552442"/>
            <a:ext cx="2068480" cy="69272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4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基础操作</a:t>
            </a:r>
            <a:endParaRPr lang="en-US" sz="28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9494067-611F-AC5D-65ED-C7DDB308FF52}"/>
              </a:ext>
            </a:extLst>
          </p:cNvPr>
          <p:cNvSpPr/>
          <p:nvPr/>
        </p:nvSpPr>
        <p:spPr>
          <a:xfrm rot="21600000">
            <a:off x="5894420" y="2701798"/>
            <a:ext cx="2068480" cy="76168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4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环境配置</a:t>
            </a:r>
            <a:endParaRPr lang="en-US" sz="28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D82FE1E6-B91F-AADC-6CFF-945A37C9BA54}"/>
              </a:ext>
            </a:extLst>
          </p:cNvPr>
          <p:cNvSpPr/>
          <p:nvPr/>
        </p:nvSpPr>
        <p:spPr>
          <a:xfrm rot="21600000">
            <a:off x="9489536" y="3735186"/>
            <a:ext cx="1915319" cy="769441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4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资源精要</a:t>
            </a:r>
            <a:endParaRPr lang="en-US" sz="28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F4B9593F-5EB6-2A58-A671-51A0D7F03939}"/>
              </a:ext>
            </a:extLst>
          </p:cNvPr>
          <p:cNvSpPr/>
          <p:nvPr/>
        </p:nvSpPr>
        <p:spPr>
          <a:xfrm rot="21600000">
            <a:off x="9386920" y="1860920"/>
            <a:ext cx="1790262" cy="769441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4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模型开发</a:t>
            </a:r>
            <a:endParaRPr lang="en-US" sz="2800" dirty="0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4ECC3D9E-E561-4844-89C6-96860DE38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82356" y="1163131"/>
            <a:ext cx="512064" cy="512064"/>
          </a:xfrm>
          <a:prstGeom prst="rect">
            <a:avLst/>
          </a:prstGeom>
        </p:spPr>
      </p:pic>
      <p:pic>
        <p:nvPicPr>
          <p:cNvPr id="38" name="Image 4" descr="preencoded.png">
            <a:extLst>
              <a:ext uri="{FF2B5EF4-FFF2-40B4-BE49-F238E27FC236}">
                <a16:creationId xmlns:a16="http://schemas.microsoft.com/office/drawing/2014/main" id="{080120A3-CF5C-3C9D-CED9-F982A71BF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10372" y="1291147"/>
            <a:ext cx="256032" cy="256032"/>
          </a:xfrm>
          <a:prstGeom prst="rect">
            <a:avLst/>
          </a:prstGeom>
        </p:spPr>
      </p:pic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A72662BF-750D-86E6-6377-F32E7AAC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82356" y="2951419"/>
            <a:ext cx="512064" cy="512064"/>
          </a:xfrm>
          <a:prstGeom prst="rect">
            <a:avLst/>
          </a:prstGeom>
        </p:spPr>
      </p:pic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CCDAF14C-3C7C-4CC6-7898-1EFA3B150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10372" y="3079435"/>
            <a:ext cx="256032" cy="256032"/>
          </a:xfrm>
          <a:prstGeom prst="rect">
            <a:avLst/>
          </a:prstGeom>
        </p:spPr>
      </p:pic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96BA9DA1-B19A-5878-D889-EBF144441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82356" y="4739706"/>
            <a:ext cx="512064" cy="512064"/>
          </a:xfrm>
          <a:prstGeom prst="rect">
            <a:avLst/>
          </a:prstGeom>
        </p:spPr>
      </p:pic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AD70BFE3-DA49-B3C5-B23A-BA8264C18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10372" y="4867722"/>
            <a:ext cx="256032" cy="256032"/>
          </a:xfrm>
          <a:prstGeom prst="rect">
            <a:avLst/>
          </a:prstGeom>
        </p:spPr>
      </p:pic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D7522B84-288A-0A03-1B09-33B953BB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874856" y="2118297"/>
            <a:ext cx="512064" cy="512064"/>
          </a:xfrm>
          <a:prstGeom prst="rect">
            <a:avLst/>
          </a:prstGeom>
        </p:spPr>
      </p:pic>
      <p:pic>
        <p:nvPicPr>
          <p:cNvPr id="46" name="Image 4" descr="preencoded.png">
            <a:extLst>
              <a:ext uri="{FF2B5EF4-FFF2-40B4-BE49-F238E27FC236}">
                <a16:creationId xmlns:a16="http://schemas.microsoft.com/office/drawing/2014/main" id="{7B8C7490-2FEF-4B00-F878-2C63AF6D8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02872" y="2246313"/>
            <a:ext cx="256032" cy="256032"/>
          </a:xfrm>
          <a:prstGeom prst="rect">
            <a:avLst/>
          </a:prstGeom>
        </p:spPr>
      </p:pic>
      <p:pic>
        <p:nvPicPr>
          <p:cNvPr id="47" name="Image 3" descr="preencoded.png">
            <a:extLst>
              <a:ext uri="{FF2B5EF4-FFF2-40B4-BE49-F238E27FC236}">
                <a16:creationId xmlns:a16="http://schemas.microsoft.com/office/drawing/2014/main" id="{918CE511-FC7F-0AF5-56CF-320FB26A3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13560" y="4010026"/>
            <a:ext cx="512064" cy="512064"/>
          </a:xfrm>
          <a:prstGeom prst="rect">
            <a:avLst/>
          </a:prstGeom>
        </p:spPr>
      </p:pic>
      <p:pic>
        <p:nvPicPr>
          <p:cNvPr id="48" name="Image 4" descr="preencoded.png">
            <a:extLst>
              <a:ext uri="{FF2B5EF4-FFF2-40B4-BE49-F238E27FC236}">
                <a16:creationId xmlns:a16="http://schemas.microsoft.com/office/drawing/2014/main" id="{894765B4-9BDC-2A3F-96BC-C9B76A750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41576" y="4138042"/>
            <a:ext cx="256032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3"/>
    </mc:Choice>
    <mc:Fallback xmlns="">
      <p:transition spd="slow" advTm="41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 autoUpdateAnimBg="0"/>
      <p:bldP spid="9219" grpId="0" animBg="1"/>
      <p:bldP spid="9220" grpId="0" animBg="1"/>
      <p:bldP spid="9221" grpId="0" animBg="1"/>
      <p:bldP spid="9222" grpId="0" animBg="1"/>
      <p:bldP spid="924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93073" y="2944405"/>
            <a:ext cx="6906992" cy="720000"/>
            <a:chOff x="5367559" y="2929837"/>
            <a:chExt cx="6906992" cy="720000"/>
          </a:xfrm>
        </p:grpSpPr>
        <p:sp>
          <p:nvSpPr>
            <p:cNvPr id="3" name="文本框 2"/>
            <p:cNvSpPr txBox="1"/>
            <p:nvPr/>
          </p:nvSpPr>
          <p:spPr>
            <a:xfrm>
              <a:off x="6146704" y="2981907"/>
              <a:ext cx="5282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</a:rPr>
                <a:t>第一部分  </a:t>
              </a: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ea typeface="微软雅黑" panose="020B0503020204020204" charset="-122"/>
                </a:rPr>
                <a:t>P</a:t>
              </a:r>
              <a:r>
                <a:rPr lang="en-US" altLang="zh-CN" sz="3600" b="1" kern="0" dirty="0" err="1">
                  <a:solidFill>
                    <a:srgbClr val="17406D"/>
                  </a:solidFill>
                  <a:ea typeface="微软雅黑" panose="020B0503020204020204" charset="-122"/>
                </a:rPr>
                <a:t>yTorch</a:t>
              </a:r>
              <a:r>
                <a:rPr lang="zh-CN" altLang="en-US" sz="3600" b="1" kern="0" dirty="0">
                  <a:solidFill>
                    <a:srgbClr val="17406D"/>
                  </a:solidFill>
                  <a:latin typeface="Calibri" panose="020F0502020204030204"/>
                  <a:ea typeface="微软雅黑" panose="020B0503020204020204" charset="-122"/>
                </a:rPr>
                <a:t>概述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  <p:sp>
          <p:nvSpPr>
            <p:cNvPr id="5" name="矩形 4"/>
            <p:cNvSpPr/>
            <p:nvPr/>
          </p:nvSpPr>
          <p:spPr>
            <a:xfrm flipV="1">
              <a:off x="8202969" y="3581596"/>
              <a:ext cx="4071582" cy="45719"/>
            </a:xfrm>
            <a:prstGeom prst="rect">
              <a:avLst/>
            </a:prstGeom>
            <a:solidFill>
              <a:srgbClr val="0F6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1731870" y="2870110"/>
            <a:ext cx="1523573" cy="1718780"/>
          </a:xfrm>
          <a:custGeom>
            <a:avLst/>
            <a:gdLst>
              <a:gd name="T0" fmla="*/ 870 w 1809"/>
              <a:gd name="T1" fmla="*/ 879 h 2152"/>
              <a:gd name="T2" fmla="*/ 870 w 1809"/>
              <a:gd name="T3" fmla="*/ 2152 h 2152"/>
              <a:gd name="T4" fmla="*/ 1809 w 1809"/>
              <a:gd name="T5" fmla="*/ 1820 h 2152"/>
              <a:gd name="T6" fmla="*/ 1809 w 1809"/>
              <a:gd name="T7" fmla="*/ 547 h 2152"/>
              <a:gd name="T8" fmla="*/ 870 w 1809"/>
              <a:gd name="T9" fmla="*/ 879 h 2152"/>
              <a:gd name="T10" fmla="*/ 785 w 1809"/>
              <a:gd name="T11" fmla="*/ 961 h 2152"/>
              <a:gd name="T12" fmla="*/ 785 w 1809"/>
              <a:gd name="T13" fmla="*/ 1138 h 2152"/>
              <a:gd name="T14" fmla="*/ 613 w 1809"/>
              <a:gd name="T15" fmla="*/ 1053 h 2152"/>
              <a:gd name="T16" fmla="*/ 613 w 1809"/>
              <a:gd name="T17" fmla="*/ 864 h 2152"/>
              <a:gd name="T18" fmla="*/ 785 w 1809"/>
              <a:gd name="T19" fmla="*/ 961 h 2152"/>
              <a:gd name="T20" fmla="*/ 1555 w 1809"/>
              <a:gd name="T21" fmla="*/ 410 h 2152"/>
              <a:gd name="T22" fmla="*/ 1507 w 1809"/>
              <a:gd name="T23" fmla="*/ 386 h 2152"/>
              <a:gd name="T24" fmla="*/ 602 w 1809"/>
              <a:gd name="T25" fmla="*/ 700 h 2152"/>
              <a:gd name="T26" fmla="*/ 576 w 1809"/>
              <a:gd name="T27" fmla="*/ 724 h 2152"/>
              <a:gd name="T28" fmla="*/ 576 w 1809"/>
              <a:gd name="T29" fmla="*/ 2017 h 2152"/>
              <a:gd name="T30" fmla="*/ 822 w 1809"/>
              <a:gd name="T31" fmla="*/ 2149 h 2152"/>
              <a:gd name="T32" fmla="*/ 822 w 1809"/>
              <a:gd name="T33" fmla="*/ 879 h 2152"/>
              <a:gd name="T34" fmla="*/ 622 w 1809"/>
              <a:gd name="T35" fmla="*/ 772 h 2152"/>
              <a:gd name="T36" fmla="*/ 625 w 1809"/>
              <a:gd name="T37" fmla="*/ 772 h 2152"/>
              <a:gd name="T38" fmla="*/ 1531 w 1809"/>
              <a:gd name="T39" fmla="*/ 457 h 2152"/>
              <a:gd name="T40" fmla="*/ 1555 w 1809"/>
              <a:gd name="T41" fmla="*/ 410 h 2152"/>
              <a:gd name="T42" fmla="*/ 209 w 1809"/>
              <a:gd name="T43" fmla="*/ 581 h 2152"/>
              <a:gd name="T44" fmla="*/ 209 w 1809"/>
              <a:gd name="T45" fmla="*/ 758 h 2152"/>
              <a:gd name="T46" fmla="*/ 37 w 1809"/>
              <a:gd name="T47" fmla="*/ 673 h 2152"/>
              <a:gd name="T48" fmla="*/ 37 w 1809"/>
              <a:gd name="T49" fmla="*/ 484 h 2152"/>
              <a:gd name="T50" fmla="*/ 209 w 1809"/>
              <a:gd name="T51" fmla="*/ 581 h 2152"/>
              <a:gd name="T52" fmla="*/ 978 w 1809"/>
              <a:gd name="T53" fmla="*/ 30 h 2152"/>
              <a:gd name="T54" fmla="*/ 931 w 1809"/>
              <a:gd name="T55" fmla="*/ 6 h 2152"/>
              <a:gd name="T56" fmla="*/ 25 w 1809"/>
              <a:gd name="T57" fmla="*/ 321 h 2152"/>
              <a:gd name="T58" fmla="*/ 0 w 1809"/>
              <a:gd name="T59" fmla="*/ 344 h 2152"/>
              <a:gd name="T60" fmla="*/ 0 w 1809"/>
              <a:gd name="T61" fmla="*/ 1638 h 2152"/>
              <a:gd name="T62" fmla="*/ 246 w 1809"/>
              <a:gd name="T63" fmla="*/ 1770 h 2152"/>
              <a:gd name="T64" fmla="*/ 246 w 1809"/>
              <a:gd name="T65" fmla="*/ 500 h 2152"/>
              <a:gd name="T66" fmla="*/ 46 w 1809"/>
              <a:gd name="T67" fmla="*/ 393 h 2152"/>
              <a:gd name="T68" fmla="*/ 49 w 1809"/>
              <a:gd name="T69" fmla="*/ 392 h 2152"/>
              <a:gd name="T70" fmla="*/ 954 w 1809"/>
              <a:gd name="T71" fmla="*/ 77 h 2152"/>
              <a:gd name="T72" fmla="*/ 978 w 1809"/>
              <a:gd name="T73" fmla="*/ 30 h 2152"/>
              <a:gd name="T74" fmla="*/ 497 w 1809"/>
              <a:gd name="T75" fmla="*/ 781 h 2152"/>
              <a:gd name="T76" fmla="*/ 497 w 1809"/>
              <a:gd name="T77" fmla="*/ 958 h 2152"/>
              <a:gd name="T78" fmla="*/ 325 w 1809"/>
              <a:gd name="T79" fmla="*/ 873 h 2152"/>
              <a:gd name="T80" fmla="*/ 325 w 1809"/>
              <a:gd name="T81" fmla="*/ 684 h 2152"/>
              <a:gd name="T82" fmla="*/ 497 w 1809"/>
              <a:gd name="T83" fmla="*/ 781 h 2152"/>
              <a:gd name="T84" fmla="*/ 1266 w 1809"/>
              <a:gd name="T85" fmla="*/ 230 h 2152"/>
              <a:gd name="T86" fmla="*/ 1219 w 1809"/>
              <a:gd name="T87" fmla="*/ 206 h 2152"/>
              <a:gd name="T88" fmla="*/ 313 w 1809"/>
              <a:gd name="T89" fmla="*/ 520 h 2152"/>
              <a:gd name="T90" fmla="*/ 288 w 1809"/>
              <a:gd name="T91" fmla="*/ 544 h 2152"/>
              <a:gd name="T92" fmla="*/ 288 w 1809"/>
              <a:gd name="T93" fmla="*/ 1837 h 2152"/>
              <a:gd name="T94" fmla="*/ 534 w 1809"/>
              <a:gd name="T95" fmla="*/ 1969 h 2152"/>
              <a:gd name="T96" fmla="*/ 534 w 1809"/>
              <a:gd name="T97" fmla="*/ 699 h 2152"/>
              <a:gd name="T98" fmla="*/ 334 w 1809"/>
              <a:gd name="T99" fmla="*/ 592 h 2152"/>
              <a:gd name="T100" fmla="*/ 337 w 1809"/>
              <a:gd name="T101" fmla="*/ 592 h 2152"/>
              <a:gd name="T102" fmla="*/ 1243 w 1809"/>
              <a:gd name="T103" fmla="*/ 277 h 2152"/>
              <a:gd name="T104" fmla="*/ 1266 w 1809"/>
              <a:gd name="T105" fmla="*/ 230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809" h="2152">
                <a:moveTo>
                  <a:pt x="870" y="879"/>
                </a:moveTo>
                <a:lnTo>
                  <a:pt x="870" y="2152"/>
                </a:lnTo>
                <a:lnTo>
                  <a:pt x="1809" y="1820"/>
                </a:lnTo>
                <a:lnTo>
                  <a:pt x="1809" y="547"/>
                </a:lnTo>
                <a:lnTo>
                  <a:pt x="870" y="879"/>
                </a:lnTo>
                <a:close/>
                <a:moveTo>
                  <a:pt x="785" y="961"/>
                </a:moveTo>
                <a:lnTo>
                  <a:pt x="785" y="1138"/>
                </a:lnTo>
                <a:cubicBezTo>
                  <a:pt x="699" y="1121"/>
                  <a:pt x="613" y="1053"/>
                  <a:pt x="613" y="1053"/>
                </a:cubicBezTo>
                <a:lnTo>
                  <a:pt x="613" y="864"/>
                </a:lnTo>
                <a:cubicBezTo>
                  <a:pt x="719" y="950"/>
                  <a:pt x="785" y="961"/>
                  <a:pt x="785" y="961"/>
                </a:cubicBezTo>
                <a:close/>
                <a:moveTo>
                  <a:pt x="1555" y="410"/>
                </a:moveTo>
                <a:cubicBezTo>
                  <a:pt x="1548" y="390"/>
                  <a:pt x="1527" y="379"/>
                  <a:pt x="1507" y="386"/>
                </a:cubicBezTo>
                <a:lnTo>
                  <a:pt x="602" y="700"/>
                </a:lnTo>
                <a:cubicBezTo>
                  <a:pt x="590" y="704"/>
                  <a:pt x="580" y="713"/>
                  <a:pt x="576" y="724"/>
                </a:cubicBezTo>
                <a:lnTo>
                  <a:pt x="576" y="2017"/>
                </a:lnTo>
                <a:cubicBezTo>
                  <a:pt x="608" y="2080"/>
                  <a:pt x="741" y="2149"/>
                  <a:pt x="822" y="2149"/>
                </a:cubicBezTo>
                <a:lnTo>
                  <a:pt x="822" y="879"/>
                </a:lnTo>
                <a:cubicBezTo>
                  <a:pt x="779" y="873"/>
                  <a:pt x="682" y="822"/>
                  <a:pt x="622" y="772"/>
                </a:cubicBezTo>
                <a:cubicBezTo>
                  <a:pt x="623" y="772"/>
                  <a:pt x="624" y="772"/>
                  <a:pt x="625" y="772"/>
                </a:cubicBezTo>
                <a:lnTo>
                  <a:pt x="1531" y="457"/>
                </a:lnTo>
                <a:cubicBezTo>
                  <a:pt x="1550" y="450"/>
                  <a:pt x="1561" y="429"/>
                  <a:pt x="1555" y="410"/>
                </a:cubicBezTo>
                <a:close/>
                <a:moveTo>
                  <a:pt x="209" y="581"/>
                </a:moveTo>
                <a:lnTo>
                  <a:pt x="209" y="758"/>
                </a:lnTo>
                <a:cubicBezTo>
                  <a:pt x="123" y="742"/>
                  <a:pt x="37" y="673"/>
                  <a:pt x="37" y="673"/>
                </a:cubicBezTo>
                <a:lnTo>
                  <a:pt x="37" y="484"/>
                </a:lnTo>
                <a:cubicBezTo>
                  <a:pt x="143" y="570"/>
                  <a:pt x="209" y="581"/>
                  <a:pt x="209" y="581"/>
                </a:cubicBezTo>
                <a:close/>
                <a:moveTo>
                  <a:pt x="978" y="30"/>
                </a:moveTo>
                <a:cubicBezTo>
                  <a:pt x="972" y="11"/>
                  <a:pt x="951" y="0"/>
                  <a:pt x="931" y="6"/>
                </a:cubicBezTo>
                <a:lnTo>
                  <a:pt x="25" y="321"/>
                </a:lnTo>
                <a:cubicBezTo>
                  <a:pt x="14" y="325"/>
                  <a:pt x="3" y="334"/>
                  <a:pt x="0" y="344"/>
                </a:cubicBezTo>
                <a:lnTo>
                  <a:pt x="0" y="1638"/>
                </a:lnTo>
                <a:cubicBezTo>
                  <a:pt x="32" y="1700"/>
                  <a:pt x="165" y="1770"/>
                  <a:pt x="246" y="1770"/>
                </a:cubicBezTo>
                <a:lnTo>
                  <a:pt x="246" y="500"/>
                </a:lnTo>
                <a:cubicBezTo>
                  <a:pt x="203" y="493"/>
                  <a:pt x="106" y="443"/>
                  <a:pt x="46" y="393"/>
                </a:cubicBezTo>
                <a:cubicBezTo>
                  <a:pt x="47" y="393"/>
                  <a:pt x="48" y="392"/>
                  <a:pt x="49" y="392"/>
                </a:cubicBezTo>
                <a:lnTo>
                  <a:pt x="954" y="77"/>
                </a:lnTo>
                <a:cubicBezTo>
                  <a:pt x="974" y="71"/>
                  <a:pt x="985" y="50"/>
                  <a:pt x="978" y="30"/>
                </a:cubicBezTo>
                <a:close/>
                <a:moveTo>
                  <a:pt x="497" y="781"/>
                </a:moveTo>
                <a:lnTo>
                  <a:pt x="497" y="958"/>
                </a:lnTo>
                <a:cubicBezTo>
                  <a:pt x="411" y="941"/>
                  <a:pt x="325" y="873"/>
                  <a:pt x="325" y="873"/>
                </a:cubicBezTo>
                <a:lnTo>
                  <a:pt x="325" y="684"/>
                </a:lnTo>
                <a:cubicBezTo>
                  <a:pt x="431" y="770"/>
                  <a:pt x="497" y="781"/>
                  <a:pt x="497" y="781"/>
                </a:cubicBezTo>
                <a:close/>
                <a:moveTo>
                  <a:pt x="1266" y="230"/>
                </a:moveTo>
                <a:cubicBezTo>
                  <a:pt x="1260" y="210"/>
                  <a:pt x="1239" y="199"/>
                  <a:pt x="1219" y="206"/>
                </a:cubicBezTo>
                <a:lnTo>
                  <a:pt x="313" y="520"/>
                </a:lnTo>
                <a:cubicBezTo>
                  <a:pt x="302" y="524"/>
                  <a:pt x="291" y="533"/>
                  <a:pt x="288" y="544"/>
                </a:cubicBezTo>
                <a:lnTo>
                  <a:pt x="288" y="1837"/>
                </a:lnTo>
                <a:cubicBezTo>
                  <a:pt x="320" y="1900"/>
                  <a:pt x="453" y="1969"/>
                  <a:pt x="534" y="1969"/>
                </a:cubicBezTo>
                <a:lnTo>
                  <a:pt x="534" y="699"/>
                </a:lnTo>
                <a:cubicBezTo>
                  <a:pt x="491" y="693"/>
                  <a:pt x="394" y="642"/>
                  <a:pt x="334" y="592"/>
                </a:cubicBezTo>
                <a:cubicBezTo>
                  <a:pt x="335" y="592"/>
                  <a:pt x="336" y="592"/>
                  <a:pt x="337" y="592"/>
                </a:cubicBezTo>
                <a:lnTo>
                  <a:pt x="1243" y="277"/>
                </a:lnTo>
                <a:cubicBezTo>
                  <a:pt x="1262" y="270"/>
                  <a:pt x="1273" y="249"/>
                  <a:pt x="1266" y="23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9"/>
    </mc:Choice>
    <mc:Fallback xmlns="">
      <p:transition spd="slow" advTm="160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7B6B0B2-9EF3-220F-820E-268D90143E32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  <a:cs typeface="NotoSansSC-Bold" pitchFamily="34" charset="-120"/>
              </a:rPr>
              <a:t>框架定义与特点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D4ABAFF-D659-8710-4DAA-BFDE805B8B3E}"/>
              </a:ext>
            </a:extLst>
          </p:cNvPr>
          <p:cNvSpPr/>
          <p:nvPr/>
        </p:nvSpPr>
        <p:spPr>
          <a:xfrm rot="21600000">
            <a:off x="4198184" y="3833905"/>
            <a:ext cx="8111744" cy="946409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4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原生支持GPU加速张量计算，矩阵运算速度达到NumPy的15倍以上。</a:t>
            </a:r>
            <a:endParaRPr lang="en-US" sz="2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0AF05F1-973A-860F-40BE-412C13EFEE40}"/>
              </a:ext>
            </a:extLst>
          </p:cNvPr>
          <p:cNvSpPr/>
          <p:nvPr/>
        </p:nvSpPr>
        <p:spPr>
          <a:xfrm rot="21600000">
            <a:off x="4143320" y="3132111"/>
            <a:ext cx="421538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2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张量核心运算</a:t>
            </a:r>
            <a:endParaRPr lang="en-US" sz="32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74D01481-B637-B49B-BD5B-9A26FAC39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48376" y="3241839"/>
            <a:ext cx="283464" cy="301752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9CB44A87-A07B-D82C-569D-0F0E214BB16E}"/>
              </a:ext>
            </a:extLst>
          </p:cNvPr>
          <p:cNvSpPr/>
          <p:nvPr/>
        </p:nvSpPr>
        <p:spPr>
          <a:xfrm rot="21600000">
            <a:off x="4143320" y="1810800"/>
            <a:ext cx="8270240" cy="94640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4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PyTorch采用动态图机制允许实时构建和修改神经网络，调试效率比静态图框架提升40%以上。</a:t>
            </a:r>
            <a:endParaRPr lang="en-US" sz="2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6B0A1ED-1E5E-C678-3727-E6E6846E5FE7}"/>
              </a:ext>
            </a:extLst>
          </p:cNvPr>
          <p:cNvSpPr/>
          <p:nvPr/>
        </p:nvSpPr>
        <p:spPr>
          <a:xfrm rot="21600000">
            <a:off x="4124016" y="1152434"/>
            <a:ext cx="3721608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2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动态计算图</a:t>
            </a:r>
            <a:endParaRPr lang="en-US" sz="32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7B7EC07F-A8AF-9758-ABCE-EE70DA3D3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9072" y="1271306"/>
            <a:ext cx="283464" cy="301752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A4B4888F-0121-8392-49C8-03E00944E6EE}"/>
              </a:ext>
            </a:extLst>
          </p:cNvPr>
          <p:cNvSpPr/>
          <p:nvPr/>
        </p:nvSpPr>
        <p:spPr>
          <a:xfrm rot="21600000">
            <a:off x="4198184" y="6140994"/>
            <a:ext cx="8111744" cy="109209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无缝集成Python生态，通过torch.nn模块实现直观的模型构建。</a:t>
            </a:r>
            <a:endParaRPr lang="en-US" sz="24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635D156F-8BE1-D6AD-D8DE-25E32F01046F}"/>
              </a:ext>
            </a:extLst>
          </p:cNvPr>
          <p:cNvSpPr/>
          <p:nvPr/>
        </p:nvSpPr>
        <p:spPr>
          <a:xfrm rot="21600000">
            <a:off x="4207836" y="4958371"/>
            <a:ext cx="444398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Python化接口</a:t>
            </a:r>
            <a:endParaRPr lang="en-US" sz="2800" dirty="0"/>
          </a:p>
        </p:txBody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64262088-ECFE-FD48-90EE-CA0BBBE5A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12892" y="5077243"/>
            <a:ext cx="283464" cy="301752"/>
          </a:xfrm>
          <a:prstGeom prst="rect">
            <a:avLst/>
          </a:prstGeom>
        </p:spPr>
      </p:pic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007CF5ED-DAE0-5CD6-8991-7BE7F7AE3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2020" y="2118906"/>
            <a:ext cx="3215132" cy="32151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71"/>
    </mc:Choice>
    <mc:Fallback xmlns="">
      <p:transition spd="slow" advTm="1737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E77D462-3349-1CD7-43F4-EF2CF663FDA4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  <a:cs typeface="NotoSansSC-Bold" pitchFamily="34" charset="-120"/>
              </a:rPr>
              <a:t>应用场景解析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538B1CD-119C-B8D3-C971-B1D3A2950FA2}"/>
              </a:ext>
            </a:extLst>
          </p:cNvPr>
          <p:cNvSpPr/>
          <p:nvPr/>
        </p:nvSpPr>
        <p:spPr>
          <a:xfrm rot="21600000">
            <a:off x="2704592" y="928914"/>
            <a:ext cx="9676094" cy="34616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 err="1">
                <a:solidFill>
                  <a:srgbClr val="012467"/>
                </a:solidFill>
                <a:latin typeface="Montserrat-Regular" pitchFamily="34" charset="0"/>
                <a:ea typeface="Montserrat-Regular" pitchFamily="34" charset="-122"/>
                <a:cs typeface="Montserrat-Regular" pitchFamily="34" charset="-120"/>
              </a:rPr>
              <a:t>Designkit</a:t>
            </a:r>
            <a:r>
              <a:rPr lang="en-US" sz="2200" dirty="0">
                <a:solidFill>
                  <a:srgbClr val="012467"/>
                </a:solidFill>
                <a:latin typeface="Montserrat-Regular" pitchFamily="34" charset="0"/>
                <a:ea typeface="Montserrat-Regular" pitchFamily="34" charset="-122"/>
                <a:cs typeface="Montserrat-Regular" pitchFamily="34" charset="-120"/>
              </a:rPr>
              <a:t>     |      </a:t>
            </a:r>
            <a:r>
              <a:rPr lang="en-US" sz="2200" dirty="0" err="1">
                <a:solidFill>
                  <a:srgbClr val="012467"/>
                </a:solidFill>
                <a:latin typeface="Montserrat-Regular" pitchFamily="34" charset="0"/>
                <a:ea typeface="Montserrat-Regular" pitchFamily="34" charset="-122"/>
                <a:cs typeface="Montserrat-Regular" pitchFamily="34" charset="-120"/>
              </a:rPr>
              <a:t>Designkit</a:t>
            </a:r>
            <a:r>
              <a:rPr lang="en-US" sz="2200" dirty="0">
                <a:solidFill>
                  <a:srgbClr val="012467"/>
                </a:solidFill>
                <a:latin typeface="Montserrat-Regular" pitchFamily="34" charset="0"/>
                <a:ea typeface="Montserrat-Regular" pitchFamily="34" charset="-122"/>
                <a:cs typeface="Montserrat-Regular" pitchFamily="34" charset="-120"/>
              </a:rPr>
              <a:t>       |      Designkit</a:t>
            </a:r>
            <a:endParaRPr lang="en-US" sz="2200" dirty="0"/>
          </a:p>
        </p:txBody>
      </p:sp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F9FB38F4-27DD-AADC-0B7D-BADA03D81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443691">
            <a:off x="2858821" y="5085140"/>
            <a:ext cx="1499616" cy="100584"/>
          </a:xfrm>
          <a:prstGeom prst="rect">
            <a:avLst/>
          </a:prstGeom>
        </p:spPr>
      </p:pic>
      <p:pic>
        <p:nvPicPr>
          <p:cNvPr id="59" name="Image 8" descr="preencoded.png">
            <a:extLst>
              <a:ext uri="{FF2B5EF4-FFF2-40B4-BE49-F238E27FC236}">
                <a16:creationId xmlns:a16="http://schemas.microsoft.com/office/drawing/2014/main" id="{83193C3E-F139-EC57-2797-E6303DF07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72455" y="4307574"/>
            <a:ext cx="3305472" cy="2340864"/>
          </a:xfrm>
          <a:prstGeom prst="rect">
            <a:avLst/>
          </a:prstGeom>
        </p:spPr>
      </p:pic>
      <p:sp>
        <p:nvSpPr>
          <p:cNvPr id="60" name="Text 10">
            <a:extLst>
              <a:ext uri="{FF2B5EF4-FFF2-40B4-BE49-F238E27FC236}">
                <a16:creationId xmlns:a16="http://schemas.microsoft.com/office/drawing/2014/main" id="{98AE800E-15C0-21FE-0241-C8F33203C5AC}"/>
              </a:ext>
            </a:extLst>
          </p:cNvPr>
          <p:cNvSpPr/>
          <p:nvPr/>
        </p:nvSpPr>
        <p:spPr>
          <a:xfrm rot="21600000">
            <a:off x="3918318" y="5462622"/>
            <a:ext cx="1232634" cy="75895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KronaOne-Regular" pitchFamily="34" charset="0"/>
                <a:ea typeface="KronaOne-Regular" pitchFamily="34" charset="-122"/>
                <a:cs typeface="KronaOne-Regular" pitchFamily="34" charset="-120"/>
              </a:rPr>
              <a:t>01</a:t>
            </a:r>
            <a:endParaRPr lang="en-US" sz="4800" dirty="0"/>
          </a:p>
        </p:txBody>
      </p:sp>
      <p:pic>
        <p:nvPicPr>
          <p:cNvPr id="61" name="Image 9" descr="preencoded.png">
            <a:extLst>
              <a:ext uri="{FF2B5EF4-FFF2-40B4-BE49-F238E27FC236}">
                <a16:creationId xmlns:a16="http://schemas.microsoft.com/office/drawing/2014/main" id="{E8869387-BB7B-F9B0-72D4-93D551E78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76800" y="3933063"/>
            <a:ext cx="1993393" cy="2667986"/>
          </a:xfrm>
          <a:prstGeom prst="rect">
            <a:avLst/>
          </a:prstGeom>
        </p:spPr>
      </p:pic>
      <p:sp>
        <p:nvSpPr>
          <p:cNvPr id="62" name="Text 11">
            <a:extLst>
              <a:ext uri="{FF2B5EF4-FFF2-40B4-BE49-F238E27FC236}">
                <a16:creationId xmlns:a16="http://schemas.microsoft.com/office/drawing/2014/main" id="{9BFF0A7E-F1D4-9A8E-00C7-EABB4D25AC8E}"/>
              </a:ext>
            </a:extLst>
          </p:cNvPr>
          <p:cNvSpPr/>
          <p:nvPr/>
        </p:nvSpPr>
        <p:spPr>
          <a:xfrm rot="21600000">
            <a:off x="5580199" y="4366302"/>
            <a:ext cx="1168994" cy="75895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KronaOne-Regular" pitchFamily="34" charset="0"/>
                <a:ea typeface="KronaOne-Regular" pitchFamily="34" charset="-122"/>
                <a:cs typeface="KronaOne-Regular" pitchFamily="34" charset="-120"/>
              </a:rPr>
              <a:t>02</a:t>
            </a:r>
            <a:endParaRPr lang="en-US" sz="4000" dirty="0"/>
          </a:p>
        </p:txBody>
      </p:sp>
      <p:pic>
        <p:nvPicPr>
          <p:cNvPr id="63" name="Image 10" descr="preencoded.png">
            <a:extLst>
              <a:ext uri="{FF2B5EF4-FFF2-40B4-BE49-F238E27FC236}">
                <a16:creationId xmlns:a16="http://schemas.microsoft.com/office/drawing/2014/main" id="{6496DD80-6D64-5AB9-9012-90D0FC057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00505" y="4400102"/>
            <a:ext cx="1567010" cy="2227798"/>
          </a:xfrm>
          <a:prstGeom prst="rect">
            <a:avLst/>
          </a:prstGeom>
        </p:spPr>
      </p:pic>
      <p:sp>
        <p:nvSpPr>
          <p:cNvPr id="64" name="Text 12">
            <a:extLst>
              <a:ext uri="{FF2B5EF4-FFF2-40B4-BE49-F238E27FC236}">
                <a16:creationId xmlns:a16="http://schemas.microsoft.com/office/drawing/2014/main" id="{3FC62AF6-E7E9-5AF9-952A-422B6C394062}"/>
              </a:ext>
            </a:extLst>
          </p:cNvPr>
          <p:cNvSpPr/>
          <p:nvPr/>
        </p:nvSpPr>
        <p:spPr>
          <a:xfrm rot="21600000">
            <a:off x="6877928" y="4703670"/>
            <a:ext cx="1423587" cy="75895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KronaOne-Regular" pitchFamily="34" charset="0"/>
                <a:ea typeface="KronaOne-Regular" pitchFamily="34" charset="-122"/>
                <a:cs typeface="KronaOne-Regular" pitchFamily="34" charset="-120"/>
              </a:rPr>
              <a:t>03</a:t>
            </a:r>
            <a:endParaRPr lang="en-US" sz="4000" dirty="0"/>
          </a:p>
        </p:txBody>
      </p:sp>
      <p:pic>
        <p:nvPicPr>
          <p:cNvPr id="65" name="Image 11" descr="preencoded.png">
            <a:extLst>
              <a:ext uri="{FF2B5EF4-FFF2-40B4-BE49-F238E27FC236}">
                <a16:creationId xmlns:a16="http://schemas.microsoft.com/office/drawing/2014/main" id="{91D3B043-FE7C-107A-EE3E-FED3F4EF2F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94581" y="5360224"/>
            <a:ext cx="1757837" cy="1240826"/>
          </a:xfrm>
          <a:prstGeom prst="rect">
            <a:avLst/>
          </a:prstGeom>
        </p:spPr>
      </p:pic>
      <p:sp>
        <p:nvSpPr>
          <p:cNvPr id="66" name="Text 13">
            <a:extLst>
              <a:ext uri="{FF2B5EF4-FFF2-40B4-BE49-F238E27FC236}">
                <a16:creationId xmlns:a16="http://schemas.microsoft.com/office/drawing/2014/main" id="{5380C6F0-66E6-CDC5-A20B-1611F2B80D13}"/>
              </a:ext>
            </a:extLst>
          </p:cNvPr>
          <p:cNvSpPr/>
          <p:nvPr/>
        </p:nvSpPr>
        <p:spPr>
          <a:xfrm rot="21600000">
            <a:off x="7080621" y="5842098"/>
            <a:ext cx="1871700" cy="75895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KronaOne-Regular" pitchFamily="34" charset="0"/>
                <a:ea typeface="KronaOne-Regular" pitchFamily="34" charset="-122"/>
                <a:cs typeface="KronaOne-Regular" pitchFamily="34" charset="-120"/>
              </a:rPr>
              <a:t>04</a:t>
            </a:r>
            <a:endParaRPr lang="en-US" sz="40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027AA427-ED75-E4AD-B081-7C5F3B6DD8FC}"/>
              </a:ext>
            </a:extLst>
          </p:cNvPr>
          <p:cNvSpPr/>
          <p:nvPr/>
        </p:nvSpPr>
        <p:spPr>
          <a:xfrm rot="21600000">
            <a:off x="145143" y="5346304"/>
            <a:ext cx="2990861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支撑90%的CV顶会论文实现，如Mask R-CNN图像分割模型。</a:t>
            </a:r>
            <a:endParaRPr lang="en-US" sz="2000" dirty="0"/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5EF0E648-F26E-9ADE-0992-4C331590DA88}"/>
              </a:ext>
            </a:extLst>
          </p:cNvPr>
          <p:cNvSpPr/>
          <p:nvPr/>
        </p:nvSpPr>
        <p:spPr>
          <a:xfrm rot="21600000">
            <a:off x="781045" y="4488786"/>
            <a:ext cx="211614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计算机视觉</a:t>
            </a:r>
            <a:endParaRPr lang="en-US" sz="2800" dirty="0"/>
          </a:p>
        </p:txBody>
      </p:sp>
      <p:pic>
        <p:nvPicPr>
          <p:cNvPr id="69" name="Image 3" descr="preencoded.png">
            <a:extLst>
              <a:ext uri="{FF2B5EF4-FFF2-40B4-BE49-F238E27FC236}">
                <a16:creationId xmlns:a16="http://schemas.microsoft.com/office/drawing/2014/main" id="{A9B7F35B-F4A9-6F57-D8C7-8D066F2C8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792406">
            <a:off x="8002610" y="5494798"/>
            <a:ext cx="1499616" cy="100584"/>
          </a:xfrm>
          <a:prstGeom prst="rect">
            <a:avLst/>
          </a:prstGeom>
        </p:spPr>
      </p:pic>
      <p:sp>
        <p:nvSpPr>
          <p:cNvPr id="70" name="Text 6">
            <a:extLst>
              <a:ext uri="{FF2B5EF4-FFF2-40B4-BE49-F238E27FC236}">
                <a16:creationId xmlns:a16="http://schemas.microsoft.com/office/drawing/2014/main" id="{C3EB5E6B-290A-C060-D0EA-ECA31EE29BB1}"/>
              </a:ext>
            </a:extLst>
          </p:cNvPr>
          <p:cNvSpPr/>
          <p:nvPr/>
        </p:nvSpPr>
        <p:spPr>
          <a:xfrm rot="21600000">
            <a:off x="9130545" y="5538173"/>
            <a:ext cx="3077029" cy="1026633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学术领域占比68%，提供TorchScript实现工业级部署。</a:t>
            </a:r>
            <a:endParaRPr lang="en-US" sz="20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46333CEF-7622-CE50-6136-749274CB485D}"/>
              </a:ext>
            </a:extLst>
          </p:cNvPr>
          <p:cNvSpPr/>
          <p:nvPr/>
        </p:nvSpPr>
        <p:spPr>
          <a:xfrm rot="21600000">
            <a:off x="9464271" y="4765864"/>
            <a:ext cx="2032103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科研原型</a:t>
            </a:r>
            <a:endParaRPr lang="en-US" sz="2800" dirty="0"/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02CAFAD7-9FD1-D227-86B2-72C0AA680E5F}"/>
              </a:ext>
            </a:extLst>
          </p:cNvPr>
          <p:cNvSpPr/>
          <p:nvPr/>
        </p:nvSpPr>
        <p:spPr>
          <a:xfrm rot="21600000">
            <a:off x="1935940" y="2716907"/>
            <a:ext cx="3765913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Transformers架构原生支持，BERT模型训练效率提升35%。</a:t>
            </a:r>
            <a:endParaRPr lang="en-US" sz="2000" dirty="0"/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9768451B-6488-1134-2DBC-672A0D311F12}"/>
              </a:ext>
            </a:extLst>
          </p:cNvPr>
          <p:cNvSpPr/>
          <p:nvPr/>
        </p:nvSpPr>
        <p:spPr>
          <a:xfrm rot="21600000">
            <a:off x="3119167" y="2223256"/>
            <a:ext cx="2356649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自然语言处理</a:t>
            </a:r>
            <a:endParaRPr lang="en-US" sz="2800" dirty="0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ED5829A5-D52F-4994-3396-42D18C1290D8}"/>
              </a:ext>
            </a:extLst>
          </p:cNvPr>
          <p:cNvSpPr/>
          <p:nvPr/>
        </p:nvSpPr>
        <p:spPr>
          <a:xfrm rot="21600000">
            <a:off x="7940605" y="3105318"/>
            <a:ext cx="3474573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配合Gym环境实现DQN算法，支持实时策略梯度更新。</a:t>
            </a:r>
            <a:endParaRPr lang="en-US" sz="2000" dirty="0"/>
          </a:p>
        </p:txBody>
      </p:sp>
      <p:sp>
        <p:nvSpPr>
          <p:cNvPr id="75" name="Text 9">
            <a:extLst>
              <a:ext uri="{FF2B5EF4-FFF2-40B4-BE49-F238E27FC236}">
                <a16:creationId xmlns:a16="http://schemas.microsoft.com/office/drawing/2014/main" id="{CCECC6D9-30B5-5390-AF2F-A414A831AD08}"/>
              </a:ext>
            </a:extLst>
          </p:cNvPr>
          <p:cNvSpPr/>
          <p:nvPr/>
        </p:nvSpPr>
        <p:spPr>
          <a:xfrm rot="21600000">
            <a:off x="7907679" y="2602890"/>
            <a:ext cx="3227832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强化学习</a:t>
            </a:r>
            <a:endParaRPr lang="en-US" sz="2800" dirty="0"/>
          </a:p>
        </p:txBody>
      </p:sp>
      <p:pic>
        <p:nvPicPr>
          <p:cNvPr id="77" name="Image 3" descr="preencoded.png">
            <a:extLst>
              <a:ext uri="{FF2B5EF4-FFF2-40B4-BE49-F238E27FC236}">
                <a16:creationId xmlns:a16="http://schemas.microsoft.com/office/drawing/2014/main" id="{33A7EF8D-CECD-5918-4719-AD02C5A5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01753" y="3375849"/>
            <a:ext cx="1499616" cy="100584"/>
          </a:xfrm>
          <a:prstGeom prst="rect">
            <a:avLst/>
          </a:prstGeom>
        </p:spPr>
      </p:pic>
      <p:pic>
        <p:nvPicPr>
          <p:cNvPr id="78" name="Image 3" descr="preencoded.png">
            <a:extLst>
              <a:ext uri="{FF2B5EF4-FFF2-40B4-BE49-F238E27FC236}">
                <a16:creationId xmlns:a16="http://schemas.microsoft.com/office/drawing/2014/main" id="{AADD008B-E37F-D484-F4D7-751526A51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901491" y="3769496"/>
            <a:ext cx="1499616" cy="100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20"/>
    </mc:Choice>
    <mc:Fallback xmlns="">
      <p:transition spd="slow" advTm="2622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93073" y="2944405"/>
            <a:ext cx="6906992" cy="720000"/>
            <a:chOff x="5367559" y="2929837"/>
            <a:chExt cx="6906992" cy="720000"/>
          </a:xfrm>
        </p:grpSpPr>
        <p:sp>
          <p:nvSpPr>
            <p:cNvPr id="3" name="文本框 2"/>
            <p:cNvSpPr txBox="1"/>
            <p:nvPr/>
          </p:nvSpPr>
          <p:spPr>
            <a:xfrm>
              <a:off x="6146704" y="2981907"/>
              <a:ext cx="5282565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</a:rPr>
                <a:t>第二部分  </a:t>
              </a:r>
              <a:r>
                <a:rPr lang="zh-CN" altLang="en-US" sz="3600" b="1" kern="0" dirty="0">
                  <a:solidFill>
                    <a:srgbClr val="17406D"/>
                  </a:solidFill>
                  <a:latin typeface="Calibri" panose="020F0502020204030204"/>
                  <a:ea typeface="微软雅黑" panose="020B0503020204020204" charset="-122"/>
                </a:rPr>
                <a:t>环境配置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  <p:sp>
          <p:nvSpPr>
            <p:cNvPr id="5" name="矩形 4"/>
            <p:cNvSpPr/>
            <p:nvPr/>
          </p:nvSpPr>
          <p:spPr>
            <a:xfrm flipV="1">
              <a:off x="8202969" y="3581596"/>
              <a:ext cx="4071582" cy="45719"/>
            </a:xfrm>
            <a:prstGeom prst="rect">
              <a:avLst/>
            </a:prstGeom>
            <a:solidFill>
              <a:srgbClr val="0F6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1731870" y="2870110"/>
            <a:ext cx="1523573" cy="1718780"/>
          </a:xfrm>
          <a:custGeom>
            <a:avLst/>
            <a:gdLst>
              <a:gd name="T0" fmla="*/ 870 w 1809"/>
              <a:gd name="T1" fmla="*/ 879 h 2152"/>
              <a:gd name="T2" fmla="*/ 870 w 1809"/>
              <a:gd name="T3" fmla="*/ 2152 h 2152"/>
              <a:gd name="T4" fmla="*/ 1809 w 1809"/>
              <a:gd name="T5" fmla="*/ 1820 h 2152"/>
              <a:gd name="T6" fmla="*/ 1809 w 1809"/>
              <a:gd name="T7" fmla="*/ 547 h 2152"/>
              <a:gd name="T8" fmla="*/ 870 w 1809"/>
              <a:gd name="T9" fmla="*/ 879 h 2152"/>
              <a:gd name="T10" fmla="*/ 785 w 1809"/>
              <a:gd name="T11" fmla="*/ 961 h 2152"/>
              <a:gd name="T12" fmla="*/ 785 w 1809"/>
              <a:gd name="T13" fmla="*/ 1138 h 2152"/>
              <a:gd name="T14" fmla="*/ 613 w 1809"/>
              <a:gd name="T15" fmla="*/ 1053 h 2152"/>
              <a:gd name="T16" fmla="*/ 613 w 1809"/>
              <a:gd name="T17" fmla="*/ 864 h 2152"/>
              <a:gd name="T18" fmla="*/ 785 w 1809"/>
              <a:gd name="T19" fmla="*/ 961 h 2152"/>
              <a:gd name="T20" fmla="*/ 1555 w 1809"/>
              <a:gd name="T21" fmla="*/ 410 h 2152"/>
              <a:gd name="T22" fmla="*/ 1507 w 1809"/>
              <a:gd name="T23" fmla="*/ 386 h 2152"/>
              <a:gd name="T24" fmla="*/ 602 w 1809"/>
              <a:gd name="T25" fmla="*/ 700 h 2152"/>
              <a:gd name="T26" fmla="*/ 576 w 1809"/>
              <a:gd name="T27" fmla="*/ 724 h 2152"/>
              <a:gd name="T28" fmla="*/ 576 w 1809"/>
              <a:gd name="T29" fmla="*/ 2017 h 2152"/>
              <a:gd name="T30" fmla="*/ 822 w 1809"/>
              <a:gd name="T31" fmla="*/ 2149 h 2152"/>
              <a:gd name="T32" fmla="*/ 822 w 1809"/>
              <a:gd name="T33" fmla="*/ 879 h 2152"/>
              <a:gd name="T34" fmla="*/ 622 w 1809"/>
              <a:gd name="T35" fmla="*/ 772 h 2152"/>
              <a:gd name="T36" fmla="*/ 625 w 1809"/>
              <a:gd name="T37" fmla="*/ 772 h 2152"/>
              <a:gd name="T38" fmla="*/ 1531 w 1809"/>
              <a:gd name="T39" fmla="*/ 457 h 2152"/>
              <a:gd name="T40" fmla="*/ 1555 w 1809"/>
              <a:gd name="T41" fmla="*/ 410 h 2152"/>
              <a:gd name="T42" fmla="*/ 209 w 1809"/>
              <a:gd name="T43" fmla="*/ 581 h 2152"/>
              <a:gd name="T44" fmla="*/ 209 w 1809"/>
              <a:gd name="T45" fmla="*/ 758 h 2152"/>
              <a:gd name="T46" fmla="*/ 37 w 1809"/>
              <a:gd name="T47" fmla="*/ 673 h 2152"/>
              <a:gd name="T48" fmla="*/ 37 w 1809"/>
              <a:gd name="T49" fmla="*/ 484 h 2152"/>
              <a:gd name="T50" fmla="*/ 209 w 1809"/>
              <a:gd name="T51" fmla="*/ 581 h 2152"/>
              <a:gd name="T52" fmla="*/ 978 w 1809"/>
              <a:gd name="T53" fmla="*/ 30 h 2152"/>
              <a:gd name="T54" fmla="*/ 931 w 1809"/>
              <a:gd name="T55" fmla="*/ 6 h 2152"/>
              <a:gd name="T56" fmla="*/ 25 w 1809"/>
              <a:gd name="T57" fmla="*/ 321 h 2152"/>
              <a:gd name="T58" fmla="*/ 0 w 1809"/>
              <a:gd name="T59" fmla="*/ 344 h 2152"/>
              <a:gd name="T60" fmla="*/ 0 w 1809"/>
              <a:gd name="T61" fmla="*/ 1638 h 2152"/>
              <a:gd name="T62" fmla="*/ 246 w 1809"/>
              <a:gd name="T63" fmla="*/ 1770 h 2152"/>
              <a:gd name="T64" fmla="*/ 246 w 1809"/>
              <a:gd name="T65" fmla="*/ 500 h 2152"/>
              <a:gd name="T66" fmla="*/ 46 w 1809"/>
              <a:gd name="T67" fmla="*/ 393 h 2152"/>
              <a:gd name="T68" fmla="*/ 49 w 1809"/>
              <a:gd name="T69" fmla="*/ 392 h 2152"/>
              <a:gd name="T70" fmla="*/ 954 w 1809"/>
              <a:gd name="T71" fmla="*/ 77 h 2152"/>
              <a:gd name="T72" fmla="*/ 978 w 1809"/>
              <a:gd name="T73" fmla="*/ 30 h 2152"/>
              <a:gd name="T74" fmla="*/ 497 w 1809"/>
              <a:gd name="T75" fmla="*/ 781 h 2152"/>
              <a:gd name="T76" fmla="*/ 497 w 1809"/>
              <a:gd name="T77" fmla="*/ 958 h 2152"/>
              <a:gd name="T78" fmla="*/ 325 w 1809"/>
              <a:gd name="T79" fmla="*/ 873 h 2152"/>
              <a:gd name="T80" fmla="*/ 325 w 1809"/>
              <a:gd name="T81" fmla="*/ 684 h 2152"/>
              <a:gd name="T82" fmla="*/ 497 w 1809"/>
              <a:gd name="T83" fmla="*/ 781 h 2152"/>
              <a:gd name="T84" fmla="*/ 1266 w 1809"/>
              <a:gd name="T85" fmla="*/ 230 h 2152"/>
              <a:gd name="T86" fmla="*/ 1219 w 1809"/>
              <a:gd name="T87" fmla="*/ 206 h 2152"/>
              <a:gd name="T88" fmla="*/ 313 w 1809"/>
              <a:gd name="T89" fmla="*/ 520 h 2152"/>
              <a:gd name="T90" fmla="*/ 288 w 1809"/>
              <a:gd name="T91" fmla="*/ 544 h 2152"/>
              <a:gd name="T92" fmla="*/ 288 w 1809"/>
              <a:gd name="T93" fmla="*/ 1837 h 2152"/>
              <a:gd name="T94" fmla="*/ 534 w 1809"/>
              <a:gd name="T95" fmla="*/ 1969 h 2152"/>
              <a:gd name="T96" fmla="*/ 534 w 1809"/>
              <a:gd name="T97" fmla="*/ 699 h 2152"/>
              <a:gd name="T98" fmla="*/ 334 w 1809"/>
              <a:gd name="T99" fmla="*/ 592 h 2152"/>
              <a:gd name="T100" fmla="*/ 337 w 1809"/>
              <a:gd name="T101" fmla="*/ 592 h 2152"/>
              <a:gd name="T102" fmla="*/ 1243 w 1809"/>
              <a:gd name="T103" fmla="*/ 277 h 2152"/>
              <a:gd name="T104" fmla="*/ 1266 w 1809"/>
              <a:gd name="T105" fmla="*/ 230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809" h="2152">
                <a:moveTo>
                  <a:pt x="870" y="879"/>
                </a:moveTo>
                <a:lnTo>
                  <a:pt x="870" y="2152"/>
                </a:lnTo>
                <a:lnTo>
                  <a:pt x="1809" y="1820"/>
                </a:lnTo>
                <a:lnTo>
                  <a:pt x="1809" y="547"/>
                </a:lnTo>
                <a:lnTo>
                  <a:pt x="870" y="879"/>
                </a:lnTo>
                <a:close/>
                <a:moveTo>
                  <a:pt x="785" y="961"/>
                </a:moveTo>
                <a:lnTo>
                  <a:pt x="785" y="1138"/>
                </a:lnTo>
                <a:cubicBezTo>
                  <a:pt x="699" y="1121"/>
                  <a:pt x="613" y="1053"/>
                  <a:pt x="613" y="1053"/>
                </a:cubicBezTo>
                <a:lnTo>
                  <a:pt x="613" y="864"/>
                </a:lnTo>
                <a:cubicBezTo>
                  <a:pt x="719" y="950"/>
                  <a:pt x="785" y="961"/>
                  <a:pt x="785" y="961"/>
                </a:cubicBezTo>
                <a:close/>
                <a:moveTo>
                  <a:pt x="1555" y="410"/>
                </a:moveTo>
                <a:cubicBezTo>
                  <a:pt x="1548" y="390"/>
                  <a:pt x="1527" y="379"/>
                  <a:pt x="1507" y="386"/>
                </a:cubicBezTo>
                <a:lnTo>
                  <a:pt x="602" y="700"/>
                </a:lnTo>
                <a:cubicBezTo>
                  <a:pt x="590" y="704"/>
                  <a:pt x="580" y="713"/>
                  <a:pt x="576" y="724"/>
                </a:cubicBezTo>
                <a:lnTo>
                  <a:pt x="576" y="2017"/>
                </a:lnTo>
                <a:cubicBezTo>
                  <a:pt x="608" y="2080"/>
                  <a:pt x="741" y="2149"/>
                  <a:pt x="822" y="2149"/>
                </a:cubicBezTo>
                <a:lnTo>
                  <a:pt x="822" y="879"/>
                </a:lnTo>
                <a:cubicBezTo>
                  <a:pt x="779" y="873"/>
                  <a:pt x="682" y="822"/>
                  <a:pt x="622" y="772"/>
                </a:cubicBezTo>
                <a:cubicBezTo>
                  <a:pt x="623" y="772"/>
                  <a:pt x="624" y="772"/>
                  <a:pt x="625" y="772"/>
                </a:cubicBezTo>
                <a:lnTo>
                  <a:pt x="1531" y="457"/>
                </a:lnTo>
                <a:cubicBezTo>
                  <a:pt x="1550" y="450"/>
                  <a:pt x="1561" y="429"/>
                  <a:pt x="1555" y="410"/>
                </a:cubicBezTo>
                <a:close/>
                <a:moveTo>
                  <a:pt x="209" y="581"/>
                </a:moveTo>
                <a:lnTo>
                  <a:pt x="209" y="758"/>
                </a:lnTo>
                <a:cubicBezTo>
                  <a:pt x="123" y="742"/>
                  <a:pt x="37" y="673"/>
                  <a:pt x="37" y="673"/>
                </a:cubicBezTo>
                <a:lnTo>
                  <a:pt x="37" y="484"/>
                </a:lnTo>
                <a:cubicBezTo>
                  <a:pt x="143" y="570"/>
                  <a:pt x="209" y="581"/>
                  <a:pt x="209" y="581"/>
                </a:cubicBezTo>
                <a:close/>
                <a:moveTo>
                  <a:pt x="978" y="30"/>
                </a:moveTo>
                <a:cubicBezTo>
                  <a:pt x="972" y="11"/>
                  <a:pt x="951" y="0"/>
                  <a:pt x="931" y="6"/>
                </a:cubicBezTo>
                <a:lnTo>
                  <a:pt x="25" y="321"/>
                </a:lnTo>
                <a:cubicBezTo>
                  <a:pt x="14" y="325"/>
                  <a:pt x="3" y="334"/>
                  <a:pt x="0" y="344"/>
                </a:cubicBezTo>
                <a:lnTo>
                  <a:pt x="0" y="1638"/>
                </a:lnTo>
                <a:cubicBezTo>
                  <a:pt x="32" y="1700"/>
                  <a:pt x="165" y="1770"/>
                  <a:pt x="246" y="1770"/>
                </a:cubicBezTo>
                <a:lnTo>
                  <a:pt x="246" y="500"/>
                </a:lnTo>
                <a:cubicBezTo>
                  <a:pt x="203" y="493"/>
                  <a:pt x="106" y="443"/>
                  <a:pt x="46" y="393"/>
                </a:cubicBezTo>
                <a:cubicBezTo>
                  <a:pt x="47" y="393"/>
                  <a:pt x="48" y="392"/>
                  <a:pt x="49" y="392"/>
                </a:cubicBezTo>
                <a:lnTo>
                  <a:pt x="954" y="77"/>
                </a:lnTo>
                <a:cubicBezTo>
                  <a:pt x="974" y="71"/>
                  <a:pt x="985" y="50"/>
                  <a:pt x="978" y="30"/>
                </a:cubicBezTo>
                <a:close/>
                <a:moveTo>
                  <a:pt x="497" y="781"/>
                </a:moveTo>
                <a:lnTo>
                  <a:pt x="497" y="958"/>
                </a:lnTo>
                <a:cubicBezTo>
                  <a:pt x="411" y="941"/>
                  <a:pt x="325" y="873"/>
                  <a:pt x="325" y="873"/>
                </a:cubicBezTo>
                <a:lnTo>
                  <a:pt x="325" y="684"/>
                </a:lnTo>
                <a:cubicBezTo>
                  <a:pt x="431" y="770"/>
                  <a:pt x="497" y="781"/>
                  <a:pt x="497" y="781"/>
                </a:cubicBezTo>
                <a:close/>
                <a:moveTo>
                  <a:pt x="1266" y="230"/>
                </a:moveTo>
                <a:cubicBezTo>
                  <a:pt x="1260" y="210"/>
                  <a:pt x="1239" y="199"/>
                  <a:pt x="1219" y="206"/>
                </a:cubicBezTo>
                <a:lnTo>
                  <a:pt x="313" y="520"/>
                </a:lnTo>
                <a:cubicBezTo>
                  <a:pt x="302" y="524"/>
                  <a:pt x="291" y="533"/>
                  <a:pt x="288" y="544"/>
                </a:cubicBezTo>
                <a:lnTo>
                  <a:pt x="288" y="1837"/>
                </a:lnTo>
                <a:cubicBezTo>
                  <a:pt x="320" y="1900"/>
                  <a:pt x="453" y="1969"/>
                  <a:pt x="534" y="1969"/>
                </a:cubicBezTo>
                <a:lnTo>
                  <a:pt x="534" y="699"/>
                </a:lnTo>
                <a:cubicBezTo>
                  <a:pt x="491" y="693"/>
                  <a:pt x="394" y="642"/>
                  <a:pt x="334" y="592"/>
                </a:cubicBezTo>
                <a:cubicBezTo>
                  <a:pt x="335" y="592"/>
                  <a:pt x="336" y="592"/>
                  <a:pt x="337" y="592"/>
                </a:cubicBezTo>
                <a:lnTo>
                  <a:pt x="1243" y="277"/>
                </a:lnTo>
                <a:cubicBezTo>
                  <a:pt x="1262" y="270"/>
                  <a:pt x="1273" y="249"/>
                  <a:pt x="1266" y="23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2"/>
    </mc:Choice>
    <mc:Fallback xmlns="">
      <p:transition spd="slow" advTm="102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AC003A-A210-5A82-A6A0-007C45307FF1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  <a:cs typeface="NotoSansSC-Bold" pitchFamily="34" charset="-120"/>
              </a:rPr>
              <a:t>安装流程详解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5429368A-F681-E8F9-9555-280C04613B97}"/>
              </a:ext>
            </a:extLst>
          </p:cNvPr>
          <p:cNvSpPr/>
          <p:nvPr/>
        </p:nvSpPr>
        <p:spPr>
          <a:xfrm rot="21600000">
            <a:off x="193877" y="1887128"/>
            <a:ext cx="3875314" cy="2309587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确认系统满足Python≥3.7且具备NVIDIA驱动支持，推荐使用Anaconda管理依赖环境避免冲突。</a:t>
            </a:r>
            <a:endParaRPr lang="en-US" sz="2000" dirty="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05965A1C-2DDE-EB16-7E49-49DD306AFB0F}"/>
              </a:ext>
            </a:extLst>
          </p:cNvPr>
          <p:cNvSpPr/>
          <p:nvPr/>
        </p:nvSpPr>
        <p:spPr>
          <a:xfrm rot="21600000">
            <a:off x="193877" y="1361640"/>
            <a:ext cx="1842589" cy="495227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环境预检</a:t>
            </a:r>
            <a:endParaRPr lang="en-US" sz="2800" dirty="0"/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701E345C-E451-8E3D-0ED8-E1E4BDAD39D6}"/>
              </a:ext>
            </a:extLst>
          </p:cNvPr>
          <p:cNvSpPr/>
          <p:nvPr/>
        </p:nvSpPr>
        <p:spPr>
          <a:xfrm rot="21600000">
            <a:off x="4330449" y="1757115"/>
            <a:ext cx="3614057" cy="256961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访问PyTorch官网生成对应CUDA版本或CPU版安装命令，如pip install torch torchvision torchaudio。</a:t>
            </a:r>
            <a:endParaRPr lang="en-US" sz="2000" dirty="0"/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DC4BA2BD-5285-D747-6FAA-18466029FF3F}"/>
              </a:ext>
            </a:extLst>
          </p:cNvPr>
          <p:cNvSpPr/>
          <p:nvPr/>
        </p:nvSpPr>
        <p:spPr>
          <a:xfrm rot="21600000">
            <a:off x="4330449" y="1292767"/>
            <a:ext cx="3227832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命令选择</a:t>
            </a:r>
            <a:endParaRPr lang="en-US" sz="280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074AA9FB-DAE0-22EF-8CA5-71AF1495ECB9}"/>
              </a:ext>
            </a:extLst>
          </p:cNvPr>
          <p:cNvSpPr/>
          <p:nvPr/>
        </p:nvSpPr>
        <p:spPr>
          <a:xfrm rot="21600000">
            <a:off x="8205763" y="1916085"/>
            <a:ext cx="3744685" cy="2569613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安装后执行import torch和print（torch.__version__）</a:t>
            </a:r>
          </a:p>
          <a:p>
            <a:pPr marL="0" indent="0" algn="l">
              <a:lnSpc>
                <a:spcPts val="4472"/>
              </a:lnSpc>
              <a:buNone/>
            </a:pPr>
            <a:r>
              <a:rPr lang="en-US" sz="2000" dirty="0" err="1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验证核心库加载，通过torch.cuda.is_available</a:t>
            </a: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（）检测GPU支持状态。</a:t>
            </a:r>
            <a:endParaRPr lang="en-US" sz="2000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9E255857-568E-FC0F-975F-955D58660C77}"/>
              </a:ext>
            </a:extLst>
          </p:cNvPr>
          <p:cNvSpPr/>
          <p:nvPr/>
        </p:nvSpPr>
        <p:spPr>
          <a:xfrm rot="21600000">
            <a:off x="8205763" y="1321725"/>
            <a:ext cx="184331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依赖验证</a:t>
            </a:r>
            <a:endParaRPr lang="en-US" sz="28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D7BCCFB0-56AA-092C-C789-AF070776B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0321" y="4709771"/>
            <a:ext cx="2814917" cy="1042416"/>
          </a:xfrm>
          <a:prstGeom prst="rect">
            <a:avLst/>
          </a:prstGeom>
        </p:spPr>
      </p:pic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F65FED19-E745-384F-66F7-72C6E8F04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75698" y="4724048"/>
            <a:ext cx="2942445" cy="1042416"/>
          </a:xfrm>
          <a:prstGeom prst="rect">
            <a:avLst/>
          </a:prstGeom>
        </p:spPr>
      </p:pic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B29B4B81-C798-2631-8A73-CAFE5D10B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69166" y="4724048"/>
            <a:ext cx="2844703" cy="1042416"/>
          </a:xfrm>
          <a:prstGeom prst="rect">
            <a:avLst/>
          </a:prstGeom>
        </p:spPr>
      </p:pic>
      <p:sp>
        <p:nvSpPr>
          <p:cNvPr id="26" name="Text 11">
            <a:extLst>
              <a:ext uri="{FF2B5EF4-FFF2-40B4-BE49-F238E27FC236}">
                <a16:creationId xmlns:a16="http://schemas.microsoft.com/office/drawing/2014/main" id="{ED37FFFF-D2B7-728D-1C9C-86150CEAF15A}"/>
              </a:ext>
            </a:extLst>
          </p:cNvPr>
          <p:cNvSpPr/>
          <p:nvPr/>
        </p:nvSpPr>
        <p:spPr>
          <a:xfrm rot="21600000">
            <a:off x="673336" y="5133208"/>
            <a:ext cx="1819656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环境检测</a:t>
            </a:r>
            <a:endParaRPr lang="en-US" sz="24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AD0B500E-87F6-D414-D04D-B790A6E8591B}"/>
              </a:ext>
            </a:extLst>
          </p:cNvPr>
          <p:cNvSpPr/>
          <p:nvPr/>
        </p:nvSpPr>
        <p:spPr>
          <a:xfrm rot="21600000">
            <a:off x="3486463" y="5124175"/>
            <a:ext cx="1819656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版本选择</a:t>
            </a:r>
            <a:endParaRPr lang="en-US" sz="24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B5FEDC2D-95B3-8752-970F-08887DBDAA18}"/>
              </a:ext>
            </a:extLst>
          </p:cNvPr>
          <p:cNvSpPr/>
          <p:nvPr/>
        </p:nvSpPr>
        <p:spPr>
          <a:xfrm rot="21600000">
            <a:off x="6460479" y="5057734"/>
            <a:ext cx="1819656" cy="37504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核心安装</a:t>
            </a:r>
            <a:endParaRPr lang="en-US" sz="2400" dirty="0"/>
          </a:p>
        </p:txBody>
      </p:sp>
      <p:pic>
        <p:nvPicPr>
          <p:cNvPr id="29" name="Image 6" descr="preencoded.png">
            <a:extLst>
              <a:ext uri="{FF2B5EF4-FFF2-40B4-BE49-F238E27FC236}">
                <a16:creationId xmlns:a16="http://schemas.microsoft.com/office/drawing/2014/main" id="{7AF492D9-8CF7-D906-1FFE-3D60E6DE5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12684" y="4701273"/>
            <a:ext cx="2865226" cy="1042416"/>
          </a:xfrm>
          <a:prstGeom prst="rect">
            <a:avLst/>
          </a:prstGeom>
        </p:spPr>
      </p:pic>
      <p:sp>
        <p:nvSpPr>
          <p:cNvPr id="30" name="Text 14">
            <a:extLst>
              <a:ext uri="{FF2B5EF4-FFF2-40B4-BE49-F238E27FC236}">
                <a16:creationId xmlns:a16="http://schemas.microsoft.com/office/drawing/2014/main" id="{E5566562-99D9-529F-C9AB-97AA90466C46}"/>
              </a:ext>
            </a:extLst>
          </p:cNvPr>
          <p:cNvSpPr/>
          <p:nvPr/>
        </p:nvSpPr>
        <p:spPr>
          <a:xfrm rot="21600000">
            <a:off x="9495654" y="5056732"/>
            <a:ext cx="1819656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安装验证</a:t>
            </a:r>
            <a:endParaRPr lang="en-US" sz="22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183C4A82-686A-25C6-834F-4EEE55AD1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-861829" y="5707625"/>
            <a:ext cx="2039283" cy="72129"/>
          </a:xfrm>
          <a:prstGeom prst="rect">
            <a:avLst/>
          </a:prstGeom>
        </p:spPr>
      </p:pic>
      <p:pic>
        <p:nvPicPr>
          <p:cNvPr id="32" name="Image 8" descr="preencoded.png">
            <a:extLst>
              <a:ext uri="{FF2B5EF4-FFF2-40B4-BE49-F238E27FC236}">
                <a16:creationId xmlns:a16="http://schemas.microsoft.com/office/drawing/2014/main" id="{A98CBB73-6AFB-5ACF-C061-8E8D1439D5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058433" y="5694058"/>
            <a:ext cx="2011156" cy="71134"/>
          </a:xfrm>
          <a:prstGeom prst="rect">
            <a:avLst/>
          </a:prstGeom>
        </p:spPr>
      </p:pic>
      <p:pic>
        <p:nvPicPr>
          <p:cNvPr id="33" name="Image 9" descr="preencoded.png">
            <a:extLst>
              <a:ext uri="{FF2B5EF4-FFF2-40B4-BE49-F238E27FC236}">
                <a16:creationId xmlns:a16="http://schemas.microsoft.com/office/drawing/2014/main" id="{9CDC7961-A955-58FD-830C-1EB8367B80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 flipV="1">
            <a:off x="5074119" y="5722185"/>
            <a:ext cx="2011157" cy="71134"/>
          </a:xfrm>
          <a:prstGeom prst="rect">
            <a:avLst/>
          </a:prstGeom>
        </p:spPr>
      </p:pic>
      <p:pic>
        <p:nvPicPr>
          <p:cNvPr id="34" name="Image 10" descr="preencoded.png">
            <a:extLst>
              <a:ext uri="{FF2B5EF4-FFF2-40B4-BE49-F238E27FC236}">
                <a16:creationId xmlns:a16="http://schemas.microsoft.com/office/drawing/2014/main" id="{268095B9-53B5-68C4-E538-94F36FABAB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8012172" y="5674639"/>
            <a:ext cx="2011158" cy="71134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20CE30F3-CB87-64D6-05CE-13F56ACA7DDA}"/>
              </a:ext>
            </a:extLst>
          </p:cNvPr>
          <p:cNvSpPr/>
          <p:nvPr/>
        </p:nvSpPr>
        <p:spPr>
          <a:xfrm rot="21600000">
            <a:off x="603535" y="5927487"/>
            <a:ext cx="1819656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环境预检</a:t>
            </a:r>
            <a:endParaRPr lang="en-US" sz="22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CEA07688-4AF4-8238-3A47-C99E48E3AA3C}"/>
              </a:ext>
            </a:extLst>
          </p:cNvPr>
          <p:cNvSpPr/>
          <p:nvPr/>
        </p:nvSpPr>
        <p:spPr>
          <a:xfrm rot="21600000">
            <a:off x="230572" y="6293937"/>
            <a:ext cx="2626725" cy="62011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检查Python版本与驱动支持</a:t>
            </a:r>
            <a:endParaRPr lang="en-US" sz="18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ED7BBFE3-1AA9-B811-6DE1-4B80B3F63FCF}"/>
              </a:ext>
            </a:extLst>
          </p:cNvPr>
          <p:cNvSpPr/>
          <p:nvPr/>
        </p:nvSpPr>
        <p:spPr>
          <a:xfrm rot="21600000">
            <a:off x="3535130" y="5926804"/>
            <a:ext cx="1819656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安装配置</a:t>
            </a:r>
            <a:endParaRPr lang="en-US" sz="22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37DFDA61-3CDF-65B9-CD7D-043C503178F3}"/>
              </a:ext>
            </a:extLst>
          </p:cNvPr>
          <p:cNvSpPr/>
          <p:nvPr/>
        </p:nvSpPr>
        <p:spPr>
          <a:xfrm rot="21600000">
            <a:off x="2992015" y="6265132"/>
            <a:ext cx="2905180" cy="51137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选择CPU/GPU版安装命令</a:t>
            </a:r>
            <a:endParaRPr lang="en-US" sz="18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2FF80BD4-6228-891C-372D-4EEA91A56DFA}"/>
              </a:ext>
            </a:extLst>
          </p:cNvPr>
          <p:cNvSpPr/>
          <p:nvPr/>
        </p:nvSpPr>
        <p:spPr>
          <a:xfrm rot="21600000">
            <a:off x="6466508" y="5955608"/>
            <a:ext cx="1819656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执行安装</a:t>
            </a:r>
            <a:endParaRPr lang="en-US" sz="22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FAE79599-F1DF-0A90-8B70-8DC7B3E088AF}"/>
              </a:ext>
            </a:extLst>
          </p:cNvPr>
          <p:cNvSpPr/>
          <p:nvPr/>
        </p:nvSpPr>
        <p:spPr>
          <a:xfrm rot="21600000">
            <a:off x="5869100" y="6265132"/>
            <a:ext cx="3090672" cy="51137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运行pip/conda安装命令</a:t>
            </a:r>
            <a:endParaRPr lang="en-US" sz="1800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78F77908-89EC-A3A0-EC7D-7D43E3487F89}"/>
              </a:ext>
            </a:extLst>
          </p:cNvPr>
          <p:cNvSpPr/>
          <p:nvPr/>
        </p:nvSpPr>
        <p:spPr>
          <a:xfrm rot="21600000">
            <a:off x="9632648" y="5875326"/>
            <a:ext cx="1819656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结果验证</a:t>
            </a:r>
            <a:endParaRPr lang="en-US" sz="2200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0BAC5D15-3E61-E830-A6C6-46174E54254D}"/>
              </a:ext>
            </a:extLst>
          </p:cNvPr>
          <p:cNvSpPr/>
          <p:nvPr/>
        </p:nvSpPr>
        <p:spPr>
          <a:xfrm rot="21600000">
            <a:off x="9001712" y="6120878"/>
            <a:ext cx="3090672" cy="59097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测试库加载与硬件支持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12"/>
    </mc:Choice>
    <mc:Fallback xmlns="">
      <p:transition spd="slow" advTm="4091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71B424E9-26F0-238D-C46D-C84466F67D21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开发环境搭建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3C5182A-89F5-D39A-2D1E-66EF1CE145BE}"/>
              </a:ext>
            </a:extLst>
          </p:cNvPr>
          <p:cNvSpPr/>
          <p:nvPr/>
        </p:nvSpPr>
        <p:spPr>
          <a:xfrm rot="21600000">
            <a:off x="0" y="4670554"/>
            <a:ext cx="3771900" cy="1719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在VS Code中安装Python扩展和Jupyter插件，设置虚拟环境解释器路径支持交互式调试。</a:t>
            </a:r>
            <a:endParaRPr lang="en-US" sz="20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4BBE89CC-C95C-D7FC-DED0-AC0479609A4D}"/>
              </a:ext>
            </a:extLst>
          </p:cNvPr>
          <p:cNvSpPr/>
          <p:nvPr/>
        </p:nvSpPr>
        <p:spPr>
          <a:xfrm rot="21600000">
            <a:off x="968247" y="4102610"/>
            <a:ext cx="155600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IDE配置</a:t>
            </a:r>
            <a:endParaRPr lang="en-US" sz="28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65552B0-7BFC-6F7B-FEE8-5D80B7D679E6}"/>
              </a:ext>
            </a:extLst>
          </p:cNvPr>
          <p:cNvSpPr/>
          <p:nvPr/>
        </p:nvSpPr>
        <p:spPr>
          <a:xfrm rot="21600000">
            <a:off x="3966209" y="4947413"/>
            <a:ext cx="4097528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使用conda create创建独立环境并安装ipykernel，避免与系统Python发生包冲突。</a:t>
            </a:r>
            <a:endParaRPr lang="en-US" sz="20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F4E947E-A724-124D-950F-3D91D4498330}"/>
              </a:ext>
            </a:extLst>
          </p:cNvPr>
          <p:cNvSpPr/>
          <p:nvPr/>
        </p:nvSpPr>
        <p:spPr>
          <a:xfrm rot="21600000">
            <a:off x="4876800" y="4076193"/>
            <a:ext cx="2414016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环境管理</a:t>
            </a:r>
            <a:endParaRPr lang="en-US" sz="28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EB09A16-AE07-B0F3-925B-6CCDBD6651F1}"/>
              </a:ext>
            </a:extLst>
          </p:cNvPr>
          <p:cNvSpPr/>
          <p:nvPr/>
        </p:nvSpPr>
        <p:spPr>
          <a:xfrm rot="21600000">
            <a:off x="8258048" y="4879595"/>
            <a:ext cx="3933952" cy="1300987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集成TensorBoard可视化监控训练过程，配置代码片段模板加速模型开发迭代。</a:t>
            </a:r>
            <a:endParaRPr lang="en-US" sz="2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72F58D7-3D34-E9A0-D881-E12C003C1A81}"/>
              </a:ext>
            </a:extLst>
          </p:cNvPr>
          <p:cNvSpPr/>
          <p:nvPr/>
        </p:nvSpPr>
        <p:spPr>
          <a:xfrm rot="21600000">
            <a:off x="9123426" y="4076193"/>
            <a:ext cx="220319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效率工具</a:t>
            </a:r>
            <a:endParaRPr lang="en-US" sz="280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C6459F63-F458-4C4D-B328-43DED0E7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1306" y="1788673"/>
            <a:ext cx="3711340" cy="2170684"/>
          </a:xfrm>
          <a:prstGeom prst="rect">
            <a:avLst/>
          </a:prstGeom>
        </p:spPr>
      </p:pic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2041E1CF-BB81-5483-9796-B43125630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09839" y="1759742"/>
            <a:ext cx="3810268" cy="2228545"/>
          </a:xfrm>
          <a:prstGeom prst="rect">
            <a:avLst/>
          </a:prstGeom>
        </p:spPr>
      </p:pic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78484B33-9D30-4CFB-4EB3-EA70AEE1A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270426" y="1745658"/>
            <a:ext cx="3810269" cy="2231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34"/>
    </mc:Choice>
    <mc:Fallback xmlns="">
      <p:transition spd="slow" advTm="893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B700BF2-2DE5-EC4A-C2E1-76DE03B9D57A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基础环境验证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459FC6D-117C-F8A6-E0C1-7527431DFBE2}"/>
              </a:ext>
            </a:extLst>
          </p:cNvPr>
          <p:cNvSpPr/>
          <p:nvPr/>
        </p:nvSpPr>
        <p:spPr>
          <a:xfrm rot="21600000">
            <a:off x="2066544" y="2133219"/>
            <a:ext cx="3610356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16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初始化随机张量执行矩阵运算，验证基础数学操作是否正常无报错。</a:t>
            </a:r>
            <a:endParaRPr lang="en-US" sz="16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3596CB4-861B-A9A7-E1B3-944BAFFAA546}"/>
              </a:ext>
            </a:extLst>
          </p:cNvPr>
          <p:cNvSpPr/>
          <p:nvPr/>
        </p:nvSpPr>
        <p:spPr>
          <a:xfrm rot="21600000">
            <a:off x="2066544" y="1579626"/>
            <a:ext cx="2169979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4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核心功能测试</a:t>
            </a:r>
            <a:endParaRPr lang="en-US" sz="2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266E064-27F3-BFF0-CAF6-3D47D18EFD65}"/>
              </a:ext>
            </a:extLst>
          </p:cNvPr>
          <p:cNvSpPr/>
          <p:nvPr/>
        </p:nvSpPr>
        <p:spPr>
          <a:xfrm rot="21600000">
            <a:off x="2066542" y="4481703"/>
            <a:ext cx="3715133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16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执行10000×10000矩阵乘法并计时，对比CPU/GPU耗时差异验证加速效果。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ECDAF7B-D635-F698-572E-9A2A4CDE8875}"/>
              </a:ext>
            </a:extLst>
          </p:cNvPr>
          <p:cNvSpPr/>
          <p:nvPr/>
        </p:nvSpPr>
        <p:spPr>
          <a:xfrm rot="21600000">
            <a:off x="2066541" y="3829813"/>
            <a:ext cx="1661612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4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性能基准</a:t>
            </a:r>
            <a:endParaRPr lang="en-US" sz="24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65BB4228-388C-C8B1-9A8C-1D2A3761D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7858" y="1723264"/>
            <a:ext cx="1562481" cy="1562481"/>
          </a:xfrm>
          <a:prstGeom prst="rect">
            <a:avLst/>
          </a:prstGeom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93DB7687-BD2A-31AD-337B-6D21ACE44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7856" y="3984118"/>
            <a:ext cx="1562483" cy="1567189"/>
          </a:xfrm>
          <a:prstGeom prst="rect">
            <a:avLst/>
          </a:prstGeom>
        </p:spPr>
      </p:pic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1CE74EEF-67DD-66E2-14FA-CC49AA9C5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34728" y="1723264"/>
            <a:ext cx="1567188" cy="1562482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B6D86E81-8C13-90B4-BDC9-5E1C427C6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44527" y="3892162"/>
            <a:ext cx="1562483" cy="156719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186CF01C-9399-98DA-3427-7700394E92D6}"/>
              </a:ext>
            </a:extLst>
          </p:cNvPr>
          <p:cNvSpPr/>
          <p:nvPr/>
        </p:nvSpPr>
        <p:spPr>
          <a:xfrm rot="21600000">
            <a:off x="7955479" y="1639632"/>
            <a:ext cx="1998204" cy="47434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4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CUDA验证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8AC68874-493F-39CD-8AEE-7885372C077C}"/>
              </a:ext>
            </a:extLst>
          </p:cNvPr>
          <p:cNvSpPr/>
          <p:nvPr/>
        </p:nvSpPr>
        <p:spPr>
          <a:xfrm rot="21600000">
            <a:off x="7955479" y="2285429"/>
            <a:ext cx="4236521" cy="838579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16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调用torch.zeros（3）.cuda（）测试GPU显存分配，确认返回设备名称为cuda:0。</a:t>
            </a:r>
            <a:endParaRPr lang="en-US" sz="16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CFF53092-EEBA-1C7C-7E0B-05D47B978A3F}"/>
              </a:ext>
            </a:extLst>
          </p:cNvPr>
          <p:cNvSpPr/>
          <p:nvPr/>
        </p:nvSpPr>
        <p:spPr>
          <a:xfrm rot="21600000">
            <a:off x="8065427" y="4481703"/>
            <a:ext cx="4120064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1600" dirty="0" err="1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构建含requires_grad张量的简单计算图，检查backward</a:t>
            </a:r>
            <a:r>
              <a:rPr lang="en-US" sz="16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（）能否正确生成梯度。</a:t>
            </a:r>
            <a:endParaRPr lang="en-US" sz="16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B85C020-C97E-6285-7B4E-EC751E72B2BC}"/>
              </a:ext>
            </a:extLst>
          </p:cNvPr>
          <p:cNvSpPr/>
          <p:nvPr/>
        </p:nvSpPr>
        <p:spPr>
          <a:xfrm rot="21600000">
            <a:off x="8071937" y="3892162"/>
            <a:ext cx="2053522" cy="482727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4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梯度测试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988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065754-937F-A46B-F9EF-4AF9D55CA660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工具链整合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8589CB66-1EC3-FD5A-3F9A-335F33832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76800" y="1070611"/>
            <a:ext cx="1700783" cy="1700783"/>
          </a:xfrm>
          <a:prstGeom prst="rect">
            <a:avLst/>
          </a:prstGeom>
        </p:spPr>
      </p:pic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2BE21116-CE55-1D0B-D3F4-6F2020E39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11724" y="1591818"/>
            <a:ext cx="658368" cy="658368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CE770441-E372-022B-4FB5-4507BE63E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94325" y="3019044"/>
            <a:ext cx="1700785" cy="1700785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B23B764E-E51A-3BF5-9A7A-B509EB264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07735" y="3555494"/>
            <a:ext cx="512064" cy="658368"/>
          </a:xfrm>
          <a:prstGeom prst="rect">
            <a:avLst/>
          </a:prstGeom>
        </p:spPr>
      </p:pic>
      <p:pic>
        <p:nvPicPr>
          <p:cNvPr id="12" name="Image 9" descr="preencoded.png">
            <a:extLst>
              <a:ext uri="{FF2B5EF4-FFF2-40B4-BE49-F238E27FC236}">
                <a16:creationId xmlns:a16="http://schemas.microsoft.com/office/drawing/2014/main" id="{ED7ABB16-87E7-9A1D-6F5C-9954FEAB94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929759" y="4986528"/>
            <a:ext cx="1700785" cy="1700785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11E9A6C4-68EC-1F89-5868-020CBFEE1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12880" y="5609082"/>
            <a:ext cx="557784" cy="457200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C6D17E06-FE2F-5F5D-9027-AF28C366F2F2}"/>
              </a:ext>
            </a:extLst>
          </p:cNvPr>
          <p:cNvSpPr/>
          <p:nvPr/>
        </p:nvSpPr>
        <p:spPr>
          <a:xfrm rot="21600000">
            <a:off x="8061135" y="1651254"/>
            <a:ext cx="3373375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在Git仓库中配置。env忽略文件，隔离环境变量与硬编码凭据。</a:t>
            </a:r>
            <a:endParaRPr lang="en-US" sz="20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34D46A77-1F1D-7A83-55B3-0A59FCA5B424}"/>
              </a:ext>
            </a:extLst>
          </p:cNvPr>
          <p:cNvSpPr/>
          <p:nvPr/>
        </p:nvSpPr>
        <p:spPr>
          <a:xfrm rot="21600000">
            <a:off x="8061135" y="854581"/>
            <a:ext cx="1859281" cy="54864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版本控制</a:t>
            </a:r>
            <a:endParaRPr lang="en-US" sz="2800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40B482D9-A39A-D2CF-BE32-6207E96F9E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577583" y="1972818"/>
            <a:ext cx="1728216" cy="329184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09632786-B7F1-E46B-088E-B7AA4BAE72E6}"/>
              </a:ext>
            </a:extLst>
          </p:cNvPr>
          <p:cNvSpPr/>
          <p:nvPr/>
        </p:nvSpPr>
        <p:spPr>
          <a:xfrm rot="21600000">
            <a:off x="8061137" y="5434581"/>
            <a:ext cx="3539108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整合ONNX-Runtime转换工具链，导出模型时同步生成测试用例。</a:t>
            </a:r>
            <a:endParaRPr lang="en-US" sz="20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DEDB95B3-2018-BB24-713E-AE01326A7CEF}"/>
              </a:ext>
            </a:extLst>
          </p:cNvPr>
          <p:cNvSpPr/>
          <p:nvPr/>
        </p:nvSpPr>
        <p:spPr>
          <a:xfrm rot="21600000">
            <a:off x="8061136" y="4620765"/>
            <a:ext cx="2971800" cy="54864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部署准备</a:t>
            </a:r>
            <a:endParaRPr lang="en-US" sz="2800" dirty="0"/>
          </a:p>
        </p:txBody>
      </p:sp>
      <p:pic>
        <p:nvPicPr>
          <p:cNvPr id="21" name="Image 8" descr="preencoded.png">
            <a:extLst>
              <a:ext uri="{FF2B5EF4-FFF2-40B4-BE49-F238E27FC236}">
                <a16:creationId xmlns:a16="http://schemas.microsoft.com/office/drawing/2014/main" id="{2CA2991C-0B4C-3955-8FF3-C0E176EA21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30544" y="5741671"/>
            <a:ext cx="1728216" cy="329184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F4F50993-D382-E109-77DD-786365AF54D0}"/>
              </a:ext>
            </a:extLst>
          </p:cNvPr>
          <p:cNvSpPr/>
          <p:nvPr/>
        </p:nvSpPr>
        <p:spPr>
          <a:xfrm rot="21600000">
            <a:off x="126050" y="3252974"/>
            <a:ext cx="3326512" cy="1508763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472"/>
              </a:lnSpc>
              <a:buNone/>
            </a:pPr>
            <a:r>
              <a:rPr lang="en-US" sz="2000" dirty="0" err="1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使用PyCharm远程调试容器环境，设置断点检查张量数值流</a:t>
            </a: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。</a:t>
            </a:r>
            <a:endParaRPr lang="en-US" sz="2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780E236A-E037-5567-49BE-87E64C80441B}"/>
              </a:ext>
            </a:extLst>
          </p:cNvPr>
          <p:cNvSpPr/>
          <p:nvPr/>
        </p:nvSpPr>
        <p:spPr>
          <a:xfrm rot="21600000">
            <a:off x="1324797" y="2593848"/>
            <a:ext cx="2068450" cy="54864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32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调试集成</a:t>
            </a:r>
            <a:endParaRPr lang="en-US" sz="280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61A73075-1C14-25EB-DC10-BA5651DF63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475864" y="3842765"/>
            <a:ext cx="1728216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0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93072" y="2944405"/>
            <a:ext cx="7369007" cy="720000"/>
            <a:chOff x="5367559" y="2929837"/>
            <a:chExt cx="6906992" cy="720000"/>
          </a:xfrm>
        </p:grpSpPr>
        <p:sp>
          <p:nvSpPr>
            <p:cNvPr id="3" name="文本框 2"/>
            <p:cNvSpPr txBox="1"/>
            <p:nvPr/>
          </p:nvSpPr>
          <p:spPr>
            <a:xfrm>
              <a:off x="6146704" y="2981907"/>
              <a:ext cx="5282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</a:rPr>
                <a:t>第三部分  </a:t>
              </a:r>
              <a:r>
                <a:rPr lang="zh-CN" altLang="en-US" sz="3600" b="1" kern="0" dirty="0">
                  <a:solidFill>
                    <a:srgbClr val="17406D"/>
                  </a:solidFill>
                  <a:latin typeface="Calibri" panose="020F0502020204030204"/>
                  <a:ea typeface="微软雅黑" panose="020B0503020204020204" charset="-122"/>
                </a:rPr>
                <a:t>基础操作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  <p:sp>
          <p:nvSpPr>
            <p:cNvPr id="5" name="矩形 4"/>
            <p:cNvSpPr/>
            <p:nvPr/>
          </p:nvSpPr>
          <p:spPr>
            <a:xfrm flipV="1">
              <a:off x="8202969" y="3581596"/>
              <a:ext cx="4071582" cy="45719"/>
            </a:xfrm>
            <a:prstGeom prst="rect">
              <a:avLst/>
            </a:prstGeom>
            <a:solidFill>
              <a:srgbClr val="0F6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1731870" y="2870110"/>
            <a:ext cx="1523573" cy="1718780"/>
          </a:xfrm>
          <a:custGeom>
            <a:avLst/>
            <a:gdLst>
              <a:gd name="T0" fmla="*/ 870 w 1809"/>
              <a:gd name="T1" fmla="*/ 879 h 2152"/>
              <a:gd name="T2" fmla="*/ 870 w 1809"/>
              <a:gd name="T3" fmla="*/ 2152 h 2152"/>
              <a:gd name="T4" fmla="*/ 1809 w 1809"/>
              <a:gd name="T5" fmla="*/ 1820 h 2152"/>
              <a:gd name="T6" fmla="*/ 1809 w 1809"/>
              <a:gd name="T7" fmla="*/ 547 h 2152"/>
              <a:gd name="T8" fmla="*/ 870 w 1809"/>
              <a:gd name="T9" fmla="*/ 879 h 2152"/>
              <a:gd name="T10" fmla="*/ 785 w 1809"/>
              <a:gd name="T11" fmla="*/ 961 h 2152"/>
              <a:gd name="T12" fmla="*/ 785 w 1809"/>
              <a:gd name="T13" fmla="*/ 1138 h 2152"/>
              <a:gd name="T14" fmla="*/ 613 w 1809"/>
              <a:gd name="T15" fmla="*/ 1053 h 2152"/>
              <a:gd name="T16" fmla="*/ 613 w 1809"/>
              <a:gd name="T17" fmla="*/ 864 h 2152"/>
              <a:gd name="T18" fmla="*/ 785 w 1809"/>
              <a:gd name="T19" fmla="*/ 961 h 2152"/>
              <a:gd name="T20" fmla="*/ 1555 w 1809"/>
              <a:gd name="T21" fmla="*/ 410 h 2152"/>
              <a:gd name="T22" fmla="*/ 1507 w 1809"/>
              <a:gd name="T23" fmla="*/ 386 h 2152"/>
              <a:gd name="T24" fmla="*/ 602 w 1809"/>
              <a:gd name="T25" fmla="*/ 700 h 2152"/>
              <a:gd name="T26" fmla="*/ 576 w 1809"/>
              <a:gd name="T27" fmla="*/ 724 h 2152"/>
              <a:gd name="T28" fmla="*/ 576 w 1809"/>
              <a:gd name="T29" fmla="*/ 2017 h 2152"/>
              <a:gd name="T30" fmla="*/ 822 w 1809"/>
              <a:gd name="T31" fmla="*/ 2149 h 2152"/>
              <a:gd name="T32" fmla="*/ 822 w 1809"/>
              <a:gd name="T33" fmla="*/ 879 h 2152"/>
              <a:gd name="T34" fmla="*/ 622 w 1809"/>
              <a:gd name="T35" fmla="*/ 772 h 2152"/>
              <a:gd name="T36" fmla="*/ 625 w 1809"/>
              <a:gd name="T37" fmla="*/ 772 h 2152"/>
              <a:gd name="T38" fmla="*/ 1531 w 1809"/>
              <a:gd name="T39" fmla="*/ 457 h 2152"/>
              <a:gd name="T40" fmla="*/ 1555 w 1809"/>
              <a:gd name="T41" fmla="*/ 410 h 2152"/>
              <a:gd name="T42" fmla="*/ 209 w 1809"/>
              <a:gd name="T43" fmla="*/ 581 h 2152"/>
              <a:gd name="T44" fmla="*/ 209 w 1809"/>
              <a:gd name="T45" fmla="*/ 758 h 2152"/>
              <a:gd name="T46" fmla="*/ 37 w 1809"/>
              <a:gd name="T47" fmla="*/ 673 h 2152"/>
              <a:gd name="T48" fmla="*/ 37 w 1809"/>
              <a:gd name="T49" fmla="*/ 484 h 2152"/>
              <a:gd name="T50" fmla="*/ 209 w 1809"/>
              <a:gd name="T51" fmla="*/ 581 h 2152"/>
              <a:gd name="T52" fmla="*/ 978 w 1809"/>
              <a:gd name="T53" fmla="*/ 30 h 2152"/>
              <a:gd name="T54" fmla="*/ 931 w 1809"/>
              <a:gd name="T55" fmla="*/ 6 h 2152"/>
              <a:gd name="T56" fmla="*/ 25 w 1809"/>
              <a:gd name="T57" fmla="*/ 321 h 2152"/>
              <a:gd name="T58" fmla="*/ 0 w 1809"/>
              <a:gd name="T59" fmla="*/ 344 h 2152"/>
              <a:gd name="T60" fmla="*/ 0 w 1809"/>
              <a:gd name="T61" fmla="*/ 1638 h 2152"/>
              <a:gd name="T62" fmla="*/ 246 w 1809"/>
              <a:gd name="T63" fmla="*/ 1770 h 2152"/>
              <a:gd name="T64" fmla="*/ 246 w 1809"/>
              <a:gd name="T65" fmla="*/ 500 h 2152"/>
              <a:gd name="T66" fmla="*/ 46 w 1809"/>
              <a:gd name="T67" fmla="*/ 393 h 2152"/>
              <a:gd name="T68" fmla="*/ 49 w 1809"/>
              <a:gd name="T69" fmla="*/ 392 h 2152"/>
              <a:gd name="T70" fmla="*/ 954 w 1809"/>
              <a:gd name="T71" fmla="*/ 77 h 2152"/>
              <a:gd name="T72" fmla="*/ 978 w 1809"/>
              <a:gd name="T73" fmla="*/ 30 h 2152"/>
              <a:gd name="T74" fmla="*/ 497 w 1809"/>
              <a:gd name="T75" fmla="*/ 781 h 2152"/>
              <a:gd name="T76" fmla="*/ 497 w 1809"/>
              <a:gd name="T77" fmla="*/ 958 h 2152"/>
              <a:gd name="T78" fmla="*/ 325 w 1809"/>
              <a:gd name="T79" fmla="*/ 873 h 2152"/>
              <a:gd name="T80" fmla="*/ 325 w 1809"/>
              <a:gd name="T81" fmla="*/ 684 h 2152"/>
              <a:gd name="T82" fmla="*/ 497 w 1809"/>
              <a:gd name="T83" fmla="*/ 781 h 2152"/>
              <a:gd name="T84" fmla="*/ 1266 w 1809"/>
              <a:gd name="T85" fmla="*/ 230 h 2152"/>
              <a:gd name="T86" fmla="*/ 1219 w 1809"/>
              <a:gd name="T87" fmla="*/ 206 h 2152"/>
              <a:gd name="T88" fmla="*/ 313 w 1809"/>
              <a:gd name="T89" fmla="*/ 520 h 2152"/>
              <a:gd name="T90" fmla="*/ 288 w 1809"/>
              <a:gd name="T91" fmla="*/ 544 h 2152"/>
              <a:gd name="T92" fmla="*/ 288 w 1809"/>
              <a:gd name="T93" fmla="*/ 1837 h 2152"/>
              <a:gd name="T94" fmla="*/ 534 w 1809"/>
              <a:gd name="T95" fmla="*/ 1969 h 2152"/>
              <a:gd name="T96" fmla="*/ 534 w 1809"/>
              <a:gd name="T97" fmla="*/ 699 h 2152"/>
              <a:gd name="T98" fmla="*/ 334 w 1809"/>
              <a:gd name="T99" fmla="*/ 592 h 2152"/>
              <a:gd name="T100" fmla="*/ 337 w 1809"/>
              <a:gd name="T101" fmla="*/ 592 h 2152"/>
              <a:gd name="T102" fmla="*/ 1243 w 1809"/>
              <a:gd name="T103" fmla="*/ 277 h 2152"/>
              <a:gd name="T104" fmla="*/ 1266 w 1809"/>
              <a:gd name="T105" fmla="*/ 230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809" h="2152">
                <a:moveTo>
                  <a:pt x="870" y="879"/>
                </a:moveTo>
                <a:lnTo>
                  <a:pt x="870" y="2152"/>
                </a:lnTo>
                <a:lnTo>
                  <a:pt x="1809" y="1820"/>
                </a:lnTo>
                <a:lnTo>
                  <a:pt x="1809" y="547"/>
                </a:lnTo>
                <a:lnTo>
                  <a:pt x="870" y="879"/>
                </a:lnTo>
                <a:close/>
                <a:moveTo>
                  <a:pt x="785" y="961"/>
                </a:moveTo>
                <a:lnTo>
                  <a:pt x="785" y="1138"/>
                </a:lnTo>
                <a:cubicBezTo>
                  <a:pt x="699" y="1121"/>
                  <a:pt x="613" y="1053"/>
                  <a:pt x="613" y="1053"/>
                </a:cubicBezTo>
                <a:lnTo>
                  <a:pt x="613" y="864"/>
                </a:lnTo>
                <a:cubicBezTo>
                  <a:pt x="719" y="950"/>
                  <a:pt x="785" y="961"/>
                  <a:pt x="785" y="961"/>
                </a:cubicBezTo>
                <a:close/>
                <a:moveTo>
                  <a:pt x="1555" y="410"/>
                </a:moveTo>
                <a:cubicBezTo>
                  <a:pt x="1548" y="390"/>
                  <a:pt x="1527" y="379"/>
                  <a:pt x="1507" y="386"/>
                </a:cubicBezTo>
                <a:lnTo>
                  <a:pt x="602" y="700"/>
                </a:lnTo>
                <a:cubicBezTo>
                  <a:pt x="590" y="704"/>
                  <a:pt x="580" y="713"/>
                  <a:pt x="576" y="724"/>
                </a:cubicBezTo>
                <a:lnTo>
                  <a:pt x="576" y="2017"/>
                </a:lnTo>
                <a:cubicBezTo>
                  <a:pt x="608" y="2080"/>
                  <a:pt x="741" y="2149"/>
                  <a:pt x="822" y="2149"/>
                </a:cubicBezTo>
                <a:lnTo>
                  <a:pt x="822" y="879"/>
                </a:lnTo>
                <a:cubicBezTo>
                  <a:pt x="779" y="873"/>
                  <a:pt x="682" y="822"/>
                  <a:pt x="622" y="772"/>
                </a:cubicBezTo>
                <a:cubicBezTo>
                  <a:pt x="623" y="772"/>
                  <a:pt x="624" y="772"/>
                  <a:pt x="625" y="772"/>
                </a:cubicBezTo>
                <a:lnTo>
                  <a:pt x="1531" y="457"/>
                </a:lnTo>
                <a:cubicBezTo>
                  <a:pt x="1550" y="450"/>
                  <a:pt x="1561" y="429"/>
                  <a:pt x="1555" y="410"/>
                </a:cubicBezTo>
                <a:close/>
                <a:moveTo>
                  <a:pt x="209" y="581"/>
                </a:moveTo>
                <a:lnTo>
                  <a:pt x="209" y="758"/>
                </a:lnTo>
                <a:cubicBezTo>
                  <a:pt x="123" y="742"/>
                  <a:pt x="37" y="673"/>
                  <a:pt x="37" y="673"/>
                </a:cubicBezTo>
                <a:lnTo>
                  <a:pt x="37" y="484"/>
                </a:lnTo>
                <a:cubicBezTo>
                  <a:pt x="143" y="570"/>
                  <a:pt x="209" y="581"/>
                  <a:pt x="209" y="581"/>
                </a:cubicBezTo>
                <a:close/>
                <a:moveTo>
                  <a:pt x="978" y="30"/>
                </a:moveTo>
                <a:cubicBezTo>
                  <a:pt x="972" y="11"/>
                  <a:pt x="951" y="0"/>
                  <a:pt x="931" y="6"/>
                </a:cubicBezTo>
                <a:lnTo>
                  <a:pt x="25" y="321"/>
                </a:lnTo>
                <a:cubicBezTo>
                  <a:pt x="14" y="325"/>
                  <a:pt x="3" y="334"/>
                  <a:pt x="0" y="344"/>
                </a:cubicBezTo>
                <a:lnTo>
                  <a:pt x="0" y="1638"/>
                </a:lnTo>
                <a:cubicBezTo>
                  <a:pt x="32" y="1700"/>
                  <a:pt x="165" y="1770"/>
                  <a:pt x="246" y="1770"/>
                </a:cubicBezTo>
                <a:lnTo>
                  <a:pt x="246" y="500"/>
                </a:lnTo>
                <a:cubicBezTo>
                  <a:pt x="203" y="493"/>
                  <a:pt x="106" y="443"/>
                  <a:pt x="46" y="393"/>
                </a:cubicBezTo>
                <a:cubicBezTo>
                  <a:pt x="47" y="393"/>
                  <a:pt x="48" y="392"/>
                  <a:pt x="49" y="392"/>
                </a:cubicBezTo>
                <a:lnTo>
                  <a:pt x="954" y="77"/>
                </a:lnTo>
                <a:cubicBezTo>
                  <a:pt x="974" y="71"/>
                  <a:pt x="985" y="50"/>
                  <a:pt x="978" y="30"/>
                </a:cubicBezTo>
                <a:close/>
                <a:moveTo>
                  <a:pt x="497" y="781"/>
                </a:moveTo>
                <a:lnTo>
                  <a:pt x="497" y="958"/>
                </a:lnTo>
                <a:cubicBezTo>
                  <a:pt x="411" y="941"/>
                  <a:pt x="325" y="873"/>
                  <a:pt x="325" y="873"/>
                </a:cubicBezTo>
                <a:lnTo>
                  <a:pt x="325" y="684"/>
                </a:lnTo>
                <a:cubicBezTo>
                  <a:pt x="431" y="770"/>
                  <a:pt x="497" y="781"/>
                  <a:pt x="497" y="781"/>
                </a:cubicBezTo>
                <a:close/>
                <a:moveTo>
                  <a:pt x="1266" y="230"/>
                </a:moveTo>
                <a:cubicBezTo>
                  <a:pt x="1260" y="210"/>
                  <a:pt x="1239" y="199"/>
                  <a:pt x="1219" y="206"/>
                </a:cubicBezTo>
                <a:lnTo>
                  <a:pt x="313" y="520"/>
                </a:lnTo>
                <a:cubicBezTo>
                  <a:pt x="302" y="524"/>
                  <a:pt x="291" y="533"/>
                  <a:pt x="288" y="544"/>
                </a:cubicBezTo>
                <a:lnTo>
                  <a:pt x="288" y="1837"/>
                </a:lnTo>
                <a:cubicBezTo>
                  <a:pt x="320" y="1900"/>
                  <a:pt x="453" y="1969"/>
                  <a:pt x="534" y="1969"/>
                </a:cubicBezTo>
                <a:lnTo>
                  <a:pt x="534" y="699"/>
                </a:lnTo>
                <a:cubicBezTo>
                  <a:pt x="491" y="693"/>
                  <a:pt x="394" y="642"/>
                  <a:pt x="334" y="592"/>
                </a:cubicBezTo>
                <a:cubicBezTo>
                  <a:pt x="335" y="592"/>
                  <a:pt x="336" y="592"/>
                  <a:pt x="337" y="592"/>
                </a:cubicBezTo>
                <a:lnTo>
                  <a:pt x="1243" y="277"/>
                </a:lnTo>
                <a:cubicBezTo>
                  <a:pt x="1262" y="270"/>
                  <a:pt x="1273" y="249"/>
                  <a:pt x="1266" y="23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9"/>
    </mc:Choice>
    <mc:Fallback xmlns="">
      <p:transition spd="slow" advTm="81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DD5741-1DC8-07B9-ECD3-4B57E903D9C9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张量核心操作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D25B7422-0B81-A12E-1FAB-83DD00712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24209" y="1380100"/>
            <a:ext cx="2075389" cy="2954158"/>
          </a:xfrm>
          <a:prstGeom prst="rect">
            <a:avLst/>
          </a:prstGeom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7C69E5ED-A716-D2AB-9264-E0FD2CEC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61002" y="1394615"/>
            <a:ext cx="1697422" cy="2700170"/>
          </a:xfrm>
          <a:prstGeom prst="rect">
            <a:avLst/>
          </a:prstGeom>
        </p:spPr>
      </p:pic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7260707C-B273-CA99-EEBB-C69779C1A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248599" y="3768147"/>
            <a:ext cx="2653831" cy="1132221"/>
          </a:xfrm>
          <a:prstGeom prst="rect">
            <a:avLst/>
          </a:prstGeom>
        </p:spPr>
      </p:pic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B711B5A4-A636-A33C-0C87-14FEFBB54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24201" y="2708013"/>
            <a:ext cx="905256" cy="1005840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A61BECA1-73A7-670B-87A1-63AF6E0D02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100000">
            <a:off x="6922591" y="2109562"/>
            <a:ext cx="1536192" cy="100584"/>
          </a:xfrm>
          <a:prstGeom prst="rect">
            <a:avLst/>
          </a:prstGeom>
        </p:spPr>
      </p:pic>
      <p:pic>
        <p:nvPicPr>
          <p:cNvPr id="8" name="Image 7" descr="preencoded.png">
            <a:extLst>
              <a:ext uri="{FF2B5EF4-FFF2-40B4-BE49-F238E27FC236}">
                <a16:creationId xmlns:a16="http://schemas.microsoft.com/office/drawing/2014/main" id="{9B945A7E-3246-0877-6A68-9817ADCBF1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47776">
            <a:off x="5719339" y="5065763"/>
            <a:ext cx="1380744" cy="100584"/>
          </a:xfrm>
          <a:prstGeom prst="rect">
            <a:avLst/>
          </a:prstGeom>
        </p:spPr>
      </p:pic>
      <p:pic>
        <p:nvPicPr>
          <p:cNvPr id="9" name="Image 8" descr="preencoded.png">
            <a:extLst>
              <a:ext uri="{FF2B5EF4-FFF2-40B4-BE49-F238E27FC236}">
                <a16:creationId xmlns:a16="http://schemas.microsoft.com/office/drawing/2014/main" id="{AF8B74A8-6345-B54F-D1BD-4FAAE1AD28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713257" y="2806886"/>
            <a:ext cx="969264" cy="100584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F7D068EB-23BC-5857-8285-939081A89752}"/>
              </a:ext>
            </a:extLst>
          </p:cNvPr>
          <p:cNvSpPr/>
          <p:nvPr/>
        </p:nvSpPr>
        <p:spPr>
          <a:xfrm rot="21600000">
            <a:off x="8269375" y="937590"/>
            <a:ext cx="1907720" cy="5503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数学运算</a:t>
            </a:r>
            <a:endParaRPr lang="en-US" sz="2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C62A5D3-0B57-364E-965E-B2039718701B}"/>
              </a:ext>
            </a:extLst>
          </p:cNvPr>
          <p:cNvSpPr/>
          <p:nvPr/>
        </p:nvSpPr>
        <p:spPr>
          <a:xfrm rot="21600000">
            <a:off x="7196599" y="4549605"/>
            <a:ext cx="1907720" cy="54864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索引切片</a:t>
            </a:r>
            <a:endParaRPr lang="en-US" sz="2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7984E714-F2C5-E232-0F35-6FDB6A0E7091}"/>
              </a:ext>
            </a:extLst>
          </p:cNvPr>
          <p:cNvSpPr/>
          <p:nvPr/>
        </p:nvSpPr>
        <p:spPr>
          <a:xfrm rot="21600000">
            <a:off x="543462" y="2308538"/>
            <a:ext cx="2106602" cy="54864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32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创建与转换</a:t>
            </a:r>
            <a:endParaRPr lang="en-US" sz="28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E6CF5A84-B888-2AB7-BB87-90BA2B2A9313}"/>
              </a:ext>
            </a:extLst>
          </p:cNvPr>
          <p:cNvSpPr/>
          <p:nvPr/>
        </p:nvSpPr>
        <p:spPr>
          <a:xfrm rot="21600000">
            <a:off x="-93138" y="2925997"/>
            <a:ext cx="3157162" cy="334818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通过`torch.tensor（）`直接创建张量，并支持与NumPy数组的互转（`torch.from_numpy（）`和`.numpy（）`方法），实现跨库数据交换。</a:t>
            </a:r>
            <a:endParaRPr lang="en-US" sz="2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E2D0F02-45B5-F04B-C5C7-5BF342588BFE}"/>
              </a:ext>
            </a:extLst>
          </p:cNvPr>
          <p:cNvSpPr/>
          <p:nvPr/>
        </p:nvSpPr>
        <p:spPr>
          <a:xfrm rot="21600000">
            <a:off x="8269375" y="1440224"/>
            <a:ext cx="3135340" cy="2833907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张量支持逐元素运算（如`+ - * /`）和矩阵乘法（`@`或`torch.matmul`），涵盖广播机制自动处理不同形状数据。</a:t>
            </a:r>
            <a:endParaRPr lang="en-US" sz="2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8EF99BA-9608-CE84-1215-A9FFD8D9392A}"/>
              </a:ext>
            </a:extLst>
          </p:cNvPr>
          <p:cNvSpPr/>
          <p:nvPr/>
        </p:nvSpPr>
        <p:spPr>
          <a:xfrm rot="21600000">
            <a:off x="7196599" y="4967599"/>
            <a:ext cx="4701572" cy="1719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采用类似NumPy的索引规则（如`tensor【0， 1:3】`）进行高效数据裁剪，支持布尔掩码高级筛选操作。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4966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A856DB2-4345-ACE4-59FC-47FADA2A2147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自动微分机制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7DC0827-C857-8BD6-E241-811E0AAB3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17170" y="2256033"/>
            <a:ext cx="2886310" cy="1483510"/>
          </a:xfrm>
          <a:prstGeom prst="rect">
            <a:avLst/>
          </a:prstGeom>
        </p:spPr>
      </p:pic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5C21F82D-9954-A7D1-5B8D-80B9A7792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99165" y="3476962"/>
            <a:ext cx="1223552" cy="1483512"/>
          </a:xfrm>
          <a:prstGeom prst="rect">
            <a:avLst/>
          </a:prstGeom>
        </p:spPr>
      </p:pic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8636C1B4-B24F-6C7E-8773-572A49FF1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807059" y="3524656"/>
            <a:ext cx="1214426" cy="1483512"/>
          </a:xfrm>
          <a:prstGeom prst="rect">
            <a:avLst/>
          </a:prstGeo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ED1A7DB8-F673-0791-5123-62C48CDCE795}"/>
              </a:ext>
            </a:extLst>
          </p:cNvPr>
          <p:cNvSpPr/>
          <p:nvPr/>
        </p:nvSpPr>
        <p:spPr>
          <a:xfrm rot="21600000">
            <a:off x="7022804" y="4266413"/>
            <a:ext cx="2176272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动态图</a:t>
            </a:r>
            <a:endParaRPr lang="en-US" sz="22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FE2BA6C5-6463-292B-A485-6E607CB1C0A2}"/>
              </a:ext>
            </a:extLst>
          </p:cNvPr>
          <p:cNvSpPr/>
          <p:nvPr/>
        </p:nvSpPr>
        <p:spPr>
          <a:xfrm rot="21600000">
            <a:off x="8172189" y="2659460"/>
            <a:ext cx="2176272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反向求导</a:t>
            </a:r>
            <a:endParaRPr lang="en-US" sz="20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2CB44DE-9643-5B47-D31A-B9F669EAD752}"/>
              </a:ext>
            </a:extLst>
          </p:cNvPr>
          <p:cNvSpPr/>
          <p:nvPr/>
        </p:nvSpPr>
        <p:spPr>
          <a:xfrm rot="21600000">
            <a:off x="9403860" y="4266413"/>
            <a:ext cx="2020824" cy="33832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参数更新</a:t>
            </a:r>
            <a:endParaRPr lang="en-US" sz="22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5FB2D57-220E-D511-AC71-0F557F497B7B}"/>
              </a:ext>
            </a:extLst>
          </p:cNvPr>
          <p:cNvSpPr/>
          <p:nvPr/>
        </p:nvSpPr>
        <p:spPr>
          <a:xfrm rot="21600000">
            <a:off x="7499164" y="5346498"/>
            <a:ext cx="3666744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24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自动微分流程</a:t>
            </a:r>
            <a:endParaRPr lang="en-US" sz="24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CFACDAA2-D4FF-DEDC-C760-C644DEE16D13}"/>
              </a:ext>
            </a:extLst>
          </p:cNvPr>
          <p:cNvSpPr/>
          <p:nvPr/>
        </p:nvSpPr>
        <p:spPr>
          <a:xfrm rot="21600000">
            <a:off x="841902" y="2002567"/>
            <a:ext cx="6044373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所有张量操作在`with torch.no_grad（）`上下文外自动记录计算图，动态跟踪运算路径。</a:t>
            </a:r>
            <a:endParaRPr lang="en-US" sz="20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324C54CB-57FA-223E-E98C-D14936BFD8A6}"/>
              </a:ext>
            </a:extLst>
          </p:cNvPr>
          <p:cNvSpPr/>
          <p:nvPr/>
        </p:nvSpPr>
        <p:spPr>
          <a:xfrm rot="21600000">
            <a:off x="841163" y="1453381"/>
            <a:ext cx="3721608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计算图构建</a:t>
            </a:r>
            <a:endParaRPr lang="en-US" sz="2800" dirty="0"/>
          </a:p>
        </p:txBody>
      </p:sp>
      <p:pic>
        <p:nvPicPr>
          <p:cNvPr id="28" name="Image 7" descr="preencoded.png">
            <a:extLst>
              <a:ext uri="{FF2B5EF4-FFF2-40B4-BE49-F238E27FC236}">
                <a16:creationId xmlns:a16="http://schemas.microsoft.com/office/drawing/2014/main" id="{43A604E4-A714-8EEC-65C3-6023A70DD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12181" y="1553965"/>
            <a:ext cx="393192" cy="493776"/>
          </a:xfrm>
          <a:prstGeom prst="rect">
            <a:avLst/>
          </a:prstGeom>
        </p:spPr>
      </p:pic>
      <p:sp>
        <p:nvSpPr>
          <p:cNvPr id="29" name="Text 6">
            <a:extLst>
              <a:ext uri="{FF2B5EF4-FFF2-40B4-BE49-F238E27FC236}">
                <a16:creationId xmlns:a16="http://schemas.microsoft.com/office/drawing/2014/main" id="{C81BD43A-4943-7947-963F-9D4F7BF5CCDF}"/>
              </a:ext>
            </a:extLst>
          </p:cNvPr>
          <p:cNvSpPr/>
          <p:nvPr/>
        </p:nvSpPr>
        <p:spPr>
          <a:xfrm rot="21600000">
            <a:off x="841162" y="3881968"/>
            <a:ext cx="5861992" cy="962993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调用`.backward（）`自动计算叶子节点梯度，梯度值存储于张量的`.grad`属性中支持链式更新。</a:t>
            </a:r>
            <a:endParaRPr lang="en-US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6CF496F3-7E16-E880-913A-D9C6B6721E71}"/>
              </a:ext>
            </a:extLst>
          </p:cNvPr>
          <p:cNvSpPr/>
          <p:nvPr/>
        </p:nvSpPr>
        <p:spPr>
          <a:xfrm rot="21600000">
            <a:off x="841162" y="3284493"/>
            <a:ext cx="2395378" cy="55371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梯度计算</a:t>
            </a:r>
            <a:endParaRPr lang="en-US" sz="2800" dirty="0"/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F4F64C1A-BAE8-8BCB-29B7-1B081C2C6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31416" y="3305896"/>
            <a:ext cx="576072" cy="576072"/>
          </a:xfrm>
          <a:prstGeom prst="rect">
            <a:avLst/>
          </a:prstGeom>
        </p:spPr>
      </p:pic>
      <p:sp>
        <p:nvSpPr>
          <p:cNvPr id="32" name="Text 8">
            <a:extLst>
              <a:ext uri="{FF2B5EF4-FFF2-40B4-BE49-F238E27FC236}">
                <a16:creationId xmlns:a16="http://schemas.microsoft.com/office/drawing/2014/main" id="{8C462B89-7367-FE5A-24A7-9BD9154D8329}"/>
              </a:ext>
            </a:extLst>
          </p:cNvPr>
          <p:cNvSpPr/>
          <p:nvPr/>
        </p:nvSpPr>
        <p:spPr>
          <a:xfrm rot="21600000">
            <a:off x="807488" y="5725281"/>
            <a:ext cx="6244701" cy="96299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`requires_grad=False`冻结参数，`zero_grad（）`清空历史梯度防止累加影响优化器更新。</a:t>
            </a:r>
            <a:endParaRPr lang="en-US" sz="20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892F03F-CA29-698D-8DDF-E8A3831ABB44}"/>
              </a:ext>
            </a:extLst>
          </p:cNvPr>
          <p:cNvSpPr/>
          <p:nvPr/>
        </p:nvSpPr>
        <p:spPr>
          <a:xfrm rot="21600000">
            <a:off x="815219" y="5074959"/>
            <a:ext cx="2447262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梯度控制</a:t>
            </a:r>
            <a:endParaRPr lang="en-US" sz="2800" dirty="0"/>
          </a:p>
        </p:txBody>
      </p:sp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E1C66775-BD4C-240A-11B4-BD91F028B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5838" y="5166399"/>
            <a:ext cx="365760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72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C9EAE1-63DD-0927-A13A-F17942EDF64A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altLang="zh-CN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GPU</a:t>
            </a: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加速实践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3" name="Image 12" descr="preencoded.png">
            <a:extLst>
              <a:ext uri="{FF2B5EF4-FFF2-40B4-BE49-F238E27FC236}">
                <a16:creationId xmlns:a16="http://schemas.microsoft.com/office/drawing/2014/main" id="{B142B52F-BAC5-E166-B1BE-1AB4B661F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0330" y="1697591"/>
            <a:ext cx="320040" cy="320040"/>
          </a:xfrm>
          <a:prstGeom prst="rect">
            <a:avLst/>
          </a:prstGeom>
        </p:spPr>
      </p:pic>
      <p:sp>
        <p:nvSpPr>
          <p:cNvPr id="8" name="Text 11">
            <a:extLst>
              <a:ext uri="{FF2B5EF4-FFF2-40B4-BE49-F238E27FC236}">
                <a16:creationId xmlns:a16="http://schemas.microsoft.com/office/drawing/2014/main" id="{2CD1B5F9-B18B-8879-B627-55E52DAFF756}"/>
              </a:ext>
            </a:extLst>
          </p:cNvPr>
          <p:cNvSpPr/>
          <p:nvPr/>
        </p:nvSpPr>
        <p:spPr>
          <a:xfrm rot="21600000">
            <a:off x="749807" y="2337673"/>
            <a:ext cx="5534878" cy="12618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928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使用`.to（device）`显式转移张量/模型至GPU，通过`torch.cuda.is_available（）`检查硬件支持。</a:t>
            </a:r>
            <a:endParaRPr lang="en-US" sz="20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815BFE53-BF00-3A6D-DCD2-8739D9C11216}"/>
              </a:ext>
            </a:extLst>
          </p:cNvPr>
          <p:cNvSpPr/>
          <p:nvPr/>
        </p:nvSpPr>
        <p:spPr>
          <a:xfrm rot="21600000">
            <a:off x="749808" y="1479515"/>
            <a:ext cx="3465576" cy="64008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设备迁移</a:t>
            </a:r>
            <a:endParaRPr lang="en-US" sz="2800" dirty="0"/>
          </a:p>
        </p:txBody>
      </p:sp>
      <p:pic>
        <p:nvPicPr>
          <p:cNvPr id="11" name="Image 13" descr="preencoded.png">
            <a:extLst>
              <a:ext uri="{FF2B5EF4-FFF2-40B4-BE49-F238E27FC236}">
                <a16:creationId xmlns:a16="http://schemas.microsoft.com/office/drawing/2014/main" id="{D3BA4A55-C092-9996-F41B-E39E740DE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0327" y="4272491"/>
            <a:ext cx="320040" cy="320040"/>
          </a:xfrm>
          <a:prstGeom prst="rect">
            <a:avLst/>
          </a:prstGeom>
        </p:spPr>
      </p:pic>
      <p:sp>
        <p:nvSpPr>
          <p:cNvPr id="12" name="Text 13">
            <a:extLst>
              <a:ext uri="{FF2B5EF4-FFF2-40B4-BE49-F238E27FC236}">
                <a16:creationId xmlns:a16="http://schemas.microsoft.com/office/drawing/2014/main" id="{7790BED0-315A-D427-93C6-F1AF68B12565}"/>
              </a:ext>
            </a:extLst>
          </p:cNvPr>
          <p:cNvSpPr/>
          <p:nvPr/>
        </p:nvSpPr>
        <p:spPr>
          <a:xfrm rot="21600000">
            <a:off x="749806" y="4747550"/>
            <a:ext cx="5534879" cy="12618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928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对比相同操作在CPU与GPU的耗时差异，实测证明矩阵运算等任务在GPU上可达百倍加速效果。</a:t>
            </a:r>
            <a:endParaRPr lang="en-US" sz="20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AC5AC49C-01CC-4B8D-3B4E-DE7B0B806E43}"/>
              </a:ext>
            </a:extLst>
          </p:cNvPr>
          <p:cNvSpPr/>
          <p:nvPr/>
        </p:nvSpPr>
        <p:spPr>
          <a:xfrm rot="21600000">
            <a:off x="749805" y="4086419"/>
            <a:ext cx="1906307" cy="55916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性能验证</a:t>
            </a:r>
            <a:endParaRPr lang="en-US" sz="2800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698055DC-1ED7-3726-47A7-6E4780499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84257" y="1180631"/>
            <a:ext cx="4983480" cy="2115525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BD4E5584-4200-B920-679E-1BCF6C573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25877" y="822961"/>
            <a:ext cx="2999232" cy="594360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2AAEADC8-5082-482E-6F07-0FD21B714678}"/>
              </a:ext>
            </a:extLst>
          </p:cNvPr>
          <p:cNvSpPr/>
          <p:nvPr/>
        </p:nvSpPr>
        <p:spPr>
          <a:xfrm rot="21600000">
            <a:off x="8226191" y="914401"/>
            <a:ext cx="1609344" cy="4297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CPU</a:t>
            </a:r>
            <a:endParaRPr lang="en-US" sz="2800" dirty="0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4C84650E-B1C0-02E8-D711-2F5AA63EF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26434" y="3666746"/>
            <a:ext cx="5041304" cy="2140072"/>
          </a:xfrm>
          <a:prstGeom prst="rect">
            <a:avLst/>
          </a:prstGeom>
        </p:spPr>
      </p:pic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002127A3-5876-CF16-1E69-6870903E4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69419" y="5644336"/>
            <a:ext cx="2999232" cy="594360"/>
          </a:xfrm>
          <a:prstGeom prst="rect">
            <a:avLst/>
          </a:prstGeom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2F534573-A6C0-C6A0-3390-9C2A143E656F}"/>
              </a:ext>
            </a:extLst>
          </p:cNvPr>
          <p:cNvSpPr/>
          <p:nvPr/>
        </p:nvSpPr>
        <p:spPr>
          <a:xfrm rot="21600000">
            <a:off x="8236931" y="5735776"/>
            <a:ext cx="1636776" cy="4297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GPU</a:t>
            </a:r>
            <a:endParaRPr lang="en-US" sz="28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5D7007BC-496A-3348-0D94-22AD1ECD0E9A}"/>
              </a:ext>
            </a:extLst>
          </p:cNvPr>
          <p:cNvSpPr/>
          <p:nvPr/>
        </p:nvSpPr>
        <p:spPr>
          <a:xfrm rot="21600000">
            <a:off x="7142625" y="6422125"/>
            <a:ext cx="3666744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计算性能对比</a:t>
            </a:r>
            <a:endParaRPr lang="en-US" sz="34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C68BDCC0-4AAC-F9BE-7BD3-FAEEDDF19254}"/>
              </a:ext>
            </a:extLst>
          </p:cNvPr>
          <p:cNvSpPr/>
          <p:nvPr/>
        </p:nvSpPr>
        <p:spPr>
          <a:xfrm rot="21600000">
            <a:off x="8314655" y="2699677"/>
            <a:ext cx="2670048" cy="4297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082A6E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小规模适用</a:t>
            </a:r>
            <a:endParaRPr lang="en-US" sz="2000" dirty="0"/>
          </a:p>
        </p:txBody>
      </p:sp>
      <p:pic>
        <p:nvPicPr>
          <p:cNvPr id="22" name="Image 6" descr="preencoded.png">
            <a:extLst>
              <a:ext uri="{FF2B5EF4-FFF2-40B4-BE49-F238E27FC236}">
                <a16:creationId xmlns:a16="http://schemas.microsoft.com/office/drawing/2014/main" id="{74D0A17C-C398-6082-989C-CC53C58DA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756871" y="2727109"/>
            <a:ext cx="283464" cy="356616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E6CC4957-52E6-E793-962C-2C9C1E857633}"/>
              </a:ext>
            </a:extLst>
          </p:cNvPr>
          <p:cNvSpPr/>
          <p:nvPr/>
        </p:nvSpPr>
        <p:spPr>
          <a:xfrm rot="21600000">
            <a:off x="8451670" y="5196025"/>
            <a:ext cx="2670048" cy="4297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1C3D82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大规模最优</a:t>
            </a:r>
            <a:endParaRPr lang="en-US" sz="2000" dirty="0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2793C342-78B2-E942-6607-0436C8532D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802446" y="5196025"/>
            <a:ext cx="384048" cy="402336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73DAD754-1479-619A-010D-B118E7F680E8}"/>
              </a:ext>
            </a:extLst>
          </p:cNvPr>
          <p:cNvSpPr/>
          <p:nvPr/>
        </p:nvSpPr>
        <p:spPr>
          <a:xfrm rot="21600000">
            <a:off x="8333813" y="1481585"/>
            <a:ext cx="3364992" cy="4297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082A6E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50ms/千次运算</a:t>
            </a:r>
            <a:endParaRPr lang="en-US" sz="2000" dirty="0"/>
          </a:p>
        </p:txBody>
      </p:sp>
      <p:pic>
        <p:nvPicPr>
          <p:cNvPr id="26" name="Image 8" descr="preencoded.png">
            <a:extLst>
              <a:ext uri="{FF2B5EF4-FFF2-40B4-BE49-F238E27FC236}">
                <a16:creationId xmlns:a16="http://schemas.microsoft.com/office/drawing/2014/main" id="{56F3B953-71CB-51DA-C8D8-7F04014810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702877" y="1481585"/>
            <a:ext cx="384048" cy="384048"/>
          </a:xfrm>
          <a:prstGeom prst="rect">
            <a:avLst/>
          </a:prstGeom>
        </p:spPr>
      </p:pic>
      <p:sp>
        <p:nvSpPr>
          <p:cNvPr id="27" name="Text 8">
            <a:extLst>
              <a:ext uri="{FF2B5EF4-FFF2-40B4-BE49-F238E27FC236}">
                <a16:creationId xmlns:a16="http://schemas.microsoft.com/office/drawing/2014/main" id="{30F8DAD2-6B9E-7262-F8E3-1785A859895B}"/>
              </a:ext>
            </a:extLst>
          </p:cNvPr>
          <p:cNvSpPr/>
          <p:nvPr/>
        </p:nvSpPr>
        <p:spPr>
          <a:xfrm rot="21600000">
            <a:off x="8351231" y="2047818"/>
            <a:ext cx="3026664" cy="4297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082A6E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线性增长耗时</a:t>
            </a:r>
            <a:endParaRPr lang="en-US" sz="2000" dirty="0"/>
          </a:p>
        </p:txBody>
      </p:sp>
      <p:pic>
        <p:nvPicPr>
          <p:cNvPr id="28" name="Image 9" descr="preencoded.png">
            <a:extLst>
              <a:ext uri="{FF2B5EF4-FFF2-40B4-BE49-F238E27FC236}">
                <a16:creationId xmlns:a16="http://schemas.microsoft.com/office/drawing/2014/main" id="{2C174E1E-DA4A-0ACA-1D8C-0EE57FBB23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756871" y="2084394"/>
            <a:ext cx="320040" cy="356616"/>
          </a:xfrm>
          <a:prstGeom prst="rect">
            <a:avLst/>
          </a:prstGeom>
        </p:spPr>
      </p:pic>
      <p:pic>
        <p:nvPicPr>
          <p:cNvPr id="29" name="Image 10" descr="preencoded.png">
            <a:extLst>
              <a:ext uri="{FF2B5EF4-FFF2-40B4-BE49-F238E27FC236}">
                <a16:creationId xmlns:a16="http://schemas.microsoft.com/office/drawing/2014/main" id="{9DCCCCDC-E219-FAA6-FC5A-2CE4F424AC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756871" y="3860451"/>
            <a:ext cx="402336" cy="402336"/>
          </a:xfrm>
          <a:prstGeom prst="rect">
            <a:avLst/>
          </a:prstGeom>
        </p:spPr>
      </p:pic>
      <p:sp>
        <p:nvSpPr>
          <p:cNvPr id="30" name="Text 9">
            <a:extLst>
              <a:ext uri="{FF2B5EF4-FFF2-40B4-BE49-F238E27FC236}">
                <a16:creationId xmlns:a16="http://schemas.microsoft.com/office/drawing/2014/main" id="{DEC2E5FD-4841-E046-E167-B5BAF617DAE3}"/>
              </a:ext>
            </a:extLst>
          </p:cNvPr>
          <p:cNvSpPr/>
          <p:nvPr/>
        </p:nvSpPr>
        <p:spPr>
          <a:xfrm rot="21600000">
            <a:off x="8406095" y="3869595"/>
            <a:ext cx="3465576" cy="4297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1C3D82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0.5ms/千次运算</a:t>
            </a:r>
            <a:endParaRPr lang="en-US" sz="20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8B414E2C-6B94-2B96-0738-A68AC4E546F9}"/>
              </a:ext>
            </a:extLst>
          </p:cNvPr>
          <p:cNvSpPr/>
          <p:nvPr/>
        </p:nvSpPr>
        <p:spPr>
          <a:xfrm rot="21600000">
            <a:off x="8406095" y="4523942"/>
            <a:ext cx="2313432" cy="4297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1C3D82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并行加速</a:t>
            </a:r>
            <a:endParaRPr lang="en-US" sz="2000" dirty="0"/>
          </a:p>
        </p:txBody>
      </p:sp>
      <p:pic>
        <p:nvPicPr>
          <p:cNvPr id="32" name="Image 11" descr="preencoded.png">
            <a:extLst>
              <a:ext uri="{FF2B5EF4-FFF2-40B4-BE49-F238E27FC236}">
                <a16:creationId xmlns:a16="http://schemas.microsoft.com/office/drawing/2014/main" id="{E8249396-8CD9-3337-1842-6600B852FA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784303" y="4542230"/>
            <a:ext cx="356616" cy="35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20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93072" y="2944405"/>
            <a:ext cx="7369007" cy="720000"/>
            <a:chOff x="5367559" y="2929837"/>
            <a:chExt cx="6906992" cy="720000"/>
          </a:xfrm>
        </p:grpSpPr>
        <p:sp>
          <p:nvSpPr>
            <p:cNvPr id="3" name="文本框 2"/>
            <p:cNvSpPr txBox="1"/>
            <p:nvPr/>
          </p:nvSpPr>
          <p:spPr>
            <a:xfrm>
              <a:off x="6146704" y="2981907"/>
              <a:ext cx="5282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</a:rPr>
                <a:t>第四部分  模型开发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  <p:sp>
          <p:nvSpPr>
            <p:cNvPr id="5" name="矩形 4"/>
            <p:cNvSpPr/>
            <p:nvPr/>
          </p:nvSpPr>
          <p:spPr>
            <a:xfrm flipV="1">
              <a:off x="8202969" y="3581596"/>
              <a:ext cx="4071582" cy="45719"/>
            </a:xfrm>
            <a:prstGeom prst="rect">
              <a:avLst/>
            </a:prstGeom>
            <a:solidFill>
              <a:srgbClr val="0F6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1731870" y="2870110"/>
            <a:ext cx="1523573" cy="1718780"/>
          </a:xfrm>
          <a:custGeom>
            <a:avLst/>
            <a:gdLst>
              <a:gd name="T0" fmla="*/ 870 w 1809"/>
              <a:gd name="T1" fmla="*/ 879 h 2152"/>
              <a:gd name="T2" fmla="*/ 870 w 1809"/>
              <a:gd name="T3" fmla="*/ 2152 h 2152"/>
              <a:gd name="T4" fmla="*/ 1809 w 1809"/>
              <a:gd name="T5" fmla="*/ 1820 h 2152"/>
              <a:gd name="T6" fmla="*/ 1809 w 1809"/>
              <a:gd name="T7" fmla="*/ 547 h 2152"/>
              <a:gd name="T8" fmla="*/ 870 w 1809"/>
              <a:gd name="T9" fmla="*/ 879 h 2152"/>
              <a:gd name="T10" fmla="*/ 785 w 1809"/>
              <a:gd name="T11" fmla="*/ 961 h 2152"/>
              <a:gd name="T12" fmla="*/ 785 w 1809"/>
              <a:gd name="T13" fmla="*/ 1138 h 2152"/>
              <a:gd name="T14" fmla="*/ 613 w 1809"/>
              <a:gd name="T15" fmla="*/ 1053 h 2152"/>
              <a:gd name="T16" fmla="*/ 613 w 1809"/>
              <a:gd name="T17" fmla="*/ 864 h 2152"/>
              <a:gd name="T18" fmla="*/ 785 w 1809"/>
              <a:gd name="T19" fmla="*/ 961 h 2152"/>
              <a:gd name="T20" fmla="*/ 1555 w 1809"/>
              <a:gd name="T21" fmla="*/ 410 h 2152"/>
              <a:gd name="T22" fmla="*/ 1507 w 1809"/>
              <a:gd name="T23" fmla="*/ 386 h 2152"/>
              <a:gd name="T24" fmla="*/ 602 w 1809"/>
              <a:gd name="T25" fmla="*/ 700 h 2152"/>
              <a:gd name="T26" fmla="*/ 576 w 1809"/>
              <a:gd name="T27" fmla="*/ 724 h 2152"/>
              <a:gd name="T28" fmla="*/ 576 w 1809"/>
              <a:gd name="T29" fmla="*/ 2017 h 2152"/>
              <a:gd name="T30" fmla="*/ 822 w 1809"/>
              <a:gd name="T31" fmla="*/ 2149 h 2152"/>
              <a:gd name="T32" fmla="*/ 822 w 1809"/>
              <a:gd name="T33" fmla="*/ 879 h 2152"/>
              <a:gd name="T34" fmla="*/ 622 w 1809"/>
              <a:gd name="T35" fmla="*/ 772 h 2152"/>
              <a:gd name="T36" fmla="*/ 625 w 1809"/>
              <a:gd name="T37" fmla="*/ 772 h 2152"/>
              <a:gd name="T38" fmla="*/ 1531 w 1809"/>
              <a:gd name="T39" fmla="*/ 457 h 2152"/>
              <a:gd name="T40" fmla="*/ 1555 w 1809"/>
              <a:gd name="T41" fmla="*/ 410 h 2152"/>
              <a:gd name="T42" fmla="*/ 209 w 1809"/>
              <a:gd name="T43" fmla="*/ 581 h 2152"/>
              <a:gd name="T44" fmla="*/ 209 w 1809"/>
              <a:gd name="T45" fmla="*/ 758 h 2152"/>
              <a:gd name="T46" fmla="*/ 37 w 1809"/>
              <a:gd name="T47" fmla="*/ 673 h 2152"/>
              <a:gd name="T48" fmla="*/ 37 w 1809"/>
              <a:gd name="T49" fmla="*/ 484 h 2152"/>
              <a:gd name="T50" fmla="*/ 209 w 1809"/>
              <a:gd name="T51" fmla="*/ 581 h 2152"/>
              <a:gd name="T52" fmla="*/ 978 w 1809"/>
              <a:gd name="T53" fmla="*/ 30 h 2152"/>
              <a:gd name="T54" fmla="*/ 931 w 1809"/>
              <a:gd name="T55" fmla="*/ 6 h 2152"/>
              <a:gd name="T56" fmla="*/ 25 w 1809"/>
              <a:gd name="T57" fmla="*/ 321 h 2152"/>
              <a:gd name="T58" fmla="*/ 0 w 1809"/>
              <a:gd name="T59" fmla="*/ 344 h 2152"/>
              <a:gd name="T60" fmla="*/ 0 w 1809"/>
              <a:gd name="T61" fmla="*/ 1638 h 2152"/>
              <a:gd name="T62" fmla="*/ 246 w 1809"/>
              <a:gd name="T63" fmla="*/ 1770 h 2152"/>
              <a:gd name="T64" fmla="*/ 246 w 1809"/>
              <a:gd name="T65" fmla="*/ 500 h 2152"/>
              <a:gd name="T66" fmla="*/ 46 w 1809"/>
              <a:gd name="T67" fmla="*/ 393 h 2152"/>
              <a:gd name="T68" fmla="*/ 49 w 1809"/>
              <a:gd name="T69" fmla="*/ 392 h 2152"/>
              <a:gd name="T70" fmla="*/ 954 w 1809"/>
              <a:gd name="T71" fmla="*/ 77 h 2152"/>
              <a:gd name="T72" fmla="*/ 978 w 1809"/>
              <a:gd name="T73" fmla="*/ 30 h 2152"/>
              <a:gd name="T74" fmla="*/ 497 w 1809"/>
              <a:gd name="T75" fmla="*/ 781 h 2152"/>
              <a:gd name="T76" fmla="*/ 497 w 1809"/>
              <a:gd name="T77" fmla="*/ 958 h 2152"/>
              <a:gd name="T78" fmla="*/ 325 w 1809"/>
              <a:gd name="T79" fmla="*/ 873 h 2152"/>
              <a:gd name="T80" fmla="*/ 325 w 1809"/>
              <a:gd name="T81" fmla="*/ 684 h 2152"/>
              <a:gd name="T82" fmla="*/ 497 w 1809"/>
              <a:gd name="T83" fmla="*/ 781 h 2152"/>
              <a:gd name="T84" fmla="*/ 1266 w 1809"/>
              <a:gd name="T85" fmla="*/ 230 h 2152"/>
              <a:gd name="T86" fmla="*/ 1219 w 1809"/>
              <a:gd name="T87" fmla="*/ 206 h 2152"/>
              <a:gd name="T88" fmla="*/ 313 w 1809"/>
              <a:gd name="T89" fmla="*/ 520 h 2152"/>
              <a:gd name="T90" fmla="*/ 288 w 1809"/>
              <a:gd name="T91" fmla="*/ 544 h 2152"/>
              <a:gd name="T92" fmla="*/ 288 w 1809"/>
              <a:gd name="T93" fmla="*/ 1837 h 2152"/>
              <a:gd name="T94" fmla="*/ 534 w 1809"/>
              <a:gd name="T95" fmla="*/ 1969 h 2152"/>
              <a:gd name="T96" fmla="*/ 534 w 1809"/>
              <a:gd name="T97" fmla="*/ 699 h 2152"/>
              <a:gd name="T98" fmla="*/ 334 w 1809"/>
              <a:gd name="T99" fmla="*/ 592 h 2152"/>
              <a:gd name="T100" fmla="*/ 337 w 1809"/>
              <a:gd name="T101" fmla="*/ 592 h 2152"/>
              <a:gd name="T102" fmla="*/ 1243 w 1809"/>
              <a:gd name="T103" fmla="*/ 277 h 2152"/>
              <a:gd name="T104" fmla="*/ 1266 w 1809"/>
              <a:gd name="T105" fmla="*/ 230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809" h="2152">
                <a:moveTo>
                  <a:pt x="870" y="879"/>
                </a:moveTo>
                <a:lnTo>
                  <a:pt x="870" y="2152"/>
                </a:lnTo>
                <a:lnTo>
                  <a:pt x="1809" y="1820"/>
                </a:lnTo>
                <a:lnTo>
                  <a:pt x="1809" y="547"/>
                </a:lnTo>
                <a:lnTo>
                  <a:pt x="870" y="879"/>
                </a:lnTo>
                <a:close/>
                <a:moveTo>
                  <a:pt x="785" y="961"/>
                </a:moveTo>
                <a:lnTo>
                  <a:pt x="785" y="1138"/>
                </a:lnTo>
                <a:cubicBezTo>
                  <a:pt x="699" y="1121"/>
                  <a:pt x="613" y="1053"/>
                  <a:pt x="613" y="1053"/>
                </a:cubicBezTo>
                <a:lnTo>
                  <a:pt x="613" y="864"/>
                </a:lnTo>
                <a:cubicBezTo>
                  <a:pt x="719" y="950"/>
                  <a:pt x="785" y="961"/>
                  <a:pt x="785" y="961"/>
                </a:cubicBezTo>
                <a:close/>
                <a:moveTo>
                  <a:pt x="1555" y="410"/>
                </a:moveTo>
                <a:cubicBezTo>
                  <a:pt x="1548" y="390"/>
                  <a:pt x="1527" y="379"/>
                  <a:pt x="1507" y="386"/>
                </a:cubicBezTo>
                <a:lnTo>
                  <a:pt x="602" y="700"/>
                </a:lnTo>
                <a:cubicBezTo>
                  <a:pt x="590" y="704"/>
                  <a:pt x="580" y="713"/>
                  <a:pt x="576" y="724"/>
                </a:cubicBezTo>
                <a:lnTo>
                  <a:pt x="576" y="2017"/>
                </a:lnTo>
                <a:cubicBezTo>
                  <a:pt x="608" y="2080"/>
                  <a:pt x="741" y="2149"/>
                  <a:pt x="822" y="2149"/>
                </a:cubicBezTo>
                <a:lnTo>
                  <a:pt x="822" y="879"/>
                </a:lnTo>
                <a:cubicBezTo>
                  <a:pt x="779" y="873"/>
                  <a:pt x="682" y="822"/>
                  <a:pt x="622" y="772"/>
                </a:cubicBezTo>
                <a:cubicBezTo>
                  <a:pt x="623" y="772"/>
                  <a:pt x="624" y="772"/>
                  <a:pt x="625" y="772"/>
                </a:cubicBezTo>
                <a:lnTo>
                  <a:pt x="1531" y="457"/>
                </a:lnTo>
                <a:cubicBezTo>
                  <a:pt x="1550" y="450"/>
                  <a:pt x="1561" y="429"/>
                  <a:pt x="1555" y="410"/>
                </a:cubicBezTo>
                <a:close/>
                <a:moveTo>
                  <a:pt x="209" y="581"/>
                </a:moveTo>
                <a:lnTo>
                  <a:pt x="209" y="758"/>
                </a:lnTo>
                <a:cubicBezTo>
                  <a:pt x="123" y="742"/>
                  <a:pt x="37" y="673"/>
                  <a:pt x="37" y="673"/>
                </a:cubicBezTo>
                <a:lnTo>
                  <a:pt x="37" y="484"/>
                </a:lnTo>
                <a:cubicBezTo>
                  <a:pt x="143" y="570"/>
                  <a:pt x="209" y="581"/>
                  <a:pt x="209" y="581"/>
                </a:cubicBezTo>
                <a:close/>
                <a:moveTo>
                  <a:pt x="978" y="30"/>
                </a:moveTo>
                <a:cubicBezTo>
                  <a:pt x="972" y="11"/>
                  <a:pt x="951" y="0"/>
                  <a:pt x="931" y="6"/>
                </a:cubicBezTo>
                <a:lnTo>
                  <a:pt x="25" y="321"/>
                </a:lnTo>
                <a:cubicBezTo>
                  <a:pt x="14" y="325"/>
                  <a:pt x="3" y="334"/>
                  <a:pt x="0" y="344"/>
                </a:cubicBezTo>
                <a:lnTo>
                  <a:pt x="0" y="1638"/>
                </a:lnTo>
                <a:cubicBezTo>
                  <a:pt x="32" y="1700"/>
                  <a:pt x="165" y="1770"/>
                  <a:pt x="246" y="1770"/>
                </a:cubicBezTo>
                <a:lnTo>
                  <a:pt x="246" y="500"/>
                </a:lnTo>
                <a:cubicBezTo>
                  <a:pt x="203" y="493"/>
                  <a:pt x="106" y="443"/>
                  <a:pt x="46" y="393"/>
                </a:cubicBezTo>
                <a:cubicBezTo>
                  <a:pt x="47" y="393"/>
                  <a:pt x="48" y="392"/>
                  <a:pt x="49" y="392"/>
                </a:cubicBezTo>
                <a:lnTo>
                  <a:pt x="954" y="77"/>
                </a:lnTo>
                <a:cubicBezTo>
                  <a:pt x="974" y="71"/>
                  <a:pt x="985" y="50"/>
                  <a:pt x="978" y="30"/>
                </a:cubicBezTo>
                <a:close/>
                <a:moveTo>
                  <a:pt x="497" y="781"/>
                </a:moveTo>
                <a:lnTo>
                  <a:pt x="497" y="958"/>
                </a:lnTo>
                <a:cubicBezTo>
                  <a:pt x="411" y="941"/>
                  <a:pt x="325" y="873"/>
                  <a:pt x="325" y="873"/>
                </a:cubicBezTo>
                <a:lnTo>
                  <a:pt x="325" y="684"/>
                </a:lnTo>
                <a:cubicBezTo>
                  <a:pt x="431" y="770"/>
                  <a:pt x="497" y="781"/>
                  <a:pt x="497" y="781"/>
                </a:cubicBezTo>
                <a:close/>
                <a:moveTo>
                  <a:pt x="1266" y="230"/>
                </a:moveTo>
                <a:cubicBezTo>
                  <a:pt x="1260" y="210"/>
                  <a:pt x="1239" y="199"/>
                  <a:pt x="1219" y="206"/>
                </a:cubicBezTo>
                <a:lnTo>
                  <a:pt x="313" y="520"/>
                </a:lnTo>
                <a:cubicBezTo>
                  <a:pt x="302" y="524"/>
                  <a:pt x="291" y="533"/>
                  <a:pt x="288" y="544"/>
                </a:cubicBezTo>
                <a:lnTo>
                  <a:pt x="288" y="1837"/>
                </a:lnTo>
                <a:cubicBezTo>
                  <a:pt x="320" y="1900"/>
                  <a:pt x="453" y="1969"/>
                  <a:pt x="534" y="1969"/>
                </a:cubicBezTo>
                <a:lnTo>
                  <a:pt x="534" y="699"/>
                </a:lnTo>
                <a:cubicBezTo>
                  <a:pt x="491" y="693"/>
                  <a:pt x="394" y="642"/>
                  <a:pt x="334" y="592"/>
                </a:cubicBezTo>
                <a:cubicBezTo>
                  <a:pt x="335" y="592"/>
                  <a:pt x="336" y="592"/>
                  <a:pt x="337" y="592"/>
                </a:cubicBezTo>
                <a:lnTo>
                  <a:pt x="1243" y="277"/>
                </a:lnTo>
                <a:cubicBezTo>
                  <a:pt x="1262" y="270"/>
                  <a:pt x="1273" y="249"/>
                  <a:pt x="1266" y="23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892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9"/>
    </mc:Choice>
    <mc:Fallback xmlns="">
      <p:transition spd="slow" advTm="81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18874C-044A-35E8-6FBB-A32F5F8B6EC3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网络结构设计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BEB14AF8-D6AD-918B-6B14-62DC49203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928352" y="2295947"/>
            <a:ext cx="3464152" cy="3003256"/>
          </a:xfrm>
          <a:prstGeom prst="rect">
            <a:avLst/>
          </a:prstGeom>
        </p:spPr>
      </p:pic>
      <p:pic>
        <p:nvPicPr>
          <p:cNvPr id="8" name="Image 7" descr="preencoded.png">
            <a:extLst>
              <a:ext uri="{FF2B5EF4-FFF2-40B4-BE49-F238E27FC236}">
                <a16:creationId xmlns:a16="http://schemas.microsoft.com/office/drawing/2014/main" id="{F8BEA225-908A-8297-494C-331063298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98722" y="3183789"/>
            <a:ext cx="1222807" cy="1222807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74C9F00F-64D3-322A-95F0-AD998CE35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0">
            <a:off x="8677884" y="4216116"/>
            <a:ext cx="329184" cy="256032"/>
          </a:xfrm>
          <a:prstGeom prst="rect">
            <a:avLst/>
          </a:prstGeom>
        </p:spPr>
      </p:pic>
      <p:pic>
        <p:nvPicPr>
          <p:cNvPr id="25" name="Image 9" descr="preencoded.png">
            <a:extLst>
              <a:ext uri="{FF2B5EF4-FFF2-40B4-BE49-F238E27FC236}">
                <a16:creationId xmlns:a16="http://schemas.microsoft.com/office/drawing/2014/main" id="{87CDB292-5BBB-3806-F371-2066D3248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600000">
            <a:off x="8627581" y="3207075"/>
            <a:ext cx="329184" cy="256032"/>
          </a:xfrm>
          <a:prstGeom prst="rect">
            <a:avLst/>
          </a:prstGeom>
        </p:spPr>
      </p:pic>
      <p:pic>
        <p:nvPicPr>
          <p:cNvPr id="26" name="Image 10" descr="preencoded.png">
            <a:extLst>
              <a:ext uri="{FF2B5EF4-FFF2-40B4-BE49-F238E27FC236}">
                <a16:creationId xmlns:a16="http://schemas.microsoft.com/office/drawing/2014/main" id="{0489A669-ACC4-99C7-B645-830010768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800000">
            <a:off x="10263486" y="3159667"/>
            <a:ext cx="329184" cy="256032"/>
          </a:xfrm>
          <a:prstGeom prst="rect">
            <a:avLst/>
          </a:prstGeom>
        </p:spPr>
      </p:pic>
      <p:pic>
        <p:nvPicPr>
          <p:cNvPr id="27" name="Image 11" descr="preencoded.png">
            <a:extLst>
              <a:ext uri="{FF2B5EF4-FFF2-40B4-BE49-F238E27FC236}">
                <a16:creationId xmlns:a16="http://schemas.microsoft.com/office/drawing/2014/main" id="{08079A98-5EDB-97A9-7A8B-FF03024E8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0">
            <a:off x="10263486" y="4155934"/>
            <a:ext cx="329184" cy="256032"/>
          </a:xfrm>
          <a:prstGeom prst="rect">
            <a:avLst/>
          </a:prstGeom>
        </p:spPr>
      </p:pic>
      <p:sp>
        <p:nvSpPr>
          <p:cNvPr id="28" name="Text 7">
            <a:extLst>
              <a:ext uri="{FF2B5EF4-FFF2-40B4-BE49-F238E27FC236}">
                <a16:creationId xmlns:a16="http://schemas.microsoft.com/office/drawing/2014/main" id="{A2D9A4A6-F475-FC08-2597-AE00CF8BB8EC}"/>
              </a:ext>
            </a:extLst>
          </p:cNvPr>
          <p:cNvSpPr/>
          <p:nvPr/>
        </p:nvSpPr>
        <p:spPr>
          <a:xfrm rot="21600000">
            <a:off x="8998722" y="3669966"/>
            <a:ext cx="1222807" cy="25045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网络结构</a:t>
            </a:r>
            <a:endParaRPr lang="en-US" sz="2000" dirty="0"/>
          </a:p>
        </p:txBody>
      </p:sp>
      <p:pic>
        <p:nvPicPr>
          <p:cNvPr id="30" name="Image 7" descr="preencoded.png">
            <a:extLst>
              <a:ext uri="{FF2B5EF4-FFF2-40B4-BE49-F238E27FC236}">
                <a16:creationId xmlns:a16="http://schemas.microsoft.com/office/drawing/2014/main" id="{D37040D8-10EB-0D50-AE1D-AA347D76E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78935" y="2328402"/>
            <a:ext cx="1006689" cy="1006689"/>
          </a:xfrm>
          <a:prstGeom prst="rect">
            <a:avLst/>
          </a:prstGeom>
        </p:spPr>
      </p:pic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BAA61711-F274-C7FC-EEC2-0DC0BFBB1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05153" y="4248462"/>
            <a:ext cx="1006689" cy="1006689"/>
          </a:xfrm>
          <a:prstGeom prst="rect">
            <a:avLst/>
          </a:prstGeom>
        </p:spPr>
      </p:pic>
      <p:pic>
        <p:nvPicPr>
          <p:cNvPr id="32" name="Image 7" descr="preencoded.png">
            <a:extLst>
              <a:ext uri="{FF2B5EF4-FFF2-40B4-BE49-F238E27FC236}">
                <a16:creationId xmlns:a16="http://schemas.microsoft.com/office/drawing/2014/main" id="{65753DBC-6CBC-0B55-9BF5-568FD231E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34627" y="2360009"/>
            <a:ext cx="1006689" cy="1006689"/>
          </a:xfrm>
          <a:prstGeom prst="rect">
            <a:avLst/>
          </a:prstGeom>
        </p:spPr>
      </p:pic>
      <p:pic>
        <p:nvPicPr>
          <p:cNvPr id="33" name="Image 7" descr="preencoded.png">
            <a:extLst>
              <a:ext uri="{FF2B5EF4-FFF2-40B4-BE49-F238E27FC236}">
                <a16:creationId xmlns:a16="http://schemas.microsoft.com/office/drawing/2014/main" id="{7A1FD32A-E3CB-59F0-61A7-142CD8484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08538" y="4199029"/>
            <a:ext cx="1006689" cy="1006689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FDB16EA3-119B-82E3-32AB-B9CD72691202}"/>
              </a:ext>
            </a:extLst>
          </p:cNvPr>
          <p:cNvSpPr/>
          <p:nvPr/>
        </p:nvSpPr>
        <p:spPr>
          <a:xfrm rot="21600000">
            <a:off x="7470875" y="2698313"/>
            <a:ext cx="1222807" cy="25045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zh-CN" altLang="en-US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连接机制</a:t>
            </a:r>
            <a:endParaRPr lang="en-US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A4B876A8-CE91-B640-3526-D70879CE917B}"/>
              </a:ext>
            </a:extLst>
          </p:cNvPr>
          <p:cNvSpPr/>
          <p:nvPr/>
        </p:nvSpPr>
        <p:spPr>
          <a:xfrm rot="21600000">
            <a:off x="10574736" y="2719012"/>
            <a:ext cx="1222807" cy="25045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zh-CN" altLang="en-US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输入层</a:t>
            </a:r>
            <a:endParaRPr lang="en-US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7C0FB728-CF13-01B1-1BC5-8FB0B7883C3D}"/>
              </a:ext>
            </a:extLst>
          </p:cNvPr>
          <p:cNvSpPr/>
          <p:nvPr/>
        </p:nvSpPr>
        <p:spPr>
          <a:xfrm rot="21600000">
            <a:off x="10634627" y="4558282"/>
            <a:ext cx="1222807" cy="25045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zh-CN" altLang="en-US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隐藏层</a:t>
            </a:r>
            <a:endParaRPr lang="en-US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CECC234B-E5B6-2B05-554F-E7BB0081A692}"/>
              </a:ext>
            </a:extLst>
          </p:cNvPr>
          <p:cNvSpPr/>
          <p:nvPr/>
        </p:nvSpPr>
        <p:spPr>
          <a:xfrm rot="21600000">
            <a:off x="7470875" y="4609754"/>
            <a:ext cx="1222807" cy="25045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zh-CN" altLang="en-US" dirty="0">
                <a:solidFill>
                  <a:srgbClr val="FFFFFF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输出层</a:t>
            </a:r>
            <a:endParaRPr lang="en-US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55797EF8-41CE-31C9-BC3B-963493275B3D}"/>
              </a:ext>
            </a:extLst>
          </p:cNvPr>
          <p:cNvSpPr/>
          <p:nvPr/>
        </p:nvSpPr>
        <p:spPr>
          <a:xfrm rot="21600000">
            <a:off x="7776754" y="5865506"/>
            <a:ext cx="3666744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网络组成要素</a:t>
            </a:r>
            <a:endParaRPr lang="en-US" sz="28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516B1012-5FB6-8A2A-75A0-F89E03F13DF6}"/>
              </a:ext>
            </a:extLst>
          </p:cNvPr>
          <p:cNvSpPr/>
          <p:nvPr/>
        </p:nvSpPr>
        <p:spPr>
          <a:xfrm rot="21600000">
            <a:off x="488353" y="2116378"/>
            <a:ext cx="6620349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通过nn.Module将网络拆解为可复用子模块，例如卷积层与激活函数组合单元，增强代码可维护性和调试效率。</a:t>
            </a:r>
            <a:endParaRPr lang="en-US" sz="200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3CD126B0-7EE1-5F62-C996-9BA1D0068A08}"/>
              </a:ext>
            </a:extLst>
          </p:cNvPr>
          <p:cNvSpPr/>
          <p:nvPr/>
        </p:nvSpPr>
        <p:spPr>
          <a:xfrm rot="21600000">
            <a:off x="532384" y="1705352"/>
            <a:ext cx="2298482" cy="50735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模块化构建</a:t>
            </a:r>
            <a:endParaRPr lang="en-US" sz="2800" dirty="0"/>
          </a:p>
        </p:txBody>
      </p:sp>
      <p:pic>
        <p:nvPicPr>
          <p:cNvPr id="42" name="Image 13" descr="preencoded.png">
            <a:extLst>
              <a:ext uri="{FF2B5EF4-FFF2-40B4-BE49-F238E27FC236}">
                <a16:creationId xmlns:a16="http://schemas.microsoft.com/office/drawing/2014/main" id="{B5E8ABD0-43D4-62AE-4E09-67B8D401E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8001" y="1853732"/>
            <a:ext cx="283464" cy="301752"/>
          </a:xfrm>
          <a:prstGeom prst="rect">
            <a:avLst/>
          </a:prstGeom>
        </p:spPr>
      </p:pic>
      <p:sp>
        <p:nvSpPr>
          <p:cNvPr id="43" name="Text 8">
            <a:extLst>
              <a:ext uri="{FF2B5EF4-FFF2-40B4-BE49-F238E27FC236}">
                <a16:creationId xmlns:a16="http://schemas.microsoft.com/office/drawing/2014/main" id="{4D2E8926-F71E-A275-9737-B83285CA05F4}"/>
              </a:ext>
            </a:extLst>
          </p:cNvPr>
          <p:cNvSpPr/>
          <p:nvPr/>
        </p:nvSpPr>
        <p:spPr>
          <a:xfrm rot="21600000">
            <a:off x="502504" y="3868520"/>
            <a:ext cx="6576318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采用Xavier或He初始化方法设置权重，避免梯度消失或爆炸，使模型在训练初期保持稳定收敛趋势。</a:t>
            </a:r>
            <a:endParaRPr lang="en-US" sz="20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6378BD9D-151C-A47C-AF42-46BF9E9056EC}"/>
              </a:ext>
            </a:extLst>
          </p:cNvPr>
          <p:cNvSpPr/>
          <p:nvPr/>
        </p:nvSpPr>
        <p:spPr>
          <a:xfrm rot="21600000">
            <a:off x="542626" y="3342971"/>
            <a:ext cx="3721608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参数初始化</a:t>
            </a:r>
            <a:endParaRPr lang="en-US" sz="2800" dirty="0"/>
          </a:p>
        </p:txBody>
      </p:sp>
      <p:pic>
        <p:nvPicPr>
          <p:cNvPr id="45" name="Image 12" descr="preencoded.png">
            <a:extLst>
              <a:ext uri="{FF2B5EF4-FFF2-40B4-BE49-F238E27FC236}">
                <a16:creationId xmlns:a16="http://schemas.microsoft.com/office/drawing/2014/main" id="{F7BB0A34-4E54-C003-B777-C023852FB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8000" y="3518371"/>
            <a:ext cx="283464" cy="301752"/>
          </a:xfrm>
          <a:prstGeom prst="rect">
            <a:avLst/>
          </a:prstGeom>
        </p:spPr>
      </p:pic>
      <p:sp>
        <p:nvSpPr>
          <p:cNvPr id="46" name="Text 12">
            <a:extLst>
              <a:ext uri="{FF2B5EF4-FFF2-40B4-BE49-F238E27FC236}">
                <a16:creationId xmlns:a16="http://schemas.microsoft.com/office/drawing/2014/main" id="{B010E9AB-E2D9-D8D0-15FF-AA63585BB1CA}"/>
              </a:ext>
            </a:extLst>
          </p:cNvPr>
          <p:cNvSpPr/>
          <p:nvPr/>
        </p:nvSpPr>
        <p:spPr>
          <a:xfrm rot="21600000">
            <a:off x="459521" y="5655932"/>
            <a:ext cx="6870193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使用残差连接解决深层网络退化问题，通过跳跃连接融合不同层次特征，提升模型表达能力。</a:t>
            </a:r>
            <a:endParaRPr lang="en-US" sz="20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7F09FC76-9C19-D517-01C5-8C76EC42F84D}"/>
              </a:ext>
            </a:extLst>
          </p:cNvPr>
          <p:cNvSpPr/>
          <p:nvPr/>
        </p:nvSpPr>
        <p:spPr>
          <a:xfrm rot="21600000">
            <a:off x="502504" y="5046755"/>
            <a:ext cx="2505113" cy="63097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连接机制设计</a:t>
            </a:r>
            <a:endParaRPr lang="en-US" sz="2800" dirty="0"/>
          </a:p>
        </p:txBody>
      </p:sp>
      <p:pic>
        <p:nvPicPr>
          <p:cNvPr id="48" name="Image 14" descr="preencoded.png">
            <a:extLst>
              <a:ext uri="{FF2B5EF4-FFF2-40B4-BE49-F238E27FC236}">
                <a16:creationId xmlns:a16="http://schemas.microsoft.com/office/drawing/2014/main" id="{6E5B6629-70DB-FB5D-16E8-D8045A7FA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8000" y="5286020"/>
            <a:ext cx="283464" cy="301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1"/>
    </mc:Choice>
    <mc:Fallback xmlns="">
      <p:transition spd="slow" advTm="87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59D4777-A1E3-5F23-199F-7B7A9FB204C5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训练流程实现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1648E052-BAE1-89A0-E727-5EBCE806A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0319" y="1719652"/>
            <a:ext cx="292608" cy="292608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5D2DCBCD-8E84-6B78-702A-FFBCDD7A426A}"/>
              </a:ext>
            </a:extLst>
          </p:cNvPr>
          <p:cNvSpPr/>
          <p:nvPr/>
        </p:nvSpPr>
        <p:spPr>
          <a:xfrm rot="21600000">
            <a:off x="702926" y="2206679"/>
            <a:ext cx="4609303" cy="1494463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利用DataLoader将数据集划分为32-128的批量大小，通过shuffle参数打乱数据顺序防止训练偏差。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CB64A5-0E2B-4249-9335-FA733AAA27B7}"/>
              </a:ext>
            </a:extLst>
          </p:cNvPr>
          <p:cNvSpPr/>
          <p:nvPr/>
        </p:nvSpPr>
        <p:spPr>
          <a:xfrm rot="21600000">
            <a:off x="702927" y="1525234"/>
            <a:ext cx="421538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数据分批处理</a:t>
            </a:r>
            <a:endParaRPr lang="en-US" sz="2800" dirty="0"/>
          </a:p>
        </p:txBody>
      </p:sp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8AC59F77-3F7B-1AE9-6E94-76E1CA9C8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0318" y="4115743"/>
            <a:ext cx="292608" cy="292608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B20B50C-F8A3-CDF3-8661-ECA10A15A513}"/>
              </a:ext>
            </a:extLst>
          </p:cNvPr>
          <p:cNvSpPr/>
          <p:nvPr/>
        </p:nvSpPr>
        <p:spPr>
          <a:xfrm rot="21600000">
            <a:off x="702925" y="4497434"/>
            <a:ext cx="4783475" cy="167066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执行loss.backward（）自动计算梯度，optimizer.step（）以0.001学习率更新网络参数。</a:t>
            </a:r>
            <a:endParaRPr lang="en-US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1D93952-02DE-BECD-6579-4A2FCBB01FA9}"/>
              </a:ext>
            </a:extLst>
          </p:cNvPr>
          <p:cNvSpPr/>
          <p:nvPr/>
        </p:nvSpPr>
        <p:spPr>
          <a:xfrm rot="21600000">
            <a:off x="702926" y="3895560"/>
            <a:ext cx="421538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反向梯度更新</a:t>
            </a:r>
            <a:endParaRPr lang="en-US" sz="280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C6A10701-5183-BDA0-E0AF-16C109C2D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1" y="1631404"/>
            <a:ext cx="292608" cy="292608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A3FF10C8-1DEB-8B07-2657-C4B39074C613}"/>
              </a:ext>
            </a:extLst>
          </p:cNvPr>
          <p:cNvSpPr/>
          <p:nvPr/>
        </p:nvSpPr>
        <p:spPr>
          <a:xfrm rot="21600000">
            <a:off x="6388606" y="2166509"/>
            <a:ext cx="4482594" cy="1494463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472"/>
              </a:lnSpc>
            </a:pPr>
            <a:r>
              <a:rPr lang="zh-CN" alt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调用</a:t>
            </a:r>
            <a:r>
              <a:rPr lang="en-US" altLang="zh-CN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model（）</a:t>
            </a:r>
            <a:r>
              <a:rPr lang="en-US" altLang="zh-CN" sz="2000" dirty="0" err="1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自动执行网络前向运算，生成预测结果并计算交叉熵损失函数值</a:t>
            </a:r>
            <a:r>
              <a:rPr lang="en-US" altLang="zh-CN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。</a:t>
            </a:r>
            <a:endParaRPr lang="en-US" sz="2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159B68A-545F-F334-7694-280BB321BA37}"/>
              </a:ext>
            </a:extLst>
          </p:cNvPr>
          <p:cNvSpPr/>
          <p:nvPr/>
        </p:nvSpPr>
        <p:spPr>
          <a:xfrm rot="21600000">
            <a:off x="6388609" y="1451500"/>
            <a:ext cx="421538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zh-CN" alt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前向传播技术</a:t>
            </a:r>
            <a:endParaRPr lang="en-US" sz="2800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9F505C69-05E5-FC7C-54C1-DD1992114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4027495"/>
            <a:ext cx="292608" cy="292608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B1C637B8-5D93-0A03-7648-59720BED73FA}"/>
              </a:ext>
            </a:extLst>
          </p:cNvPr>
          <p:cNvSpPr/>
          <p:nvPr/>
        </p:nvSpPr>
        <p:spPr>
          <a:xfrm rot="21600000">
            <a:off x="6388607" y="4394672"/>
            <a:ext cx="4366479" cy="1670665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472"/>
              </a:lnSpc>
            </a:pPr>
            <a:r>
              <a:rPr lang="zh-CN" alt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每</a:t>
            </a:r>
            <a:r>
              <a:rPr lang="en-US" altLang="zh-CN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100 个batch输出损失值变化曲线，早停机制在验证损失连续3次未降时终止训练。</a:t>
            </a:r>
            <a:endParaRPr lang="en-US" sz="2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E6DABC5-7AB1-7B2C-5C79-C36D30E88596}"/>
              </a:ext>
            </a:extLst>
          </p:cNvPr>
          <p:cNvSpPr/>
          <p:nvPr/>
        </p:nvSpPr>
        <p:spPr>
          <a:xfrm rot="21600000">
            <a:off x="6388608" y="3850854"/>
            <a:ext cx="421538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zh-CN" alt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训练监控策略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0656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1336E42-4463-7CE5-EC0A-DB78BC611782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评估方法解析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77AD5BF-7FC1-2084-D179-8E29564084F7}"/>
              </a:ext>
            </a:extLst>
          </p:cNvPr>
          <p:cNvSpPr/>
          <p:nvPr/>
        </p:nvSpPr>
        <p:spPr>
          <a:xfrm rot="21600000">
            <a:off x="0" y="4670554"/>
            <a:ext cx="3771900" cy="1719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algn="ctr">
              <a:lnSpc>
                <a:spcPts val="4472"/>
              </a:lnSpc>
            </a:pPr>
            <a:r>
              <a:rPr lang="en-US" altLang="zh-CN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分类任务采用准确率、F1值和混淆矩阵，回归任务使用MAE和RMSE指标量化模型性能。</a:t>
            </a:r>
            <a:endParaRPr lang="en-US" altLang="zh-CN" sz="2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97FA5D0-356B-AABB-FA4D-13C54CC4CAD4}"/>
              </a:ext>
            </a:extLst>
          </p:cNvPr>
          <p:cNvSpPr/>
          <p:nvPr/>
        </p:nvSpPr>
        <p:spPr>
          <a:xfrm rot="21600000">
            <a:off x="532384" y="4073872"/>
            <a:ext cx="2414016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zh-CN" alt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指标计算体系</a:t>
            </a:r>
            <a:endParaRPr lang="en-US" sz="28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8AC5CBF-2F99-2737-7B4B-FA581C926F44}"/>
              </a:ext>
            </a:extLst>
          </p:cNvPr>
          <p:cNvSpPr/>
          <p:nvPr/>
        </p:nvSpPr>
        <p:spPr>
          <a:xfrm rot="21600000">
            <a:off x="3966209" y="4947413"/>
            <a:ext cx="4097528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algn="ctr">
              <a:lnSpc>
                <a:spcPts val="4472"/>
              </a:lnSpc>
            </a:pPr>
            <a:r>
              <a:rPr lang="en-US" altLang="zh-CN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严格隔离测试数据，采用20%原始数据作为独立测试集，保证评估结果无数据泄露风险。</a:t>
            </a:r>
            <a:endParaRPr lang="en-US" altLang="zh-CN" sz="2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1E19921-63DF-CF28-92FD-E7E812F7F2A5}"/>
              </a:ext>
            </a:extLst>
          </p:cNvPr>
          <p:cNvSpPr/>
          <p:nvPr/>
        </p:nvSpPr>
        <p:spPr>
          <a:xfrm rot="21600000">
            <a:off x="4648308" y="4076193"/>
            <a:ext cx="2733330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zh-CN" alt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</a:rPr>
              <a:t>验证集划分体系</a:t>
            </a:r>
            <a:endParaRPr lang="en-US" sz="28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88720D9-B3DD-17E2-F381-AF5C2DCDA841}"/>
              </a:ext>
            </a:extLst>
          </p:cNvPr>
          <p:cNvSpPr/>
          <p:nvPr/>
        </p:nvSpPr>
        <p:spPr>
          <a:xfrm rot="21600000">
            <a:off x="8258048" y="4879595"/>
            <a:ext cx="3933952" cy="1300987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algn="ctr">
              <a:lnSpc>
                <a:spcPts val="4472"/>
              </a:lnSpc>
            </a:pPr>
            <a:r>
              <a:rPr lang="en-US" altLang="zh-CN" sz="2000" dirty="0" err="1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通过Matplotlib绘制ROC曲线下面积（AUC）图，直观展示不同阈值下的分类器表现</a:t>
            </a:r>
            <a:r>
              <a:rPr lang="en-US" altLang="zh-CN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。</a:t>
            </a:r>
            <a:endParaRPr lang="en-US" altLang="zh-CN" sz="2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ADDC04E-8670-C00C-38F9-D143332BF650}"/>
              </a:ext>
            </a:extLst>
          </p:cNvPr>
          <p:cNvSpPr/>
          <p:nvPr/>
        </p:nvSpPr>
        <p:spPr>
          <a:xfrm rot="21600000">
            <a:off x="8858358" y="4076193"/>
            <a:ext cx="2733330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zh-CN" alt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结果可视化体系</a:t>
            </a:r>
            <a:endParaRPr lang="en-US" sz="28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1C2DF836-B9C4-A3EC-3E53-08B500BC1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2899" y="1831630"/>
            <a:ext cx="3588998" cy="2099129"/>
          </a:xfrm>
          <a:prstGeom prst="rect">
            <a:avLst/>
          </a:prstGeom>
        </p:spPr>
      </p:pic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037C529F-C2CC-EA3D-E561-90F12680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01500" y="1831629"/>
            <a:ext cx="3588999" cy="2099129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1001E56F-F324-2F77-876D-A4CBE2A5D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20101" y="1826077"/>
            <a:ext cx="3583882" cy="209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41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9AE74-992C-9039-5D10-50234C397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A8B76F7-1637-D29D-E578-5FA9AB6F682F}"/>
              </a:ext>
            </a:extLst>
          </p:cNvPr>
          <p:cNvGrpSpPr/>
          <p:nvPr/>
        </p:nvGrpSpPr>
        <p:grpSpPr>
          <a:xfrm>
            <a:off x="4193072" y="2944405"/>
            <a:ext cx="7369007" cy="720000"/>
            <a:chOff x="5367559" y="2929837"/>
            <a:chExt cx="6906992" cy="7200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2A77FE1-1BA7-FC0B-3C84-AF48BE358E06}"/>
                </a:ext>
              </a:extLst>
            </p:cNvPr>
            <p:cNvSpPr txBox="1"/>
            <p:nvPr/>
          </p:nvSpPr>
          <p:spPr>
            <a:xfrm>
              <a:off x="6146704" y="2981907"/>
              <a:ext cx="5282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</a:rPr>
                <a:t>第四部分  资源精要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89DC5EF-5EC4-D32B-009E-45520A524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B8E21B3-451C-6BCB-078C-86D1896953DB}"/>
                </a:ext>
              </a:extLst>
            </p:cNvPr>
            <p:cNvSpPr/>
            <p:nvPr/>
          </p:nvSpPr>
          <p:spPr>
            <a:xfrm flipV="1">
              <a:off x="8202969" y="3581596"/>
              <a:ext cx="4071582" cy="45719"/>
            </a:xfrm>
            <a:prstGeom prst="rect">
              <a:avLst/>
            </a:prstGeom>
            <a:solidFill>
              <a:srgbClr val="0F6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6A6B5FD-32C8-2205-C6B5-D960CC93710B}"/>
              </a:ext>
            </a:extLst>
          </p:cNvPr>
          <p:cNvSpPr>
            <a:spLocks noEditPoints="1"/>
          </p:cNvSpPr>
          <p:nvPr/>
        </p:nvSpPr>
        <p:spPr bwMode="auto">
          <a:xfrm>
            <a:off x="1731870" y="2870110"/>
            <a:ext cx="1523573" cy="1718780"/>
          </a:xfrm>
          <a:custGeom>
            <a:avLst/>
            <a:gdLst>
              <a:gd name="T0" fmla="*/ 870 w 1809"/>
              <a:gd name="T1" fmla="*/ 879 h 2152"/>
              <a:gd name="T2" fmla="*/ 870 w 1809"/>
              <a:gd name="T3" fmla="*/ 2152 h 2152"/>
              <a:gd name="T4" fmla="*/ 1809 w 1809"/>
              <a:gd name="T5" fmla="*/ 1820 h 2152"/>
              <a:gd name="T6" fmla="*/ 1809 w 1809"/>
              <a:gd name="T7" fmla="*/ 547 h 2152"/>
              <a:gd name="T8" fmla="*/ 870 w 1809"/>
              <a:gd name="T9" fmla="*/ 879 h 2152"/>
              <a:gd name="T10" fmla="*/ 785 w 1809"/>
              <a:gd name="T11" fmla="*/ 961 h 2152"/>
              <a:gd name="T12" fmla="*/ 785 w 1809"/>
              <a:gd name="T13" fmla="*/ 1138 h 2152"/>
              <a:gd name="T14" fmla="*/ 613 w 1809"/>
              <a:gd name="T15" fmla="*/ 1053 h 2152"/>
              <a:gd name="T16" fmla="*/ 613 w 1809"/>
              <a:gd name="T17" fmla="*/ 864 h 2152"/>
              <a:gd name="T18" fmla="*/ 785 w 1809"/>
              <a:gd name="T19" fmla="*/ 961 h 2152"/>
              <a:gd name="T20" fmla="*/ 1555 w 1809"/>
              <a:gd name="T21" fmla="*/ 410 h 2152"/>
              <a:gd name="T22" fmla="*/ 1507 w 1809"/>
              <a:gd name="T23" fmla="*/ 386 h 2152"/>
              <a:gd name="T24" fmla="*/ 602 w 1809"/>
              <a:gd name="T25" fmla="*/ 700 h 2152"/>
              <a:gd name="T26" fmla="*/ 576 w 1809"/>
              <a:gd name="T27" fmla="*/ 724 h 2152"/>
              <a:gd name="T28" fmla="*/ 576 w 1809"/>
              <a:gd name="T29" fmla="*/ 2017 h 2152"/>
              <a:gd name="T30" fmla="*/ 822 w 1809"/>
              <a:gd name="T31" fmla="*/ 2149 h 2152"/>
              <a:gd name="T32" fmla="*/ 822 w 1809"/>
              <a:gd name="T33" fmla="*/ 879 h 2152"/>
              <a:gd name="T34" fmla="*/ 622 w 1809"/>
              <a:gd name="T35" fmla="*/ 772 h 2152"/>
              <a:gd name="T36" fmla="*/ 625 w 1809"/>
              <a:gd name="T37" fmla="*/ 772 h 2152"/>
              <a:gd name="T38" fmla="*/ 1531 w 1809"/>
              <a:gd name="T39" fmla="*/ 457 h 2152"/>
              <a:gd name="T40" fmla="*/ 1555 w 1809"/>
              <a:gd name="T41" fmla="*/ 410 h 2152"/>
              <a:gd name="T42" fmla="*/ 209 w 1809"/>
              <a:gd name="T43" fmla="*/ 581 h 2152"/>
              <a:gd name="T44" fmla="*/ 209 w 1809"/>
              <a:gd name="T45" fmla="*/ 758 h 2152"/>
              <a:gd name="T46" fmla="*/ 37 w 1809"/>
              <a:gd name="T47" fmla="*/ 673 h 2152"/>
              <a:gd name="T48" fmla="*/ 37 w 1809"/>
              <a:gd name="T49" fmla="*/ 484 h 2152"/>
              <a:gd name="T50" fmla="*/ 209 w 1809"/>
              <a:gd name="T51" fmla="*/ 581 h 2152"/>
              <a:gd name="T52" fmla="*/ 978 w 1809"/>
              <a:gd name="T53" fmla="*/ 30 h 2152"/>
              <a:gd name="T54" fmla="*/ 931 w 1809"/>
              <a:gd name="T55" fmla="*/ 6 h 2152"/>
              <a:gd name="T56" fmla="*/ 25 w 1809"/>
              <a:gd name="T57" fmla="*/ 321 h 2152"/>
              <a:gd name="T58" fmla="*/ 0 w 1809"/>
              <a:gd name="T59" fmla="*/ 344 h 2152"/>
              <a:gd name="T60" fmla="*/ 0 w 1809"/>
              <a:gd name="T61" fmla="*/ 1638 h 2152"/>
              <a:gd name="T62" fmla="*/ 246 w 1809"/>
              <a:gd name="T63" fmla="*/ 1770 h 2152"/>
              <a:gd name="T64" fmla="*/ 246 w 1809"/>
              <a:gd name="T65" fmla="*/ 500 h 2152"/>
              <a:gd name="T66" fmla="*/ 46 w 1809"/>
              <a:gd name="T67" fmla="*/ 393 h 2152"/>
              <a:gd name="T68" fmla="*/ 49 w 1809"/>
              <a:gd name="T69" fmla="*/ 392 h 2152"/>
              <a:gd name="T70" fmla="*/ 954 w 1809"/>
              <a:gd name="T71" fmla="*/ 77 h 2152"/>
              <a:gd name="T72" fmla="*/ 978 w 1809"/>
              <a:gd name="T73" fmla="*/ 30 h 2152"/>
              <a:gd name="T74" fmla="*/ 497 w 1809"/>
              <a:gd name="T75" fmla="*/ 781 h 2152"/>
              <a:gd name="T76" fmla="*/ 497 w 1809"/>
              <a:gd name="T77" fmla="*/ 958 h 2152"/>
              <a:gd name="T78" fmla="*/ 325 w 1809"/>
              <a:gd name="T79" fmla="*/ 873 h 2152"/>
              <a:gd name="T80" fmla="*/ 325 w 1809"/>
              <a:gd name="T81" fmla="*/ 684 h 2152"/>
              <a:gd name="T82" fmla="*/ 497 w 1809"/>
              <a:gd name="T83" fmla="*/ 781 h 2152"/>
              <a:gd name="T84" fmla="*/ 1266 w 1809"/>
              <a:gd name="T85" fmla="*/ 230 h 2152"/>
              <a:gd name="T86" fmla="*/ 1219 w 1809"/>
              <a:gd name="T87" fmla="*/ 206 h 2152"/>
              <a:gd name="T88" fmla="*/ 313 w 1809"/>
              <a:gd name="T89" fmla="*/ 520 h 2152"/>
              <a:gd name="T90" fmla="*/ 288 w 1809"/>
              <a:gd name="T91" fmla="*/ 544 h 2152"/>
              <a:gd name="T92" fmla="*/ 288 w 1809"/>
              <a:gd name="T93" fmla="*/ 1837 h 2152"/>
              <a:gd name="T94" fmla="*/ 534 w 1809"/>
              <a:gd name="T95" fmla="*/ 1969 h 2152"/>
              <a:gd name="T96" fmla="*/ 534 w 1809"/>
              <a:gd name="T97" fmla="*/ 699 h 2152"/>
              <a:gd name="T98" fmla="*/ 334 w 1809"/>
              <a:gd name="T99" fmla="*/ 592 h 2152"/>
              <a:gd name="T100" fmla="*/ 337 w 1809"/>
              <a:gd name="T101" fmla="*/ 592 h 2152"/>
              <a:gd name="T102" fmla="*/ 1243 w 1809"/>
              <a:gd name="T103" fmla="*/ 277 h 2152"/>
              <a:gd name="T104" fmla="*/ 1266 w 1809"/>
              <a:gd name="T105" fmla="*/ 230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809" h="2152">
                <a:moveTo>
                  <a:pt x="870" y="879"/>
                </a:moveTo>
                <a:lnTo>
                  <a:pt x="870" y="2152"/>
                </a:lnTo>
                <a:lnTo>
                  <a:pt x="1809" y="1820"/>
                </a:lnTo>
                <a:lnTo>
                  <a:pt x="1809" y="547"/>
                </a:lnTo>
                <a:lnTo>
                  <a:pt x="870" y="879"/>
                </a:lnTo>
                <a:close/>
                <a:moveTo>
                  <a:pt x="785" y="961"/>
                </a:moveTo>
                <a:lnTo>
                  <a:pt x="785" y="1138"/>
                </a:lnTo>
                <a:cubicBezTo>
                  <a:pt x="699" y="1121"/>
                  <a:pt x="613" y="1053"/>
                  <a:pt x="613" y="1053"/>
                </a:cubicBezTo>
                <a:lnTo>
                  <a:pt x="613" y="864"/>
                </a:lnTo>
                <a:cubicBezTo>
                  <a:pt x="719" y="950"/>
                  <a:pt x="785" y="961"/>
                  <a:pt x="785" y="961"/>
                </a:cubicBezTo>
                <a:close/>
                <a:moveTo>
                  <a:pt x="1555" y="410"/>
                </a:moveTo>
                <a:cubicBezTo>
                  <a:pt x="1548" y="390"/>
                  <a:pt x="1527" y="379"/>
                  <a:pt x="1507" y="386"/>
                </a:cubicBezTo>
                <a:lnTo>
                  <a:pt x="602" y="700"/>
                </a:lnTo>
                <a:cubicBezTo>
                  <a:pt x="590" y="704"/>
                  <a:pt x="580" y="713"/>
                  <a:pt x="576" y="724"/>
                </a:cubicBezTo>
                <a:lnTo>
                  <a:pt x="576" y="2017"/>
                </a:lnTo>
                <a:cubicBezTo>
                  <a:pt x="608" y="2080"/>
                  <a:pt x="741" y="2149"/>
                  <a:pt x="822" y="2149"/>
                </a:cubicBezTo>
                <a:lnTo>
                  <a:pt x="822" y="879"/>
                </a:lnTo>
                <a:cubicBezTo>
                  <a:pt x="779" y="873"/>
                  <a:pt x="682" y="822"/>
                  <a:pt x="622" y="772"/>
                </a:cubicBezTo>
                <a:cubicBezTo>
                  <a:pt x="623" y="772"/>
                  <a:pt x="624" y="772"/>
                  <a:pt x="625" y="772"/>
                </a:cubicBezTo>
                <a:lnTo>
                  <a:pt x="1531" y="457"/>
                </a:lnTo>
                <a:cubicBezTo>
                  <a:pt x="1550" y="450"/>
                  <a:pt x="1561" y="429"/>
                  <a:pt x="1555" y="410"/>
                </a:cubicBezTo>
                <a:close/>
                <a:moveTo>
                  <a:pt x="209" y="581"/>
                </a:moveTo>
                <a:lnTo>
                  <a:pt x="209" y="758"/>
                </a:lnTo>
                <a:cubicBezTo>
                  <a:pt x="123" y="742"/>
                  <a:pt x="37" y="673"/>
                  <a:pt x="37" y="673"/>
                </a:cubicBezTo>
                <a:lnTo>
                  <a:pt x="37" y="484"/>
                </a:lnTo>
                <a:cubicBezTo>
                  <a:pt x="143" y="570"/>
                  <a:pt x="209" y="581"/>
                  <a:pt x="209" y="581"/>
                </a:cubicBezTo>
                <a:close/>
                <a:moveTo>
                  <a:pt x="978" y="30"/>
                </a:moveTo>
                <a:cubicBezTo>
                  <a:pt x="972" y="11"/>
                  <a:pt x="951" y="0"/>
                  <a:pt x="931" y="6"/>
                </a:cubicBezTo>
                <a:lnTo>
                  <a:pt x="25" y="321"/>
                </a:lnTo>
                <a:cubicBezTo>
                  <a:pt x="14" y="325"/>
                  <a:pt x="3" y="334"/>
                  <a:pt x="0" y="344"/>
                </a:cubicBezTo>
                <a:lnTo>
                  <a:pt x="0" y="1638"/>
                </a:lnTo>
                <a:cubicBezTo>
                  <a:pt x="32" y="1700"/>
                  <a:pt x="165" y="1770"/>
                  <a:pt x="246" y="1770"/>
                </a:cubicBezTo>
                <a:lnTo>
                  <a:pt x="246" y="500"/>
                </a:lnTo>
                <a:cubicBezTo>
                  <a:pt x="203" y="493"/>
                  <a:pt x="106" y="443"/>
                  <a:pt x="46" y="393"/>
                </a:cubicBezTo>
                <a:cubicBezTo>
                  <a:pt x="47" y="393"/>
                  <a:pt x="48" y="392"/>
                  <a:pt x="49" y="392"/>
                </a:cubicBezTo>
                <a:lnTo>
                  <a:pt x="954" y="77"/>
                </a:lnTo>
                <a:cubicBezTo>
                  <a:pt x="974" y="71"/>
                  <a:pt x="985" y="50"/>
                  <a:pt x="978" y="30"/>
                </a:cubicBezTo>
                <a:close/>
                <a:moveTo>
                  <a:pt x="497" y="781"/>
                </a:moveTo>
                <a:lnTo>
                  <a:pt x="497" y="958"/>
                </a:lnTo>
                <a:cubicBezTo>
                  <a:pt x="411" y="941"/>
                  <a:pt x="325" y="873"/>
                  <a:pt x="325" y="873"/>
                </a:cubicBezTo>
                <a:lnTo>
                  <a:pt x="325" y="684"/>
                </a:lnTo>
                <a:cubicBezTo>
                  <a:pt x="431" y="770"/>
                  <a:pt x="497" y="781"/>
                  <a:pt x="497" y="781"/>
                </a:cubicBezTo>
                <a:close/>
                <a:moveTo>
                  <a:pt x="1266" y="230"/>
                </a:moveTo>
                <a:cubicBezTo>
                  <a:pt x="1260" y="210"/>
                  <a:pt x="1239" y="199"/>
                  <a:pt x="1219" y="206"/>
                </a:cubicBezTo>
                <a:lnTo>
                  <a:pt x="313" y="520"/>
                </a:lnTo>
                <a:cubicBezTo>
                  <a:pt x="302" y="524"/>
                  <a:pt x="291" y="533"/>
                  <a:pt x="288" y="544"/>
                </a:cubicBezTo>
                <a:lnTo>
                  <a:pt x="288" y="1837"/>
                </a:lnTo>
                <a:cubicBezTo>
                  <a:pt x="320" y="1900"/>
                  <a:pt x="453" y="1969"/>
                  <a:pt x="534" y="1969"/>
                </a:cubicBezTo>
                <a:lnTo>
                  <a:pt x="534" y="699"/>
                </a:lnTo>
                <a:cubicBezTo>
                  <a:pt x="491" y="693"/>
                  <a:pt x="394" y="642"/>
                  <a:pt x="334" y="592"/>
                </a:cubicBezTo>
                <a:cubicBezTo>
                  <a:pt x="335" y="592"/>
                  <a:pt x="336" y="592"/>
                  <a:pt x="337" y="592"/>
                </a:cubicBezTo>
                <a:lnTo>
                  <a:pt x="1243" y="277"/>
                </a:lnTo>
                <a:cubicBezTo>
                  <a:pt x="1262" y="270"/>
                  <a:pt x="1273" y="249"/>
                  <a:pt x="1266" y="23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5518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9"/>
    </mc:Choice>
    <mc:Fallback>
      <p:transition spd="slow" advTm="819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41909C2-48F2-CC09-8173-8311E31FF0D5}"/>
              </a:ext>
            </a:extLst>
          </p:cNvPr>
          <p:cNvSpPr/>
          <p:nvPr/>
        </p:nvSpPr>
        <p:spPr>
          <a:xfrm rot="21600000">
            <a:off x="532384" y="-114300"/>
            <a:ext cx="4344416" cy="9372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  <a:latin typeface="NotoSansSC-Bold" pitchFamily="34" charset="0"/>
                <a:ea typeface="NotoSansSC-Bold" pitchFamily="34" charset="-122"/>
              </a:rPr>
              <a:t>官方文档指南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F1712411-58F7-8E7D-A607-D3526BE0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4201" y="2347032"/>
            <a:ext cx="2863598" cy="2863598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68D7C10-26CA-9BB2-AAB6-76FB3344B245}"/>
              </a:ext>
            </a:extLst>
          </p:cNvPr>
          <p:cNvSpPr/>
          <p:nvPr/>
        </p:nvSpPr>
        <p:spPr>
          <a:xfrm rot="21600000">
            <a:off x="-119196" y="1885587"/>
            <a:ext cx="5097998" cy="1719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PyTorch文档按模块化组织，涵盖torch、nn、optim等核心API的详细参数说明和代码示例，支持版本切换查看历史更新内容。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7AB233F-417C-7411-0A18-FA2B6BD8B11C}"/>
              </a:ext>
            </a:extLst>
          </p:cNvPr>
          <p:cNvSpPr/>
          <p:nvPr/>
        </p:nvSpPr>
        <p:spPr>
          <a:xfrm rot="21600000">
            <a:off x="1648968" y="1344368"/>
            <a:ext cx="3227832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文档结构</a:t>
            </a:r>
            <a:endParaRPr lang="en-US" sz="28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FDD5162-D391-9879-1CCC-B52CF588D568}"/>
              </a:ext>
            </a:extLst>
          </p:cNvPr>
          <p:cNvSpPr/>
          <p:nvPr/>
        </p:nvSpPr>
        <p:spPr>
          <a:xfrm rot="21600000">
            <a:off x="7401957" y="1885586"/>
            <a:ext cx="4790043" cy="1719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提供60+交互式Jupyter教程，包含图像分类到GAN等实战案例，每个教程配备Colab在线运行环境和数据集下载链接。</a:t>
            </a:r>
            <a:endParaRPr lang="en-US" sz="20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9F71C53-2FE5-F5BE-7F00-99EEC13ECCAC}"/>
              </a:ext>
            </a:extLst>
          </p:cNvPr>
          <p:cNvSpPr/>
          <p:nvPr/>
        </p:nvSpPr>
        <p:spPr>
          <a:xfrm rot="21600000">
            <a:off x="7401957" y="1344369"/>
            <a:ext cx="3227832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教程体系</a:t>
            </a:r>
            <a:endParaRPr lang="en-US" sz="28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9FA974D-5B1C-DF2B-9666-7352AB640DE5}"/>
              </a:ext>
            </a:extLst>
          </p:cNvPr>
          <p:cNvSpPr/>
          <p:nvPr/>
        </p:nvSpPr>
        <p:spPr>
          <a:xfrm rot="21600000">
            <a:off x="69491" y="5047431"/>
            <a:ext cx="4909311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文档搜索引擎支持关键词联想功能，0.5秒内返回精准API定义和22种编程语言的调用示例。</a:t>
            </a:r>
            <a:endParaRPr lang="en-US" sz="2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319C41E-D85A-897C-D44B-65E5A2C4B8F2}"/>
              </a:ext>
            </a:extLst>
          </p:cNvPr>
          <p:cNvSpPr/>
          <p:nvPr/>
        </p:nvSpPr>
        <p:spPr>
          <a:xfrm rot="21600000">
            <a:off x="1850136" y="4181258"/>
            <a:ext cx="3026664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API检索</a:t>
            </a:r>
            <a:endParaRPr lang="en-US" sz="28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6F3F5E0-E077-C1FB-97D5-3E01380FFB5D}"/>
              </a:ext>
            </a:extLst>
          </p:cNvPr>
          <p:cNvSpPr/>
          <p:nvPr/>
        </p:nvSpPr>
        <p:spPr>
          <a:xfrm rot="21600000">
            <a:off x="7401956" y="4942132"/>
            <a:ext cx="4557886" cy="11430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72"/>
              </a:lnSpc>
              <a:buNone/>
            </a:pPr>
            <a:r>
              <a:rPr lang="en-US" sz="2000" dirty="0">
                <a:solidFill>
                  <a:srgbClr val="012164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包含常见CUDA内存错误解决方案和分布式训练问题排查树，覆盖90%的报错场景。</a:t>
            </a:r>
            <a:endParaRPr lang="en-US" sz="2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BD8E549-7362-C9EF-AD2A-605A0188B9C0}"/>
              </a:ext>
            </a:extLst>
          </p:cNvPr>
          <p:cNvSpPr/>
          <p:nvPr/>
        </p:nvSpPr>
        <p:spPr>
          <a:xfrm rot="21600000">
            <a:off x="7401957" y="4181259"/>
            <a:ext cx="3227832" cy="5943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2800" dirty="0">
                <a:solidFill>
                  <a:srgbClr val="012164"/>
                </a:solidFill>
                <a:latin typeface="SourceHanSansCN-Medium" pitchFamily="34" charset="0"/>
                <a:ea typeface="SourceHanSansCN-Medium" pitchFamily="34" charset="-122"/>
                <a:cs typeface="SourceHanSansCN-Medium" pitchFamily="34" charset="-120"/>
              </a:rPr>
              <a:t>调试指南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51455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0502" y="2308413"/>
            <a:ext cx="6389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rgbClr val="17406D"/>
                </a:solidFill>
                <a:latin typeface="微软雅黑" panose="020B0503020204020204" charset="-122"/>
                <a:ea typeface="微软雅黑" panose="020B0503020204020204" charset="-122"/>
              </a:rPr>
              <a:t>Thanks for listening!</a:t>
            </a:r>
            <a:endParaRPr lang="zh-CN" altLang="en-US" sz="3200" dirty="0">
              <a:solidFill>
                <a:srgbClr val="1740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8272" y="3214690"/>
            <a:ext cx="6791324" cy="52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469049" y="2918961"/>
            <a:ext cx="3665948" cy="1924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"/>
    </mc:Choice>
    <mc:Fallback xmlns="">
      <p:transition spd="slow" advTm="63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c1ZDRjOTk1MWFlM2RkOWQ0NTc5YmVkYjE1YjVkMGIifQ=="/>
</p:tagLst>
</file>

<file path=ppt/theme/theme1.xml><?xml version="1.0" encoding="utf-8"?>
<a:theme xmlns:a="http://schemas.openxmlformats.org/drawingml/2006/main" name="143TGp_happy_light_v2_e">
  <a:themeElements>
    <a:clrScheme name="143TGp_happy_light_v2_e 1">
      <a:dk1>
        <a:srgbClr val="000066"/>
      </a:dk1>
      <a:lt1>
        <a:srgbClr val="FFFFFF"/>
      </a:lt1>
      <a:dk2>
        <a:srgbClr val="1D7ACF"/>
      </a:dk2>
      <a:lt2>
        <a:srgbClr val="C0C0C0"/>
      </a:lt2>
      <a:accent1>
        <a:srgbClr val="189E8E"/>
      </a:accent1>
      <a:accent2>
        <a:srgbClr val="E0BB20"/>
      </a:accent2>
      <a:accent3>
        <a:srgbClr val="FFFFFF"/>
      </a:accent3>
      <a:accent4>
        <a:srgbClr val="000056"/>
      </a:accent4>
      <a:accent5>
        <a:srgbClr val="ABCCC6"/>
      </a:accent5>
      <a:accent6>
        <a:srgbClr val="CBA91C"/>
      </a:accent6>
      <a:hlink>
        <a:srgbClr val="5AA5DE"/>
      </a:hlink>
      <a:folHlink>
        <a:srgbClr val="9885A3"/>
      </a:folHlink>
    </a:clrScheme>
    <a:fontScheme name="RioRegularFontTheme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gray">
        <a:noFill/>
        <a:ln>
          <a:noFill/>
        </a:ln>
      </a:spPr>
      <a:bodyPr vert="horz" wrap="square" lIns="91440" tIns="45720" rIns="91440" bIns="45720" numCol="1" anchor="ctr" anchorCtr="0" compatLnSpc="1"/>
      <a:lstStyle>
        <a:defPPr>
          <a:defRPr sz="3200" kern="0" dirty="0" smtClean="0"/>
        </a:defPPr>
      </a:lstStyle>
    </a:txDef>
  </a:objectDefaults>
  <a:extraClrSchemeLst>
    <a:extraClrScheme>
      <a:clrScheme name="143TGp_happy_light_v2_e 1">
        <a:dk1>
          <a:srgbClr val="000066"/>
        </a:dk1>
        <a:lt1>
          <a:srgbClr val="FFFFFF"/>
        </a:lt1>
        <a:dk2>
          <a:srgbClr val="1D7ACF"/>
        </a:dk2>
        <a:lt2>
          <a:srgbClr val="C0C0C0"/>
        </a:lt2>
        <a:accent1>
          <a:srgbClr val="189E8E"/>
        </a:accent1>
        <a:accent2>
          <a:srgbClr val="E0BB20"/>
        </a:accent2>
        <a:accent3>
          <a:srgbClr val="FFFFFF"/>
        </a:accent3>
        <a:accent4>
          <a:srgbClr val="000056"/>
        </a:accent4>
        <a:accent5>
          <a:srgbClr val="ABCCC6"/>
        </a:accent5>
        <a:accent6>
          <a:srgbClr val="CBA91C"/>
        </a:accent6>
        <a:hlink>
          <a:srgbClr val="5AA5DE"/>
        </a:hlink>
        <a:folHlink>
          <a:srgbClr val="9885A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3TGp_happy_light_v2_e 2">
        <a:dk1>
          <a:srgbClr val="000066"/>
        </a:dk1>
        <a:lt1>
          <a:srgbClr val="FFFFFF"/>
        </a:lt1>
        <a:dk2>
          <a:srgbClr val="238D3F"/>
        </a:dk2>
        <a:lt2>
          <a:srgbClr val="DDDDDD"/>
        </a:lt2>
        <a:accent1>
          <a:srgbClr val="808080"/>
        </a:accent1>
        <a:accent2>
          <a:srgbClr val="CC9900"/>
        </a:accent2>
        <a:accent3>
          <a:srgbClr val="FFFFFF"/>
        </a:accent3>
        <a:accent4>
          <a:srgbClr val="000056"/>
        </a:accent4>
        <a:accent5>
          <a:srgbClr val="C0C0C0"/>
        </a:accent5>
        <a:accent6>
          <a:srgbClr val="B98A00"/>
        </a:accent6>
        <a:hlink>
          <a:srgbClr val="D9C741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3TGp_happy_light_v2_e 3">
        <a:dk1>
          <a:srgbClr val="000066"/>
        </a:dk1>
        <a:lt1>
          <a:srgbClr val="FFFFFF"/>
        </a:lt1>
        <a:dk2>
          <a:srgbClr val="D75F1D"/>
        </a:dk2>
        <a:lt2>
          <a:srgbClr val="DDDDDD"/>
        </a:lt2>
        <a:accent1>
          <a:srgbClr val="3885A0"/>
        </a:accent1>
        <a:accent2>
          <a:srgbClr val="3399FF"/>
        </a:accent2>
        <a:accent3>
          <a:srgbClr val="FFFFFF"/>
        </a:accent3>
        <a:accent4>
          <a:srgbClr val="000056"/>
        </a:accent4>
        <a:accent5>
          <a:srgbClr val="AEC2CD"/>
        </a:accent5>
        <a:accent6>
          <a:srgbClr val="2D8AE7"/>
        </a:accent6>
        <a:hlink>
          <a:srgbClr val="4B67B7"/>
        </a:hlink>
        <a:folHlink>
          <a:srgbClr val="7B6A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678</Words>
  <Application>Microsoft Office PowerPoint</Application>
  <PresentationFormat>宽屏</PresentationFormat>
  <Paragraphs>155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SourceHanSansCN-Medium</vt:lpstr>
      <vt:lpstr>SourceHanSansCN-Regular</vt:lpstr>
      <vt:lpstr>等线</vt:lpstr>
      <vt:lpstr>黑体</vt:lpstr>
      <vt:lpstr>微软雅黑</vt:lpstr>
      <vt:lpstr>Arial</vt:lpstr>
      <vt:lpstr>Calibri</vt:lpstr>
      <vt:lpstr>Impact</vt:lpstr>
      <vt:lpstr>KronaOne-Regular</vt:lpstr>
      <vt:lpstr>Montserrat-Regular</vt:lpstr>
      <vt:lpstr>NotoSansSC-Bold</vt:lpstr>
      <vt:lpstr>Times New Roman</vt:lpstr>
      <vt:lpstr>Wingdings</vt:lpstr>
      <vt:lpstr>143TGp_happy_light_v2_e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北京化工大学PPT模板2</dc:title>
  <dc:creator/>
  <cp:lastModifiedBy>健 康</cp:lastModifiedBy>
  <cp:revision>102</cp:revision>
  <dcterms:created xsi:type="dcterms:W3CDTF">2018-12-22T14:11:00Z</dcterms:created>
  <dcterms:modified xsi:type="dcterms:W3CDTF">2025-06-28T08:01:05Z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ICV">
    <vt:lpwstr>DEE2D15716E742508E9F11B0C7777473_12</vt:lpwstr>
  </property>
</Properties>
</file>